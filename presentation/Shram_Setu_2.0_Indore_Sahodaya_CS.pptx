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sentence the whole project rests on: a wage dispute usually begins where the record ends. Shram Setu 2.0 is a working React/TypeScript prototype, not a pitch deck: everything shown today runs in a browser, offline, on synthetic data. Say the tagline once: every shift recorded, every wage explained, every change traceable.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 only — do not read the cards. Four chapters: the problem and its evidence, the design that answers it, what was actually built and tested, and an honest close. Tell the judges you will keep the honesty section at the end and not hide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six-step chain left to right. Pause at step four: payment entered by a contractor is not the same event as a worker acknowledging receipt, and most systems merge the two. Then the three gaps — shared record, visible arithmetic, preserved history — are precisely the three things the design tries to fix.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numbers, four sources — government registry, two CAG audits and ILO research. Do not overclaim: the CAG figures show delay inside a public programme, not fraud by any named party. The court case is included because it turns on documentary evidence, which is the design argument. Judge question you should expect: 'Is this a real problem or a made-up one?' — answer with the CAG delay figures.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research question once, slowly. The seven objectives are the marking scheme for the rest of the deck — every later slide maps back to one of them. Note the deliberate boundary sentence at the bottom: the project claims record transparency, nothing more.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is the empty middle of the table: systems either register workers, or run a public programme, or belong to the employer — none is a shared, two-party record of one shift with the arithmetic visible to both sides. The last row is the niche this project occupies. Be fair to e-Shram: it was never designed to do this.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slide; give it time. Three commitments map one-to-one onto three mechanisms you will show: the shared muster, the wage engine, and the correction log with the hash chain. Then the sentence that matters: transparency is implemented by mechanism, not claimed in copy.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portals, one dataset. The important phrase is 'no screen keeps its own copy of the arithmetic' — one calculation function feeds worker, contractor and auditor. If asked how roles are separated today: in the prototype they are demo roles; production roles would be enforced by Supabase row-level security, which is planned, not built.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evolution is honest engineering, not fashion: NFC was investigated, priced, and dropped because a writable tag is not a secure device and readers cost money. The QR solves cost and reach and moves the security argument to authentication — which is why the QR never opens private wage data on scan.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stack from the top: the three portals are presentation only. All rules live in services. Every service talks to one interface, IDataRepository, and the adapter underneath is swappable — IndexedDB today, Supabase when configured. That is why the report can say the backend is planned without the calculation engine changing. Point at the two status flags: they are shown in the UI too.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each, then move on. The two that judges ask about: TypeScript, because data-shape mistakes in a wage ledger are expensive; and Web Crypto, because SHA-256 in the browser needs no dependency at all. Mention the single-file offline build — it is the demo trick if the venue Wi-Fi fails.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every field. The point is that the work record is the hub, and payment, correction, dispute and anomaly all hang off it while keeping their own history. One design decision worth saying aloud: a correction is its own entity, not an edit — which is why the original value can never disappear.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judges remember. Walk the arithmetic out loud: four days at ₹650 is ₹2,600; ₹1,300 was recorded as paid; the balance is ₹1,300. Then point out what is visible that other systems hide — the rate, the hours, the empty overtime line, the deduction line, and a payment that is recorded but not yet acknowledged. All maths in integer paise, so no floating-point drift.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lifecycle as five explicit states rather than a paid/unpaid boolean. The middle state is the important one: a contractor entry is evidence of an entry, nothing more. If a judge asks who can mark a record acknowledged, the answer is: only the worker's own authenticated session — simulated in demo mode.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behaviours, one principle. RULE-03 shows a rate change from ₹550to ₹650 with the reason, the actor, the timestamp and no accusation. The dispute card keeps both statements verbatim. The design position: software should make disagreement legible, not adjudicate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mechanic in one sentence: each block hashes the previous block's hash together with the date, rate, duration and earned wages, so changing any past record breaks every link after it. Then immediately state the limit, before a judge does: a local chain is tamper-evident, not tamper-proof, and it is definitely not a blockchain. That honesty scores better than the overclaim.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cheap, explainable rules beat a black box here, because each one can be argued with. Point at RULE-03 and RULE-05 as the two that appear in the live demo, and RULE-07 as the one that must carry a warning: benchmark values are unverified prototype references, not legal minima.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triad is the sentence to say: identification, authentication and authorisation are three different questions, and most QR-based projects quietly collapse them into one. The pass identifies; it never authorises. Cross-device approval is designed and simulated, not shipped.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live-demo map. Twelve seeded states, all synthetic. The console on the right is the tamper bench: change a rate after the fact and the chain breaks visually, in front of the judge. Say the reset path out loud — resetToBaseline() — so they know the demo is reproducible after a failed attempt.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the word offline. The prototype records offline because everything lives in the browser. Sharing across devices needs the planned Supabase layer plus an outbox; that is designed and simulated, not implemented. The three flags on the slide are printed by the app itself — no hiding the status.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one admission. The admission is the fourth card: on a shared or stolen device, browser storage is readable. Saying that plainly is more credible than a privacy claim the prototype cannot support. Also note what is deliberately absent from the schema: Aadhaar and bank details.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rows, one number: 39 assertions. Say clearly that these are self-reported results on synthetic data, and that independent reproduction is explicitly listed as future work in the report. Judges respond well to a team that labels its own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 argument: removing NFC removed the only hardware line item, which is what makes a per-site pilot plausible for a small contractor. Quote the free-tier numbers as checked in October 2026 and note they can change. Do not pretend production is free.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this slide — it is the most credible one in the deck. The strongest line: the hash chain is tamper-evident on one device, and a determined attacker with the device can recompute it. Then bridge to the roadmap: authentication and sync are the two unlocks.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argument in one breath: the contribution is not a database, it is inspectability — a record both parties can read, argue about, and verify. Then the three takeaways. Stop talking rather than overselling; the limitations slide already bought your credibility.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invitation, not on a summary. If the QR placeholder is replaced with a real link, this is the slide judges photograph. Keep answers short and hand difficult questions to the limitations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2219"/>
        </a:solidFill>
        <a:effectLst/>
      </p:bgPr>
    </p:bg>
    <p:spTree>
      <p:nvGrpSpPr>
        <p:cNvPr id="1" name=""/>
        <p:cNvGrpSpPr/>
        <p:nvPr/>
      </p:nvGrpSpPr>
      <p:grpSpPr/>
      <p:pic>
        <p:nvPicPr>
          <p:cNvPr id="2" name="!!hero-photo" descr="shram_setu_hero_pass_1792385013356.jpg"/>
          <p:cNvPicPr>
            <a:picLocks noChangeAspect="1"/>
          </p:cNvPicPr>
          <p:nvPr/>
        </p:nvPicPr>
        <p:blipFill>
          <a:blip r:embed="rId2"/>
          <a:stretch>
            <a:fillRect/>
          </a:stretch>
        </p:blipFill>
        <p:spPr>
          <a:xfrm>
            <a:off x="-502920" y="0"/>
            <a:ext cx="13167360" cy="7349224"/>
          </a:xfrm>
          <a:prstGeom prst="rect">
            <a:avLst/>
          </a:prstGeom>
        </p:spPr>
      </p:pic>
      <p:sp>
        <p:nvSpPr>
          <p:cNvPr id="3" name="!!hero-overlay"/>
          <p:cNvSpPr/>
          <p:nvPr/>
        </p:nvSpPr>
        <p:spPr>
          <a:xfrm>
            <a:off x="0" y="0"/>
            <a:ext cx="12191695" cy="6858000"/>
          </a:xfrm>
          <a:prstGeom prst="rect">
            <a:avLst/>
          </a:prstGeom>
          <a:gradFill rotWithShape="1">
            <a:gsLst>
              <a:gs pos="0">
                <a:srgbClr val="0A2219">
                  <a:alpha val="98500"/>
                </a:srgbClr>
              </a:gs>
              <a:gs pos="34000">
                <a:srgbClr val="0A2219">
                  <a:alpha val="96000"/>
                </a:srgbClr>
              </a:gs>
              <a:gs pos="56000">
                <a:srgbClr val="163A2B">
                  <a:alpha val="72000"/>
                </a:srgbClr>
              </a:gs>
              <a:gs pos="78000">
                <a:srgbClr val="0A2219">
                  <a:alpha val="26000"/>
                </a:srgbClr>
              </a:gs>
              <a:gs pos="100000">
                <a:srgbClr val="0A2219">
                  <a:alpha val="12000"/>
                </a:srgbClr>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hero-foot"/>
          <p:cNvSpPr/>
          <p:nvPr/>
        </p:nvSpPr>
        <p:spPr>
          <a:xfrm>
            <a:off x="0" y="4663440"/>
            <a:ext cx="12191695" cy="2194560"/>
          </a:xfrm>
          <a:prstGeom prst="rect">
            <a:avLst/>
          </a:prstGeom>
          <a:gradFill rotWithShape="1">
            <a:gsLst>
              <a:gs pos="0">
                <a:srgbClr val="0A2219">
                  <a:alpha val="0"/>
                </a:srgbClr>
              </a:gs>
              <a:gs pos="55000">
                <a:srgbClr val="0A2219">
                  <a:alpha val="82000"/>
                </a:srgbClr>
              </a:gs>
              <a:gs pos="100000">
                <a:srgbClr val="0A2219">
                  <a:alpha val="97000"/>
                </a:srgb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glow-a"/>
          <p:cNvSpPr/>
          <p:nvPr/>
        </p:nvSpPr>
        <p:spPr>
          <a:xfrm>
            <a:off x="8229600" y="-2651760"/>
            <a:ext cx="6217920" cy="6217920"/>
          </a:xfrm>
          <a:prstGeom prst="ellipse">
            <a:avLst/>
          </a:prstGeom>
          <a:gradFill rotWithShape="1">
            <a:gsLst>
              <a:gs pos="0">
                <a:srgbClr val="8BC7A6">
                  <a:alpha val="30000"/>
                </a:srgbClr>
              </a:gs>
              <a:gs pos="60000">
                <a:srgbClr val="8BC7A6">
                  <a:alpha val="135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low-b"/>
          <p:cNvSpPr/>
          <p:nvPr/>
        </p:nvSpPr>
        <p:spPr>
          <a:xfrm>
            <a:off x="-2194560" y="3291840"/>
            <a:ext cx="5120640" cy="5120640"/>
          </a:xfrm>
          <a:prstGeom prst="ellipse">
            <a:avLst/>
          </a:prstGeom>
          <a:gradFill rotWithShape="1">
            <a:gsLst>
              <a:gs pos="0">
                <a:srgbClr val="D9A844">
                  <a:alpha val="22000"/>
                </a:srgbClr>
              </a:gs>
              <a:gs pos="60000">
                <a:srgbClr val="D9A844">
                  <a:alpha val="990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
          <p:cNvSpPr/>
          <p:nvPr/>
        </p:nvSpPr>
        <p:spPr>
          <a:xfrm>
            <a:off x="402336" y="566928"/>
            <a:ext cx="16459" cy="5596128"/>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ail-fill"/>
          <p:cNvSpPr/>
          <p:nvPr/>
        </p:nvSpPr>
        <p:spPr>
          <a:xfrm>
            <a:off x="402336" y="566928"/>
            <a:ext cx="16459" cy="195864"/>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ail-dot"/>
          <p:cNvSpPr/>
          <p:nvPr/>
        </p:nvSpPr>
        <p:spPr>
          <a:xfrm>
            <a:off x="352044" y="712500"/>
            <a:ext cx="118872" cy="118872"/>
          </a:xfrm>
          <a:prstGeom prst="ellipse">
            <a:avLst/>
          </a:prstGeom>
          <a:solidFill>
            <a:srgbClr val="E5C0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yebrow-mark"/>
          <p:cNvSpPr/>
          <p:nvPr/>
        </p:nvSpPr>
        <p:spPr>
          <a:xfrm>
            <a:off x="1060704" y="1042415"/>
            <a:ext cx="118872" cy="118872"/>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eyebrow"/>
          <p:cNvSpPr txBox="1"/>
          <p:nvPr/>
        </p:nvSpPr>
        <p:spPr>
          <a:xfrm>
            <a:off x="1271016" y="969264"/>
            <a:ext cx="8229600" cy="256032"/>
          </a:xfrm>
          <a:prstGeom prst="rect">
            <a:avLst/>
          </a:prstGeom>
          <a:noFill/>
        </p:spPr>
        <p:txBody>
          <a:bodyPr wrap="square" lIns="0" rIns="0" tIns="0" bIns="0" anchor="t"/>
          <a:lstStyle/>
          <a:p>
            <a:pPr algn="l">
              <a:lnSpc>
                <a:spcPct val="100000"/>
              </a:lnSpc>
            </a:pPr>
            <a:r>
              <a:rPr sz="1050" b="1" i="0" spc="200">
                <a:solidFill>
                  <a:srgbClr val="E5C068"/>
                </a:solidFill>
                <a:latin typeface="Segoe UI"/>
                <a:ea typeface="Segoe UI"/>
                <a:cs typeface="Segoe UI"/>
              </a:rPr>
              <a:t>INDORE SAHODAYA   ·   COMPUTER SCIENCE   ·   2026</a:t>
            </a:r>
          </a:p>
        </p:txBody>
      </p:sp>
      <p:sp>
        <p:nvSpPr>
          <p:cNvPr id="12" name="!!title"/>
          <p:cNvSpPr txBox="1"/>
          <p:nvPr/>
        </p:nvSpPr>
        <p:spPr>
          <a:xfrm>
            <a:off x="1060704" y="1481328"/>
            <a:ext cx="7680960" cy="1234440"/>
          </a:xfrm>
          <a:prstGeom prst="rect">
            <a:avLst/>
          </a:prstGeom>
          <a:noFill/>
        </p:spPr>
        <p:txBody>
          <a:bodyPr wrap="square" lIns="0" rIns="0" tIns="0" bIns="0" anchor="t"/>
          <a:lstStyle/>
          <a:p>
            <a:pPr algn="l">
              <a:lnSpc>
                <a:spcPct val="95000"/>
              </a:lnSpc>
            </a:pPr>
            <a:r>
              <a:rPr sz="5400" b="1" i="0">
                <a:solidFill>
                  <a:srgbClr val="FFFFFF"/>
                </a:solidFill>
                <a:latin typeface="Georgia"/>
                <a:ea typeface="Georgia"/>
                <a:cs typeface="Georgia"/>
              </a:rPr>
              <a:t>Shram Setu 2.0</a:t>
            </a:r>
          </a:p>
        </p:txBody>
      </p:sp>
      <p:sp>
        <p:nvSpPr>
          <p:cNvPr id="13" name="!!dek"/>
          <p:cNvSpPr txBox="1"/>
          <p:nvPr/>
        </p:nvSpPr>
        <p:spPr>
          <a:xfrm>
            <a:off x="1060704" y="2761488"/>
            <a:ext cx="6583680" cy="960120"/>
          </a:xfrm>
          <a:prstGeom prst="rect">
            <a:avLst/>
          </a:prstGeom>
          <a:noFill/>
        </p:spPr>
        <p:txBody>
          <a:bodyPr wrap="square" lIns="0" rIns="0" tIns="0" bIns="0" anchor="t"/>
          <a:lstStyle/>
          <a:p>
            <a:pPr algn="l">
              <a:lnSpc>
                <a:spcPct val="122000"/>
              </a:lnSpc>
            </a:pPr>
            <a:r>
              <a:rPr sz="1650" b="0" i="0">
                <a:solidFill>
                  <a:srgbClr val="F0E9DA"/>
                </a:solidFill>
                <a:latin typeface="Segoe UI"/>
                <a:ea typeface="Segoe UI"/>
                <a:cs typeface="Segoe UI"/>
              </a:rPr>
              <a:t>An offline-first, transparency-centred work and wage record system for India's daily-wage workforce.</a:t>
            </a:r>
          </a:p>
        </p:txBody>
      </p:sp>
      <p:sp>
        <p:nvSpPr>
          <p:cNvPr id="14" name="!!rule"/>
          <p:cNvSpPr/>
          <p:nvPr/>
        </p:nvSpPr>
        <p:spPr>
          <a:xfrm>
            <a:off x="1060704" y="3776472"/>
            <a:ext cx="1325880" cy="41148"/>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agline"/>
          <p:cNvSpPr txBox="1"/>
          <p:nvPr/>
        </p:nvSpPr>
        <p:spPr>
          <a:xfrm>
            <a:off x="1060704" y="3950208"/>
            <a:ext cx="6949440" cy="365760"/>
          </a:xfrm>
          <a:prstGeom prst="rect">
            <a:avLst/>
          </a:prstGeom>
          <a:noFill/>
        </p:spPr>
        <p:txBody>
          <a:bodyPr wrap="square" lIns="0" rIns="0" tIns="0" bIns="0" anchor="t"/>
          <a:lstStyle/>
          <a:p>
            <a:pPr algn="l">
              <a:lnSpc>
                <a:spcPct val="100000"/>
              </a:lnSpc>
            </a:pPr>
            <a:r>
              <a:rPr sz="1300" b="0" i="1">
                <a:solidFill>
                  <a:srgbClr val="F0D99B"/>
                </a:solidFill>
                <a:latin typeface="Georgia"/>
                <a:ea typeface="Georgia"/>
                <a:cs typeface="Georgia"/>
              </a:rPr>
              <a:t>Every shift recorded  ·  Every wage explained  ·  Every change traceable</a:t>
            </a:r>
          </a:p>
        </p:txBody>
      </p:sp>
      <p:sp>
        <p:nvSpPr>
          <p:cNvPr id="16" name="!!status-badge"/>
          <p:cNvSpPr/>
          <p:nvPr/>
        </p:nvSpPr>
        <p:spPr>
          <a:xfrm>
            <a:off x="1060704" y="4956048"/>
            <a:ext cx="3127248" cy="310896"/>
          </a:xfrm>
          <a:prstGeom prst="roundRect">
            <a:avLst>
              <a:gd name="adj" fmla="val 50000"/>
            </a:avLst>
          </a:prstGeom>
          <a:noFill/>
          <a:ln w="9525">
            <a:solidFill>
              <a:srgbClr val="1F5941"/>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i="0" spc="100">
                <a:solidFill>
                  <a:srgbClr val="8BC7A6"/>
                </a:solidFill>
                <a:latin typeface="Segoe UI"/>
                <a:ea typeface="Segoe UI"/>
                <a:cs typeface="Segoe UI"/>
              </a:rPr>
              <a:t>LOCAL DEMO MODE  ·  PROTOTYPE</a:t>
            </a:r>
          </a:p>
        </p:txBody>
      </p:sp>
      <p:sp>
        <p:nvSpPr>
          <p:cNvPr id="17" name="TextBox 16"/>
          <p:cNvSpPr txBox="1"/>
          <p:nvPr/>
        </p:nvSpPr>
        <p:spPr>
          <a:xfrm>
            <a:off x="1060704" y="5413248"/>
            <a:ext cx="1371600" cy="182880"/>
          </a:xfrm>
          <a:prstGeom prst="rect">
            <a:avLst/>
          </a:prstGeom>
          <a:noFill/>
        </p:spPr>
        <p:txBody>
          <a:bodyPr wrap="square" lIns="0" rIns="0" tIns="0" bIns="0" anchor="t"/>
          <a:lstStyle/>
          <a:p>
            <a:pPr algn="l">
              <a:lnSpc>
                <a:spcPct val="100000"/>
              </a:lnSpc>
            </a:pPr>
            <a:r>
              <a:rPr sz="750" b="1" i="0" spc="140">
                <a:solidFill>
                  <a:srgbClr val="D9A844"/>
                </a:solidFill>
                <a:latin typeface="Segoe UI"/>
                <a:ea typeface="Segoe UI"/>
                <a:cs typeface="Segoe UI"/>
              </a:rPr>
              <a:t>PRESENTED BY</a:t>
            </a:r>
          </a:p>
        </p:txBody>
      </p:sp>
      <p:sp>
        <p:nvSpPr>
          <p:cNvPr id="18" name="TextBox 17"/>
          <p:cNvSpPr txBox="1"/>
          <p:nvPr/>
        </p:nvSpPr>
        <p:spPr>
          <a:xfrm>
            <a:off x="2487168" y="5381244"/>
            <a:ext cx="5669280" cy="237744"/>
          </a:xfrm>
          <a:prstGeom prst="rect">
            <a:avLst/>
          </a:prstGeom>
          <a:noFill/>
        </p:spPr>
        <p:txBody>
          <a:bodyPr wrap="square" lIns="0" rIns="0" tIns="0" bIns="0" anchor="t"/>
          <a:lstStyle/>
          <a:p>
            <a:pPr algn="l">
              <a:lnSpc>
                <a:spcPct val="100000"/>
              </a:lnSpc>
            </a:pPr>
            <a:r>
              <a:rPr sz="1000" b="0" i="0">
                <a:solidFill>
                  <a:srgbClr val="E3D8C2"/>
                </a:solidFill>
                <a:latin typeface="Segoe UI"/>
                <a:ea typeface="Segoe UI"/>
                <a:cs typeface="Segoe UI"/>
              </a:rPr>
              <a:t>[Student name] · Class [ ] · Roll [ ]</a:t>
            </a:r>
          </a:p>
        </p:txBody>
      </p:sp>
      <p:sp>
        <p:nvSpPr>
          <p:cNvPr id="19" name="TextBox 18"/>
          <p:cNvSpPr txBox="1"/>
          <p:nvPr/>
        </p:nvSpPr>
        <p:spPr>
          <a:xfrm>
            <a:off x="1060704" y="5797296"/>
            <a:ext cx="1371600" cy="182880"/>
          </a:xfrm>
          <a:prstGeom prst="rect">
            <a:avLst/>
          </a:prstGeom>
          <a:noFill/>
        </p:spPr>
        <p:txBody>
          <a:bodyPr wrap="square" lIns="0" rIns="0" tIns="0" bIns="0" anchor="t"/>
          <a:lstStyle/>
          <a:p>
            <a:pPr algn="l">
              <a:lnSpc>
                <a:spcPct val="100000"/>
              </a:lnSpc>
            </a:pPr>
            <a:r>
              <a:rPr sz="750" b="1" i="0" spc="140">
                <a:solidFill>
                  <a:srgbClr val="D9A844"/>
                </a:solidFill>
                <a:latin typeface="Segoe UI"/>
                <a:ea typeface="Segoe UI"/>
                <a:cs typeface="Segoe UI"/>
              </a:rPr>
              <a:t>GUIDE</a:t>
            </a:r>
          </a:p>
        </p:txBody>
      </p:sp>
      <p:sp>
        <p:nvSpPr>
          <p:cNvPr id="20" name="TextBox 19"/>
          <p:cNvSpPr txBox="1"/>
          <p:nvPr/>
        </p:nvSpPr>
        <p:spPr>
          <a:xfrm>
            <a:off x="2487168" y="5765292"/>
            <a:ext cx="5669280" cy="237744"/>
          </a:xfrm>
          <a:prstGeom prst="rect">
            <a:avLst/>
          </a:prstGeom>
          <a:noFill/>
        </p:spPr>
        <p:txBody>
          <a:bodyPr wrap="square" lIns="0" rIns="0" tIns="0" bIns="0" anchor="t"/>
          <a:lstStyle/>
          <a:p>
            <a:pPr algn="l">
              <a:lnSpc>
                <a:spcPct val="100000"/>
              </a:lnSpc>
            </a:pPr>
            <a:r>
              <a:rPr sz="1000" b="0" i="0">
                <a:solidFill>
                  <a:srgbClr val="E3D8C2"/>
                </a:solidFill>
                <a:latin typeface="Segoe UI"/>
                <a:ea typeface="Segoe UI"/>
                <a:cs typeface="Segoe UI"/>
              </a:rPr>
              <a:t>[Guide / Supervisor name]</a:t>
            </a:r>
          </a:p>
        </p:txBody>
      </p:sp>
      <p:sp>
        <p:nvSpPr>
          <p:cNvPr id="21" name="TextBox 20"/>
          <p:cNvSpPr txBox="1"/>
          <p:nvPr/>
        </p:nvSpPr>
        <p:spPr>
          <a:xfrm>
            <a:off x="1060704" y="6181344"/>
            <a:ext cx="1371600" cy="182880"/>
          </a:xfrm>
          <a:prstGeom prst="rect">
            <a:avLst/>
          </a:prstGeom>
          <a:noFill/>
        </p:spPr>
        <p:txBody>
          <a:bodyPr wrap="square" lIns="0" rIns="0" tIns="0" bIns="0" anchor="t"/>
          <a:lstStyle/>
          <a:p>
            <a:pPr algn="l">
              <a:lnSpc>
                <a:spcPct val="100000"/>
              </a:lnSpc>
            </a:pPr>
            <a:r>
              <a:rPr sz="750" b="1" i="0" spc="140">
                <a:solidFill>
                  <a:srgbClr val="D9A844"/>
                </a:solidFill>
                <a:latin typeface="Segoe UI"/>
                <a:ea typeface="Segoe UI"/>
                <a:cs typeface="Segoe UI"/>
              </a:rPr>
              <a:t>INSTITUTION</a:t>
            </a:r>
          </a:p>
        </p:txBody>
      </p:sp>
      <p:sp>
        <p:nvSpPr>
          <p:cNvPr id="22" name="TextBox 21"/>
          <p:cNvSpPr txBox="1"/>
          <p:nvPr/>
        </p:nvSpPr>
        <p:spPr>
          <a:xfrm>
            <a:off x="2487168" y="6149340"/>
            <a:ext cx="5669280" cy="237744"/>
          </a:xfrm>
          <a:prstGeom prst="rect">
            <a:avLst/>
          </a:prstGeom>
          <a:noFill/>
        </p:spPr>
        <p:txBody>
          <a:bodyPr wrap="square" lIns="0" rIns="0" tIns="0" bIns="0" anchor="t"/>
          <a:lstStyle/>
          <a:p>
            <a:pPr algn="l">
              <a:lnSpc>
                <a:spcPct val="100000"/>
              </a:lnSpc>
            </a:pPr>
            <a:r>
              <a:rPr sz="1000" b="0" i="0">
                <a:solidFill>
                  <a:srgbClr val="E3D8C2"/>
                </a:solidFill>
                <a:latin typeface="Segoe UI"/>
                <a:ea typeface="Segoe UI"/>
                <a:cs typeface="Segoe UI"/>
              </a:rPr>
              <a:t>[School name] · Indore, Madhya Pradesh</a:t>
            </a:r>
          </a:p>
        </p:txBody>
      </p:sp>
      <p:sp>
        <p:nvSpPr>
          <p:cNvPr id="23" name="TextBox 22"/>
          <p:cNvSpPr txBox="1"/>
          <p:nvPr/>
        </p:nvSpPr>
        <p:spPr>
          <a:xfrm>
            <a:off x="10561320" y="6419088"/>
            <a:ext cx="1005840" cy="201168"/>
          </a:xfrm>
          <a:prstGeom prst="rect">
            <a:avLst/>
          </a:prstGeom>
          <a:noFill/>
        </p:spPr>
        <p:txBody>
          <a:bodyPr wrap="square" lIns="0" rIns="0" tIns="0" bIns="0" anchor="t"/>
          <a:lstStyle/>
          <a:p>
            <a:pPr algn="l">
              <a:lnSpc>
                <a:spcPct val="100000"/>
              </a:lnSpc>
            </a:pPr>
            <a:r>
              <a:rPr sz="800" b="0" i="0">
                <a:solidFill>
                  <a:srgbClr val="57A97E"/>
                </a:solidFill>
                <a:latin typeface="Segoe UI"/>
                <a:ea typeface="Segoe UI"/>
                <a:cs typeface="Segoe UI"/>
              </a:rPr>
              <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555480" y="-2578608"/>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560320" y="4526279"/>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223845"/>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740481"/>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ROADMAP</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01  </a:t>
            </a:r>
            <a:r>
              <a:rPr sz="950" b="1" i="0" spc="140">
                <a:solidFill>
                  <a:srgbClr val="5F776B"/>
                </a:solidFill>
                <a:latin typeface="Segoe UI"/>
                <a:ea typeface="Segoe UI"/>
                <a:cs typeface="Segoe UI"/>
              </a:rPr>
              <a:t>CONTEXT</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Four chapters, twelve minutes</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02 / 26</a:t>
            </a:r>
          </a:p>
        </p:txBody>
      </p:sp>
      <p:grpSp>
        <p:nvGrpSpPr>
          <p:cNvPr id="14" name="!!chapter-1"/>
          <p:cNvGrpSpPr/>
          <p:nvPr/>
        </p:nvGrpSpPr>
        <p:grpSpPr>
          <a:xfrm>
            <a:off x="786384" y="1847088"/>
            <a:ext cx="2487396" cy="3200400"/>
            <a:chOff x="786384" y="1847088"/>
            <a:chExt cx="2487396" cy="3200400"/>
          </a:xfrm>
        </p:grpSpPr>
        <p:sp>
          <p:nvSpPr>
            <p:cNvPr id="15" name="Rounded Rectangle 14"/>
            <p:cNvSpPr/>
            <p:nvPr/>
          </p:nvSpPr>
          <p:spPr>
            <a:xfrm>
              <a:off x="786384" y="1847088"/>
              <a:ext cx="2487396" cy="3200400"/>
            </a:xfrm>
            <a:prstGeom prst="roundRect">
              <a:avLst>
                <a:gd name="adj" fmla="val 551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786384" y="1847088"/>
              <a:ext cx="2487396" cy="68580"/>
            </a:xfrm>
            <a:prstGeom prst="roundRect">
              <a:avLst>
                <a:gd name="adj" fmla="val 26666"/>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1042416" y="2048256"/>
              <a:ext cx="2030196" cy="566928"/>
            </a:xfrm>
            <a:prstGeom prst="rect">
              <a:avLst/>
            </a:prstGeom>
            <a:noFill/>
          </p:spPr>
          <p:txBody>
            <a:bodyPr wrap="square" lIns="0" rIns="0" tIns="0" bIns="0" anchor="t"/>
            <a:lstStyle/>
            <a:p>
              <a:pPr algn="l">
                <a:lnSpc>
                  <a:spcPct val="100000"/>
                </a:lnSpc>
              </a:pPr>
              <a:r>
                <a:rPr sz="3400" b="1" i="0">
                  <a:solidFill>
                    <a:srgbClr val="1F5941"/>
                  </a:solidFill>
                  <a:latin typeface="Georgia"/>
                  <a:ea typeface="Georgia"/>
                  <a:cs typeface="Georgia"/>
                </a:rPr>
                <a:t>01</a:t>
              </a:r>
            </a:p>
          </p:txBody>
        </p:sp>
        <p:sp>
          <p:nvSpPr>
            <p:cNvPr id="18" name="TextBox 17"/>
            <p:cNvSpPr txBox="1"/>
            <p:nvPr/>
          </p:nvSpPr>
          <p:spPr>
            <a:xfrm>
              <a:off x="1042416" y="2743200"/>
              <a:ext cx="2030196" cy="274320"/>
            </a:xfrm>
            <a:prstGeom prst="rect">
              <a:avLst/>
            </a:prstGeom>
            <a:noFill/>
          </p:spPr>
          <p:txBody>
            <a:bodyPr wrap="square" lIns="0" rIns="0" tIns="0" bIns="0" anchor="t"/>
            <a:lstStyle/>
            <a:p>
              <a:pPr algn="l">
                <a:lnSpc>
                  <a:spcPct val="100000"/>
                </a:lnSpc>
              </a:pPr>
              <a:r>
                <a:rPr sz="1600" b="1" i="0">
                  <a:solidFill>
                    <a:srgbClr val="12211B"/>
                  </a:solidFill>
                  <a:latin typeface="Georgia"/>
                  <a:ea typeface="Georgia"/>
                  <a:cs typeface="Georgia"/>
                </a:rPr>
                <a:t>Context</a:t>
              </a:r>
            </a:p>
          </p:txBody>
        </p:sp>
        <p:sp>
          <p:nvSpPr>
            <p:cNvPr id="19" name="Rectangle 18"/>
            <p:cNvSpPr/>
            <p:nvPr/>
          </p:nvSpPr>
          <p:spPr>
            <a:xfrm>
              <a:off x="1042416" y="3090672"/>
              <a:ext cx="502920" cy="27432"/>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1042416" y="3291840"/>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The record gap</a:t>
              </a:r>
            </a:p>
          </p:txBody>
        </p:sp>
        <p:sp>
          <p:nvSpPr>
            <p:cNvPr id="21" name="TextBox 20"/>
            <p:cNvSpPr txBox="1"/>
            <p:nvPr/>
          </p:nvSpPr>
          <p:spPr>
            <a:xfrm>
              <a:off x="1042416" y="3712464"/>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Audit and court evidence</a:t>
              </a:r>
            </a:p>
          </p:txBody>
        </p:sp>
        <p:sp>
          <p:nvSpPr>
            <p:cNvPr id="22" name="TextBox 21"/>
            <p:cNvSpPr txBox="1"/>
            <p:nvPr/>
          </p:nvSpPr>
          <p:spPr>
            <a:xfrm>
              <a:off x="1042416" y="4133088"/>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Question and objectives</a:t>
              </a:r>
            </a:p>
          </p:txBody>
        </p:sp>
        <p:sp>
          <p:nvSpPr>
            <p:cNvPr id="23" name="Rectangle 22"/>
            <p:cNvSpPr/>
            <p:nvPr/>
          </p:nvSpPr>
          <p:spPr>
            <a:xfrm>
              <a:off x="1042416" y="4590288"/>
              <a:ext cx="1975332"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1042416" y="4681728"/>
              <a:ext cx="2030196" cy="201168"/>
            </a:xfrm>
            <a:prstGeom prst="rect">
              <a:avLst/>
            </a:prstGeom>
            <a:noFill/>
          </p:spPr>
          <p:txBody>
            <a:bodyPr wrap="square" lIns="0" rIns="0" tIns="0" bIns="0" anchor="t"/>
            <a:lstStyle/>
            <a:p>
              <a:pPr algn="l">
                <a:lnSpc>
                  <a:spcPct val="100000"/>
                </a:lnSpc>
              </a:pPr>
              <a:r>
                <a:rPr sz="720" b="1" i="0" spc="120">
                  <a:solidFill>
                    <a:srgbClr val="5F776B"/>
                  </a:solidFill>
                  <a:latin typeface="Segoe UI"/>
                  <a:ea typeface="Segoe UI"/>
                  <a:cs typeface="Segoe UI"/>
                </a:rPr>
                <a:t>SLIDES  03 — 06</a:t>
              </a:r>
            </a:p>
          </p:txBody>
        </p:sp>
      </p:grpSp>
      <p:grpSp>
        <p:nvGrpSpPr>
          <p:cNvPr id="25" name="!!chapter-2"/>
          <p:cNvGrpSpPr/>
          <p:nvPr/>
        </p:nvGrpSpPr>
        <p:grpSpPr>
          <a:xfrm>
            <a:off x="3495979" y="1847088"/>
            <a:ext cx="2487396" cy="3200400"/>
            <a:chOff x="3495979" y="1847088"/>
            <a:chExt cx="2487396" cy="3200400"/>
          </a:xfrm>
        </p:grpSpPr>
        <p:sp>
          <p:nvSpPr>
            <p:cNvPr id="26" name="Rounded Rectangle 25"/>
            <p:cNvSpPr/>
            <p:nvPr/>
          </p:nvSpPr>
          <p:spPr>
            <a:xfrm>
              <a:off x="3495979" y="1847088"/>
              <a:ext cx="2487396" cy="3200400"/>
            </a:xfrm>
            <a:prstGeom prst="roundRect">
              <a:avLst>
                <a:gd name="adj" fmla="val 551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Rounded Rectangle 26"/>
            <p:cNvSpPr/>
            <p:nvPr/>
          </p:nvSpPr>
          <p:spPr>
            <a:xfrm>
              <a:off x="3495979" y="1847088"/>
              <a:ext cx="2487396" cy="68580"/>
            </a:xfrm>
            <a:prstGeom prst="roundRect">
              <a:avLst>
                <a:gd name="adj" fmla="val 26666"/>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7"/>
            <p:cNvSpPr txBox="1"/>
            <p:nvPr/>
          </p:nvSpPr>
          <p:spPr>
            <a:xfrm>
              <a:off x="3752011" y="2048256"/>
              <a:ext cx="2030196" cy="566928"/>
            </a:xfrm>
            <a:prstGeom prst="rect">
              <a:avLst/>
            </a:prstGeom>
            <a:noFill/>
          </p:spPr>
          <p:txBody>
            <a:bodyPr wrap="square" lIns="0" rIns="0" tIns="0" bIns="0" anchor="t"/>
            <a:lstStyle/>
            <a:p>
              <a:pPr algn="l">
                <a:lnSpc>
                  <a:spcPct val="100000"/>
                </a:lnSpc>
              </a:pPr>
              <a:r>
                <a:rPr sz="3400" b="1" i="0">
                  <a:solidFill>
                    <a:srgbClr val="A76F26"/>
                  </a:solidFill>
                  <a:latin typeface="Georgia"/>
                  <a:ea typeface="Georgia"/>
                  <a:cs typeface="Georgia"/>
                </a:rPr>
                <a:t>02</a:t>
              </a:r>
            </a:p>
          </p:txBody>
        </p:sp>
        <p:sp>
          <p:nvSpPr>
            <p:cNvPr id="29" name="TextBox 28"/>
            <p:cNvSpPr txBox="1"/>
            <p:nvPr/>
          </p:nvSpPr>
          <p:spPr>
            <a:xfrm>
              <a:off x="3752011" y="2743200"/>
              <a:ext cx="2030196" cy="274320"/>
            </a:xfrm>
            <a:prstGeom prst="rect">
              <a:avLst/>
            </a:prstGeom>
            <a:noFill/>
          </p:spPr>
          <p:txBody>
            <a:bodyPr wrap="square" lIns="0" rIns="0" tIns="0" bIns="0" anchor="t"/>
            <a:lstStyle/>
            <a:p>
              <a:pPr algn="l">
                <a:lnSpc>
                  <a:spcPct val="100000"/>
                </a:lnSpc>
              </a:pPr>
              <a:r>
                <a:rPr sz="1600" b="1" i="0">
                  <a:solidFill>
                    <a:srgbClr val="12211B"/>
                  </a:solidFill>
                  <a:latin typeface="Georgia"/>
                  <a:ea typeface="Georgia"/>
                  <a:cs typeface="Georgia"/>
                </a:rPr>
                <a:t>Design</a:t>
              </a:r>
            </a:p>
          </p:txBody>
        </p:sp>
        <p:sp>
          <p:nvSpPr>
            <p:cNvPr id="30" name="Rectangle 29"/>
            <p:cNvSpPr/>
            <p:nvPr/>
          </p:nvSpPr>
          <p:spPr>
            <a:xfrm>
              <a:off x="3752011" y="3090672"/>
              <a:ext cx="502920" cy="27432"/>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3752011" y="3291840"/>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The core idea</a:t>
              </a:r>
            </a:p>
          </p:txBody>
        </p:sp>
        <p:sp>
          <p:nvSpPr>
            <p:cNvPr id="32" name="TextBox 31"/>
            <p:cNvSpPr txBox="1"/>
            <p:nvPr/>
          </p:nvSpPr>
          <p:spPr>
            <a:xfrm>
              <a:off x="3752011" y="3712464"/>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Architecture &amp; stack</a:t>
              </a:r>
            </a:p>
          </p:txBody>
        </p:sp>
        <p:sp>
          <p:nvSpPr>
            <p:cNvPr id="33" name="TextBox 32"/>
            <p:cNvSpPr txBox="1"/>
            <p:nvPr/>
          </p:nvSpPr>
          <p:spPr>
            <a:xfrm>
              <a:off x="3752011" y="4133088"/>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Wage engine, ledger, QR</a:t>
              </a:r>
            </a:p>
          </p:txBody>
        </p:sp>
        <p:sp>
          <p:nvSpPr>
            <p:cNvPr id="34" name="Rectangle 33"/>
            <p:cNvSpPr/>
            <p:nvPr/>
          </p:nvSpPr>
          <p:spPr>
            <a:xfrm>
              <a:off x="3752011" y="4590288"/>
              <a:ext cx="1975332"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TextBox 34"/>
            <p:cNvSpPr txBox="1"/>
            <p:nvPr/>
          </p:nvSpPr>
          <p:spPr>
            <a:xfrm>
              <a:off x="3752011" y="4681728"/>
              <a:ext cx="2030196" cy="201168"/>
            </a:xfrm>
            <a:prstGeom prst="rect">
              <a:avLst/>
            </a:prstGeom>
            <a:noFill/>
          </p:spPr>
          <p:txBody>
            <a:bodyPr wrap="square" lIns="0" rIns="0" tIns="0" bIns="0" anchor="t"/>
            <a:lstStyle/>
            <a:p>
              <a:pPr algn="l">
                <a:lnSpc>
                  <a:spcPct val="100000"/>
                </a:lnSpc>
              </a:pPr>
              <a:r>
                <a:rPr sz="720" b="1" i="0" spc="120">
                  <a:solidFill>
                    <a:srgbClr val="5F776B"/>
                  </a:solidFill>
                  <a:latin typeface="Segoe UI"/>
                  <a:ea typeface="Segoe UI"/>
                  <a:cs typeface="Segoe UI"/>
                </a:rPr>
                <a:t>SLIDES  07 — 18</a:t>
              </a:r>
            </a:p>
          </p:txBody>
        </p:sp>
      </p:grpSp>
      <p:grpSp>
        <p:nvGrpSpPr>
          <p:cNvPr id="36" name="!!chapter-3"/>
          <p:cNvGrpSpPr/>
          <p:nvPr/>
        </p:nvGrpSpPr>
        <p:grpSpPr>
          <a:xfrm>
            <a:off x="6205575" y="1847088"/>
            <a:ext cx="2487396" cy="3200400"/>
            <a:chOff x="6205575" y="1847088"/>
            <a:chExt cx="2487396" cy="3200400"/>
          </a:xfrm>
        </p:grpSpPr>
        <p:sp>
          <p:nvSpPr>
            <p:cNvPr id="37" name="Rounded Rectangle 36"/>
            <p:cNvSpPr/>
            <p:nvPr/>
          </p:nvSpPr>
          <p:spPr>
            <a:xfrm>
              <a:off x="6205575" y="1847088"/>
              <a:ext cx="2487396" cy="3200400"/>
            </a:xfrm>
            <a:prstGeom prst="roundRect">
              <a:avLst>
                <a:gd name="adj" fmla="val 551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ounded Rectangle 37"/>
            <p:cNvSpPr/>
            <p:nvPr/>
          </p:nvSpPr>
          <p:spPr>
            <a:xfrm>
              <a:off x="6205575" y="1847088"/>
              <a:ext cx="2487396" cy="68580"/>
            </a:xfrm>
            <a:prstGeom prst="roundRect">
              <a:avLst>
                <a:gd name="adj" fmla="val 26666"/>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TextBox 38"/>
            <p:cNvSpPr txBox="1"/>
            <p:nvPr/>
          </p:nvSpPr>
          <p:spPr>
            <a:xfrm>
              <a:off x="6461607" y="2048256"/>
              <a:ext cx="2030196" cy="566928"/>
            </a:xfrm>
            <a:prstGeom prst="rect">
              <a:avLst/>
            </a:prstGeom>
            <a:noFill/>
          </p:spPr>
          <p:txBody>
            <a:bodyPr wrap="square" lIns="0" rIns="0" tIns="0" bIns="0" anchor="t"/>
            <a:lstStyle/>
            <a:p>
              <a:pPr algn="l">
                <a:lnSpc>
                  <a:spcPct val="100000"/>
                </a:lnSpc>
              </a:pPr>
              <a:r>
                <a:rPr sz="3400" b="1" i="0">
                  <a:solidFill>
                    <a:srgbClr val="358B62"/>
                  </a:solidFill>
                  <a:latin typeface="Georgia"/>
                  <a:ea typeface="Georgia"/>
                  <a:cs typeface="Georgia"/>
                </a:rPr>
                <a:t>03</a:t>
              </a:r>
            </a:p>
          </p:txBody>
        </p:sp>
        <p:sp>
          <p:nvSpPr>
            <p:cNvPr id="40" name="TextBox 39"/>
            <p:cNvSpPr txBox="1"/>
            <p:nvPr/>
          </p:nvSpPr>
          <p:spPr>
            <a:xfrm>
              <a:off x="6461607" y="2743200"/>
              <a:ext cx="2030196" cy="274320"/>
            </a:xfrm>
            <a:prstGeom prst="rect">
              <a:avLst/>
            </a:prstGeom>
            <a:noFill/>
          </p:spPr>
          <p:txBody>
            <a:bodyPr wrap="square" lIns="0" rIns="0" tIns="0" bIns="0" anchor="t"/>
            <a:lstStyle/>
            <a:p>
              <a:pPr algn="l">
                <a:lnSpc>
                  <a:spcPct val="100000"/>
                </a:lnSpc>
              </a:pPr>
              <a:r>
                <a:rPr sz="1600" b="1" i="0">
                  <a:solidFill>
                    <a:srgbClr val="12211B"/>
                  </a:solidFill>
                  <a:latin typeface="Georgia"/>
                  <a:ea typeface="Georgia"/>
                  <a:cs typeface="Georgia"/>
                </a:rPr>
                <a:t>Build</a:t>
              </a:r>
            </a:p>
          </p:txBody>
        </p:sp>
        <p:sp>
          <p:nvSpPr>
            <p:cNvPr id="41" name="Rectangle 40"/>
            <p:cNvSpPr/>
            <p:nvPr/>
          </p:nvSpPr>
          <p:spPr>
            <a:xfrm>
              <a:off x="6461607" y="3090672"/>
              <a:ext cx="502920" cy="27432"/>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TextBox 41"/>
            <p:cNvSpPr txBox="1"/>
            <p:nvPr/>
          </p:nvSpPr>
          <p:spPr>
            <a:xfrm>
              <a:off x="6461607" y="3291840"/>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Demo scenarios</a:t>
              </a:r>
            </a:p>
          </p:txBody>
        </p:sp>
        <p:sp>
          <p:nvSpPr>
            <p:cNvPr id="43" name="TextBox 42"/>
            <p:cNvSpPr txBox="1"/>
            <p:nvPr/>
          </p:nvSpPr>
          <p:spPr>
            <a:xfrm>
              <a:off x="6461607" y="3712464"/>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Offline sync &amp; privacy</a:t>
              </a:r>
            </a:p>
          </p:txBody>
        </p:sp>
        <p:sp>
          <p:nvSpPr>
            <p:cNvPr id="44" name="TextBox 43"/>
            <p:cNvSpPr txBox="1"/>
            <p:nvPr/>
          </p:nvSpPr>
          <p:spPr>
            <a:xfrm>
              <a:off x="6461607" y="4133088"/>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Tests, cost, honesty</a:t>
              </a:r>
            </a:p>
          </p:txBody>
        </p:sp>
        <p:sp>
          <p:nvSpPr>
            <p:cNvPr id="45" name="Rectangle 44"/>
            <p:cNvSpPr/>
            <p:nvPr/>
          </p:nvSpPr>
          <p:spPr>
            <a:xfrm>
              <a:off x="6461607" y="4590288"/>
              <a:ext cx="1975332"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TextBox 45"/>
            <p:cNvSpPr txBox="1"/>
            <p:nvPr/>
          </p:nvSpPr>
          <p:spPr>
            <a:xfrm>
              <a:off x="6461607" y="4681728"/>
              <a:ext cx="2030196" cy="201168"/>
            </a:xfrm>
            <a:prstGeom prst="rect">
              <a:avLst/>
            </a:prstGeom>
            <a:noFill/>
          </p:spPr>
          <p:txBody>
            <a:bodyPr wrap="square" lIns="0" rIns="0" tIns="0" bIns="0" anchor="t"/>
            <a:lstStyle/>
            <a:p>
              <a:pPr algn="l">
                <a:lnSpc>
                  <a:spcPct val="100000"/>
                </a:lnSpc>
              </a:pPr>
              <a:r>
                <a:rPr sz="720" b="1" i="0" spc="120">
                  <a:solidFill>
                    <a:srgbClr val="5F776B"/>
                  </a:solidFill>
                  <a:latin typeface="Segoe UI"/>
                  <a:ea typeface="Segoe UI"/>
                  <a:cs typeface="Segoe UI"/>
                </a:rPr>
                <a:t>SLIDES  19 — 23</a:t>
              </a:r>
            </a:p>
          </p:txBody>
        </p:sp>
      </p:grpSp>
      <p:grpSp>
        <p:nvGrpSpPr>
          <p:cNvPr id="47" name="!!chapter-4"/>
          <p:cNvGrpSpPr/>
          <p:nvPr/>
        </p:nvGrpSpPr>
        <p:grpSpPr>
          <a:xfrm>
            <a:off x="8915171" y="1847088"/>
            <a:ext cx="2487396" cy="3200400"/>
            <a:chOff x="8915171" y="1847088"/>
            <a:chExt cx="2487396" cy="3200400"/>
          </a:xfrm>
        </p:grpSpPr>
        <p:sp>
          <p:nvSpPr>
            <p:cNvPr id="48" name="Rounded Rectangle 47"/>
            <p:cNvSpPr/>
            <p:nvPr/>
          </p:nvSpPr>
          <p:spPr>
            <a:xfrm>
              <a:off x="8915171" y="1847088"/>
              <a:ext cx="2487396" cy="3200400"/>
            </a:xfrm>
            <a:prstGeom prst="roundRect">
              <a:avLst>
                <a:gd name="adj" fmla="val 551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9" name="Rounded Rectangle 48"/>
            <p:cNvSpPr/>
            <p:nvPr/>
          </p:nvSpPr>
          <p:spPr>
            <a:xfrm>
              <a:off x="8915171" y="1847088"/>
              <a:ext cx="2487396" cy="68580"/>
            </a:xfrm>
            <a:prstGeom prst="roundRect">
              <a:avLst>
                <a:gd name="adj" fmla="val 26666"/>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0" name="TextBox 49"/>
            <p:cNvSpPr txBox="1"/>
            <p:nvPr/>
          </p:nvSpPr>
          <p:spPr>
            <a:xfrm>
              <a:off x="9171203" y="2048256"/>
              <a:ext cx="2030196" cy="566928"/>
            </a:xfrm>
            <a:prstGeom prst="rect">
              <a:avLst/>
            </a:prstGeom>
            <a:noFill/>
          </p:spPr>
          <p:txBody>
            <a:bodyPr wrap="square" lIns="0" rIns="0" tIns="0" bIns="0" anchor="t"/>
            <a:lstStyle/>
            <a:p>
              <a:pPr algn="l">
                <a:lnSpc>
                  <a:spcPct val="100000"/>
                </a:lnSpc>
              </a:pPr>
              <a:r>
                <a:rPr sz="3400" b="1" i="0">
                  <a:solidFill>
                    <a:srgbClr val="B4482F"/>
                  </a:solidFill>
                  <a:latin typeface="Georgia"/>
                  <a:ea typeface="Georgia"/>
                  <a:cs typeface="Georgia"/>
                </a:rPr>
                <a:t>04</a:t>
              </a:r>
            </a:p>
          </p:txBody>
        </p:sp>
        <p:sp>
          <p:nvSpPr>
            <p:cNvPr id="51" name="TextBox 50"/>
            <p:cNvSpPr txBox="1"/>
            <p:nvPr/>
          </p:nvSpPr>
          <p:spPr>
            <a:xfrm>
              <a:off x="9171203" y="2743200"/>
              <a:ext cx="2030196" cy="274320"/>
            </a:xfrm>
            <a:prstGeom prst="rect">
              <a:avLst/>
            </a:prstGeom>
            <a:noFill/>
          </p:spPr>
          <p:txBody>
            <a:bodyPr wrap="square" lIns="0" rIns="0" tIns="0" bIns="0" anchor="t"/>
            <a:lstStyle/>
            <a:p>
              <a:pPr algn="l">
                <a:lnSpc>
                  <a:spcPct val="100000"/>
                </a:lnSpc>
              </a:pPr>
              <a:r>
                <a:rPr sz="1600" b="1" i="0">
                  <a:solidFill>
                    <a:srgbClr val="12211B"/>
                  </a:solidFill>
                  <a:latin typeface="Georgia"/>
                  <a:ea typeface="Georgia"/>
                  <a:cs typeface="Georgia"/>
                </a:rPr>
                <a:t>Close</a:t>
              </a:r>
            </a:p>
          </p:txBody>
        </p:sp>
        <p:sp>
          <p:nvSpPr>
            <p:cNvPr id="52" name="Rectangle 51"/>
            <p:cNvSpPr/>
            <p:nvPr/>
          </p:nvSpPr>
          <p:spPr>
            <a:xfrm>
              <a:off x="9171203" y="3090672"/>
              <a:ext cx="502920" cy="27432"/>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3" name="TextBox 52"/>
            <p:cNvSpPr txBox="1"/>
            <p:nvPr/>
          </p:nvSpPr>
          <p:spPr>
            <a:xfrm>
              <a:off x="9171203" y="3291840"/>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Limitations</a:t>
              </a:r>
            </a:p>
          </p:txBody>
        </p:sp>
        <p:sp>
          <p:nvSpPr>
            <p:cNvPr id="54" name="TextBox 53"/>
            <p:cNvSpPr txBox="1"/>
            <p:nvPr/>
          </p:nvSpPr>
          <p:spPr>
            <a:xfrm>
              <a:off x="9171203" y="3712464"/>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What is genuinely new</a:t>
              </a:r>
            </a:p>
          </p:txBody>
        </p:sp>
        <p:sp>
          <p:nvSpPr>
            <p:cNvPr id="55" name="TextBox 54"/>
            <p:cNvSpPr txBox="1"/>
            <p:nvPr/>
          </p:nvSpPr>
          <p:spPr>
            <a:xfrm>
              <a:off x="9171203" y="4133088"/>
              <a:ext cx="2066772" cy="384048"/>
            </a:xfrm>
            <a:prstGeom prst="rect">
              <a:avLst/>
            </a:prstGeom>
            <a:noFill/>
          </p:spPr>
          <p:txBody>
            <a:bodyPr wrap="square" lIns="0" rIns="0" tIns="0" bIns="0" anchor="t"/>
            <a:lstStyle/>
            <a:p>
              <a:pPr algn="l">
                <a:lnSpc>
                  <a:spcPct val="105000"/>
                </a:lnSpc>
              </a:pPr>
              <a:r>
                <a:rPr sz="1050" b="0" i="0">
                  <a:solidFill>
                    <a:srgbClr val="C68D2F"/>
                  </a:solidFill>
                  <a:latin typeface="Segoe UI"/>
                  <a:ea typeface="Segoe UI"/>
                  <a:cs typeface="Segoe UI"/>
                </a:rPr>
                <a:t>—  </a:t>
              </a:r>
              <a:r>
                <a:rPr sz="1050" b="0" i="0">
                  <a:solidFill>
                    <a:srgbClr val="557165"/>
                  </a:solidFill>
                  <a:latin typeface="Segoe UI"/>
                  <a:ea typeface="Segoe UI"/>
                  <a:cs typeface="Segoe UI"/>
                </a:rPr>
                <a:t>Questions</a:t>
              </a:r>
            </a:p>
          </p:txBody>
        </p:sp>
        <p:sp>
          <p:nvSpPr>
            <p:cNvPr id="56" name="Rectangle 55"/>
            <p:cNvSpPr/>
            <p:nvPr/>
          </p:nvSpPr>
          <p:spPr>
            <a:xfrm>
              <a:off x="9171203" y="4590288"/>
              <a:ext cx="1975332"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7" name="TextBox 56"/>
            <p:cNvSpPr txBox="1"/>
            <p:nvPr/>
          </p:nvSpPr>
          <p:spPr>
            <a:xfrm>
              <a:off x="9171203" y="4681728"/>
              <a:ext cx="2030196" cy="201168"/>
            </a:xfrm>
            <a:prstGeom prst="rect">
              <a:avLst/>
            </a:prstGeom>
            <a:noFill/>
          </p:spPr>
          <p:txBody>
            <a:bodyPr wrap="square" lIns="0" rIns="0" tIns="0" bIns="0" anchor="t"/>
            <a:lstStyle/>
            <a:p>
              <a:pPr algn="l">
                <a:lnSpc>
                  <a:spcPct val="100000"/>
                </a:lnSpc>
              </a:pPr>
              <a:r>
                <a:rPr sz="720" b="1" i="0" spc="120">
                  <a:solidFill>
                    <a:srgbClr val="5F776B"/>
                  </a:solidFill>
                  <a:latin typeface="Segoe UI"/>
                  <a:ea typeface="Segoe UI"/>
                  <a:cs typeface="Segoe UI"/>
                </a:rPr>
                <a:t>SLIDES  24 — 26</a:t>
              </a:r>
            </a:p>
          </p:txBody>
        </p:sp>
      </p:grpSp>
      <p:sp>
        <p:nvSpPr>
          <p:cNvPr id="58" name="!!status-band"/>
          <p:cNvSpPr/>
          <p:nvPr/>
        </p:nvSpPr>
        <p:spPr>
          <a:xfrm>
            <a:off x="786384" y="5504688"/>
            <a:ext cx="10616184" cy="621792"/>
          </a:xfrm>
          <a:prstGeom prst="roundRect">
            <a:avLst>
              <a:gd name="adj" fmla="val 14705"/>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9" name="TextBox 58"/>
          <p:cNvSpPr txBox="1"/>
          <p:nvPr/>
        </p:nvSpPr>
        <p:spPr>
          <a:xfrm>
            <a:off x="1060704" y="5650992"/>
            <a:ext cx="3931920" cy="329184"/>
          </a:xfrm>
          <a:prstGeom prst="rect">
            <a:avLst/>
          </a:prstGeom>
          <a:noFill/>
        </p:spPr>
        <p:txBody>
          <a:bodyPr wrap="square" lIns="0" rIns="0" tIns="0" bIns="0" anchor="ctr"/>
          <a:lstStyle/>
          <a:p>
            <a:pPr algn="l">
              <a:lnSpc>
                <a:spcPct val="100000"/>
              </a:lnSpc>
            </a:pPr>
            <a:r>
              <a:rPr sz="850" b="0" i="0" spc="140">
                <a:solidFill>
                  <a:srgbClr val="E5C068"/>
                </a:solidFill>
                <a:latin typeface="Segoe UI"/>
                <a:ea typeface="Segoe UI"/>
                <a:cs typeface="Segoe UI"/>
              </a:rPr>
              <a:t>STATUS  </a:t>
            </a:r>
            <a:r>
              <a:rPr sz="1050" b="0" i="0">
                <a:solidFill>
                  <a:srgbClr val="F0E9DA"/>
                </a:solidFill>
                <a:latin typeface="Segoe UI"/>
                <a:ea typeface="Segoe UI"/>
                <a:cs typeface="Segoe UI"/>
              </a:rPr>
              <a:t>local demo mode · IndexedDB</a:t>
            </a:r>
          </a:p>
        </p:txBody>
      </p:sp>
      <p:sp>
        <p:nvSpPr>
          <p:cNvPr id="60" name="TextBox 59"/>
          <p:cNvSpPr txBox="1"/>
          <p:nvPr/>
        </p:nvSpPr>
        <p:spPr>
          <a:xfrm>
            <a:off x="5577840" y="5650992"/>
            <a:ext cx="5577840" cy="329184"/>
          </a:xfrm>
          <a:prstGeom prst="rect">
            <a:avLst/>
          </a:prstGeom>
          <a:noFill/>
        </p:spPr>
        <p:txBody>
          <a:bodyPr wrap="square" lIns="0" rIns="0" tIns="0" bIns="0" anchor="ctr"/>
          <a:lstStyle/>
          <a:p>
            <a:pPr algn="r">
              <a:lnSpc>
                <a:spcPct val="100000"/>
              </a:lnSpc>
            </a:pPr>
            <a:r>
              <a:rPr sz="1000" b="0" i="0">
                <a:solidFill>
                  <a:srgbClr val="8BC7A6"/>
                </a:solidFill>
                <a:latin typeface="Segoe UI"/>
                <a:ea typeface="Segoe UI"/>
                <a:cs typeface="Segoe UI"/>
              </a:rPr>
              <a:t>React 19 · TypeScript · Vite · Web Crypto SHA-256 · QR passes</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10058400" y="-2322576"/>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286000" y="4206240"/>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447690"/>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964326"/>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THE PROBLEM</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01  </a:t>
            </a:r>
            <a:r>
              <a:rPr sz="950" b="1" i="0" spc="140">
                <a:solidFill>
                  <a:srgbClr val="5F776B"/>
                </a:solidFill>
                <a:latin typeface="Segoe UI"/>
                <a:ea typeface="Segoe UI"/>
                <a:cs typeface="Segoe UI"/>
              </a:rPr>
              <a:t>CONTEXT</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A dispute begins where the record ends</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03 / 26</a:t>
            </a:r>
          </a:p>
        </p:txBody>
      </p:sp>
      <p:sp>
        <p:nvSpPr>
          <p:cNvPr id="14" name="TextBox 13"/>
          <p:cNvSpPr txBox="1"/>
          <p:nvPr/>
        </p:nvSpPr>
        <p:spPr>
          <a:xfrm>
            <a:off x="786384" y="1810512"/>
            <a:ext cx="9692640" cy="457200"/>
          </a:xfrm>
          <a:prstGeom prst="rect">
            <a:avLst/>
          </a:prstGeom>
          <a:noFill/>
        </p:spPr>
        <p:txBody>
          <a:bodyPr wrap="square" lIns="0" rIns="0" tIns="0" bIns="0" anchor="t"/>
          <a:lstStyle/>
          <a:p>
            <a:pPr algn="l">
              <a:lnSpc>
                <a:spcPct val="120000"/>
              </a:lnSpc>
            </a:pPr>
            <a:r>
              <a:rPr sz="1250" b="0" i="0">
                <a:solidFill>
                  <a:srgbClr val="557165"/>
                </a:solidFill>
                <a:latin typeface="Segoe UI"/>
                <a:ea typeface="Segoe UI"/>
                <a:cs typeface="Segoe UI"/>
              </a:rPr>
              <a:t>One shift passes through six hands. No single artefact holds all six — so every disagreement becomes one person's memory against another's.</a:t>
            </a:r>
          </a:p>
        </p:txBody>
      </p:sp>
      <p:sp>
        <p:nvSpPr>
          <p:cNvPr id="15" name="!!chain-line"/>
          <p:cNvSpPr/>
          <p:nvPr/>
        </p:nvSpPr>
        <p:spPr>
          <a:xfrm>
            <a:off x="1060704" y="2724912"/>
            <a:ext cx="9692640" cy="10972"/>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grpSp>
        <p:nvGrpSpPr>
          <p:cNvPr id="16" name="!!step-1"/>
          <p:cNvGrpSpPr/>
          <p:nvPr/>
        </p:nvGrpSpPr>
        <p:grpSpPr>
          <a:xfrm>
            <a:off x="182879" y="2487168"/>
            <a:ext cx="1828800" cy="1499616"/>
            <a:chOff x="182879" y="2487168"/>
            <a:chExt cx="1828800" cy="1499616"/>
          </a:xfrm>
        </p:grpSpPr>
        <p:sp>
          <p:nvSpPr>
            <p:cNvPr id="17" name="Oval 16"/>
            <p:cNvSpPr/>
            <p:nvPr/>
          </p:nvSpPr>
          <p:spPr>
            <a:xfrm>
              <a:off x="850392" y="2487168"/>
              <a:ext cx="493776" cy="493776"/>
            </a:xfrm>
            <a:prstGeom prst="ellipse">
              <a:avLst/>
            </a:prstGeom>
            <a:solidFill>
              <a:srgbClr val="FFFFFF"/>
            </a:solidFill>
            <a:ln w="17780">
              <a:solidFill>
                <a:srgbClr val="1F5941"/>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2615184"/>
              <a:ext cx="493776" cy="237744"/>
            </a:xfrm>
            <a:prstGeom prst="rect">
              <a:avLst/>
            </a:prstGeom>
            <a:noFill/>
          </p:spPr>
          <p:txBody>
            <a:bodyPr wrap="square" lIns="0" rIns="0" tIns="0" bIns="0" anchor="t"/>
            <a:lstStyle/>
            <a:p>
              <a:pPr algn="ctr">
                <a:lnSpc>
                  <a:spcPct val="100000"/>
                </a:lnSpc>
              </a:pPr>
              <a:r>
                <a:rPr sz="1200" b="1" i="0">
                  <a:solidFill>
                    <a:srgbClr val="1F5941"/>
                  </a:solidFill>
                  <a:latin typeface="Georgia"/>
                  <a:ea typeface="Georgia"/>
                  <a:cs typeface="Georgia"/>
                </a:rPr>
                <a:t>1</a:t>
              </a:r>
            </a:p>
          </p:txBody>
        </p:sp>
        <p:sp>
          <p:nvSpPr>
            <p:cNvPr id="19" name="TextBox 18"/>
            <p:cNvSpPr txBox="1"/>
            <p:nvPr/>
          </p:nvSpPr>
          <p:spPr>
            <a:xfrm>
              <a:off x="182879" y="3145536"/>
              <a:ext cx="1828800" cy="237744"/>
            </a:xfrm>
            <a:prstGeom prst="rect">
              <a:avLst/>
            </a:prstGeom>
            <a:noFill/>
          </p:spPr>
          <p:txBody>
            <a:bodyPr wrap="square" lIns="0" rIns="0" tIns="0" bIns="0" anchor="t"/>
            <a:lstStyle/>
            <a:p>
              <a:pPr algn="ctr">
                <a:lnSpc>
                  <a:spcPct val="100000"/>
                </a:lnSpc>
              </a:pPr>
              <a:r>
                <a:rPr sz="1150" b="1" i="0">
                  <a:solidFill>
                    <a:srgbClr val="12211B"/>
                  </a:solidFill>
                  <a:latin typeface="Segoe UI"/>
                  <a:ea typeface="Segoe UI"/>
                  <a:cs typeface="Segoe UI"/>
                </a:rPr>
                <a:t>Agreed</a:t>
              </a:r>
            </a:p>
          </p:txBody>
        </p:sp>
        <p:sp>
          <p:nvSpPr>
            <p:cNvPr id="20" name="TextBox 19"/>
            <p:cNvSpPr txBox="1"/>
            <p:nvPr/>
          </p:nvSpPr>
          <p:spPr>
            <a:xfrm>
              <a:off x="182879" y="3419856"/>
              <a:ext cx="1828800" cy="566928"/>
            </a:xfrm>
            <a:prstGeom prst="rect">
              <a:avLst/>
            </a:prstGeom>
            <a:noFill/>
          </p:spPr>
          <p:txBody>
            <a:bodyPr wrap="square" lIns="0" rIns="0" tIns="0" bIns="0" anchor="t"/>
            <a:lstStyle/>
            <a:p>
              <a:pPr algn="ctr">
                <a:lnSpc>
                  <a:spcPct val="110000"/>
                </a:lnSpc>
                <a:spcAft>
                  <a:spcPts val="0"/>
                </a:spcAft>
              </a:pPr>
              <a:r>
                <a:rPr sz="900" b="0" i="0">
                  <a:solidFill>
                    <a:srgbClr val="557165"/>
                  </a:solidFill>
                  <a:latin typeface="Segoe UI"/>
                  <a:ea typeface="Segoe UI"/>
                  <a:cs typeface="Segoe UI"/>
                </a:rPr>
                <a:t>rate spoken,</a:t>
              </a:r>
            </a:p>
            <a:p>
              <a:pPr algn="ctr">
                <a:lnSpc>
                  <a:spcPct val="110000"/>
                </a:lnSpc>
              </a:pPr>
              <a:r>
                <a:rPr sz="900" b="0" i="0">
                  <a:solidFill>
                    <a:srgbClr val="557165"/>
                  </a:solidFill>
                  <a:latin typeface="Segoe UI"/>
                  <a:ea typeface="Segoe UI"/>
                  <a:cs typeface="Segoe UI"/>
                </a:rPr>
                <a:t>never written</a:t>
              </a:r>
            </a:p>
          </p:txBody>
        </p:sp>
      </p:grpSp>
      <p:grpSp>
        <p:nvGrpSpPr>
          <p:cNvPr id="21" name="!!step-2"/>
          <p:cNvGrpSpPr/>
          <p:nvPr/>
        </p:nvGrpSpPr>
        <p:grpSpPr>
          <a:xfrm>
            <a:off x="2066543" y="2487168"/>
            <a:ext cx="1828800" cy="1499616"/>
            <a:chOff x="2066543" y="2487168"/>
            <a:chExt cx="1828800" cy="1499616"/>
          </a:xfrm>
        </p:grpSpPr>
        <p:sp>
          <p:nvSpPr>
            <p:cNvPr id="22" name="Oval 21"/>
            <p:cNvSpPr/>
            <p:nvPr/>
          </p:nvSpPr>
          <p:spPr>
            <a:xfrm>
              <a:off x="2734056" y="2487168"/>
              <a:ext cx="493776" cy="493776"/>
            </a:xfrm>
            <a:prstGeom prst="ellipse">
              <a:avLst/>
            </a:prstGeom>
            <a:solidFill>
              <a:srgbClr val="FFFFFF"/>
            </a:solidFill>
            <a:ln w="17780">
              <a:solidFill>
                <a:srgbClr val="1F5941"/>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34056" y="2615184"/>
              <a:ext cx="493776" cy="237744"/>
            </a:xfrm>
            <a:prstGeom prst="rect">
              <a:avLst/>
            </a:prstGeom>
            <a:noFill/>
          </p:spPr>
          <p:txBody>
            <a:bodyPr wrap="square" lIns="0" rIns="0" tIns="0" bIns="0" anchor="t"/>
            <a:lstStyle/>
            <a:p>
              <a:pPr algn="ctr">
                <a:lnSpc>
                  <a:spcPct val="100000"/>
                </a:lnSpc>
              </a:pPr>
              <a:r>
                <a:rPr sz="1200" b="1" i="0">
                  <a:solidFill>
                    <a:srgbClr val="1F5941"/>
                  </a:solidFill>
                  <a:latin typeface="Georgia"/>
                  <a:ea typeface="Georgia"/>
                  <a:cs typeface="Georgia"/>
                </a:rPr>
                <a:t>2</a:t>
              </a:r>
            </a:p>
          </p:txBody>
        </p:sp>
        <p:sp>
          <p:nvSpPr>
            <p:cNvPr id="24" name="TextBox 23"/>
            <p:cNvSpPr txBox="1"/>
            <p:nvPr/>
          </p:nvSpPr>
          <p:spPr>
            <a:xfrm>
              <a:off x="2066543" y="3145536"/>
              <a:ext cx="1828800" cy="237744"/>
            </a:xfrm>
            <a:prstGeom prst="rect">
              <a:avLst/>
            </a:prstGeom>
            <a:noFill/>
          </p:spPr>
          <p:txBody>
            <a:bodyPr wrap="square" lIns="0" rIns="0" tIns="0" bIns="0" anchor="t"/>
            <a:lstStyle/>
            <a:p>
              <a:pPr algn="ctr">
                <a:lnSpc>
                  <a:spcPct val="100000"/>
                </a:lnSpc>
              </a:pPr>
              <a:r>
                <a:rPr sz="1150" b="1" i="0">
                  <a:solidFill>
                    <a:srgbClr val="12211B"/>
                  </a:solidFill>
                  <a:latin typeface="Segoe UI"/>
                  <a:ea typeface="Segoe UI"/>
                  <a:cs typeface="Segoe UI"/>
                </a:rPr>
                <a:t>Recorded</a:t>
              </a:r>
            </a:p>
          </p:txBody>
        </p:sp>
        <p:sp>
          <p:nvSpPr>
            <p:cNvPr id="25" name="TextBox 24"/>
            <p:cNvSpPr txBox="1"/>
            <p:nvPr/>
          </p:nvSpPr>
          <p:spPr>
            <a:xfrm>
              <a:off x="2066543" y="3419856"/>
              <a:ext cx="1828800" cy="566928"/>
            </a:xfrm>
            <a:prstGeom prst="rect">
              <a:avLst/>
            </a:prstGeom>
            <a:noFill/>
          </p:spPr>
          <p:txBody>
            <a:bodyPr wrap="square" lIns="0" rIns="0" tIns="0" bIns="0" anchor="t"/>
            <a:lstStyle/>
            <a:p>
              <a:pPr algn="ctr">
                <a:lnSpc>
                  <a:spcPct val="110000"/>
                </a:lnSpc>
                <a:spcAft>
                  <a:spcPts val="0"/>
                </a:spcAft>
              </a:pPr>
              <a:r>
                <a:rPr sz="900" b="0" i="0">
                  <a:solidFill>
                    <a:srgbClr val="557165"/>
                  </a:solidFill>
                  <a:latin typeface="Segoe UI"/>
                  <a:ea typeface="Segoe UI"/>
                  <a:cs typeface="Segoe UI"/>
                </a:rPr>
                <a:t>register or</a:t>
              </a:r>
            </a:p>
            <a:p>
              <a:pPr algn="ctr">
                <a:lnSpc>
                  <a:spcPct val="110000"/>
                </a:lnSpc>
              </a:pPr>
              <a:r>
                <a:rPr sz="900" b="0" i="0">
                  <a:solidFill>
                    <a:srgbClr val="557165"/>
                  </a:solidFill>
                  <a:latin typeface="Segoe UI"/>
                  <a:ea typeface="Segoe UI"/>
                  <a:cs typeface="Segoe UI"/>
                </a:rPr>
                <a:t>WhatsApp message</a:t>
              </a:r>
            </a:p>
          </p:txBody>
        </p:sp>
      </p:grpSp>
      <p:grpSp>
        <p:nvGrpSpPr>
          <p:cNvPr id="26" name="!!step-3"/>
          <p:cNvGrpSpPr/>
          <p:nvPr/>
        </p:nvGrpSpPr>
        <p:grpSpPr>
          <a:xfrm>
            <a:off x="3950208" y="2487168"/>
            <a:ext cx="1828800" cy="1499616"/>
            <a:chOff x="3950208" y="2487168"/>
            <a:chExt cx="1828800" cy="1499616"/>
          </a:xfrm>
        </p:grpSpPr>
        <p:sp>
          <p:nvSpPr>
            <p:cNvPr id="27" name="Oval 26"/>
            <p:cNvSpPr/>
            <p:nvPr/>
          </p:nvSpPr>
          <p:spPr>
            <a:xfrm>
              <a:off x="4617720" y="2487168"/>
              <a:ext cx="493776" cy="493776"/>
            </a:xfrm>
            <a:prstGeom prst="ellipse">
              <a:avLst/>
            </a:prstGeom>
            <a:solidFill>
              <a:srgbClr val="FFFFFF"/>
            </a:solidFill>
            <a:ln w="17780">
              <a:solidFill>
                <a:srgbClr val="1F5941"/>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2615184"/>
              <a:ext cx="493776" cy="237744"/>
            </a:xfrm>
            <a:prstGeom prst="rect">
              <a:avLst/>
            </a:prstGeom>
            <a:noFill/>
          </p:spPr>
          <p:txBody>
            <a:bodyPr wrap="square" lIns="0" rIns="0" tIns="0" bIns="0" anchor="t"/>
            <a:lstStyle/>
            <a:p>
              <a:pPr algn="ctr">
                <a:lnSpc>
                  <a:spcPct val="100000"/>
                </a:lnSpc>
              </a:pPr>
              <a:r>
                <a:rPr sz="1200" b="1" i="0">
                  <a:solidFill>
                    <a:srgbClr val="1F5941"/>
                  </a:solidFill>
                  <a:latin typeface="Georgia"/>
                  <a:ea typeface="Georgia"/>
                  <a:cs typeface="Georgia"/>
                </a:rPr>
                <a:t>3</a:t>
              </a:r>
            </a:p>
          </p:txBody>
        </p:sp>
        <p:sp>
          <p:nvSpPr>
            <p:cNvPr id="29" name="TextBox 28"/>
            <p:cNvSpPr txBox="1"/>
            <p:nvPr/>
          </p:nvSpPr>
          <p:spPr>
            <a:xfrm>
              <a:off x="3950208" y="3145536"/>
              <a:ext cx="1828800" cy="237744"/>
            </a:xfrm>
            <a:prstGeom prst="rect">
              <a:avLst/>
            </a:prstGeom>
            <a:noFill/>
          </p:spPr>
          <p:txBody>
            <a:bodyPr wrap="square" lIns="0" rIns="0" tIns="0" bIns="0" anchor="t"/>
            <a:lstStyle/>
            <a:p>
              <a:pPr algn="ctr">
                <a:lnSpc>
                  <a:spcPct val="100000"/>
                </a:lnSpc>
              </a:pPr>
              <a:r>
                <a:rPr sz="1150" b="1" i="0">
                  <a:solidFill>
                    <a:srgbClr val="12211B"/>
                  </a:solidFill>
                  <a:latin typeface="Segoe UI"/>
                  <a:ea typeface="Segoe UI"/>
                  <a:cs typeface="Segoe UI"/>
                </a:rPr>
                <a:t>Calculated</a:t>
              </a:r>
            </a:p>
          </p:txBody>
        </p:sp>
        <p:sp>
          <p:nvSpPr>
            <p:cNvPr id="30" name="TextBox 29"/>
            <p:cNvSpPr txBox="1"/>
            <p:nvPr/>
          </p:nvSpPr>
          <p:spPr>
            <a:xfrm>
              <a:off x="3950208" y="3419856"/>
              <a:ext cx="1828800" cy="566928"/>
            </a:xfrm>
            <a:prstGeom prst="rect">
              <a:avLst/>
            </a:prstGeom>
            <a:noFill/>
          </p:spPr>
          <p:txBody>
            <a:bodyPr wrap="square" lIns="0" rIns="0" tIns="0" bIns="0" anchor="t"/>
            <a:lstStyle/>
            <a:p>
              <a:pPr algn="ctr">
                <a:lnSpc>
                  <a:spcPct val="110000"/>
                </a:lnSpc>
                <a:spcAft>
                  <a:spcPts val="0"/>
                </a:spcAft>
              </a:pPr>
              <a:r>
                <a:rPr sz="900" b="0" i="0">
                  <a:solidFill>
                    <a:srgbClr val="557165"/>
                  </a:solidFill>
                  <a:latin typeface="Segoe UI"/>
                  <a:ea typeface="Segoe UI"/>
                  <a:cs typeface="Segoe UI"/>
                </a:rPr>
                <a:t>arithmetic not</a:t>
              </a:r>
            </a:p>
            <a:p>
              <a:pPr algn="ctr">
                <a:lnSpc>
                  <a:spcPct val="110000"/>
                </a:lnSpc>
              </a:pPr>
              <a:r>
                <a:rPr sz="900" b="0" i="0">
                  <a:solidFill>
                    <a:srgbClr val="557165"/>
                  </a:solidFill>
                  <a:latin typeface="Segoe UI"/>
                  <a:ea typeface="Segoe UI"/>
                  <a:cs typeface="Segoe UI"/>
                </a:rPr>
                <a:t>shown to the worker</a:t>
              </a:r>
            </a:p>
          </p:txBody>
        </p:sp>
      </p:grpSp>
      <p:grpSp>
        <p:nvGrpSpPr>
          <p:cNvPr id="31" name="!!step-4"/>
          <p:cNvGrpSpPr/>
          <p:nvPr/>
        </p:nvGrpSpPr>
        <p:grpSpPr>
          <a:xfrm>
            <a:off x="5833872" y="2487168"/>
            <a:ext cx="1828800" cy="1499616"/>
            <a:chOff x="5833872" y="2487168"/>
            <a:chExt cx="1828800" cy="1499616"/>
          </a:xfrm>
        </p:grpSpPr>
        <p:sp>
          <p:nvSpPr>
            <p:cNvPr id="32" name="Oval 31"/>
            <p:cNvSpPr/>
            <p:nvPr/>
          </p:nvSpPr>
          <p:spPr>
            <a:xfrm>
              <a:off x="6501383" y="2487168"/>
              <a:ext cx="493776" cy="493776"/>
            </a:xfrm>
            <a:prstGeom prst="ellipse">
              <a:avLst/>
            </a:prstGeom>
            <a:solidFill>
              <a:srgbClr val="FFFFFF"/>
            </a:solidFill>
            <a:ln w="17780">
              <a:solidFill>
                <a:srgbClr val="A76F26"/>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01383" y="2615184"/>
              <a:ext cx="493776" cy="237744"/>
            </a:xfrm>
            <a:prstGeom prst="rect">
              <a:avLst/>
            </a:prstGeom>
            <a:noFill/>
          </p:spPr>
          <p:txBody>
            <a:bodyPr wrap="square" lIns="0" rIns="0" tIns="0" bIns="0" anchor="t"/>
            <a:lstStyle/>
            <a:p>
              <a:pPr algn="ctr">
                <a:lnSpc>
                  <a:spcPct val="100000"/>
                </a:lnSpc>
              </a:pPr>
              <a:r>
                <a:rPr sz="1200" b="1" i="0">
                  <a:solidFill>
                    <a:srgbClr val="A76F26"/>
                  </a:solidFill>
                  <a:latin typeface="Georgia"/>
                  <a:ea typeface="Georgia"/>
                  <a:cs typeface="Georgia"/>
                </a:rPr>
                <a:t>4</a:t>
              </a:r>
            </a:p>
          </p:txBody>
        </p:sp>
        <p:sp>
          <p:nvSpPr>
            <p:cNvPr id="34" name="TextBox 33"/>
            <p:cNvSpPr txBox="1"/>
            <p:nvPr/>
          </p:nvSpPr>
          <p:spPr>
            <a:xfrm>
              <a:off x="5833872" y="3145536"/>
              <a:ext cx="1828800" cy="237744"/>
            </a:xfrm>
            <a:prstGeom prst="rect">
              <a:avLst/>
            </a:prstGeom>
            <a:noFill/>
          </p:spPr>
          <p:txBody>
            <a:bodyPr wrap="square" lIns="0" rIns="0" tIns="0" bIns="0" anchor="t"/>
            <a:lstStyle/>
            <a:p>
              <a:pPr algn="ctr">
                <a:lnSpc>
                  <a:spcPct val="100000"/>
                </a:lnSpc>
              </a:pPr>
              <a:r>
                <a:rPr sz="1150" b="1" i="0">
                  <a:solidFill>
                    <a:srgbClr val="12211B"/>
                  </a:solidFill>
                  <a:latin typeface="Segoe UI"/>
                  <a:ea typeface="Segoe UI"/>
                  <a:cs typeface="Segoe UI"/>
                </a:rPr>
                <a:t>Paid</a:t>
              </a:r>
            </a:p>
          </p:txBody>
        </p:sp>
        <p:sp>
          <p:nvSpPr>
            <p:cNvPr id="35" name="TextBox 34"/>
            <p:cNvSpPr txBox="1"/>
            <p:nvPr/>
          </p:nvSpPr>
          <p:spPr>
            <a:xfrm>
              <a:off x="5833872" y="3419856"/>
              <a:ext cx="1828800" cy="566928"/>
            </a:xfrm>
            <a:prstGeom prst="rect">
              <a:avLst/>
            </a:prstGeom>
            <a:noFill/>
          </p:spPr>
          <p:txBody>
            <a:bodyPr wrap="square" lIns="0" rIns="0" tIns="0" bIns="0" anchor="t"/>
            <a:lstStyle/>
            <a:p>
              <a:pPr algn="ctr">
                <a:lnSpc>
                  <a:spcPct val="110000"/>
                </a:lnSpc>
                <a:spcAft>
                  <a:spcPts val="0"/>
                </a:spcAft>
              </a:pPr>
              <a:r>
                <a:rPr sz="900" b="0" i="0">
                  <a:solidFill>
                    <a:srgbClr val="557165"/>
                  </a:solidFill>
                  <a:latin typeface="Segoe UI"/>
                  <a:ea typeface="Segoe UI"/>
                  <a:cs typeface="Segoe UI"/>
                </a:rPr>
                <a:t>contractor's own</a:t>
              </a:r>
            </a:p>
            <a:p>
              <a:pPr algn="ctr">
                <a:lnSpc>
                  <a:spcPct val="110000"/>
                </a:lnSpc>
              </a:pPr>
              <a:r>
                <a:rPr sz="900" b="0" i="0">
                  <a:solidFill>
                    <a:srgbClr val="557165"/>
                  </a:solidFill>
                  <a:latin typeface="Segoe UI"/>
                  <a:ea typeface="Segoe UI"/>
                  <a:cs typeface="Segoe UI"/>
                </a:rPr>
                <a:t>note of payment</a:t>
              </a:r>
            </a:p>
          </p:txBody>
        </p:sp>
      </p:grpSp>
      <p:grpSp>
        <p:nvGrpSpPr>
          <p:cNvPr id="36" name="!!step-5"/>
          <p:cNvGrpSpPr/>
          <p:nvPr/>
        </p:nvGrpSpPr>
        <p:grpSpPr>
          <a:xfrm>
            <a:off x="7717536" y="2487168"/>
            <a:ext cx="1828800" cy="1499616"/>
            <a:chOff x="7717536" y="2487168"/>
            <a:chExt cx="1828800" cy="1499616"/>
          </a:xfrm>
        </p:grpSpPr>
        <p:sp>
          <p:nvSpPr>
            <p:cNvPr id="37" name="Oval 36"/>
            <p:cNvSpPr/>
            <p:nvPr/>
          </p:nvSpPr>
          <p:spPr>
            <a:xfrm>
              <a:off x="8385048" y="2487168"/>
              <a:ext cx="493776" cy="493776"/>
            </a:xfrm>
            <a:prstGeom prst="ellipse">
              <a:avLst/>
            </a:prstGeom>
            <a:solidFill>
              <a:srgbClr val="FFFFFF"/>
            </a:solidFill>
            <a:ln w="17780">
              <a:solidFill>
                <a:srgbClr val="B4482F"/>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85048" y="2615184"/>
              <a:ext cx="493776" cy="237744"/>
            </a:xfrm>
            <a:prstGeom prst="rect">
              <a:avLst/>
            </a:prstGeom>
            <a:noFill/>
          </p:spPr>
          <p:txBody>
            <a:bodyPr wrap="square" lIns="0" rIns="0" tIns="0" bIns="0" anchor="t"/>
            <a:lstStyle/>
            <a:p>
              <a:pPr algn="ctr">
                <a:lnSpc>
                  <a:spcPct val="100000"/>
                </a:lnSpc>
              </a:pPr>
              <a:r>
                <a:rPr sz="1200" b="1" i="0">
                  <a:solidFill>
                    <a:srgbClr val="B4482F"/>
                  </a:solidFill>
                  <a:latin typeface="Georgia"/>
                  <a:ea typeface="Georgia"/>
                  <a:cs typeface="Georgia"/>
                </a:rPr>
                <a:t>5</a:t>
              </a:r>
            </a:p>
          </p:txBody>
        </p:sp>
        <p:sp>
          <p:nvSpPr>
            <p:cNvPr id="39" name="TextBox 38"/>
            <p:cNvSpPr txBox="1"/>
            <p:nvPr/>
          </p:nvSpPr>
          <p:spPr>
            <a:xfrm>
              <a:off x="7717536" y="3145536"/>
              <a:ext cx="1828800" cy="237744"/>
            </a:xfrm>
            <a:prstGeom prst="rect">
              <a:avLst/>
            </a:prstGeom>
            <a:noFill/>
          </p:spPr>
          <p:txBody>
            <a:bodyPr wrap="square" lIns="0" rIns="0" tIns="0" bIns="0" anchor="t"/>
            <a:lstStyle/>
            <a:p>
              <a:pPr algn="ctr">
                <a:lnSpc>
                  <a:spcPct val="100000"/>
                </a:lnSpc>
              </a:pPr>
              <a:r>
                <a:rPr sz="1150" b="1" i="0">
                  <a:solidFill>
                    <a:srgbClr val="12211B"/>
                  </a:solidFill>
                  <a:latin typeface="Segoe UI"/>
                  <a:ea typeface="Segoe UI"/>
                  <a:cs typeface="Segoe UI"/>
                </a:rPr>
                <a:t>Acknowledged</a:t>
              </a:r>
            </a:p>
          </p:txBody>
        </p:sp>
        <p:sp>
          <p:nvSpPr>
            <p:cNvPr id="40" name="TextBox 39"/>
            <p:cNvSpPr txBox="1"/>
            <p:nvPr/>
          </p:nvSpPr>
          <p:spPr>
            <a:xfrm>
              <a:off x="7717536" y="3419856"/>
              <a:ext cx="1828800" cy="566928"/>
            </a:xfrm>
            <a:prstGeom prst="rect">
              <a:avLst/>
            </a:prstGeom>
            <a:noFill/>
          </p:spPr>
          <p:txBody>
            <a:bodyPr wrap="square" lIns="0" rIns="0" tIns="0" bIns="0" anchor="t"/>
            <a:lstStyle/>
            <a:p>
              <a:pPr algn="ctr">
                <a:lnSpc>
                  <a:spcPct val="110000"/>
                </a:lnSpc>
                <a:spcAft>
                  <a:spcPts val="0"/>
                </a:spcAft>
              </a:pPr>
              <a:r>
                <a:rPr sz="900" b="0" i="0">
                  <a:solidFill>
                    <a:srgbClr val="557165"/>
                  </a:solidFill>
                  <a:latin typeface="Segoe UI"/>
                  <a:ea typeface="Segoe UI"/>
                  <a:cs typeface="Segoe UI"/>
                </a:rPr>
                <a:t>no worker receipt</a:t>
              </a:r>
            </a:p>
            <a:p>
              <a:pPr algn="ctr">
                <a:lnSpc>
                  <a:spcPct val="110000"/>
                </a:lnSpc>
              </a:pPr>
              <a:r>
                <a:rPr sz="900" b="0" i="0">
                  <a:solidFill>
                    <a:srgbClr val="557165"/>
                  </a:solidFill>
                  <a:latin typeface="Segoe UI"/>
                  <a:ea typeface="Segoe UI"/>
                  <a:cs typeface="Segoe UI"/>
                </a:rPr>
                <a:t>exists at all</a:t>
              </a:r>
            </a:p>
          </p:txBody>
        </p:sp>
      </p:grpSp>
      <p:grpSp>
        <p:nvGrpSpPr>
          <p:cNvPr id="41" name="!!step-6"/>
          <p:cNvGrpSpPr/>
          <p:nvPr/>
        </p:nvGrpSpPr>
        <p:grpSpPr>
          <a:xfrm>
            <a:off x="9601200" y="2487168"/>
            <a:ext cx="1828800" cy="1499616"/>
            <a:chOff x="9601200" y="2487168"/>
            <a:chExt cx="1828800" cy="1499616"/>
          </a:xfrm>
        </p:grpSpPr>
        <p:sp>
          <p:nvSpPr>
            <p:cNvPr id="42" name="Oval 41"/>
            <p:cNvSpPr/>
            <p:nvPr/>
          </p:nvSpPr>
          <p:spPr>
            <a:xfrm>
              <a:off x="10268712" y="2487168"/>
              <a:ext cx="493776" cy="493776"/>
            </a:xfrm>
            <a:prstGeom prst="ellipse">
              <a:avLst/>
            </a:prstGeom>
            <a:solidFill>
              <a:srgbClr val="FFFFFF"/>
            </a:solidFill>
            <a:ln w="17780">
              <a:solidFill>
                <a:srgbClr val="B4482F"/>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68712" y="2615184"/>
              <a:ext cx="493776" cy="237744"/>
            </a:xfrm>
            <a:prstGeom prst="rect">
              <a:avLst/>
            </a:prstGeom>
            <a:noFill/>
          </p:spPr>
          <p:txBody>
            <a:bodyPr wrap="square" lIns="0" rIns="0" tIns="0" bIns="0" anchor="t"/>
            <a:lstStyle/>
            <a:p>
              <a:pPr algn="ctr">
                <a:lnSpc>
                  <a:spcPct val="100000"/>
                </a:lnSpc>
              </a:pPr>
              <a:r>
                <a:rPr sz="1200" b="1" i="0">
                  <a:solidFill>
                    <a:srgbClr val="B4482F"/>
                  </a:solidFill>
                  <a:latin typeface="Georgia"/>
                  <a:ea typeface="Georgia"/>
                  <a:cs typeface="Georgia"/>
                </a:rPr>
                <a:t>6</a:t>
              </a:r>
            </a:p>
          </p:txBody>
        </p:sp>
        <p:sp>
          <p:nvSpPr>
            <p:cNvPr id="44" name="TextBox 43"/>
            <p:cNvSpPr txBox="1"/>
            <p:nvPr/>
          </p:nvSpPr>
          <p:spPr>
            <a:xfrm>
              <a:off x="9601200" y="3145536"/>
              <a:ext cx="1828800" cy="237744"/>
            </a:xfrm>
            <a:prstGeom prst="rect">
              <a:avLst/>
            </a:prstGeom>
            <a:noFill/>
          </p:spPr>
          <p:txBody>
            <a:bodyPr wrap="square" lIns="0" rIns="0" tIns="0" bIns="0" anchor="t"/>
            <a:lstStyle/>
            <a:p>
              <a:pPr algn="ctr">
                <a:lnSpc>
                  <a:spcPct val="100000"/>
                </a:lnSpc>
              </a:pPr>
              <a:r>
                <a:rPr sz="1150" b="1" i="0">
                  <a:solidFill>
                    <a:srgbClr val="12211B"/>
                  </a:solidFill>
                  <a:latin typeface="Segoe UI"/>
                  <a:ea typeface="Segoe UI"/>
                  <a:cs typeface="Segoe UI"/>
                </a:rPr>
                <a:t>Disputed</a:t>
              </a:r>
            </a:p>
          </p:txBody>
        </p:sp>
        <p:sp>
          <p:nvSpPr>
            <p:cNvPr id="45" name="TextBox 44"/>
            <p:cNvSpPr txBox="1"/>
            <p:nvPr/>
          </p:nvSpPr>
          <p:spPr>
            <a:xfrm>
              <a:off x="9601200" y="3419856"/>
              <a:ext cx="1828800" cy="566928"/>
            </a:xfrm>
            <a:prstGeom prst="rect">
              <a:avLst/>
            </a:prstGeom>
            <a:noFill/>
          </p:spPr>
          <p:txBody>
            <a:bodyPr wrap="square" lIns="0" rIns="0" tIns="0" bIns="0" anchor="t"/>
            <a:lstStyle/>
            <a:p>
              <a:pPr algn="ctr">
                <a:lnSpc>
                  <a:spcPct val="110000"/>
                </a:lnSpc>
                <a:spcAft>
                  <a:spcPts val="0"/>
                </a:spcAft>
              </a:pPr>
              <a:r>
                <a:rPr sz="900" b="0" i="0">
                  <a:solidFill>
                    <a:srgbClr val="557165"/>
                  </a:solidFill>
                  <a:latin typeface="Segoe UI"/>
                  <a:ea typeface="Segoe UI"/>
                  <a:cs typeface="Segoe UI"/>
                </a:rPr>
                <a:t>memory against</a:t>
              </a:r>
            </a:p>
            <a:p>
              <a:pPr algn="ctr">
                <a:lnSpc>
                  <a:spcPct val="110000"/>
                </a:lnSpc>
              </a:pPr>
              <a:r>
                <a:rPr sz="900" b="0" i="0">
                  <a:solidFill>
                    <a:srgbClr val="557165"/>
                  </a:solidFill>
                  <a:latin typeface="Segoe UI"/>
                  <a:ea typeface="Segoe UI"/>
                  <a:cs typeface="Segoe UI"/>
                </a:rPr>
                <a:t>memory</a:t>
              </a:r>
            </a:p>
          </p:txBody>
        </p:sp>
      </p:grpSp>
      <p:grpSp>
        <p:nvGrpSpPr>
          <p:cNvPr id="46" name="!!gap-1"/>
          <p:cNvGrpSpPr/>
          <p:nvPr/>
        </p:nvGrpSpPr>
        <p:grpSpPr>
          <a:xfrm>
            <a:off x="786384" y="4498848"/>
            <a:ext cx="3416808" cy="1170432"/>
            <a:chOff x="786384" y="4498848"/>
            <a:chExt cx="3416808" cy="1170432"/>
          </a:xfrm>
        </p:grpSpPr>
        <p:sp>
          <p:nvSpPr>
            <p:cNvPr id="47" name="Rounded Rectangle 46"/>
            <p:cNvSpPr/>
            <p:nvPr/>
          </p:nvSpPr>
          <p:spPr>
            <a:xfrm>
              <a:off x="786384" y="4498848"/>
              <a:ext cx="3416808" cy="1170432"/>
            </a:xfrm>
            <a:prstGeom prst="roundRect">
              <a:avLst>
                <a:gd name="adj" fmla="val 937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Rounded Rectangle 47"/>
            <p:cNvSpPr/>
            <p:nvPr/>
          </p:nvSpPr>
          <p:spPr>
            <a:xfrm>
              <a:off x="786384" y="4498848"/>
              <a:ext cx="50292" cy="1170432"/>
            </a:xfrm>
            <a:prstGeom prst="roundRect">
              <a:avLst>
                <a:gd name="adj" fmla="val 36363"/>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9" name="TextBox 48"/>
            <p:cNvSpPr txBox="1"/>
            <p:nvPr/>
          </p:nvSpPr>
          <p:spPr>
            <a:xfrm>
              <a:off x="1024128" y="4626864"/>
              <a:ext cx="3005328" cy="237744"/>
            </a:xfrm>
            <a:prstGeom prst="rect">
              <a:avLst/>
            </a:prstGeom>
            <a:noFill/>
          </p:spPr>
          <p:txBody>
            <a:bodyPr wrap="square" lIns="0" rIns="0" tIns="0" bIns="0" anchor="t"/>
            <a:lstStyle/>
            <a:p>
              <a:pPr algn="l">
                <a:lnSpc>
                  <a:spcPct val="100000"/>
                </a:lnSpc>
              </a:pPr>
              <a:r>
                <a:rPr sz="1150" b="1" i="0">
                  <a:solidFill>
                    <a:srgbClr val="12211B"/>
                  </a:solidFill>
                  <a:latin typeface="Segoe UI"/>
                  <a:ea typeface="Segoe UI"/>
                  <a:cs typeface="Segoe UI"/>
                </a:rPr>
                <a:t>No shared record</a:t>
              </a:r>
            </a:p>
          </p:txBody>
        </p:sp>
        <p:sp>
          <p:nvSpPr>
            <p:cNvPr id="50" name="TextBox 49"/>
            <p:cNvSpPr txBox="1"/>
            <p:nvPr/>
          </p:nvSpPr>
          <p:spPr>
            <a:xfrm>
              <a:off x="1024128" y="4901184"/>
              <a:ext cx="3005328" cy="658368"/>
            </a:xfrm>
            <a:prstGeom prst="rect">
              <a:avLst/>
            </a:prstGeom>
            <a:noFill/>
          </p:spPr>
          <p:txBody>
            <a:bodyPr wrap="square" lIns="0" rIns="0" tIns="0" bIns="0" anchor="t"/>
            <a:lstStyle/>
            <a:p>
              <a:pPr algn="l">
                <a:lnSpc>
                  <a:spcPct val="116000"/>
                </a:lnSpc>
              </a:pPr>
              <a:r>
                <a:rPr sz="950" b="0" i="0">
                  <a:solidFill>
                    <a:srgbClr val="557165"/>
                  </a:solidFill>
                  <a:latin typeface="Segoe UI"/>
                  <a:ea typeface="Segoe UI"/>
                  <a:cs typeface="Segoe UI"/>
                </a:rPr>
                <a:t>Worker, contractor and intermediary each keep a different version.</a:t>
              </a:r>
            </a:p>
          </p:txBody>
        </p:sp>
      </p:grpSp>
      <p:grpSp>
        <p:nvGrpSpPr>
          <p:cNvPr id="51" name="!!gap-2"/>
          <p:cNvGrpSpPr/>
          <p:nvPr/>
        </p:nvGrpSpPr>
        <p:grpSpPr>
          <a:xfrm>
            <a:off x="4386072" y="4498848"/>
            <a:ext cx="3416808" cy="1170432"/>
            <a:chOff x="4386072" y="4498848"/>
            <a:chExt cx="3416808" cy="1170432"/>
          </a:xfrm>
        </p:grpSpPr>
        <p:sp>
          <p:nvSpPr>
            <p:cNvPr id="52" name="Rounded Rectangle 51"/>
            <p:cNvSpPr/>
            <p:nvPr/>
          </p:nvSpPr>
          <p:spPr>
            <a:xfrm>
              <a:off x="4386072" y="4498848"/>
              <a:ext cx="3416808" cy="1170432"/>
            </a:xfrm>
            <a:prstGeom prst="roundRect">
              <a:avLst>
                <a:gd name="adj" fmla="val 937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3" name="Rounded Rectangle 52"/>
            <p:cNvSpPr/>
            <p:nvPr/>
          </p:nvSpPr>
          <p:spPr>
            <a:xfrm>
              <a:off x="4386072" y="4498848"/>
              <a:ext cx="50292" cy="1170432"/>
            </a:xfrm>
            <a:prstGeom prst="roundRect">
              <a:avLst>
                <a:gd name="adj" fmla="val 36363"/>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4" name="TextBox 53"/>
            <p:cNvSpPr txBox="1"/>
            <p:nvPr/>
          </p:nvSpPr>
          <p:spPr>
            <a:xfrm>
              <a:off x="4623816" y="4626864"/>
              <a:ext cx="3005328" cy="237744"/>
            </a:xfrm>
            <a:prstGeom prst="rect">
              <a:avLst/>
            </a:prstGeom>
            <a:noFill/>
          </p:spPr>
          <p:txBody>
            <a:bodyPr wrap="square" lIns="0" rIns="0" tIns="0" bIns="0" anchor="t"/>
            <a:lstStyle/>
            <a:p>
              <a:pPr algn="l">
                <a:lnSpc>
                  <a:spcPct val="100000"/>
                </a:lnSpc>
              </a:pPr>
              <a:r>
                <a:rPr sz="1150" b="1" i="0">
                  <a:solidFill>
                    <a:srgbClr val="12211B"/>
                  </a:solidFill>
                  <a:latin typeface="Segoe UI"/>
                  <a:ea typeface="Segoe UI"/>
                  <a:cs typeface="Segoe UI"/>
                </a:rPr>
                <a:t>No visible arithmetic</a:t>
              </a:r>
            </a:p>
          </p:txBody>
        </p:sp>
        <p:sp>
          <p:nvSpPr>
            <p:cNvPr id="55" name="TextBox 54"/>
            <p:cNvSpPr txBox="1"/>
            <p:nvPr/>
          </p:nvSpPr>
          <p:spPr>
            <a:xfrm>
              <a:off x="4623816" y="4901184"/>
              <a:ext cx="3005328" cy="658368"/>
            </a:xfrm>
            <a:prstGeom prst="rect">
              <a:avLst/>
            </a:prstGeom>
            <a:noFill/>
          </p:spPr>
          <p:txBody>
            <a:bodyPr wrap="square" lIns="0" rIns="0" tIns="0" bIns="0" anchor="t"/>
            <a:lstStyle/>
            <a:p>
              <a:pPr algn="l">
                <a:lnSpc>
                  <a:spcPct val="116000"/>
                </a:lnSpc>
              </a:pPr>
              <a:r>
                <a:rPr sz="950" b="0" i="0">
                  <a:solidFill>
                    <a:srgbClr val="557165"/>
                  </a:solidFill>
                  <a:latin typeface="Segoe UI"/>
                  <a:ea typeface="Segoe UI"/>
                  <a:cs typeface="Segoe UI"/>
                </a:rPr>
                <a:t>A total appears; the days, hours, deductions and reasons do not.</a:t>
              </a:r>
            </a:p>
          </p:txBody>
        </p:sp>
      </p:grpSp>
      <p:grpSp>
        <p:nvGrpSpPr>
          <p:cNvPr id="56" name="!!gap-3"/>
          <p:cNvGrpSpPr/>
          <p:nvPr/>
        </p:nvGrpSpPr>
        <p:grpSpPr>
          <a:xfrm>
            <a:off x="7985760" y="4498848"/>
            <a:ext cx="3416808" cy="1170432"/>
            <a:chOff x="7985760" y="4498848"/>
            <a:chExt cx="3416808" cy="1170432"/>
          </a:xfrm>
        </p:grpSpPr>
        <p:sp>
          <p:nvSpPr>
            <p:cNvPr id="57" name="Rounded Rectangle 56"/>
            <p:cNvSpPr/>
            <p:nvPr/>
          </p:nvSpPr>
          <p:spPr>
            <a:xfrm>
              <a:off x="7985760" y="4498848"/>
              <a:ext cx="3416808" cy="1170432"/>
            </a:xfrm>
            <a:prstGeom prst="roundRect">
              <a:avLst>
                <a:gd name="adj" fmla="val 937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8" name="Rounded Rectangle 57"/>
            <p:cNvSpPr/>
            <p:nvPr/>
          </p:nvSpPr>
          <p:spPr>
            <a:xfrm>
              <a:off x="7985760" y="4498848"/>
              <a:ext cx="50292" cy="1170432"/>
            </a:xfrm>
            <a:prstGeom prst="roundRect">
              <a:avLst>
                <a:gd name="adj" fmla="val 36363"/>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9" name="TextBox 58"/>
            <p:cNvSpPr txBox="1"/>
            <p:nvPr/>
          </p:nvSpPr>
          <p:spPr>
            <a:xfrm>
              <a:off x="8223504" y="4626864"/>
              <a:ext cx="3005328" cy="237744"/>
            </a:xfrm>
            <a:prstGeom prst="rect">
              <a:avLst/>
            </a:prstGeom>
            <a:noFill/>
          </p:spPr>
          <p:txBody>
            <a:bodyPr wrap="square" lIns="0" rIns="0" tIns="0" bIns="0" anchor="t"/>
            <a:lstStyle/>
            <a:p>
              <a:pPr algn="l">
                <a:lnSpc>
                  <a:spcPct val="100000"/>
                </a:lnSpc>
              </a:pPr>
              <a:r>
                <a:rPr sz="1150" b="1" i="0">
                  <a:solidFill>
                    <a:srgbClr val="12211B"/>
                  </a:solidFill>
                  <a:latin typeface="Segoe UI"/>
                  <a:ea typeface="Segoe UI"/>
                  <a:cs typeface="Segoe UI"/>
                </a:rPr>
                <a:t>No preserved history</a:t>
              </a:r>
            </a:p>
          </p:txBody>
        </p:sp>
        <p:sp>
          <p:nvSpPr>
            <p:cNvPr id="60" name="TextBox 59"/>
            <p:cNvSpPr txBox="1"/>
            <p:nvPr/>
          </p:nvSpPr>
          <p:spPr>
            <a:xfrm>
              <a:off x="8223504" y="4901184"/>
              <a:ext cx="3005328" cy="658368"/>
            </a:xfrm>
            <a:prstGeom prst="rect">
              <a:avLst/>
            </a:prstGeom>
            <a:noFill/>
          </p:spPr>
          <p:txBody>
            <a:bodyPr wrap="square" lIns="0" rIns="0" tIns="0" bIns="0" anchor="t"/>
            <a:lstStyle/>
            <a:p>
              <a:pPr algn="l">
                <a:lnSpc>
                  <a:spcPct val="116000"/>
                </a:lnSpc>
              </a:pPr>
              <a:r>
                <a:rPr sz="950" b="0" i="0">
                  <a:solidFill>
                    <a:srgbClr val="557165"/>
                  </a:solidFill>
                  <a:latin typeface="Segoe UI"/>
                  <a:ea typeface="Segoe UI"/>
                  <a:cs typeface="Segoe UI"/>
                </a:rPr>
                <a:t>A correction overwrites the earlier value, and the reason vanishes.</a:t>
              </a:r>
            </a:p>
          </p:txBody>
        </p:sp>
      </p:grpSp>
      <p:sp>
        <p:nvSpPr>
          <p:cNvPr id="61" name="TextBox 60"/>
          <p:cNvSpPr txBox="1"/>
          <p:nvPr/>
        </p:nvSpPr>
        <p:spPr>
          <a:xfrm>
            <a:off x="786384" y="5897880"/>
            <a:ext cx="10616184" cy="274320"/>
          </a:xfrm>
          <a:prstGeom prst="rect">
            <a:avLst/>
          </a:prstGeom>
          <a:noFill/>
        </p:spPr>
        <p:txBody>
          <a:bodyPr wrap="square" lIns="0" rIns="0" tIns="0" bIns="0" anchor="t"/>
          <a:lstStyle/>
          <a:p>
            <a:pPr algn="l">
              <a:lnSpc>
                <a:spcPct val="100000"/>
              </a:lnSpc>
            </a:pPr>
            <a:r>
              <a:rPr sz="1000" b="0" i="1">
                <a:solidFill>
                  <a:srgbClr val="5F776B"/>
                </a:solidFill>
                <a:latin typeface="Segoe UI"/>
                <a:ea typeface="Segoe UI"/>
                <a:cs typeface="Segoe UI"/>
              </a:rPr>
              <a:t>The cost is not only unpaid money — it is the absence of evidence when a worker tries to claim it.</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2219"/>
        </a:solidFill>
        <a:effectLst/>
      </p:bgPr>
    </p:bg>
    <p:spTree>
      <p:nvGrpSpPr>
        <p:cNvPr id="1" name=""/>
        <p:cNvGrpSpPr/>
        <p:nvPr/>
      </p:nvGrpSpPr>
      <p:grpSpPr/>
      <p:sp>
        <p:nvSpPr>
          <p:cNvPr id="2" name="!!glow-a"/>
          <p:cNvSpPr/>
          <p:nvPr/>
        </p:nvSpPr>
        <p:spPr>
          <a:xfrm>
            <a:off x="9052560" y="-2066543"/>
            <a:ext cx="6035040" cy="6035040"/>
          </a:xfrm>
          <a:prstGeom prst="ellipse">
            <a:avLst/>
          </a:prstGeom>
          <a:gradFill rotWithShape="1">
            <a:gsLst>
              <a:gs pos="0">
                <a:srgbClr val="57A97E">
                  <a:alpha val="26000"/>
                </a:srgbClr>
              </a:gs>
              <a:gs pos="60000">
                <a:srgbClr val="57A97E">
                  <a:alpha val="11700"/>
                </a:srgbClr>
              </a:gs>
              <a:gs pos="100000">
                <a:srgbClr val="57A97E">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834640" y="4526279"/>
            <a:ext cx="4937760" cy="4937760"/>
          </a:xfrm>
          <a:prstGeom prst="ellipse">
            <a:avLst/>
          </a:prstGeom>
          <a:gradFill rotWithShape="1">
            <a:gsLst>
              <a:gs pos="0">
                <a:srgbClr val="D9A844">
                  <a:alpha val="20000"/>
                </a:srgbClr>
              </a:gs>
              <a:gs pos="60000">
                <a:srgbClr val="D9A844">
                  <a:alpha val="900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671535"/>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1188171"/>
            <a:ext cx="118872" cy="118872"/>
          </a:xfrm>
          <a:prstGeom prst="ellipse">
            <a:avLst/>
          </a:prstGeom>
          <a:solidFill>
            <a:srgbClr val="E5C0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E5C068"/>
                </a:solidFill>
                <a:latin typeface="Segoe UI"/>
                <a:ea typeface="Segoe UI"/>
                <a:cs typeface="Segoe UI"/>
              </a:rPr>
              <a:t>WHY IT MATTERS</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D9A844"/>
                </a:solidFill>
                <a:latin typeface="Segoe UI"/>
                <a:ea typeface="Segoe UI"/>
                <a:cs typeface="Segoe UI"/>
              </a:rPr>
              <a:t>01  </a:t>
            </a:r>
            <a:r>
              <a:rPr sz="950" b="1" i="0" spc="140">
                <a:solidFill>
                  <a:srgbClr val="57A97E"/>
                </a:solidFill>
                <a:latin typeface="Segoe UI"/>
                <a:ea typeface="Segoe UI"/>
                <a:cs typeface="Segoe UI"/>
              </a:rPr>
              <a:t>CONTEXT</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FDFBF6"/>
                </a:solidFill>
                <a:latin typeface="Georgia"/>
                <a:ea typeface="Georgia"/>
                <a:cs typeface="Georgia"/>
              </a:rPr>
              <a:t>This is not a hypothetical gap</a:t>
            </a:r>
          </a:p>
        </p:txBody>
      </p:sp>
      <p:sp>
        <p:nvSpPr>
          <p:cNvPr id="11" name="!!rule"/>
          <p:cNvSpPr/>
          <p:nvPr/>
        </p:nvSpPr>
        <p:spPr>
          <a:xfrm>
            <a:off x="786384" y="1591056"/>
            <a:ext cx="1325880" cy="41148"/>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7A97E"/>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8BC7A6"/>
                </a:solidFill>
                <a:latin typeface="Consolas"/>
                <a:ea typeface="Consolas"/>
                <a:cs typeface="Consolas"/>
              </a:rPr>
              <a:t>04 / 26</a:t>
            </a:r>
          </a:p>
        </p:txBody>
      </p:sp>
      <p:grpSp>
        <p:nvGrpSpPr>
          <p:cNvPr id="14" name="!!stat-1"/>
          <p:cNvGrpSpPr/>
          <p:nvPr/>
        </p:nvGrpSpPr>
        <p:grpSpPr>
          <a:xfrm>
            <a:off x="786384" y="1828800"/>
            <a:ext cx="2487396" cy="2395728"/>
            <a:chOff x="786384" y="1828800"/>
            <a:chExt cx="2487396" cy="2395728"/>
          </a:xfrm>
        </p:grpSpPr>
        <p:sp>
          <p:nvSpPr>
            <p:cNvPr id="15" name="Rounded Rectangle 14"/>
            <p:cNvSpPr/>
            <p:nvPr/>
          </p:nvSpPr>
          <p:spPr>
            <a:xfrm>
              <a:off x="786384" y="1828800"/>
              <a:ext cx="2487396" cy="2395728"/>
            </a:xfrm>
            <a:prstGeom prst="roundRect">
              <a:avLst>
                <a:gd name="adj" fmla="val 5343"/>
              </a:avLst>
            </a:prstGeom>
            <a:gradFill rotWithShape="1">
              <a:gsLst>
                <a:gs pos="0">
                  <a:srgbClr val="163A2B"/>
                </a:gs>
                <a:gs pos="100000">
                  <a:srgbClr val="0A2219"/>
                </a:gs>
              </a:gsLst>
              <a:lin ang="5400000" scaled="0"/>
            </a:gradFill>
            <a:ln w="9525">
              <a:solidFill>
                <a:srgbClr val="1F5941"/>
              </a:solidFill>
            </a:ln>
            <a:effectLst>
              <a:outerShdw blurRad="228600" dist="76200" dir="5400000" rotWithShape="0">
                <a:srgbClr val="0A2219">
                  <a:alpha val="16000"/>
                </a:srgbClr>
              </a:outerShdw>
            </a:effectLst>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1024128" y="2048256"/>
              <a:ext cx="2075916" cy="566928"/>
            </a:xfrm>
            <a:prstGeom prst="rect">
              <a:avLst/>
            </a:prstGeom>
            <a:noFill/>
          </p:spPr>
          <p:txBody>
            <a:bodyPr wrap="square" lIns="0" rIns="0" tIns="0" bIns="0" anchor="t"/>
            <a:lstStyle/>
            <a:p>
              <a:pPr algn="l">
                <a:lnSpc>
                  <a:spcPct val="100000"/>
                </a:lnSpc>
              </a:pPr>
              <a:r>
                <a:rPr sz="2800" b="1" i="0">
                  <a:solidFill>
                    <a:srgbClr val="E5C068"/>
                  </a:solidFill>
                  <a:latin typeface="Segoe UI"/>
                  <a:ea typeface="Segoe UI"/>
                  <a:cs typeface="Segoe UI"/>
                </a:rPr>
                <a:t>31 crore</a:t>
              </a:r>
            </a:p>
          </p:txBody>
        </p:sp>
        <p:sp>
          <p:nvSpPr>
            <p:cNvPr id="17" name="Rectangle 16"/>
            <p:cNvSpPr/>
            <p:nvPr/>
          </p:nvSpPr>
          <p:spPr>
            <a:xfrm>
              <a:off x="1024128" y="2688336"/>
              <a:ext cx="457200" cy="2743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1024128" y="2816352"/>
              <a:ext cx="2075916" cy="868680"/>
            </a:xfrm>
            <a:prstGeom prst="rect">
              <a:avLst/>
            </a:prstGeom>
            <a:noFill/>
          </p:spPr>
          <p:txBody>
            <a:bodyPr wrap="square" lIns="0" rIns="0" tIns="0" bIns="0" anchor="t"/>
            <a:lstStyle/>
            <a:p>
              <a:pPr algn="l">
                <a:lnSpc>
                  <a:spcPct val="120000"/>
                </a:lnSpc>
              </a:pPr>
              <a:r>
                <a:rPr sz="980" b="0" i="0">
                  <a:solidFill>
                    <a:srgbClr val="F0E9DA"/>
                  </a:solidFill>
                  <a:latin typeface="Segoe UI"/>
                  <a:ea typeface="Segoe UI"/>
                  <a:cs typeface="Segoe UI"/>
                </a:rPr>
                <a:t>workers registered on e-Shram by mid-2026 — a registry, not a wage record.</a:t>
              </a:r>
            </a:p>
          </p:txBody>
        </p:sp>
        <p:sp>
          <p:nvSpPr>
            <p:cNvPr id="19" name="TextBox 18"/>
            <p:cNvSpPr txBox="1"/>
            <p:nvPr/>
          </p:nvSpPr>
          <p:spPr>
            <a:xfrm>
              <a:off x="1024128" y="3822191"/>
              <a:ext cx="2075916" cy="219456"/>
            </a:xfrm>
            <a:prstGeom prst="rect">
              <a:avLst/>
            </a:prstGeom>
            <a:noFill/>
          </p:spPr>
          <p:txBody>
            <a:bodyPr wrap="square" lIns="0" rIns="0" tIns="0" bIns="0" anchor="t"/>
            <a:lstStyle/>
            <a:p>
              <a:pPr algn="l">
                <a:lnSpc>
                  <a:spcPct val="100000"/>
                </a:lnSpc>
              </a:pPr>
              <a:r>
                <a:rPr sz="780" b="0" i="1">
                  <a:solidFill>
                    <a:srgbClr val="8BC7A6"/>
                  </a:solidFill>
                  <a:latin typeface="Segoe UI"/>
                  <a:ea typeface="Segoe UI"/>
                  <a:cs typeface="Segoe UI"/>
                </a:rPr>
                <a:t>Ministry of Labour &amp; Employment</a:t>
              </a:r>
            </a:p>
          </p:txBody>
        </p:sp>
      </p:grpSp>
      <p:grpSp>
        <p:nvGrpSpPr>
          <p:cNvPr id="20" name="!!stat-2"/>
          <p:cNvGrpSpPr/>
          <p:nvPr/>
        </p:nvGrpSpPr>
        <p:grpSpPr>
          <a:xfrm>
            <a:off x="3495979" y="1828800"/>
            <a:ext cx="2487396" cy="2395728"/>
            <a:chOff x="3495979" y="1828800"/>
            <a:chExt cx="2487396" cy="2395728"/>
          </a:xfrm>
        </p:grpSpPr>
        <p:sp>
          <p:nvSpPr>
            <p:cNvPr id="21" name="Rounded Rectangle 20"/>
            <p:cNvSpPr/>
            <p:nvPr/>
          </p:nvSpPr>
          <p:spPr>
            <a:xfrm>
              <a:off x="3495979" y="1828800"/>
              <a:ext cx="2487396" cy="2395728"/>
            </a:xfrm>
            <a:prstGeom prst="roundRect">
              <a:avLst>
                <a:gd name="adj" fmla="val 5343"/>
              </a:avLst>
            </a:prstGeom>
            <a:gradFill rotWithShape="1">
              <a:gsLst>
                <a:gs pos="0">
                  <a:srgbClr val="163A2B"/>
                </a:gs>
                <a:gs pos="100000">
                  <a:srgbClr val="0A2219"/>
                </a:gs>
              </a:gsLst>
              <a:lin ang="5400000" scaled="0"/>
            </a:gradFill>
            <a:ln w="9525">
              <a:solidFill>
                <a:srgbClr val="1F5941"/>
              </a:solidFill>
            </a:ln>
            <a:effectLst>
              <a:outerShdw blurRad="228600" dist="76200" dir="5400000" rotWithShape="0">
                <a:srgbClr val="0A2219">
                  <a:alpha val="16000"/>
                </a:srgbClr>
              </a:outerShdw>
            </a:effectLst>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3733723" y="2048256"/>
              <a:ext cx="2075916" cy="566928"/>
            </a:xfrm>
            <a:prstGeom prst="rect">
              <a:avLst/>
            </a:prstGeom>
            <a:noFill/>
          </p:spPr>
          <p:txBody>
            <a:bodyPr wrap="square" lIns="0" rIns="0" tIns="0" bIns="0" anchor="t"/>
            <a:lstStyle/>
            <a:p>
              <a:pPr algn="l">
                <a:lnSpc>
                  <a:spcPct val="100000"/>
                </a:lnSpc>
              </a:pPr>
              <a:r>
                <a:rPr sz="2800" b="1" i="0">
                  <a:solidFill>
                    <a:srgbClr val="E5C068"/>
                  </a:solidFill>
                  <a:latin typeface="Segoe UI"/>
                  <a:ea typeface="Segoe UI"/>
                  <a:cs typeface="Segoe UI"/>
                </a:rPr>
                <a:t>₹269 cr</a:t>
              </a:r>
            </a:p>
          </p:txBody>
        </p:sp>
        <p:sp>
          <p:nvSpPr>
            <p:cNvPr id="23" name="Rectangle 22"/>
            <p:cNvSpPr/>
            <p:nvPr/>
          </p:nvSpPr>
          <p:spPr>
            <a:xfrm>
              <a:off x="3733723" y="2688336"/>
              <a:ext cx="457200" cy="2743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3733723" y="2816352"/>
              <a:ext cx="2075916" cy="868680"/>
            </a:xfrm>
            <a:prstGeom prst="rect">
              <a:avLst/>
            </a:prstGeom>
            <a:noFill/>
          </p:spPr>
          <p:txBody>
            <a:bodyPr wrap="square" lIns="0" rIns="0" tIns="0" bIns="0" anchor="t"/>
            <a:lstStyle/>
            <a:p>
              <a:pPr algn="l">
                <a:lnSpc>
                  <a:spcPct val="120000"/>
                </a:lnSpc>
              </a:pPr>
              <a:r>
                <a:rPr sz="980" b="0" i="0">
                  <a:solidFill>
                    <a:srgbClr val="F0E9DA"/>
                  </a:solidFill>
                  <a:latin typeface="Segoe UI"/>
                  <a:ea typeface="Segoe UI"/>
                  <a:cs typeface="Segoe UI"/>
                </a:rPr>
                <a:t>of Kerala MGNREGS wages released 16 to 90 days after muster closure.</a:t>
              </a:r>
            </a:p>
          </p:txBody>
        </p:sp>
        <p:sp>
          <p:nvSpPr>
            <p:cNvPr id="25" name="TextBox 24"/>
            <p:cNvSpPr txBox="1"/>
            <p:nvPr/>
          </p:nvSpPr>
          <p:spPr>
            <a:xfrm>
              <a:off x="3733723" y="3822191"/>
              <a:ext cx="2075916" cy="219456"/>
            </a:xfrm>
            <a:prstGeom prst="rect">
              <a:avLst/>
            </a:prstGeom>
            <a:noFill/>
          </p:spPr>
          <p:txBody>
            <a:bodyPr wrap="square" lIns="0" rIns="0" tIns="0" bIns="0" anchor="t"/>
            <a:lstStyle/>
            <a:p>
              <a:pPr algn="l">
                <a:lnSpc>
                  <a:spcPct val="100000"/>
                </a:lnSpc>
              </a:pPr>
              <a:r>
                <a:rPr sz="780" b="0" i="1">
                  <a:solidFill>
                    <a:srgbClr val="8BC7A6"/>
                  </a:solidFill>
                  <a:latin typeface="Segoe UI"/>
                  <a:ea typeface="Segoe UI"/>
                  <a:cs typeface="Segoe UI"/>
                </a:rPr>
                <a:t>CAG Report No. 9 of 2025</a:t>
              </a:r>
            </a:p>
          </p:txBody>
        </p:sp>
      </p:grpSp>
      <p:grpSp>
        <p:nvGrpSpPr>
          <p:cNvPr id="26" name="!!stat-3"/>
          <p:cNvGrpSpPr/>
          <p:nvPr/>
        </p:nvGrpSpPr>
        <p:grpSpPr>
          <a:xfrm>
            <a:off x="6205575" y="1828800"/>
            <a:ext cx="2487396" cy="2395728"/>
            <a:chOff x="6205575" y="1828800"/>
            <a:chExt cx="2487396" cy="2395728"/>
          </a:xfrm>
        </p:grpSpPr>
        <p:sp>
          <p:nvSpPr>
            <p:cNvPr id="27" name="Rounded Rectangle 26"/>
            <p:cNvSpPr/>
            <p:nvPr/>
          </p:nvSpPr>
          <p:spPr>
            <a:xfrm>
              <a:off x="6205575" y="1828800"/>
              <a:ext cx="2487396" cy="2395728"/>
            </a:xfrm>
            <a:prstGeom prst="roundRect">
              <a:avLst>
                <a:gd name="adj" fmla="val 5343"/>
              </a:avLst>
            </a:prstGeom>
            <a:gradFill rotWithShape="1">
              <a:gsLst>
                <a:gs pos="0">
                  <a:srgbClr val="163A2B"/>
                </a:gs>
                <a:gs pos="100000">
                  <a:srgbClr val="0A2219"/>
                </a:gs>
              </a:gsLst>
              <a:lin ang="5400000" scaled="0"/>
            </a:gradFill>
            <a:ln w="9525">
              <a:solidFill>
                <a:srgbClr val="1F5941"/>
              </a:solidFill>
            </a:ln>
            <a:effectLst>
              <a:outerShdw blurRad="228600" dist="76200" dir="5400000" rotWithShape="0">
                <a:srgbClr val="0A2219">
                  <a:alpha val="16000"/>
                </a:srgbClr>
              </a:outerShdw>
            </a:effectLst>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7"/>
            <p:cNvSpPr txBox="1"/>
            <p:nvPr/>
          </p:nvSpPr>
          <p:spPr>
            <a:xfrm>
              <a:off x="6443319" y="2048256"/>
              <a:ext cx="2075916" cy="566928"/>
            </a:xfrm>
            <a:prstGeom prst="rect">
              <a:avLst/>
            </a:prstGeom>
            <a:noFill/>
          </p:spPr>
          <p:txBody>
            <a:bodyPr wrap="square" lIns="0" rIns="0" tIns="0" bIns="0" anchor="t"/>
            <a:lstStyle/>
            <a:p>
              <a:pPr algn="l">
                <a:lnSpc>
                  <a:spcPct val="100000"/>
                </a:lnSpc>
              </a:pPr>
              <a:r>
                <a:rPr sz="2800" b="1" i="0">
                  <a:solidFill>
                    <a:srgbClr val="E5C068"/>
                  </a:solidFill>
                  <a:latin typeface="Segoe UI"/>
                  <a:ea typeface="Segoe UI"/>
                  <a:cs typeface="Segoe UI"/>
                </a:rPr>
                <a:t>₹704 cr</a:t>
              </a:r>
            </a:p>
          </p:txBody>
        </p:sp>
        <p:sp>
          <p:nvSpPr>
            <p:cNvPr id="29" name="Rectangle 28"/>
            <p:cNvSpPr/>
            <p:nvPr/>
          </p:nvSpPr>
          <p:spPr>
            <a:xfrm>
              <a:off x="6443319" y="2688336"/>
              <a:ext cx="457200" cy="2743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29"/>
            <p:cNvSpPr txBox="1"/>
            <p:nvPr/>
          </p:nvSpPr>
          <p:spPr>
            <a:xfrm>
              <a:off x="6443319" y="2816352"/>
              <a:ext cx="2075916" cy="868680"/>
            </a:xfrm>
            <a:prstGeom prst="rect">
              <a:avLst/>
            </a:prstGeom>
            <a:noFill/>
          </p:spPr>
          <p:txBody>
            <a:bodyPr wrap="square" lIns="0" rIns="0" tIns="0" bIns="0" anchor="t"/>
            <a:lstStyle/>
            <a:p>
              <a:pPr algn="l">
                <a:lnSpc>
                  <a:spcPct val="120000"/>
                </a:lnSpc>
              </a:pPr>
              <a:r>
                <a:rPr sz="980" b="0" i="0">
                  <a:solidFill>
                    <a:srgbClr val="F0E9DA"/>
                  </a:solidFill>
                  <a:latin typeface="Segoe UI"/>
                  <a:ea typeface="Segoe UI"/>
                  <a:cs typeface="Segoe UI"/>
                </a:rPr>
                <a:t>in unpaid wages reported in Jammu &amp; Kashmir as at March 2024.</a:t>
              </a:r>
            </a:p>
          </p:txBody>
        </p:sp>
        <p:sp>
          <p:nvSpPr>
            <p:cNvPr id="31" name="TextBox 30"/>
            <p:cNvSpPr txBox="1"/>
            <p:nvPr/>
          </p:nvSpPr>
          <p:spPr>
            <a:xfrm>
              <a:off x="6443319" y="3822191"/>
              <a:ext cx="2075916" cy="219456"/>
            </a:xfrm>
            <a:prstGeom prst="rect">
              <a:avLst/>
            </a:prstGeom>
            <a:noFill/>
          </p:spPr>
          <p:txBody>
            <a:bodyPr wrap="square" lIns="0" rIns="0" tIns="0" bIns="0" anchor="t"/>
            <a:lstStyle/>
            <a:p>
              <a:pPr algn="l">
                <a:lnSpc>
                  <a:spcPct val="100000"/>
                </a:lnSpc>
              </a:pPr>
              <a:r>
                <a:rPr sz="780" b="0" i="1">
                  <a:solidFill>
                    <a:srgbClr val="8BC7A6"/>
                  </a:solidFill>
                  <a:latin typeface="Segoe UI"/>
                  <a:ea typeface="Segoe UI"/>
                  <a:cs typeface="Segoe UI"/>
                </a:rPr>
                <a:t>CAG performance audit</a:t>
              </a:r>
            </a:p>
          </p:txBody>
        </p:sp>
      </p:grpSp>
      <p:grpSp>
        <p:nvGrpSpPr>
          <p:cNvPr id="32" name="!!stat-4"/>
          <p:cNvGrpSpPr/>
          <p:nvPr/>
        </p:nvGrpSpPr>
        <p:grpSpPr>
          <a:xfrm>
            <a:off x="8915171" y="1828800"/>
            <a:ext cx="2487396" cy="2395728"/>
            <a:chOff x="8915171" y="1828800"/>
            <a:chExt cx="2487396" cy="2395728"/>
          </a:xfrm>
        </p:grpSpPr>
        <p:sp>
          <p:nvSpPr>
            <p:cNvPr id="33" name="Rounded Rectangle 32"/>
            <p:cNvSpPr/>
            <p:nvPr/>
          </p:nvSpPr>
          <p:spPr>
            <a:xfrm>
              <a:off x="8915171" y="1828800"/>
              <a:ext cx="2487396" cy="2395728"/>
            </a:xfrm>
            <a:prstGeom prst="roundRect">
              <a:avLst>
                <a:gd name="adj" fmla="val 5343"/>
              </a:avLst>
            </a:prstGeom>
            <a:gradFill rotWithShape="1">
              <a:gsLst>
                <a:gs pos="0">
                  <a:srgbClr val="163A2B"/>
                </a:gs>
                <a:gs pos="100000">
                  <a:srgbClr val="0A2219"/>
                </a:gs>
              </a:gsLst>
              <a:lin ang="5400000" scaled="0"/>
            </a:gradFill>
            <a:ln w="9525">
              <a:solidFill>
                <a:srgbClr val="1F5941"/>
              </a:solidFill>
            </a:ln>
            <a:effectLst>
              <a:outerShdw blurRad="228600" dist="76200" dir="5400000" rotWithShape="0">
                <a:srgbClr val="0A2219">
                  <a:alpha val="16000"/>
                </a:srgbClr>
              </a:outerShdw>
            </a:effectLst>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3"/>
            <p:cNvSpPr txBox="1"/>
            <p:nvPr/>
          </p:nvSpPr>
          <p:spPr>
            <a:xfrm>
              <a:off x="9152915" y="2048256"/>
              <a:ext cx="2075916" cy="566928"/>
            </a:xfrm>
            <a:prstGeom prst="rect">
              <a:avLst/>
            </a:prstGeom>
            <a:noFill/>
          </p:spPr>
          <p:txBody>
            <a:bodyPr wrap="square" lIns="0" rIns="0" tIns="0" bIns="0" anchor="t"/>
            <a:lstStyle/>
            <a:p>
              <a:pPr algn="l">
                <a:lnSpc>
                  <a:spcPct val="100000"/>
                </a:lnSpc>
              </a:pPr>
              <a:r>
                <a:rPr sz="2800" b="1" i="0">
                  <a:solidFill>
                    <a:srgbClr val="E5C068"/>
                  </a:solidFill>
                  <a:latin typeface="Segoe UI"/>
                  <a:ea typeface="Segoe UI"/>
                  <a:cs typeface="Segoe UI"/>
                </a:rPr>
                <a:t>43%</a:t>
              </a:r>
            </a:p>
          </p:txBody>
        </p:sp>
        <p:sp>
          <p:nvSpPr>
            <p:cNvPr id="35" name="Rectangle 34"/>
            <p:cNvSpPr/>
            <p:nvPr/>
          </p:nvSpPr>
          <p:spPr>
            <a:xfrm>
              <a:off x="9152915" y="2688336"/>
              <a:ext cx="457200" cy="2743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9152915" y="2816352"/>
              <a:ext cx="2075916" cy="868680"/>
            </a:xfrm>
            <a:prstGeom prst="rect">
              <a:avLst/>
            </a:prstGeom>
            <a:noFill/>
          </p:spPr>
          <p:txBody>
            <a:bodyPr wrap="square" lIns="0" rIns="0" tIns="0" bIns="0" anchor="t"/>
            <a:lstStyle/>
            <a:p>
              <a:pPr algn="l">
                <a:lnSpc>
                  <a:spcPct val="120000"/>
                </a:lnSpc>
              </a:pPr>
              <a:r>
                <a:rPr sz="980" b="0" i="0">
                  <a:solidFill>
                    <a:srgbClr val="F0E9DA"/>
                  </a:solidFill>
                  <a:latin typeface="Segoe UI"/>
                  <a:ea typeface="Segoe UI"/>
                  <a:cs typeface="Segoe UI"/>
                </a:rPr>
                <a:t>of India's wages were still paid in cash in 2021, down from 79% in 2014.</a:t>
              </a:r>
            </a:p>
          </p:txBody>
        </p:sp>
        <p:sp>
          <p:nvSpPr>
            <p:cNvPr id="37" name="TextBox 36"/>
            <p:cNvSpPr txBox="1"/>
            <p:nvPr/>
          </p:nvSpPr>
          <p:spPr>
            <a:xfrm>
              <a:off x="9152915" y="3822191"/>
              <a:ext cx="2075916" cy="219456"/>
            </a:xfrm>
            <a:prstGeom prst="rect">
              <a:avLst/>
            </a:prstGeom>
            <a:noFill/>
          </p:spPr>
          <p:txBody>
            <a:bodyPr wrap="square" lIns="0" rIns="0" tIns="0" bIns="0" anchor="t"/>
            <a:lstStyle/>
            <a:p>
              <a:pPr algn="l">
                <a:lnSpc>
                  <a:spcPct val="100000"/>
                </a:lnSpc>
              </a:pPr>
              <a:r>
                <a:rPr sz="780" b="0" i="1">
                  <a:solidFill>
                    <a:srgbClr val="8BC7A6"/>
                  </a:solidFill>
                  <a:latin typeface="Segoe UI"/>
                  <a:ea typeface="Segoe UI"/>
                  <a:cs typeface="Segoe UI"/>
                </a:rPr>
                <a:t>ILO, 2024</a:t>
              </a:r>
            </a:p>
          </p:txBody>
        </p:sp>
      </p:grpSp>
      <p:sp>
        <p:nvSpPr>
          <p:cNvPr id="38" name="!!case-band"/>
          <p:cNvSpPr/>
          <p:nvPr/>
        </p:nvSpPr>
        <p:spPr>
          <a:xfrm>
            <a:off x="786384" y="4498848"/>
            <a:ext cx="10616184" cy="1097280"/>
          </a:xfrm>
          <a:prstGeom prst="roundRect">
            <a:avLst>
              <a:gd name="adj" fmla="val 11666"/>
            </a:avLst>
          </a:prstGeom>
          <a:solidFill>
            <a:srgbClr val="163A2B"/>
          </a:solidFill>
          <a:ln w="9525">
            <a:solidFill>
              <a:srgbClr val="1F5941"/>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ounded Rectangle 38"/>
          <p:cNvSpPr/>
          <p:nvPr/>
        </p:nvSpPr>
        <p:spPr>
          <a:xfrm>
            <a:off x="786384" y="4498848"/>
            <a:ext cx="50292" cy="1097280"/>
          </a:xfrm>
          <a:prstGeom prst="roundRect">
            <a:avLst>
              <a:gd name="adj" fmla="val 36363"/>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TextBox 39"/>
          <p:cNvSpPr txBox="1"/>
          <p:nvPr/>
        </p:nvSpPr>
        <p:spPr>
          <a:xfrm>
            <a:off x="1060704" y="4626864"/>
            <a:ext cx="3657600" cy="201168"/>
          </a:xfrm>
          <a:prstGeom prst="rect">
            <a:avLst/>
          </a:prstGeom>
          <a:noFill/>
        </p:spPr>
        <p:txBody>
          <a:bodyPr wrap="square" lIns="0" rIns="0" tIns="0" bIns="0" anchor="t"/>
          <a:lstStyle/>
          <a:p>
            <a:pPr algn="l">
              <a:lnSpc>
                <a:spcPct val="100000"/>
              </a:lnSpc>
            </a:pPr>
            <a:r>
              <a:rPr sz="800" b="1" i="0" spc="160">
                <a:solidFill>
                  <a:srgbClr val="E5C068"/>
                </a:solidFill>
                <a:latin typeface="Segoe UI"/>
                <a:ea typeface="Segoe UI"/>
                <a:cs typeface="Segoe UI"/>
              </a:rPr>
              <a:t>COURT RECORD</a:t>
            </a:r>
          </a:p>
        </p:txBody>
      </p:sp>
      <p:sp>
        <p:nvSpPr>
          <p:cNvPr id="41" name="TextBox 40"/>
          <p:cNvSpPr txBox="1"/>
          <p:nvPr/>
        </p:nvSpPr>
        <p:spPr>
          <a:xfrm>
            <a:off x="1060704" y="4809744"/>
            <a:ext cx="5623560" cy="731520"/>
          </a:xfrm>
          <a:prstGeom prst="rect">
            <a:avLst/>
          </a:prstGeom>
          <a:noFill/>
        </p:spPr>
        <p:txBody>
          <a:bodyPr wrap="square" lIns="0" rIns="0" tIns="0" bIns="0" anchor="t"/>
          <a:lstStyle/>
          <a:p>
            <a:pPr algn="l">
              <a:lnSpc>
                <a:spcPct val="120000"/>
              </a:lnSpc>
            </a:pPr>
            <a:r>
              <a:rPr sz="1000" b="0" i="0">
                <a:solidFill>
                  <a:srgbClr val="F0E9DA"/>
                </a:solidFill>
                <a:latin typeface="Segoe UI"/>
                <a:ea typeface="Segoe UI"/>
                <a:cs typeface="Segoe UI"/>
              </a:rPr>
              <a:t>Calcutta High Court, WPA 25460 of 2025 — a principal employer was directed to pay contract workers' unpaid wages under Section 21(4) of the Contract Labour Act, 1970.</a:t>
            </a:r>
          </a:p>
        </p:txBody>
      </p:sp>
      <p:sp>
        <p:nvSpPr>
          <p:cNvPr id="42" name="Rectangle 41"/>
          <p:cNvSpPr/>
          <p:nvPr/>
        </p:nvSpPr>
        <p:spPr>
          <a:xfrm>
            <a:off x="7059168" y="4645152"/>
            <a:ext cx="10972" cy="822960"/>
          </a:xfrm>
          <a:prstGeom prst="rect">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TextBox 42"/>
          <p:cNvSpPr txBox="1"/>
          <p:nvPr/>
        </p:nvSpPr>
        <p:spPr>
          <a:xfrm>
            <a:off x="7315200" y="4626864"/>
            <a:ext cx="3657600" cy="201168"/>
          </a:xfrm>
          <a:prstGeom prst="rect">
            <a:avLst/>
          </a:prstGeom>
          <a:noFill/>
        </p:spPr>
        <p:txBody>
          <a:bodyPr wrap="square" lIns="0" rIns="0" tIns="0" bIns="0" anchor="t"/>
          <a:lstStyle/>
          <a:p>
            <a:pPr algn="l">
              <a:lnSpc>
                <a:spcPct val="100000"/>
              </a:lnSpc>
            </a:pPr>
            <a:r>
              <a:rPr sz="800" b="1" i="0" spc="160">
                <a:solidFill>
                  <a:srgbClr val="E5C068"/>
                </a:solidFill>
                <a:latin typeface="Segoe UI"/>
                <a:ea typeface="Segoe UI"/>
                <a:cs typeface="Segoe UI"/>
              </a:rPr>
              <a:t>THE DESIGN CONSEQUENCE</a:t>
            </a:r>
          </a:p>
        </p:txBody>
      </p:sp>
      <p:sp>
        <p:nvSpPr>
          <p:cNvPr id="44" name="TextBox 43"/>
          <p:cNvSpPr txBox="1"/>
          <p:nvPr/>
        </p:nvSpPr>
        <p:spPr>
          <a:xfrm>
            <a:off x="7315200" y="4809744"/>
            <a:ext cx="3840480" cy="731520"/>
          </a:xfrm>
          <a:prstGeom prst="rect">
            <a:avLst/>
          </a:prstGeom>
          <a:noFill/>
        </p:spPr>
        <p:txBody>
          <a:bodyPr wrap="square" lIns="0" rIns="0" tIns="0" bIns="0" anchor="t"/>
          <a:lstStyle/>
          <a:p>
            <a:pPr algn="l">
              <a:lnSpc>
                <a:spcPct val="120000"/>
              </a:lnSpc>
            </a:pPr>
            <a:r>
              <a:rPr sz="1000" b="0" i="0">
                <a:solidFill>
                  <a:srgbClr val="BADFCA"/>
                </a:solidFill>
                <a:latin typeface="Segoe UI"/>
                <a:ea typeface="Segoe UI"/>
                <a:cs typeface="Segoe UI"/>
              </a:rPr>
              <a:t>Contemporaneous, inspectable records of what was agreed and what was paid decide these cases. That is exactly what this prototype stores.</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555480" y="-2834640"/>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560320" y="4206240"/>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895380"/>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1412016"/>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RESEARCH QUESTION</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01  </a:t>
            </a:r>
            <a:r>
              <a:rPr sz="950" b="1" i="0" spc="140">
                <a:solidFill>
                  <a:srgbClr val="5F776B"/>
                </a:solidFill>
                <a:latin typeface="Segoe UI"/>
                <a:ea typeface="Segoe UI"/>
                <a:cs typeface="Segoe UI"/>
              </a:rPr>
              <a:t>CONTEXT</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One question, seven objectives</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05 / 26</a:t>
            </a:r>
          </a:p>
        </p:txBody>
      </p:sp>
      <p:sp>
        <p:nvSpPr>
          <p:cNvPr id="14" name="!!question-panel"/>
          <p:cNvSpPr/>
          <p:nvPr/>
        </p:nvSpPr>
        <p:spPr>
          <a:xfrm>
            <a:off x="786384" y="1792224"/>
            <a:ext cx="10616184" cy="1298448"/>
          </a:xfrm>
          <a:prstGeom prst="roundRect">
            <a:avLst>
              <a:gd name="adj" fmla="val 8450"/>
            </a:avLst>
          </a:prstGeom>
          <a:solidFill>
            <a:srgbClr val="F8F4EA"/>
          </a:solidFill>
          <a:ln w="9525">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Rounded Rectangle 14"/>
          <p:cNvSpPr/>
          <p:nvPr/>
        </p:nvSpPr>
        <p:spPr>
          <a:xfrm>
            <a:off x="786384" y="1792224"/>
            <a:ext cx="68580" cy="1298448"/>
          </a:xfrm>
          <a:prstGeom prst="roundRect">
            <a:avLst>
              <a:gd name="adj" fmla="val 26666"/>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1097280" y="1920240"/>
            <a:ext cx="2743200" cy="201168"/>
          </a:xfrm>
          <a:prstGeom prst="rect">
            <a:avLst/>
          </a:prstGeom>
          <a:noFill/>
        </p:spPr>
        <p:txBody>
          <a:bodyPr wrap="square" lIns="0" rIns="0" tIns="0" bIns="0" anchor="t"/>
          <a:lstStyle/>
          <a:p>
            <a:pPr algn="l">
              <a:lnSpc>
                <a:spcPct val="100000"/>
              </a:lnSpc>
            </a:pPr>
            <a:r>
              <a:rPr sz="800" b="1" i="0" spc="160">
                <a:solidFill>
                  <a:srgbClr val="A76F26"/>
                </a:solidFill>
                <a:latin typeface="Segoe UI"/>
                <a:ea typeface="Segoe UI"/>
                <a:cs typeface="Segoe UI"/>
              </a:rPr>
              <a:t>THE QUESTION</a:t>
            </a:r>
          </a:p>
        </p:txBody>
      </p:sp>
      <p:sp>
        <p:nvSpPr>
          <p:cNvPr id="17" name="TextBox 16"/>
          <p:cNvSpPr txBox="1"/>
          <p:nvPr/>
        </p:nvSpPr>
        <p:spPr>
          <a:xfrm>
            <a:off x="1097280" y="2139696"/>
            <a:ext cx="9784080" cy="868680"/>
          </a:xfrm>
          <a:prstGeom prst="rect">
            <a:avLst/>
          </a:prstGeom>
          <a:noFill/>
        </p:spPr>
        <p:txBody>
          <a:bodyPr wrap="square" lIns="0" rIns="0" tIns="0" bIns="0" anchor="t"/>
          <a:lstStyle/>
          <a:p>
            <a:pPr algn="l">
              <a:lnSpc>
                <a:spcPct val="118000"/>
              </a:lnSpc>
            </a:pPr>
            <a:r>
              <a:rPr sz="1500" b="0" i="1">
                <a:solidFill>
                  <a:srgbClr val="163A2B"/>
                </a:solidFill>
                <a:latin typeface="Georgia"/>
                <a:ea typeface="Georgia"/>
                <a:cs typeface="Georgia"/>
              </a:rPr>
              <a:t>How can an affordable, offline-capable web system make daily-wage work records, wage calculations, payment status and disagreements easier to verify?</a:t>
            </a:r>
          </a:p>
        </p:txBody>
      </p:sp>
      <p:sp>
        <p:nvSpPr>
          <p:cNvPr id="18" name="TextBox 17"/>
          <p:cNvSpPr txBox="1"/>
          <p:nvPr/>
        </p:nvSpPr>
        <p:spPr>
          <a:xfrm>
            <a:off x="786384" y="3246120"/>
            <a:ext cx="3657600" cy="201168"/>
          </a:xfrm>
          <a:prstGeom prst="rect">
            <a:avLst/>
          </a:prstGeom>
          <a:noFill/>
        </p:spPr>
        <p:txBody>
          <a:bodyPr wrap="square" lIns="0" rIns="0" tIns="0" bIns="0" anchor="t"/>
          <a:lstStyle/>
          <a:p>
            <a:pPr algn="l">
              <a:lnSpc>
                <a:spcPct val="100000"/>
              </a:lnSpc>
            </a:pPr>
            <a:r>
              <a:rPr sz="800" b="1" i="0" spc="160">
                <a:solidFill>
                  <a:srgbClr val="5F776B"/>
                </a:solidFill>
                <a:latin typeface="Segoe UI"/>
                <a:ea typeface="Segoe UI"/>
                <a:cs typeface="Segoe UI"/>
              </a:rPr>
              <a:t>OBJECTIVES</a:t>
            </a:r>
          </a:p>
        </p:txBody>
      </p:sp>
      <p:grpSp>
        <p:nvGrpSpPr>
          <p:cNvPr id="19" name="!!objective-1"/>
          <p:cNvGrpSpPr/>
          <p:nvPr/>
        </p:nvGrpSpPr>
        <p:grpSpPr>
          <a:xfrm>
            <a:off x="786384" y="3493008"/>
            <a:ext cx="2516886" cy="896112"/>
            <a:chOff x="786384" y="3493008"/>
            <a:chExt cx="2516886" cy="896112"/>
          </a:xfrm>
        </p:grpSpPr>
        <p:sp>
          <p:nvSpPr>
            <p:cNvPr id="20" name="Rounded Rectangle 19"/>
            <p:cNvSpPr/>
            <p:nvPr/>
          </p:nvSpPr>
          <p:spPr>
            <a:xfrm>
              <a:off x="786384" y="3493008"/>
              <a:ext cx="2516886" cy="896112"/>
            </a:xfrm>
            <a:prstGeom prst="roundRect">
              <a:avLst>
                <a:gd name="adj" fmla="val 1020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969264" y="3611879"/>
              <a:ext cx="457200" cy="201168"/>
            </a:xfrm>
            <a:prstGeom prst="rect">
              <a:avLst/>
            </a:prstGeom>
            <a:noFill/>
          </p:spPr>
          <p:txBody>
            <a:bodyPr wrap="square" lIns="0" rIns="0" tIns="0" bIns="0" anchor="t"/>
            <a:lstStyle/>
            <a:p>
              <a:pPr algn="l">
                <a:lnSpc>
                  <a:spcPct val="100000"/>
                </a:lnSpc>
              </a:pPr>
              <a:r>
                <a:rPr sz="850" b="1" i="0">
                  <a:solidFill>
                    <a:srgbClr val="A76F26"/>
                  </a:solidFill>
                  <a:latin typeface="Consolas"/>
                  <a:ea typeface="Consolas"/>
                  <a:cs typeface="Consolas"/>
                </a:rPr>
                <a:t>01</a:t>
              </a:r>
            </a:p>
          </p:txBody>
        </p:sp>
        <p:sp>
          <p:nvSpPr>
            <p:cNvPr id="22" name="TextBox 21"/>
            <p:cNvSpPr txBox="1"/>
            <p:nvPr/>
          </p:nvSpPr>
          <p:spPr>
            <a:xfrm>
              <a:off x="969264" y="3822191"/>
              <a:ext cx="2187702" cy="502920"/>
            </a:xfrm>
            <a:prstGeom prst="rect">
              <a:avLst/>
            </a:prstGeom>
            <a:noFill/>
          </p:spPr>
          <p:txBody>
            <a:bodyPr wrap="square" lIns="0" rIns="0" tIns="0" bIns="0" anchor="t"/>
            <a:lstStyle/>
            <a:p>
              <a:pPr algn="l">
                <a:lnSpc>
                  <a:spcPct val="114000"/>
                </a:lnSpc>
              </a:pPr>
              <a:r>
                <a:rPr sz="980" b="0" i="0">
                  <a:solidFill>
                    <a:srgbClr val="33483F"/>
                  </a:solidFill>
                  <a:latin typeface="Segoe UI"/>
                  <a:ea typeface="Segoe UI"/>
                  <a:cs typeface="Segoe UI"/>
                </a:rPr>
                <a:t>Low-cost workflow for low digital access</a:t>
              </a:r>
            </a:p>
          </p:txBody>
        </p:sp>
      </p:grpSp>
      <p:grpSp>
        <p:nvGrpSpPr>
          <p:cNvPr id="23" name="!!objective-2"/>
          <p:cNvGrpSpPr/>
          <p:nvPr/>
        </p:nvGrpSpPr>
        <p:grpSpPr>
          <a:xfrm>
            <a:off x="3486150" y="3493008"/>
            <a:ext cx="2516886" cy="896112"/>
            <a:chOff x="3486150" y="3493008"/>
            <a:chExt cx="2516886" cy="896112"/>
          </a:xfrm>
        </p:grpSpPr>
        <p:sp>
          <p:nvSpPr>
            <p:cNvPr id="24" name="Rounded Rectangle 23"/>
            <p:cNvSpPr/>
            <p:nvPr/>
          </p:nvSpPr>
          <p:spPr>
            <a:xfrm>
              <a:off x="3486150" y="3493008"/>
              <a:ext cx="2516886" cy="896112"/>
            </a:xfrm>
            <a:prstGeom prst="roundRect">
              <a:avLst>
                <a:gd name="adj" fmla="val 1020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4"/>
            <p:cNvSpPr txBox="1"/>
            <p:nvPr/>
          </p:nvSpPr>
          <p:spPr>
            <a:xfrm>
              <a:off x="3669030" y="3611879"/>
              <a:ext cx="457200" cy="201168"/>
            </a:xfrm>
            <a:prstGeom prst="rect">
              <a:avLst/>
            </a:prstGeom>
            <a:noFill/>
          </p:spPr>
          <p:txBody>
            <a:bodyPr wrap="square" lIns="0" rIns="0" tIns="0" bIns="0" anchor="t"/>
            <a:lstStyle/>
            <a:p>
              <a:pPr algn="l">
                <a:lnSpc>
                  <a:spcPct val="100000"/>
                </a:lnSpc>
              </a:pPr>
              <a:r>
                <a:rPr sz="850" b="1" i="0">
                  <a:solidFill>
                    <a:srgbClr val="A76F26"/>
                  </a:solidFill>
                  <a:latin typeface="Consolas"/>
                  <a:ea typeface="Consolas"/>
                  <a:cs typeface="Consolas"/>
                </a:rPr>
                <a:t>02</a:t>
              </a:r>
            </a:p>
          </p:txBody>
        </p:sp>
        <p:sp>
          <p:nvSpPr>
            <p:cNvPr id="26" name="TextBox 25"/>
            <p:cNvSpPr txBox="1"/>
            <p:nvPr/>
          </p:nvSpPr>
          <p:spPr>
            <a:xfrm>
              <a:off x="3669030" y="3822191"/>
              <a:ext cx="2187702" cy="502920"/>
            </a:xfrm>
            <a:prstGeom prst="rect">
              <a:avLst/>
            </a:prstGeom>
            <a:noFill/>
          </p:spPr>
          <p:txBody>
            <a:bodyPr wrap="square" lIns="0" rIns="0" tIns="0" bIns="0" anchor="t"/>
            <a:lstStyle/>
            <a:p>
              <a:pPr algn="l">
                <a:lnSpc>
                  <a:spcPct val="114000"/>
                </a:lnSpc>
              </a:pPr>
              <a:r>
                <a:rPr sz="980" b="0" i="0">
                  <a:solidFill>
                    <a:srgbClr val="33483F"/>
                  </a:solidFill>
                  <a:latin typeface="Segoe UI"/>
                  <a:ea typeface="Segoe UI"/>
                  <a:cs typeface="Segoe UI"/>
                </a:rPr>
                <a:t>One deterministic wage engine, visible to all</a:t>
              </a:r>
            </a:p>
          </p:txBody>
        </p:sp>
      </p:grpSp>
      <p:grpSp>
        <p:nvGrpSpPr>
          <p:cNvPr id="27" name="!!objective-3"/>
          <p:cNvGrpSpPr/>
          <p:nvPr/>
        </p:nvGrpSpPr>
        <p:grpSpPr>
          <a:xfrm>
            <a:off x="6185916" y="3493008"/>
            <a:ext cx="2516886" cy="896112"/>
            <a:chOff x="6185916" y="3493008"/>
            <a:chExt cx="2516886" cy="896112"/>
          </a:xfrm>
        </p:grpSpPr>
        <p:sp>
          <p:nvSpPr>
            <p:cNvPr id="28" name="Rounded Rectangle 27"/>
            <p:cNvSpPr/>
            <p:nvPr/>
          </p:nvSpPr>
          <p:spPr>
            <a:xfrm>
              <a:off x="6185916" y="3493008"/>
              <a:ext cx="2516886" cy="896112"/>
            </a:xfrm>
            <a:prstGeom prst="roundRect">
              <a:avLst>
                <a:gd name="adj" fmla="val 1020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TextBox 28"/>
            <p:cNvSpPr txBox="1"/>
            <p:nvPr/>
          </p:nvSpPr>
          <p:spPr>
            <a:xfrm>
              <a:off x="6368796" y="3611879"/>
              <a:ext cx="457200" cy="201168"/>
            </a:xfrm>
            <a:prstGeom prst="rect">
              <a:avLst/>
            </a:prstGeom>
            <a:noFill/>
          </p:spPr>
          <p:txBody>
            <a:bodyPr wrap="square" lIns="0" rIns="0" tIns="0" bIns="0" anchor="t"/>
            <a:lstStyle/>
            <a:p>
              <a:pPr algn="l">
                <a:lnSpc>
                  <a:spcPct val="100000"/>
                </a:lnSpc>
              </a:pPr>
              <a:r>
                <a:rPr sz="850" b="1" i="0">
                  <a:solidFill>
                    <a:srgbClr val="A76F26"/>
                  </a:solidFill>
                  <a:latin typeface="Consolas"/>
                  <a:ea typeface="Consolas"/>
                  <a:cs typeface="Consolas"/>
                </a:rPr>
                <a:t>03</a:t>
              </a:r>
            </a:p>
          </p:txBody>
        </p:sp>
        <p:sp>
          <p:nvSpPr>
            <p:cNvPr id="30" name="TextBox 29"/>
            <p:cNvSpPr txBox="1"/>
            <p:nvPr/>
          </p:nvSpPr>
          <p:spPr>
            <a:xfrm>
              <a:off x="6368796" y="3822191"/>
              <a:ext cx="2187702" cy="502920"/>
            </a:xfrm>
            <a:prstGeom prst="rect">
              <a:avLst/>
            </a:prstGeom>
            <a:noFill/>
          </p:spPr>
          <p:txBody>
            <a:bodyPr wrap="square" lIns="0" rIns="0" tIns="0" bIns="0" anchor="t"/>
            <a:lstStyle/>
            <a:p>
              <a:pPr algn="l">
                <a:lnSpc>
                  <a:spcPct val="114000"/>
                </a:lnSpc>
              </a:pPr>
              <a:r>
                <a:rPr sz="980" b="0" i="0">
                  <a:solidFill>
                    <a:srgbClr val="33483F"/>
                  </a:solidFill>
                  <a:latin typeface="Segoe UI"/>
                  <a:ea typeface="Segoe UI"/>
                  <a:cs typeface="Segoe UI"/>
                </a:rPr>
                <a:t>Corrections preserve prior values and reasons</a:t>
              </a:r>
            </a:p>
          </p:txBody>
        </p:sp>
      </p:grpSp>
      <p:grpSp>
        <p:nvGrpSpPr>
          <p:cNvPr id="31" name="!!objective-4"/>
          <p:cNvGrpSpPr/>
          <p:nvPr/>
        </p:nvGrpSpPr>
        <p:grpSpPr>
          <a:xfrm>
            <a:off x="8885682" y="3493008"/>
            <a:ext cx="2516886" cy="896112"/>
            <a:chOff x="8885682" y="3493008"/>
            <a:chExt cx="2516886" cy="896112"/>
          </a:xfrm>
        </p:grpSpPr>
        <p:sp>
          <p:nvSpPr>
            <p:cNvPr id="32" name="Rounded Rectangle 31"/>
            <p:cNvSpPr/>
            <p:nvPr/>
          </p:nvSpPr>
          <p:spPr>
            <a:xfrm>
              <a:off x="8885682" y="3493008"/>
              <a:ext cx="2516886" cy="896112"/>
            </a:xfrm>
            <a:prstGeom prst="roundRect">
              <a:avLst>
                <a:gd name="adj" fmla="val 1020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TextBox 32"/>
            <p:cNvSpPr txBox="1"/>
            <p:nvPr/>
          </p:nvSpPr>
          <p:spPr>
            <a:xfrm>
              <a:off x="9068562" y="3611879"/>
              <a:ext cx="457200" cy="201168"/>
            </a:xfrm>
            <a:prstGeom prst="rect">
              <a:avLst/>
            </a:prstGeom>
            <a:noFill/>
          </p:spPr>
          <p:txBody>
            <a:bodyPr wrap="square" lIns="0" rIns="0" tIns="0" bIns="0" anchor="t"/>
            <a:lstStyle/>
            <a:p>
              <a:pPr algn="l">
                <a:lnSpc>
                  <a:spcPct val="100000"/>
                </a:lnSpc>
              </a:pPr>
              <a:r>
                <a:rPr sz="850" b="1" i="0">
                  <a:solidFill>
                    <a:srgbClr val="A76F26"/>
                  </a:solidFill>
                  <a:latin typeface="Consolas"/>
                  <a:ea typeface="Consolas"/>
                  <a:cs typeface="Consolas"/>
                </a:rPr>
                <a:t>04</a:t>
              </a:r>
            </a:p>
          </p:txBody>
        </p:sp>
        <p:sp>
          <p:nvSpPr>
            <p:cNvPr id="34" name="TextBox 33"/>
            <p:cNvSpPr txBox="1"/>
            <p:nvPr/>
          </p:nvSpPr>
          <p:spPr>
            <a:xfrm>
              <a:off x="9068562" y="3822191"/>
              <a:ext cx="2187702" cy="502920"/>
            </a:xfrm>
            <a:prstGeom prst="rect">
              <a:avLst/>
            </a:prstGeom>
            <a:noFill/>
          </p:spPr>
          <p:txBody>
            <a:bodyPr wrap="square" lIns="0" rIns="0" tIns="0" bIns="0" anchor="t"/>
            <a:lstStyle/>
            <a:p>
              <a:pPr algn="l">
                <a:lnSpc>
                  <a:spcPct val="114000"/>
                </a:lnSpc>
              </a:pPr>
              <a:r>
                <a:rPr sz="980" b="0" i="0">
                  <a:solidFill>
                    <a:srgbClr val="33483F"/>
                  </a:solidFill>
                  <a:latin typeface="Segoe UI"/>
                  <a:ea typeface="Segoe UI"/>
                  <a:cs typeface="Segoe UI"/>
                </a:rPr>
                <a:t>Tampering detected by explainable, rule-based checks</a:t>
              </a:r>
            </a:p>
          </p:txBody>
        </p:sp>
      </p:grpSp>
      <p:grpSp>
        <p:nvGrpSpPr>
          <p:cNvPr id="35" name="!!objective-5"/>
          <p:cNvGrpSpPr/>
          <p:nvPr/>
        </p:nvGrpSpPr>
        <p:grpSpPr>
          <a:xfrm>
            <a:off x="786384" y="4517136"/>
            <a:ext cx="2516886" cy="896112"/>
            <a:chOff x="786384" y="4517136"/>
            <a:chExt cx="2516886" cy="896112"/>
          </a:xfrm>
        </p:grpSpPr>
        <p:sp>
          <p:nvSpPr>
            <p:cNvPr id="36" name="Rounded Rectangle 35"/>
            <p:cNvSpPr/>
            <p:nvPr/>
          </p:nvSpPr>
          <p:spPr>
            <a:xfrm>
              <a:off x="786384" y="4517136"/>
              <a:ext cx="2516886" cy="896112"/>
            </a:xfrm>
            <a:prstGeom prst="roundRect">
              <a:avLst>
                <a:gd name="adj" fmla="val 1020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TextBox 36"/>
            <p:cNvSpPr txBox="1"/>
            <p:nvPr/>
          </p:nvSpPr>
          <p:spPr>
            <a:xfrm>
              <a:off x="969264" y="4636007"/>
              <a:ext cx="457200" cy="201168"/>
            </a:xfrm>
            <a:prstGeom prst="rect">
              <a:avLst/>
            </a:prstGeom>
            <a:noFill/>
          </p:spPr>
          <p:txBody>
            <a:bodyPr wrap="square" lIns="0" rIns="0" tIns="0" bIns="0" anchor="t"/>
            <a:lstStyle/>
            <a:p>
              <a:pPr algn="l">
                <a:lnSpc>
                  <a:spcPct val="100000"/>
                </a:lnSpc>
              </a:pPr>
              <a:r>
                <a:rPr sz="850" b="1" i="0">
                  <a:solidFill>
                    <a:srgbClr val="A76F26"/>
                  </a:solidFill>
                  <a:latin typeface="Consolas"/>
                  <a:ea typeface="Consolas"/>
                  <a:cs typeface="Consolas"/>
                </a:rPr>
                <a:t>05</a:t>
              </a:r>
            </a:p>
          </p:txBody>
        </p:sp>
        <p:sp>
          <p:nvSpPr>
            <p:cNvPr id="38" name="TextBox 37"/>
            <p:cNvSpPr txBox="1"/>
            <p:nvPr/>
          </p:nvSpPr>
          <p:spPr>
            <a:xfrm>
              <a:off x="969264" y="4846320"/>
              <a:ext cx="2187702" cy="502920"/>
            </a:xfrm>
            <a:prstGeom prst="rect">
              <a:avLst/>
            </a:prstGeom>
            <a:noFill/>
          </p:spPr>
          <p:txBody>
            <a:bodyPr wrap="square" lIns="0" rIns="0" tIns="0" bIns="0" anchor="t"/>
            <a:lstStyle/>
            <a:p>
              <a:pPr algn="l">
                <a:lnSpc>
                  <a:spcPct val="114000"/>
                </a:lnSpc>
              </a:pPr>
              <a:r>
                <a:rPr sz="980" b="0" i="0">
                  <a:solidFill>
                    <a:srgbClr val="33483F"/>
                  </a:solidFill>
                  <a:latin typeface="Segoe UI"/>
                  <a:ea typeface="Segoe UI"/>
                  <a:cs typeface="Segoe UI"/>
                </a:rPr>
                <a:t>Offline operation inside a browser</a:t>
              </a:r>
            </a:p>
          </p:txBody>
        </p:sp>
      </p:grpSp>
      <p:grpSp>
        <p:nvGrpSpPr>
          <p:cNvPr id="39" name="!!objective-6"/>
          <p:cNvGrpSpPr/>
          <p:nvPr/>
        </p:nvGrpSpPr>
        <p:grpSpPr>
          <a:xfrm>
            <a:off x="3486150" y="4517136"/>
            <a:ext cx="2516886" cy="896112"/>
            <a:chOff x="3486150" y="4517136"/>
            <a:chExt cx="2516886" cy="896112"/>
          </a:xfrm>
        </p:grpSpPr>
        <p:sp>
          <p:nvSpPr>
            <p:cNvPr id="40" name="Rounded Rectangle 39"/>
            <p:cNvSpPr/>
            <p:nvPr/>
          </p:nvSpPr>
          <p:spPr>
            <a:xfrm>
              <a:off x="3486150" y="4517136"/>
              <a:ext cx="2516886" cy="896112"/>
            </a:xfrm>
            <a:prstGeom prst="roundRect">
              <a:avLst>
                <a:gd name="adj" fmla="val 1020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TextBox 40"/>
            <p:cNvSpPr txBox="1"/>
            <p:nvPr/>
          </p:nvSpPr>
          <p:spPr>
            <a:xfrm>
              <a:off x="3669030" y="4636007"/>
              <a:ext cx="457200" cy="201168"/>
            </a:xfrm>
            <a:prstGeom prst="rect">
              <a:avLst/>
            </a:prstGeom>
            <a:noFill/>
          </p:spPr>
          <p:txBody>
            <a:bodyPr wrap="square" lIns="0" rIns="0" tIns="0" bIns="0" anchor="t"/>
            <a:lstStyle/>
            <a:p>
              <a:pPr algn="l">
                <a:lnSpc>
                  <a:spcPct val="100000"/>
                </a:lnSpc>
              </a:pPr>
              <a:r>
                <a:rPr sz="850" b="1" i="0">
                  <a:solidFill>
                    <a:srgbClr val="A76F26"/>
                  </a:solidFill>
                  <a:latin typeface="Consolas"/>
                  <a:ea typeface="Consolas"/>
                  <a:cs typeface="Consolas"/>
                </a:rPr>
                <a:t>06</a:t>
              </a:r>
            </a:p>
          </p:txBody>
        </p:sp>
        <p:sp>
          <p:nvSpPr>
            <p:cNvPr id="42" name="TextBox 41"/>
            <p:cNvSpPr txBox="1"/>
            <p:nvPr/>
          </p:nvSpPr>
          <p:spPr>
            <a:xfrm>
              <a:off x="3669030" y="4846320"/>
              <a:ext cx="2187702" cy="502920"/>
            </a:xfrm>
            <a:prstGeom prst="rect">
              <a:avLst/>
            </a:prstGeom>
            <a:noFill/>
          </p:spPr>
          <p:txBody>
            <a:bodyPr wrap="square" lIns="0" rIns="0" tIns="0" bIns="0" anchor="t"/>
            <a:lstStyle/>
            <a:p>
              <a:pPr algn="l">
                <a:lnSpc>
                  <a:spcPct val="114000"/>
                </a:lnSpc>
              </a:pPr>
              <a:r>
                <a:rPr sz="980" b="0" i="0">
                  <a:solidFill>
                    <a:srgbClr val="33483F"/>
                  </a:solidFill>
                  <a:latin typeface="Segoe UI"/>
                  <a:ea typeface="Segoe UI"/>
                  <a:cs typeface="Segoe UI"/>
                </a:rPr>
                <a:t>A path to secure, cross-device approval</a:t>
              </a:r>
            </a:p>
          </p:txBody>
        </p:sp>
      </p:grpSp>
      <p:grpSp>
        <p:nvGrpSpPr>
          <p:cNvPr id="43" name="!!objective-7"/>
          <p:cNvGrpSpPr/>
          <p:nvPr/>
        </p:nvGrpSpPr>
        <p:grpSpPr>
          <a:xfrm>
            <a:off x="6185916" y="4517136"/>
            <a:ext cx="2516886" cy="896112"/>
            <a:chOff x="6185916" y="4517136"/>
            <a:chExt cx="2516886" cy="896112"/>
          </a:xfrm>
        </p:grpSpPr>
        <p:sp>
          <p:nvSpPr>
            <p:cNvPr id="44" name="Rounded Rectangle 43"/>
            <p:cNvSpPr/>
            <p:nvPr/>
          </p:nvSpPr>
          <p:spPr>
            <a:xfrm>
              <a:off x="6185916" y="4517136"/>
              <a:ext cx="2516886" cy="896112"/>
            </a:xfrm>
            <a:prstGeom prst="roundRect">
              <a:avLst>
                <a:gd name="adj" fmla="val 1020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TextBox 44"/>
            <p:cNvSpPr txBox="1"/>
            <p:nvPr/>
          </p:nvSpPr>
          <p:spPr>
            <a:xfrm>
              <a:off x="6368796" y="4636007"/>
              <a:ext cx="457200" cy="201168"/>
            </a:xfrm>
            <a:prstGeom prst="rect">
              <a:avLst/>
            </a:prstGeom>
            <a:noFill/>
          </p:spPr>
          <p:txBody>
            <a:bodyPr wrap="square" lIns="0" rIns="0" tIns="0" bIns="0" anchor="t"/>
            <a:lstStyle/>
            <a:p>
              <a:pPr algn="l">
                <a:lnSpc>
                  <a:spcPct val="100000"/>
                </a:lnSpc>
              </a:pPr>
              <a:r>
                <a:rPr sz="850" b="1" i="0">
                  <a:solidFill>
                    <a:srgbClr val="A76F26"/>
                  </a:solidFill>
                  <a:latin typeface="Consolas"/>
                  <a:ea typeface="Consolas"/>
                  <a:cs typeface="Consolas"/>
                </a:rPr>
                <a:t>07</a:t>
              </a:r>
            </a:p>
          </p:txBody>
        </p:sp>
        <p:sp>
          <p:nvSpPr>
            <p:cNvPr id="46" name="TextBox 45"/>
            <p:cNvSpPr txBox="1"/>
            <p:nvPr/>
          </p:nvSpPr>
          <p:spPr>
            <a:xfrm>
              <a:off x="6368796" y="4846320"/>
              <a:ext cx="2187702" cy="502920"/>
            </a:xfrm>
            <a:prstGeom prst="rect">
              <a:avLst/>
            </a:prstGeom>
            <a:noFill/>
          </p:spPr>
          <p:txBody>
            <a:bodyPr wrap="square" lIns="0" rIns="0" tIns="0" bIns="0" anchor="t"/>
            <a:lstStyle/>
            <a:p>
              <a:pPr algn="l">
                <a:lnSpc>
                  <a:spcPct val="114000"/>
                </a:lnSpc>
              </a:pPr>
              <a:r>
                <a:rPr sz="980" b="0" i="0">
                  <a:solidFill>
                    <a:srgbClr val="33483F"/>
                  </a:solidFill>
                  <a:latin typeface="Segoe UI"/>
                  <a:ea typeface="Segoe UI"/>
                  <a:cs typeface="Segoe UI"/>
                </a:rPr>
                <a:t>Repeatable evaluation on synthetic data</a:t>
              </a:r>
            </a:p>
          </p:txBody>
        </p:sp>
      </p:grpSp>
      <p:sp>
        <p:nvSpPr>
          <p:cNvPr id="47" name="TextBox 46"/>
          <p:cNvSpPr txBox="1"/>
          <p:nvPr/>
        </p:nvSpPr>
        <p:spPr>
          <a:xfrm>
            <a:off x="786384" y="5742432"/>
            <a:ext cx="10616184" cy="365760"/>
          </a:xfrm>
          <a:prstGeom prst="rect">
            <a:avLst/>
          </a:prstGeom>
          <a:noFill/>
        </p:spPr>
        <p:txBody>
          <a:bodyPr wrap="square" lIns="0" rIns="0" tIns="0" bIns="0" anchor="t"/>
          <a:lstStyle/>
          <a:p>
            <a:pPr algn="l">
              <a:lnSpc>
                <a:spcPct val="100000"/>
              </a:lnSpc>
            </a:pPr>
            <a:r>
              <a:rPr sz="960" b="0" i="1">
                <a:solidFill>
                  <a:srgbClr val="5F776B"/>
                </a:solidFill>
                <a:latin typeface="Segoe UI"/>
                <a:ea typeface="Segoe UI"/>
                <a:cs typeface="Segoe UI"/>
              </a:rPr>
              <a:t>Scope is deliberately narrow: transparency and verifiability of records — not proving attendance, not guaranteeing payment, not deciding legal truth.</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10058400" y="-2578608"/>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286000" y="4526279"/>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1119225"/>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1635861"/>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EXISTING SYSTEMS</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01  </a:t>
            </a:r>
            <a:r>
              <a:rPr sz="950" b="1" i="0" spc="140">
                <a:solidFill>
                  <a:srgbClr val="5F776B"/>
                </a:solidFill>
                <a:latin typeface="Segoe UI"/>
                <a:ea typeface="Segoe UI"/>
                <a:cs typeface="Segoe UI"/>
              </a:rPr>
              <a:t>CONTEXT</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What exists — and what it leaves open</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06 / 26</a:t>
            </a:r>
          </a:p>
        </p:txBody>
      </p:sp>
      <p:sp>
        <p:nvSpPr>
          <p:cNvPr id="14" name="TextBox 13"/>
          <p:cNvSpPr txBox="1"/>
          <p:nvPr/>
        </p:nvSpPr>
        <p:spPr>
          <a:xfrm>
            <a:off x="804672" y="1810512"/>
            <a:ext cx="2148840" cy="201168"/>
          </a:xfrm>
          <a:prstGeom prst="rect">
            <a:avLst/>
          </a:prstGeom>
          <a:noFill/>
        </p:spPr>
        <p:txBody>
          <a:bodyPr wrap="square" lIns="0" rIns="0" tIns="0" bIns="0" anchor="t"/>
          <a:lstStyle/>
          <a:p>
            <a:pPr algn="l">
              <a:lnSpc>
                <a:spcPct val="100000"/>
              </a:lnSpc>
            </a:pPr>
            <a:r>
              <a:rPr sz="780" b="1" i="0" spc="160">
                <a:solidFill>
                  <a:srgbClr val="5F776B"/>
                </a:solidFill>
                <a:latin typeface="Segoe UI"/>
                <a:ea typeface="Segoe UI"/>
                <a:cs typeface="Segoe UI"/>
              </a:rPr>
              <a:t>SYSTEM</a:t>
            </a:r>
          </a:p>
        </p:txBody>
      </p:sp>
      <p:sp>
        <p:nvSpPr>
          <p:cNvPr id="15" name="TextBox 14"/>
          <p:cNvSpPr txBox="1"/>
          <p:nvPr/>
        </p:nvSpPr>
        <p:spPr>
          <a:xfrm>
            <a:off x="3054096" y="1810512"/>
            <a:ext cx="2798064" cy="201168"/>
          </a:xfrm>
          <a:prstGeom prst="rect">
            <a:avLst/>
          </a:prstGeom>
          <a:noFill/>
        </p:spPr>
        <p:txBody>
          <a:bodyPr wrap="square" lIns="0" rIns="0" tIns="0" bIns="0" anchor="t"/>
          <a:lstStyle/>
          <a:p>
            <a:pPr algn="l">
              <a:lnSpc>
                <a:spcPct val="100000"/>
              </a:lnSpc>
            </a:pPr>
            <a:r>
              <a:rPr sz="780" b="1" i="0" spc="160">
                <a:solidFill>
                  <a:srgbClr val="5F776B"/>
                </a:solidFill>
                <a:latin typeface="Segoe UI"/>
                <a:ea typeface="Segoe UI"/>
                <a:cs typeface="Segoe UI"/>
              </a:rPr>
              <a:t>PRIMARY PURPOSE</a:t>
            </a:r>
          </a:p>
        </p:txBody>
      </p:sp>
      <p:sp>
        <p:nvSpPr>
          <p:cNvPr id="16" name="TextBox 15"/>
          <p:cNvSpPr txBox="1"/>
          <p:nvPr/>
        </p:nvSpPr>
        <p:spPr>
          <a:xfrm>
            <a:off x="6053328" y="1810512"/>
            <a:ext cx="2066543" cy="201168"/>
          </a:xfrm>
          <a:prstGeom prst="rect">
            <a:avLst/>
          </a:prstGeom>
          <a:noFill/>
        </p:spPr>
        <p:txBody>
          <a:bodyPr wrap="square" lIns="0" rIns="0" tIns="0" bIns="0" anchor="t"/>
          <a:lstStyle/>
          <a:p>
            <a:pPr algn="l">
              <a:lnSpc>
                <a:spcPct val="100000"/>
              </a:lnSpc>
            </a:pPr>
            <a:r>
              <a:rPr sz="780" b="1" i="0" spc="160">
                <a:solidFill>
                  <a:srgbClr val="5F776B"/>
                </a:solidFill>
                <a:latin typeface="Segoe UI"/>
                <a:ea typeface="Segoe UI"/>
                <a:cs typeface="Segoe UI"/>
              </a:rPr>
              <a:t>WAGE CALCULATION</a:t>
            </a:r>
          </a:p>
        </p:txBody>
      </p:sp>
      <p:sp>
        <p:nvSpPr>
          <p:cNvPr id="17" name="TextBox 16"/>
          <p:cNvSpPr txBox="1"/>
          <p:nvPr/>
        </p:nvSpPr>
        <p:spPr>
          <a:xfrm>
            <a:off x="8247888" y="1810512"/>
            <a:ext cx="2029968" cy="201168"/>
          </a:xfrm>
          <a:prstGeom prst="rect">
            <a:avLst/>
          </a:prstGeom>
          <a:noFill/>
        </p:spPr>
        <p:txBody>
          <a:bodyPr wrap="square" lIns="0" rIns="0" tIns="0" bIns="0" anchor="t"/>
          <a:lstStyle/>
          <a:p>
            <a:pPr algn="l">
              <a:lnSpc>
                <a:spcPct val="100000"/>
              </a:lnSpc>
            </a:pPr>
            <a:r>
              <a:rPr sz="780" b="1" i="0" spc="160">
                <a:solidFill>
                  <a:srgbClr val="5F776B"/>
                </a:solidFill>
                <a:latin typeface="Segoe UI"/>
                <a:ea typeface="Segoe UI"/>
                <a:cs typeface="Segoe UI"/>
              </a:rPr>
              <a:t>CORRECTION HISTORY</a:t>
            </a:r>
          </a:p>
        </p:txBody>
      </p:sp>
      <p:sp>
        <p:nvSpPr>
          <p:cNvPr id="18" name="TextBox 17"/>
          <p:cNvSpPr txBox="1"/>
          <p:nvPr/>
        </p:nvSpPr>
        <p:spPr>
          <a:xfrm>
            <a:off x="10460736" y="1810512"/>
            <a:ext cx="941832" cy="201168"/>
          </a:xfrm>
          <a:prstGeom prst="rect">
            <a:avLst/>
          </a:prstGeom>
          <a:noFill/>
        </p:spPr>
        <p:txBody>
          <a:bodyPr wrap="square" lIns="0" rIns="0" tIns="0" bIns="0" anchor="t"/>
          <a:lstStyle/>
          <a:p>
            <a:pPr algn="l">
              <a:lnSpc>
                <a:spcPct val="100000"/>
              </a:lnSpc>
            </a:pPr>
            <a:r>
              <a:rPr sz="780" b="1" i="0" spc="160">
                <a:solidFill>
                  <a:srgbClr val="5F776B"/>
                </a:solidFill>
                <a:latin typeface="Segoe UI"/>
                <a:ea typeface="Segoe UI"/>
                <a:cs typeface="Segoe UI"/>
              </a:rPr>
              <a:t>OFFLINE</a:t>
            </a:r>
          </a:p>
        </p:txBody>
      </p:sp>
      <p:sp>
        <p:nvSpPr>
          <p:cNvPr id="19" name="Rectangle 18"/>
          <p:cNvSpPr/>
          <p:nvPr/>
        </p:nvSpPr>
        <p:spPr>
          <a:xfrm>
            <a:off x="786384" y="2029968"/>
            <a:ext cx="10616184" cy="10972"/>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786384" y="2139696"/>
            <a:ext cx="2057400" cy="640080"/>
          </a:xfrm>
          <a:prstGeom prst="rect">
            <a:avLst/>
          </a:prstGeom>
          <a:noFill/>
        </p:spPr>
        <p:txBody>
          <a:bodyPr wrap="square" lIns="0" rIns="0" tIns="0" bIns="0" anchor="ctr"/>
          <a:lstStyle/>
          <a:p>
            <a:pPr algn="l">
              <a:lnSpc>
                <a:spcPct val="100000"/>
              </a:lnSpc>
            </a:pPr>
            <a:r>
              <a:rPr sz="1150" b="1" i="0">
                <a:solidFill>
                  <a:srgbClr val="12211B"/>
                </a:solidFill>
                <a:latin typeface="Segoe UI"/>
                <a:ea typeface="Segoe UI"/>
                <a:cs typeface="Segoe UI"/>
              </a:rPr>
              <a:t>e-Shram</a:t>
            </a:r>
          </a:p>
        </p:txBody>
      </p:sp>
      <p:sp>
        <p:nvSpPr>
          <p:cNvPr id="21" name="TextBox 20"/>
          <p:cNvSpPr txBox="1"/>
          <p:nvPr/>
        </p:nvSpPr>
        <p:spPr>
          <a:xfrm>
            <a:off x="3054096" y="2139696"/>
            <a:ext cx="2688336"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National registry of unorganised workers</a:t>
            </a:r>
          </a:p>
        </p:txBody>
      </p:sp>
      <p:sp>
        <p:nvSpPr>
          <p:cNvPr id="22" name="TextBox 21"/>
          <p:cNvSpPr txBox="1"/>
          <p:nvPr/>
        </p:nvSpPr>
        <p:spPr>
          <a:xfrm>
            <a:off x="6053328" y="2139696"/>
            <a:ext cx="1956815"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Not applicable</a:t>
            </a:r>
          </a:p>
        </p:txBody>
      </p:sp>
      <p:sp>
        <p:nvSpPr>
          <p:cNvPr id="23" name="TextBox 22"/>
          <p:cNvSpPr txBox="1"/>
          <p:nvPr/>
        </p:nvSpPr>
        <p:spPr>
          <a:xfrm>
            <a:off x="8247888" y="2139696"/>
            <a:ext cx="1920240"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Not its purpose</a:t>
            </a:r>
          </a:p>
        </p:txBody>
      </p:sp>
      <p:sp>
        <p:nvSpPr>
          <p:cNvPr id="24" name="TextBox 23"/>
          <p:cNvSpPr txBox="1"/>
          <p:nvPr/>
        </p:nvSpPr>
        <p:spPr>
          <a:xfrm>
            <a:off x="10460736" y="2139696"/>
            <a:ext cx="941832" cy="640080"/>
          </a:xfrm>
          <a:prstGeom prst="rect">
            <a:avLst/>
          </a:prstGeom>
          <a:noFill/>
        </p:spPr>
        <p:txBody>
          <a:bodyPr wrap="square" lIns="0" rIns="0" tIns="0" bIns="0" anchor="ctr"/>
          <a:lstStyle/>
          <a:p>
            <a:pPr algn="l">
              <a:lnSpc>
                <a:spcPct val="100000"/>
              </a:lnSpc>
            </a:pPr>
            <a:r>
              <a:rPr sz="919" b="0" i="0">
                <a:solidFill>
                  <a:srgbClr val="557165"/>
                </a:solidFill>
                <a:latin typeface="Segoe UI"/>
                <a:ea typeface="Segoe UI"/>
                <a:cs typeface="Segoe UI"/>
              </a:rPr>
              <a:t>Needs network</a:t>
            </a:r>
          </a:p>
        </p:txBody>
      </p:sp>
      <p:sp>
        <p:nvSpPr>
          <p:cNvPr id="25" name="Rectangle 24"/>
          <p:cNvSpPr/>
          <p:nvPr/>
        </p:nvSpPr>
        <p:spPr>
          <a:xfrm>
            <a:off x="786384" y="2834640"/>
            <a:ext cx="10616184" cy="9144"/>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786384" y="2907791"/>
            <a:ext cx="2057400" cy="640080"/>
          </a:xfrm>
          <a:prstGeom prst="rect">
            <a:avLst/>
          </a:prstGeom>
          <a:noFill/>
        </p:spPr>
        <p:txBody>
          <a:bodyPr wrap="square" lIns="0" rIns="0" tIns="0" bIns="0" anchor="ctr"/>
          <a:lstStyle/>
          <a:p>
            <a:pPr algn="l">
              <a:lnSpc>
                <a:spcPct val="100000"/>
              </a:lnSpc>
            </a:pPr>
            <a:r>
              <a:rPr sz="1150" b="1" i="0">
                <a:solidFill>
                  <a:srgbClr val="12211B"/>
                </a:solidFill>
                <a:latin typeface="Segoe UI"/>
                <a:ea typeface="Segoe UI"/>
                <a:cs typeface="Segoe UI"/>
              </a:rPr>
              <a:t>MGNREGS</a:t>
            </a:r>
          </a:p>
        </p:txBody>
      </p:sp>
      <p:sp>
        <p:nvSpPr>
          <p:cNvPr id="27" name="TextBox 26"/>
          <p:cNvSpPr txBox="1"/>
          <p:nvPr/>
        </p:nvSpPr>
        <p:spPr>
          <a:xfrm>
            <a:off x="3054096" y="2907791"/>
            <a:ext cx="2688336"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Public rural employment and wage payment</a:t>
            </a:r>
          </a:p>
        </p:txBody>
      </p:sp>
      <p:sp>
        <p:nvSpPr>
          <p:cNvPr id="28" name="TextBox 27"/>
          <p:cNvSpPr txBox="1"/>
          <p:nvPr/>
        </p:nvSpPr>
        <p:spPr>
          <a:xfrm>
            <a:off x="6053328" y="2907791"/>
            <a:ext cx="1956815"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System-generated</a:t>
            </a:r>
          </a:p>
        </p:txBody>
      </p:sp>
      <p:sp>
        <p:nvSpPr>
          <p:cNvPr id="29" name="TextBox 28"/>
          <p:cNvSpPr txBox="1"/>
          <p:nvPr/>
        </p:nvSpPr>
        <p:spPr>
          <a:xfrm>
            <a:off x="8247888" y="2907791"/>
            <a:ext cx="1920240"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Social audit exists</a:t>
            </a:r>
          </a:p>
        </p:txBody>
      </p:sp>
      <p:sp>
        <p:nvSpPr>
          <p:cNvPr id="30" name="TextBox 29"/>
          <p:cNvSpPr txBox="1"/>
          <p:nvPr/>
        </p:nvSpPr>
        <p:spPr>
          <a:xfrm>
            <a:off x="10460736" y="2907791"/>
            <a:ext cx="941832" cy="640080"/>
          </a:xfrm>
          <a:prstGeom prst="rect">
            <a:avLst/>
          </a:prstGeom>
          <a:noFill/>
        </p:spPr>
        <p:txBody>
          <a:bodyPr wrap="square" lIns="0" rIns="0" tIns="0" bIns="0" anchor="ctr"/>
          <a:lstStyle/>
          <a:p>
            <a:pPr algn="l">
              <a:lnSpc>
                <a:spcPct val="100000"/>
              </a:lnSpc>
            </a:pPr>
            <a:r>
              <a:rPr sz="919" b="0" i="0">
                <a:solidFill>
                  <a:srgbClr val="557165"/>
                </a:solidFill>
                <a:latin typeface="Segoe UI"/>
                <a:ea typeface="Segoe UI"/>
                <a:cs typeface="Segoe UI"/>
              </a:rPr>
              <a:t>Partial</a:t>
            </a:r>
          </a:p>
        </p:txBody>
      </p:sp>
      <p:sp>
        <p:nvSpPr>
          <p:cNvPr id="31" name="Rectangle 30"/>
          <p:cNvSpPr/>
          <p:nvPr/>
        </p:nvSpPr>
        <p:spPr>
          <a:xfrm>
            <a:off x="786384" y="3602736"/>
            <a:ext cx="10616184" cy="9144"/>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TextBox 31"/>
          <p:cNvSpPr txBox="1"/>
          <p:nvPr/>
        </p:nvSpPr>
        <p:spPr>
          <a:xfrm>
            <a:off x="786384" y="3675887"/>
            <a:ext cx="2057400" cy="640080"/>
          </a:xfrm>
          <a:prstGeom prst="rect">
            <a:avLst/>
          </a:prstGeom>
          <a:noFill/>
        </p:spPr>
        <p:txBody>
          <a:bodyPr wrap="square" lIns="0" rIns="0" tIns="0" bIns="0" anchor="ctr"/>
          <a:lstStyle/>
          <a:p>
            <a:pPr algn="l">
              <a:lnSpc>
                <a:spcPct val="100000"/>
              </a:lnSpc>
            </a:pPr>
            <a:r>
              <a:rPr sz="1150" b="1" i="0">
                <a:solidFill>
                  <a:srgbClr val="12211B"/>
                </a:solidFill>
                <a:latin typeface="Segoe UI"/>
                <a:ea typeface="Segoe UI"/>
                <a:cs typeface="Segoe UI"/>
              </a:rPr>
              <a:t>Payroll apps</a:t>
            </a:r>
          </a:p>
        </p:txBody>
      </p:sp>
      <p:sp>
        <p:nvSpPr>
          <p:cNvPr id="33" name="TextBox 32"/>
          <p:cNvSpPr txBox="1"/>
          <p:nvPr/>
        </p:nvSpPr>
        <p:spPr>
          <a:xfrm>
            <a:off x="3054096" y="3675887"/>
            <a:ext cx="2688336"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Employer payroll processing</a:t>
            </a:r>
          </a:p>
        </p:txBody>
      </p:sp>
      <p:sp>
        <p:nvSpPr>
          <p:cNvPr id="34" name="TextBox 33"/>
          <p:cNvSpPr txBox="1"/>
          <p:nvPr/>
        </p:nvSpPr>
        <p:spPr>
          <a:xfrm>
            <a:off x="6053328" y="3675887"/>
            <a:ext cx="1956815"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Varies by product</a:t>
            </a:r>
          </a:p>
        </p:txBody>
      </p:sp>
      <p:sp>
        <p:nvSpPr>
          <p:cNvPr id="35" name="TextBox 34"/>
          <p:cNvSpPr txBox="1"/>
          <p:nvPr/>
        </p:nvSpPr>
        <p:spPr>
          <a:xfrm>
            <a:off x="8247888" y="3675887"/>
            <a:ext cx="1920240"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Employer-controlled</a:t>
            </a:r>
          </a:p>
        </p:txBody>
      </p:sp>
      <p:sp>
        <p:nvSpPr>
          <p:cNvPr id="36" name="TextBox 35"/>
          <p:cNvSpPr txBox="1"/>
          <p:nvPr/>
        </p:nvSpPr>
        <p:spPr>
          <a:xfrm>
            <a:off x="10460736" y="3675887"/>
            <a:ext cx="941832" cy="640080"/>
          </a:xfrm>
          <a:prstGeom prst="rect">
            <a:avLst/>
          </a:prstGeom>
          <a:noFill/>
        </p:spPr>
        <p:txBody>
          <a:bodyPr wrap="square" lIns="0" rIns="0" tIns="0" bIns="0" anchor="ctr"/>
          <a:lstStyle/>
          <a:p>
            <a:pPr algn="l">
              <a:lnSpc>
                <a:spcPct val="100000"/>
              </a:lnSpc>
            </a:pPr>
            <a:r>
              <a:rPr sz="919" b="0" i="0">
                <a:solidFill>
                  <a:srgbClr val="557165"/>
                </a:solidFill>
                <a:latin typeface="Segoe UI"/>
                <a:ea typeface="Segoe UI"/>
                <a:cs typeface="Segoe UI"/>
              </a:rPr>
              <a:t>Mostly online</a:t>
            </a:r>
          </a:p>
        </p:txBody>
      </p:sp>
      <p:sp>
        <p:nvSpPr>
          <p:cNvPr id="37" name="Rectangle 36"/>
          <p:cNvSpPr/>
          <p:nvPr/>
        </p:nvSpPr>
        <p:spPr>
          <a:xfrm>
            <a:off x="786384" y="4370831"/>
            <a:ext cx="10616184" cy="9144"/>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TextBox 37"/>
          <p:cNvSpPr txBox="1"/>
          <p:nvPr/>
        </p:nvSpPr>
        <p:spPr>
          <a:xfrm>
            <a:off x="786384" y="4443983"/>
            <a:ext cx="2057400" cy="640080"/>
          </a:xfrm>
          <a:prstGeom prst="rect">
            <a:avLst/>
          </a:prstGeom>
          <a:noFill/>
        </p:spPr>
        <p:txBody>
          <a:bodyPr wrap="square" lIns="0" rIns="0" tIns="0" bIns="0" anchor="ctr"/>
          <a:lstStyle/>
          <a:p>
            <a:pPr algn="l">
              <a:lnSpc>
                <a:spcPct val="100000"/>
              </a:lnSpc>
            </a:pPr>
            <a:r>
              <a:rPr sz="1150" b="1" i="0">
                <a:solidFill>
                  <a:srgbClr val="12211B"/>
                </a:solidFill>
                <a:latin typeface="Segoe UI"/>
                <a:ea typeface="Segoe UI"/>
                <a:cs typeface="Segoe UI"/>
              </a:rPr>
              <a:t>Paper / WhatsApp</a:t>
            </a:r>
          </a:p>
        </p:txBody>
      </p:sp>
      <p:sp>
        <p:nvSpPr>
          <p:cNvPr id="39" name="TextBox 38"/>
          <p:cNvSpPr txBox="1"/>
          <p:nvPr/>
        </p:nvSpPr>
        <p:spPr>
          <a:xfrm>
            <a:off x="3054096" y="4443983"/>
            <a:ext cx="2688336"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Informal record keeping</a:t>
            </a:r>
          </a:p>
        </p:txBody>
      </p:sp>
      <p:sp>
        <p:nvSpPr>
          <p:cNvPr id="40" name="TextBox 39"/>
          <p:cNvSpPr txBox="1"/>
          <p:nvPr/>
        </p:nvSpPr>
        <p:spPr>
          <a:xfrm>
            <a:off x="6053328" y="4443983"/>
            <a:ext cx="1956815"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Manual and unshown</a:t>
            </a:r>
          </a:p>
        </p:txBody>
      </p:sp>
      <p:sp>
        <p:nvSpPr>
          <p:cNvPr id="41" name="TextBox 40"/>
          <p:cNvSpPr txBox="1"/>
          <p:nvPr/>
        </p:nvSpPr>
        <p:spPr>
          <a:xfrm>
            <a:off x="8247888" y="4443983"/>
            <a:ext cx="1920240"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Easily altered or lost</a:t>
            </a:r>
          </a:p>
        </p:txBody>
      </p:sp>
      <p:sp>
        <p:nvSpPr>
          <p:cNvPr id="42" name="TextBox 41"/>
          <p:cNvSpPr txBox="1"/>
          <p:nvPr/>
        </p:nvSpPr>
        <p:spPr>
          <a:xfrm>
            <a:off x="10460736" y="4443983"/>
            <a:ext cx="941832" cy="640080"/>
          </a:xfrm>
          <a:prstGeom prst="rect">
            <a:avLst/>
          </a:prstGeom>
          <a:noFill/>
        </p:spPr>
        <p:txBody>
          <a:bodyPr wrap="square" lIns="0" rIns="0" tIns="0" bIns="0" anchor="ctr"/>
          <a:lstStyle/>
          <a:p>
            <a:pPr algn="l">
              <a:lnSpc>
                <a:spcPct val="100000"/>
              </a:lnSpc>
            </a:pPr>
            <a:r>
              <a:rPr sz="919" b="0" i="0">
                <a:solidFill>
                  <a:srgbClr val="557165"/>
                </a:solidFill>
                <a:latin typeface="Segoe UI"/>
                <a:ea typeface="Segoe UI"/>
                <a:cs typeface="Segoe UI"/>
              </a:rPr>
              <a:t>Fully offline</a:t>
            </a:r>
          </a:p>
        </p:txBody>
      </p:sp>
      <p:sp>
        <p:nvSpPr>
          <p:cNvPr id="43" name="Rectangle 42"/>
          <p:cNvSpPr/>
          <p:nvPr/>
        </p:nvSpPr>
        <p:spPr>
          <a:xfrm>
            <a:off x="786384" y="5138927"/>
            <a:ext cx="10616184" cy="9144"/>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row-highlight"/>
          <p:cNvSpPr/>
          <p:nvPr/>
        </p:nvSpPr>
        <p:spPr>
          <a:xfrm>
            <a:off x="694944" y="5148071"/>
            <a:ext cx="10707624" cy="731520"/>
          </a:xfrm>
          <a:prstGeom prst="roundRect">
            <a:avLst>
              <a:gd name="adj" fmla="val 10000"/>
            </a:avLst>
          </a:prstGeom>
          <a:solidFill>
            <a:srgbClr val="F1F7F3"/>
          </a:solidFill>
          <a:ln w="9525">
            <a:solidFill>
              <a:srgbClr val="BADFC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Rounded Rectangle 44"/>
          <p:cNvSpPr/>
          <p:nvPr/>
        </p:nvSpPr>
        <p:spPr>
          <a:xfrm>
            <a:off x="694944" y="5148071"/>
            <a:ext cx="45720" cy="731520"/>
          </a:xfrm>
          <a:prstGeom prst="roundRect">
            <a:avLst>
              <a:gd name="adj" fmla="val 40000"/>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TextBox 45"/>
          <p:cNvSpPr txBox="1"/>
          <p:nvPr/>
        </p:nvSpPr>
        <p:spPr>
          <a:xfrm>
            <a:off x="786384" y="5212079"/>
            <a:ext cx="2057400" cy="640080"/>
          </a:xfrm>
          <a:prstGeom prst="rect">
            <a:avLst/>
          </a:prstGeom>
          <a:noFill/>
        </p:spPr>
        <p:txBody>
          <a:bodyPr wrap="square" lIns="0" rIns="0" tIns="0" bIns="0" anchor="ctr"/>
          <a:lstStyle/>
          <a:p>
            <a:pPr algn="l">
              <a:lnSpc>
                <a:spcPct val="100000"/>
              </a:lnSpc>
            </a:pPr>
            <a:r>
              <a:rPr sz="1150" b="1" i="0">
                <a:solidFill>
                  <a:srgbClr val="1B4936"/>
                </a:solidFill>
                <a:latin typeface="Segoe UI"/>
                <a:ea typeface="Segoe UI"/>
                <a:cs typeface="Segoe UI"/>
              </a:rPr>
              <a:t>Shram Setu 2.0</a:t>
            </a:r>
          </a:p>
        </p:txBody>
      </p:sp>
      <p:sp>
        <p:nvSpPr>
          <p:cNvPr id="47" name="TextBox 46"/>
          <p:cNvSpPr txBox="1"/>
          <p:nvPr/>
        </p:nvSpPr>
        <p:spPr>
          <a:xfrm>
            <a:off x="3054096" y="5212079"/>
            <a:ext cx="2688336" cy="640080"/>
          </a:xfrm>
          <a:prstGeom prst="rect">
            <a:avLst/>
          </a:prstGeom>
          <a:noFill/>
        </p:spPr>
        <p:txBody>
          <a:bodyPr wrap="square" lIns="0" rIns="0" tIns="0" bIns="0" anchor="ctr"/>
          <a:lstStyle/>
          <a:p>
            <a:pPr algn="l">
              <a:lnSpc>
                <a:spcPct val="114000"/>
              </a:lnSpc>
            </a:pPr>
            <a:r>
              <a:rPr sz="940" b="0" i="0">
                <a:solidFill>
                  <a:srgbClr val="557165"/>
                </a:solidFill>
                <a:latin typeface="Segoe UI"/>
                <a:ea typeface="Segoe UI"/>
                <a:cs typeface="Segoe UI"/>
              </a:rPr>
              <a:t>Work and wage reconciliation between two parties</a:t>
            </a:r>
          </a:p>
        </p:txBody>
      </p:sp>
      <p:sp>
        <p:nvSpPr>
          <p:cNvPr id="48" name="TextBox 47"/>
          <p:cNvSpPr txBox="1"/>
          <p:nvPr/>
        </p:nvSpPr>
        <p:spPr>
          <a:xfrm>
            <a:off x="6053328" y="5212079"/>
            <a:ext cx="1956815" cy="640080"/>
          </a:xfrm>
          <a:prstGeom prst="rect">
            <a:avLst/>
          </a:prstGeom>
          <a:noFill/>
        </p:spPr>
        <p:txBody>
          <a:bodyPr wrap="square" lIns="0" rIns="0" tIns="0" bIns="0" anchor="ctr"/>
          <a:lstStyle/>
          <a:p>
            <a:pPr algn="l">
              <a:lnSpc>
                <a:spcPct val="114000"/>
              </a:lnSpc>
            </a:pPr>
            <a:r>
              <a:rPr sz="940" b="0" i="0">
                <a:solidFill>
                  <a:srgbClr val="1B4936"/>
                </a:solidFill>
                <a:latin typeface="Segoe UI"/>
                <a:ea typeface="Segoe UI"/>
                <a:cs typeface="Segoe UI"/>
              </a:rPr>
              <a:t>One shared engine, shown step by step</a:t>
            </a:r>
          </a:p>
        </p:txBody>
      </p:sp>
      <p:sp>
        <p:nvSpPr>
          <p:cNvPr id="49" name="TextBox 48"/>
          <p:cNvSpPr txBox="1"/>
          <p:nvPr/>
        </p:nvSpPr>
        <p:spPr>
          <a:xfrm>
            <a:off x="8247888" y="5212079"/>
            <a:ext cx="1920240" cy="640080"/>
          </a:xfrm>
          <a:prstGeom prst="rect">
            <a:avLst/>
          </a:prstGeom>
          <a:noFill/>
        </p:spPr>
        <p:txBody>
          <a:bodyPr wrap="square" lIns="0" rIns="0" tIns="0" bIns="0" anchor="ctr"/>
          <a:lstStyle/>
          <a:p>
            <a:pPr algn="l">
              <a:lnSpc>
                <a:spcPct val="114000"/>
              </a:lnSpc>
            </a:pPr>
            <a:r>
              <a:rPr sz="940" b="0" i="0">
                <a:solidFill>
                  <a:srgbClr val="1B4936"/>
                </a:solidFill>
                <a:latin typeface="Segoe UI"/>
                <a:ea typeface="Segoe UI"/>
                <a:cs typeface="Segoe UI"/>
              </a:rPr>
              <a:t>Prior value, reason, actor, timestamp</a:t>
            </a:r>
          </a:p>
        </p:txBody>
      </p:sp>
      <p:sp>
        <p:nvSpPr>
          <p:cNvPr id="50" name="TextBox 49"/>
          <p:cNvSpPr txBox="1"/>
          <p:nvPr/>
        </p:nvSpPr>
        <p:spPr>
          <a:xfrm>
            <a:off x="10460736" y="5212079"/>
            <a:ext cx="941832" cy="640080"/>
          </a:xfrm>
          <a:prstGeom prst="rect">
            <a:avLst/>
          </a:prstGeom>
          <a:noFill/>
        </p:spPr>
        <p:txBody>
          <a:bodyPr wrap="square" lIns="0" rIns="0" tIns="0" bIns="0" anchor="ctr"/>
          <a:lstStyle/>
          <a:p>
            <a:pPr algn="l">
              <a:lnSpc>
                <a:spcPct val="100000"/>
              </a:lnSpc>
            </a:pPr>
            <a:r>
              <a:rPr sz="919" b="1" i="0">
                <a:solidFill>
                  <a:srgbClr val="1F5941"/>
                </a:solidFill>
                <a:latin typeface="Segoe UI"/>
                <a:ea typeface="Segoe UI"/>
                <a:cs typeface="Segoe UI"/>
              </a:rPr>
              <a:t>Local only</a:t>
            </a:r>
          </a:p>
        </p:txBody>
      </p:sp>
      <p:sp>
        <p:nvSpPr>
          <p:cNvPr id="51" name="TextBox 50"/>
          <p:cNvSpPr txBox="1"/>
          <p:nvPr/>
        </p:nvSpPr>
        <p:spPr>
          <a:xfrm>
            <a:off x="786384" y="6053328"/>
            <a:ext cx="10616184" cy="219456"/>
          </a:xfrm>
          <a:prstGeom prst="rect">
            <a:avLst/>
          </a:prstGeom>
          <a:noFill/>
        </p:spPr>
        <p:txBody>
          <a:bodyPr wrap="square" lIns="0" rIns="0" tIns="0" bIns="0" anchor="t"/>
          <a:lstStyle/>
          <a:p>
            <a:pPr algn="l">
              <a:lnSpc>
                <a:spcPct val="100000"/>
              </a:lnSpc>
            </a:pPr>
            <a:r>
              <a:rPr sz="819" b="0" i="1">
                <a:solidFill>
                  <a:srgbClr val="5F776B"/>
                </a:solidFill>
                <a:latin typeface="Segoe UI"/>
                <a:ea typeface="Segoe UI"/>
                <a:cs typeface="Segoe UI"/>
              </a:rPr>
              <a:t>Comparison of documented purpose, not assumed defects. Sources: e-Shram portal; CAG MGNREGS audits; product documentation; the project's own implementation report.</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2219"/>
        </a:solidFill>
        <a:effectLst/>
      </p:bgPr>
    </p:bg>
    <p:spTree>
      <p:nvGrpSpPr>
        <p:cNvPr id="1" name=""/>
        <p:cNvGrpSpPr/>
        <p:nvPr/>
      </p:nvGrpSpPr>
      <p:grpSpPr/>
      <p:sp>
        <p:nvSpPr>
          <p:cNvPr id="2" name="!!glow-a"/>
          <p:cNvSpPr/>
          <p:nvPr/>
        </p:nvSpPr>
        <p:spPr>
          <a:xfrm>
            <a:off x="9052560" y="-2322576"/>
            <a:ext cx="6035040" cy="6035040"/>
          </a:xfrm>
          <a:prstGeom prst="ellipse">
            <a:avLst/>
          </a:prstGeom>
          <a:gradFill rotWithShape="1">
            <a:gsLst>
              <a:gs pos="0">
                <a:srgbClr val="57A97E">
                  <a:alpha val="26000"/>
                </a:srgbClr>
              </a:gs>
              <a:gs pos="60000">
                <a:srgbClr val="57A97E">
                  <a:alpha val="11700"/>
                </a:srgbClr>
              </a:gs>
              <a:gs pos="100000">
                <a:srgbClr val="57A97E">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834640" y="4206240"/>
            <a:ext cx="4937760" cy="4937760"/>
          </a:xfrm>
          <a:prstGeom prst="ellipse">
            <a:avLst/>
          </a:prstGeom>
          <a:gradFill rotWithShape="1">
            <a:gsLst>
              <a:gs pos="0">
                <a:srgbClr val="D9A844">
                  <a:alpha val="20000"/>
                </a:srgbClr>
              </a:gs>
              <a:gs pos="60000">
                <a:srgbClr val="D9A844">
                  <a:alpha val="900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1343070"/>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1859706"/>
            <a:ext cx="118872" cy="118872"/>
          </a:xfrm>
          <a:prstGeom prst="ellipse">
            <a:avLst/>
          </a:prstGeom>
          <a:solidFill>
            <a:srgbClr val="E5C0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E5C068"/>
                </a:solidFill>
                <a:latin typeface="Segoe UI"/>
                <a:ea typeface="Segoe UI"/>
                <a:cs typeface="Segoe UI"/>
              </a:rPr>
              <a:t>THE CORE IDEA</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D9A844"/>
                </a:solidFill>
                <a:latin typeface="Segoe UI"/>
                <a:ea typeface="Segoe UI"/>
                <a:cs typeface="Segoe UI"/>
              </a:rPr>
              <a:t>02  </a:t>
            </a:r>
            <a:r>
              <a:rPr sz="950" b="1" i="0" spc="140">
                <a:solidFill>
                  <a:srgbClr val="57A97E"/>
                </a:solidFill>
                <a:latin typeface="Segoe UI"/>
                <a:ea typeface="Segoe UI"/>
                <a:cs typeface="Segoe UI"/>
              </a:rPr>
              <a:t>DESIGN</a:t>
            </a:r>
          </a:p>
        </p:txBody>
      </p:sp>
      <p:sp>
        <p:nvSpPr>
          <p:cNvPr id="10" name="!!title"/>
          <p:cNvSpPr txBox="1"/>
          <p:nvPr/>
        </p:nvSpPr>
        <p:spPr>
          <a:xfrm>
            <a:off x="786384" y="1371600"/>
            <a:ext cx="10241280" cy="2240280"/>
          </a:xfrm>
          <a:prstGeom prst="rect">
            <a:avLst/>
          </a:prstGeom>
          <a:noFill/>
        </p:spPr>
        <p:txBody>
          <a:bodyPr wrap="square" lIns="0" rIns="0" tIns="0" bIns="0" anchor="t"/>
          <a:lstStyle/>
          <a:p>
            <a:pPr algn="l">
              <a:lnSpc>
                <a:spcPct val="106000"/>
              </a:lnSpc>
              <a:spcAft>
                <a:spcPts val="0"/>
              </a:spcAft>
            </a:pPr>
            <a:r>
              <a:rPr sz="4000" b="1" i="0">
                <a:solidFill>
                  <a:srgbClr val="FDFBF6"/>
                </a:solidFill>
                <a:latin typeface="Georgia"/>
                <a:ea typeface="Georgia"/>
                <a:cs typeface="Georgia"/>
              </a:rPr>
              <a:t>Every shift recorded.</a:t>
            </a:r>
          </a:p>
          <a:p>
            <a:pPr algn="l">
              <a:lnSpc>
                <a:spcPct val="106000"/>
              </a:lnSpc>
              <a:spcAft>
                <a:spcPts val="0"/>
              </a:spcAft>
            </a:pPr>
            <a:r>
              <a:rPr sz="4000" b="1" i="0">
                <a:solidFill>
                  <a:srgbClr val="FDFBF6"/>
                </a:solidFill>
                <a:latin typeface="Georgia"/>
                <a:ea typeface="Georgia"/>
                <a:cs typeface="Georgia"/>
              </a:rPr>
              <a:t>Every wage explained.</a:t>
            </a:r>
          </a:p>
          <a:p>
            <a:pPr algn="l">
              <a:lnSpc>
                <a:spcPct val="106000"/>
              </a:lnSpc>
            </a:pPr>
            <a:r>
              <a:rPr sz="4000" b="1" i="0">
                <a:solidFill>
                  <a:srgbClr val="FDFBF6"/>
                </a:solidFill>
                <a:latin typeface="Georgia"/>
                <a:ea typeface="Georgia"/>
                <a:cs typeface="Georgia"/>
              </a:rPr>
              <a:t>Every change traceable.</a:t>
            </a:r>
          </a:p>
        </p:txBody>
      </p:sp>
      <p:sp>
        <p:nvSpPr>
          <p:cNvPr id="11"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7A97E"/>
                </a:solidFill>
                <a:latin typeface="Segoe UI"/>
                <a:ea typeface="Segoe UI"/>
                <a:cs typeface="Segoe UI"/>
              </a:rPr>
              <a:t>Shram Setu 2.0   ·   Indore Sahodaya Computer Science   ·   2026</a:t>
            </a:r>
          </a:p>
        </p:txBody>
      </p:sp>
      <p:sp>
        <p:nvSpPr>
          <p:cNvPr id="12"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8BC7A6"/>
                </a:solidFill>
                <a:latin typeface="Consolas"/>
                <a:ea typeface="Consolas"/>
                <a:cs typeface="Consolas"/>
              </a:rPr>
              <a:t>07 / 26</a:t>
            </a:r>
          </a:p>
        </p:txBody>
      </p:sp>
      <p:sp>
        <p:nvSpPr>
          <p:cNvPr id="13" name="Rectangle 12"/>
          <p:cNvSpPr/>
          <p:nvPr/>
        </p:nvSpPr>
        <p:spPr>
          <a:xfrm>
            <a:off x="7726679" y="1591056"/>
            <a:ext cx="274320" cy="1828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8138160" y="1463040"/>
            <a:ext cx="3246120" cy="548640"/>
          </a:xfrm>
          <a:prstGeom prst="rect">
            <a:avLst/>
          </a:prstGeom>
          <a:noFill/>
        </p:spPr>
        <p:txBody>
          <a:bodyPr wrap="square" lIns="0" rIns="0" tIns="0" bIns="0" anchor="t"/>
          <a:lstStyle/>
          <a:p>
            <a:pPr algn="l">
              <a:lnSpc>
                <a:spcPct val="116000"/>
              </a:lnSpc>
            </a:pPr>
            <a:r>
              <a:rPr sz="1050" b="0" i="0">
                <a:solidFill>
                  <a:srgbClr val="BADFCA"/>
                </a:solidFill>
                <a:latin typeface="Segoe UI"/>
                <a:ea typeface="Segoe UI"/>
                <a:cs typeface="Segoe UI"/>
              </a:rPr>
              <a:t>A shared muster roll that worker, contractor and reviewer can all read.</a:t>
            </a:r>
          </a:p>
        </p:txBody>
      </p:sp>
      <p:sp>
        <p:nvSpPr>
          <p:cNvPr id="15" name="Rectangle 14"/>
          <p:cNvSpPr/>
          <p:nvPr/>
        </p:nvSpPr>
        <p:spPr>
          <a:xfrm>
            <a:off x="7726679" y="2249424"/>
            <a:ext cx="274320" cy="1828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8138160" y="2121408"/>
            <a:ext cx="3246120" cy="548640"/>
          </a:xfrm>
          <a:prstGeom prst="rect">
            <a:avLst/>
          </a:prstGeom>
          <a:noFill/>
        </p:spPr>
        <p:txBody>
          <a:bodyPr wrap="square" lIns="0" rIns="0" tIns="0" bIns="0" anchor="t"/>
          <a:lstStyle/>
          <a:p>
            <a:pPr algn="l">
              <a:lnSpc>
                <a:spcPct val="116000"/>
              </a:lnSpc>
            </a:pPr>
            <a:r>
              <a:rPr sz="1050" b="0" i="0">
                <a:solidFill>
                  <a:srgbClr val="BADFCA"/>
                </a:solidFill>
                <a:latin typeface="Segoe UI"/>
                <a:ea typeface="Segoe UI"/>
                <a:cs typeface="Segoe UI"/>
              </a:rPr>
              <a:t>The arithmetic, line by line: days, rate, overtime, deductions, balance.</a:t>
            </a:r>
          </a:p>
        </p:txBody>
      </p:sp>
      <p:sp>
        <p:nvSpPr>
          <p:cNvPr id="17" name="Rectangle 16"/>
          <p:cNvSpPr/>
          <p:nvPr/>
        </p:nvSpPr>
        <p:spPr>
          <a:xfrm>
            <a:off x="7726679" y="2907792"/>
            <a:ext cx="274320" cy="1828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8138160" y="2779776"/>
            <a:ext cx="3246120" cy="548640"/>
          </a:xfrm>
          <a:prstGeom prst="rect">
            <a:avLst/>
          </a:prstGeom>
          <a:noFill/>
        </p:spPr>
        <p:txBody>
          <a:bodyPr wrap="square" lIns="0" rIns="0" tIns="0" bIns="0" anchor="t"/>
          <a:lstStyle/>
          <a:p>
            <a:pPr algn="l">
              <a:lnSpc>
                <a:spcPct val="116000"/>
              </a:lnSpc>
            </a:pPr>
            <a:r>
              <a:rPr sz="1050" b="0" i="0">
                <a:solidFill>
                  <a:srgbClr val="BADFCA"/>
                </a:solidFill>
                <a:latin typeface="Segoe UI"/>
                <a:ea typeface="Segoe UI"/>
                <a:cs typeface="Segoe UI"/>
              </a:rPr>
              <a:t>Prior value, new value, reason, actor and timestamp — kept, not replaced.</a:t>
            </a:r>
          </a:p>
        </p:txBody>
      </p:sp>
      <p:sp>
        <p:nvSpPr>
          <p:cNvPr id="19" name="Rectangle 18"/>
          <p:cNvSpPr/>
          <p:nvPr/>
        </p:nvSpPr>
        <p:spPr>
          <a:xfrm>
            <a:off x="786384" y="4041648"/>
            <a:ext cx="10616184" cy="10972"/>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786384" y="4224528"/>
            <a:ext cx="9601200" cy="457200"/>
          </a:xfrm>
          <a:prstGeom prst="rect">
            <a:avLst/>
          </a:prstGeom>
          <a:noFill/>
        </p:spPr>
        <p:txBody>
          <a:bodyPr wrap="square" lIns="0" rIns="0" tIns="0" bIns="0" anchor="t"/>
          <a:lstStyle/>
          <a:p>
            <a:pPr algn="l">
              <a:lnSpc>
                <a:spcPct val="100000"/>
              </a:lnSpc>
            </a:pPr>
            <a:r>
              <a:rPr sz="2200" b="0" i="1">
                <a:solidFill>
                  <a:srgbClr val="F0D99B"/>
                </a:solidFill>
                <a:latin typeface="Georgia"/>
                <a:ea typeface="Georgia"/>
                <a:cs typeface="Georgia"/>
              </a:rPr>
              <a:t>Transparency by mechanism, not by claim.</a:t>
            </a:r>
          </a:p>
        </p:txBody>
      </p:sp>
      <p:grpSp>
        <p:nvGrpSpPr>
          <p:cNvPr id="21" name="!!pillar-1"/>
          <p:cNvGrpSpPr/>
          <p:nvPr/>
        </p:nvGrpSpPr>
        <p:grpSpPr>
          <a:xfrm>
            <a:off x="786384" y="4901184"/>
            <a:ext cx="3416808" cy="1024128"/>
            <a:chOff x="786384" y="4901184"/>
            <a:chExt cx="3416808" cy="1024128"/>
          </a:xfrm>
        </p:grpSpPr>
        <p:sp>
          <p:nvSpPr>
            <p:cNvPr id="22" name="Rounded Rectangle 21"/>
            <p:cNvSpPr/>
            <p:nvPr/>
          </p:nvSpPr>
          <p:spPr>
            <a:xfrm>
              <a:off x="786384" y="4901184"/>
              <a:ext cx="3416808" cy="1024128"/>
            </a:xfrm>
            <a:prstGeom prst="roundRect">
              <a:avLst>
                <a:gd name="adj" fmla="val 10714"/>
              </a:avLst>
            </a:prstGeom>
            <a:solidFill>
              <a:srgbClr val="163A2B"/>
            </a:solidFill>
            <a:ln w="9525">
              <a:solidFill>
                <a:srgbClr val="1F5941"/>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TextBox 22"/>
            <p:cNvSpPr txBox="1"/>
            <p:nvPr/>
          </p:nvSpPr>
          <p:spPr>
            <a:xfrm>
              <a:off x="1005840" y="5029200"/>
              <a:ext cx="457200" cy="219456"/>
            </a:xfrm>
            <a:prstGeom prst="rect">
              <a:avLst/>
            </a:prstGeom>
            <a:noFill/>
          </p:spPr>
          <p:txBody>
            <a:bodyPr wrap="square" lIns="0" rIns="0" tIns="0" bIns="0" anchor="t"/>
            <a:lstStyle/>
            <a:p>
              <a:pPr algn="l">
                <a:lnSpc>
                  <a:spcPct val="100000"/>
                </a:lnSpc>
              </a:pPr>
              <a:r>
                <a:rPr sz="850" b="1" i="0">
                  <a:solidFill>
                    <a:srgbClr val="E5C068"/>
                  </a:solidFill>
                  <a:latin typeface="Consolas"/>
                  <a:ea typeface="Consolas"/>
                  <a:cs typeface="Consolas"/>
                </a:rPr>
                <a:t>01</a:t>
              </a:r>
            </a:p>
          </p:txBody>
        </p:sp>
        <p:sp>
          <p:nvSpPr>
            <p:cNvPr id="24" name="TextBox 23"/>
            <p:cNvSpPr txBox="1"/>
            <p:nvPr/>
          </p:nvSpPr>
          <p:spPr>
            <a:xfrm>
              <a:off x="1005840" y="5230368"/>
              <a:ext cx="3051048" cy="237744"/>
            </a:xfrm>
            <a:prstGeom prst="rect">
              <a:avLst/>
            </a:prstGeom>
            <a:noFill/>
          </p:spPr>
          <p:txBody>
            <a:bodyPr wrap="square" lIns="0" rIns="0" tIns="0" bIns="0" anchor="t"/>
            <a:lstStyle/>
            <a:p>
              <a:pPr algn="l">
                <a:lnSpc>
                  <a:spcPct val="100000"/>
                </a:lnSpc>
              </a:pPr>
              <a:r>
                <a:rPr sz="1250" b="1" i="0">
                  <a:solidFill>
                    <a:srgbClr val="FDFBF6"/>
                  </a:solidFill>
                  <a:latin typeface="Segoe UI"/>
                  <a:ea typeface="Segoe UI"/>
                  <a:cs typeface="Segoe UI"/>
                </a:rPr>
                <a:t>Shared record</a:t>
              </a:r>
            </a:p>
          </p:txBody>
        </p:sp>
        <p:sp>
          <p:nvSpPr>
            <p:cNvPr id="25" name="TextBox 24"/>
            <p:cNvSpPr txBox="1"/>
            <p:nvPr/>
          </p:nvSpPr>
          <p:spPr>
            <a:xfrm>
              <a:off x="1005840" y="5504688"/>
              <a:ext cx="3051048" cy="274320"/>
            </a:xfrm>
            <a:prstGeom prst="rect">
              <a:avLst/>
            </a:prstGeom>
            <a:noFill/>
          </p:spPr>
          <p:txBody>
            <a:bodyPr wrap="square" lIns="0" rIns="0" tIns="0" bIns="0" anchor="t"/>
            <a:lstStyle/>
            <a:p>
              <a:pPr algn="l">
                <a:lnSpc>
                  <a:spcPct val="100000"/>
                </a:lnSpc>
              </a:pPr>
              <a:r>
                <a:rPr sz="900" b="0" i="0">
                  <a:solidFill>
                    <a:srgbClr val="8BC7A6"/>
                  </a:solidFill>
                  <a:latin typeface="Segoe UI"/>
                  <a:ea typeface="Segoe UI"/>
                  <a:cs typeface="Segoe UI"/>
                </a:rPr>
                <a:t>One domain model, three portals</a:t>
              </a:r>
            </a:p>
          </p:txBody>
        </p:sp>
      </p:grpSp>
      <p:grpSp>
        <p:nvGrpSpPr>
          <p:cNvPr id="26" name="!!pillar-2"/>
          <p:cNvGrpSpPr/>
          <p:nvPr/>
        </p:nvGrpSpPr>
        <p:grpSpPr>
          <a:xfrm>
            <a:off x="4386072" y="4901184"/>
            <a:ext cx="3416808" cy="1024128"/>
            <a:chOff x="4386072" y="4901184"/>
            <a:chExt cx="3416808" cy="1024128"/>
          </a:xfrm>
        </p:grpSpPr>
        <p:sp>
          <p:nvSpPr>
            <p:cNvPr id="27" name="Rounded Rectangle 26"/>
            <p:cNvSpPr/>
            <p:nvPr/>
          </p:nvSpPr>
          <p:spPr>
            <a:xfrm>
              <a:off x="4386072" y="4901184"/>
              <a:ext cx="3416808" cy="1024128"/>
            </a:xfrm>
            <a:prstGeom prst="roundRect">
              <a:avLst>
                <a:gd name="adj" fmla="val 10714"/>
              </a:avLst>
            </a:prstGeom>
            <a:solidFill>
              <a:srgbClr val="163A2B"/>
            </a:solidFill>
            <a:ln w="9525">
              <a:solidFill>
                <a:srgbClr val="1F5941"/>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7"/>
            <p:cNvSpPr txBox="1"/>
            <p:nvPr/>
          </p:nvSpPr>
          <p:spPr>
            <a:xfrm>
              <a:off x="4605528" y="5029200"/>
              <a:ext cx="457200" cy="219456"/>
            </a:xfrm>
            <a:prstGeom prst="rect">
              <a:avLst/>
            </a:prstGeom>
            <a:noFill/>
          </p:spPr>
          <p:txBody>
            <a:bodyPr wrap="square" lIns="0" rIns="0" tIns="0" bIns="0" anchor="t"/>
            <a:lstStyle/>
            <a:p>
              <a:pPr algn="l">
                <a:lnSpc>
                  <a:spcPct val="100000"/>
                </a:lnSpc>
              </a:pPr>
              <a:r>
                <a:rPr sz="850" b="1" i="0">
                  <a:solidFill>
                    <a:srgbClr val="E5C068"/>
                  </a:solidFill>
                  <a:latin typeface="Consolas"/>
                  <a:ea typeface="Consolas"/>
                  <a:cs typeface="Consolas"/>
                </a:rPr>
                <a:t>02</a:t>
              </a:r>
            </a:p>
          </p:txBody>
        </p:sp>
        <p:sp>
          <p:nvSpPr>
            <p:cNvPr id="29" name="TextBox 28"/>
            <p:cNvSpPr txBox="1"/>
            <p:nvPr/>
          </p:nvSpPr>
          <p:spPr>
            <a:xfrm>
              <a:off x="4605528" y="5230368"/>
              <a:ext cx="3051048" cy="237744"/>
            </a:xfrm>
            <a:prstGeom prst="rect">
              <a:avLst/>
            </a:prstGeom>
            <a:noFill/>
          </p:spPr>
          <p:txBody>
            <a:bodyPr wrap="square" lIns="0" rIns="0" tIns="0" bIns="0" anchor="t"/>
            <a:lstStyle/>
            <a:p>
              <a:pPr algn="l">
                <a:lnSpc>
                  <a:spcPct val="100000"/>
                </a:lnSpc>
              </a:pPr>
              <a:r>
                <a:rPr sz="1250" b="1" i="0">
                  <a:solidFill>
                    <a:srgbClr val="FDFBF6"/>
                  </a:solidFill>
                  <a:latin typeface="Segoe UI"/>
                  <a:ea typeface="Segoe UI"/>
                  <a:cs typeface="Segoe UI"/>
                </a:rPr>
                <a:t>Shown arithmetic</a:t>
              </a:r>
            </a:p>
          </p:txBody>
        </p:sp>
        <p:sp>
          <p:nvSpPr>
            <p:cNvPr id="30" name="TextBox 29"/>
            <p:cNvSpPr txBox="1"/>
            <p:nvPr/>
          </p:nvSpPr>
          <p:spPr>
            <a:xfrm>
              <a:off x="4605528" y="5504688"/>
              <a:ext cx="3051048" cy="274320"/>
            </a:xfrm>
            <a:prstGeom prst="rect">
              <a:avLst/>
            </a:prstGeom>
            <a:noFill/>
          </p:spPr>
          <p:txBody>
            <a:bodyPr wrap="square" lIns="0" rIns="0" tIns="0" bIns="0" anchor="t"/>
            <a:lstStyle/>
            <a:p>
              <a:pPr algn="l">
                <a:lnSpc>
                  <a:spcPct val="100000"/>
                </a:lnSpc>
              </a:pPr>
              <a:r>
                <a:rPr sz="900" b="0" i="0">
                  <a:solidFill>
                    <a:srgbClr val="8BC7A6"/>
                  </a:solidFill>
                  <a:latin typeface="Segoe UI"/>
                  <a:ea typeface="Segoe UI"/>
                  <a:cs typeface="Segoe UI"/>
                </a:rPr>
                <a:t>Deterministic, in integer paise</a:t>
              </a:r>
            </a:p>
          </p:txBody>
        </p:sp>
      </p:grpSp>
      <p:grpSp>
        <p:nvGrpSpPr>
          <p:cNvPr id="31" name="!!pillar-3"/>
          <p:cNvGrpSpPr/>
          <p:nvPr/>
        </p:nvGrpSpPr>
        <p:grpSpPr>
          <a:xfrm>
            <a:off x="7985760" y="4901184"/>
            <a:ext cx="3416808" cy="1024128"/>
            <a:chOff x="7985760" y="4901184"/>
            <a:chExt cx="3416808" cy="1024128"/>
          </a:xfrm>
        </p:grpSpPr>
        <p:sp>
          <p:nvSpPr>
            <p:cNvPr id="32" name="Rounded Rectangle 31"/>
            <p:cNvSpPr/>
            <p:nvPr/>
          </p:nvSpPr>
          <p:spPr>
            <a:xfrm>
              <a:off x="7985760" y="4901184"/>
              <a:ext cx="3416808" cy="1024128"/>
            </a:xfrm>
            <a:prstGeom prst="roundRect">
              <a:avLst>
                <a:gd name="adj" fmla="val 10714"/>
              </a:avLst>
            </a:prstGeom>
            <a:solidFill>
              <a:srgbClr val="163A2B"/>
            </a:solidFill>
            <a:ln w="9525">
              <a:solidFill>
                <a:srgbClr val="1F5941"/>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TextBox 32"/>
            <p:cNvSpPr txBox="1"/>
            <p:nvPr/>
          </p:nvSpPr>
          <p:spPr>
            <a:xfrm>
              <a:off x="8205216" y="5029200"/>
              <a:ext cx="457200" cy="219456"/>
            </a:xfrm>
            <a:prstGeom prst="rect">
              <a:avLst/>
            </a:prstGeom>
            <a:noFill/>
          </p:spPr>
          <p:txBody>
            <a:bodyPr wrap="square" lIns="0" rIns="0" tIns="0" bIns="0" anchor="t"/>
            <a:lstStyle/>
            <a:p>
              <a:pPr algn="l">
                <a:lnSpc>
                  <a:spcPct val="100000"/>
                </a:lnSpc>
              </a:pPr>
              <a:r>
                <a:rPr sz="850" b="1" i="0">
                  <a:solidFill>
                    <a:srgbClr val="E5C068"/>
                  </a:solidFill>
                  <a:latin typeface="Consolas"/>
                  <a:ea typeface="Consolas"/>
                  <a:cs typeface="Consolas"/>
                </a:rPr>
                <a:t>03</a:t>
              </a:r>
            </a:p>
          </p:txBody>
        </p:sp>
        <p:sp>
          <p:nvSpPr>
            <p:cNvPr id="34" name="TextBox 33"/>
            <p:cNvSpPr txBox="1"/>
            <p:nvPr/>
          </p:nvSpPr>
          <p:spPr>
            <a:xfrm>
              <a:off x="8205216" y="5230368"/>
              <a:ext cx="3051048" cy="237744"/>
            </a:xfrm>
            <a:prstGeom prst="rect">
              <a:avLst/>
            </a:prstGeom>
            <a:noFill/>
          </p:spPr>
          <p:txBody>
            <a:bodyPr wrap="square" lIns="0" rIns="0" tIns="0" bIns="0" anchor="t"/>
            <a:lstStyle/>
            <a:p>
              <a:pPr algn="l">
                <a:lnSpc>
                  <a:spcPct val="100000"/>
                </a:lnSpc>
              </a:pPr>
              <a:r>
                <a:rPr sz="1250" b="1" i="0">
                  <a:solidFill>
                    <a:srgbClr val="FDFBF6"/>
                  </a:solidFill>
                  <a:latin typeface="Segoe UI"/>
                  <a:ea typeface="Segoe UI"/>
                  <a:cs typeface="Segoe UI"/>
                </a:rPr>
                <a:t>Preserved history</a:t>
              </a:r>
            </a:p>
          </p:txBody>
        </p:sp>
        <p:sp>
          <p:nvSpPr>
            <p:cNvPr id="35" name="TextBox 34"/>
            <p:cNvSpPr txBox="1"/>
            <p:nvPr/>
          </p:nvSpPr>
          <p:spPr>
            <a:xfrm>
              <a:off x="8205216" y="5504688"/>
              <a:ext cx="3051048" cy="274320"/>
            </a:xfrm>
            <a:prstGeom prst="rect">
              <a:avLst/>
            </a:prstGeom>
            <a:noFill/>
          </p:spPr>
          <p:txBody>
            <a:bodyPr wrap="square" lIns="0" rIns="0" tIns="0" bIns="0" anchor="t"/>
            <a:lstStyle/>
            <a:p>
              <a:pPr algn="l">
                <a:lnSpc>
                  <a:spcPct val="100000"/>
                </a:lnSpc>
              </a:pPr>
              <a:r>
                <a:rPr sz="900" b="0" i="0">
                  <a:solidFill>
                    <a:srgbClr val="8BC7A6"/>
                  </a:solidFill>
                  <a:latin typeface="Segoe UI"/>
                  <a:ea typeface="Segoe UI"/>
                  <a:cs typeface="Segoe UI"/>
                </a:rPr>
                <a:t>Corrections and disputes stay visible</a:t>
              </a:r>
            </a:p>
          </p:txBody>
        </p:sp>
      </p:grpSp>
      <p:sp>
        <p:nvSpPr>
          <p:cNvPr id="36" name="TextBox 35"/>
          <p:cNvSpPr txBox="1"/>
          <p:nvPr/>
        </p:nvSpPr>
        <p:spPr>
          <a:xfrm>
            <a:off x="10561320" y="6419088"/>
            <a:ext cx="1005840" cy="201168"/>
          </a:xfrm>
          <a:prstGeom prst="rect">
            <a:avLst/>
          </a:prstGeom>
          <a:noFill/>
        </p:spPr>
        <p:txBody>
          <a:bodyPr wrap="square" lIns="0" rIns="0" tIns="0" bIns="0" anchor="t"/>
          <a:lstStyle/>
          <a:p>
            <a:pPr algn="l">
              <a:lnSpc>
                <a:spcPct val="100000"/>
              </a:lnSpc>
            </a:pPr>
            <a:r>
              <a:rPr sz="800" b="0" i="0">
                <a:solidFill>
                  <a:srgbClr val="57A97E"/>
                </a:solidFill>
                <a:latin typeface="Segoe UI"/>
                <a:ea typeface="Segoe UI"/>
                <a:cs typeface="Segoe UI"/>
              </a:rPr>
              <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555480" y="-2066543"/>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560320" y="4526279"/>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1566915"/>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2083551"/>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PROPOSED SYSTEM</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02  </a:t>
            </a:r>
            <a:r>
              <a:rPr sz="950" b="1" i="0" spc="140">
                <a:solidFill>
                  <a:srgbClr val="5F776B"/>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One record, three points of view</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08 / 26</a:t>
            </a:r>
          </a:p>
        </p:txBody>
      </p:sp>
      <p:grpSp>
        <p:nvGrpSpPr>
          <p:cNvPr id="14" name="!!portal-1"/>
          <p:cNvGrpSpPr/>
          <p:nvPr/>
        </p:nvGrpSpPr>
        <p:grpSpPr>
          <a:xfrm>
            <a:off x="786384" y="1828800"/>
            <a:ext cx="3401568" cy="2615184"/>
            <a:chOff x="786384" y="1828800"/>
            <a:chExt cx="3401568" cy="2615184"/>
          </a:xfrm>
        </p:grpSpPr>
        <p:sp>
          <p:nvSpPr>
            <p:cNvPr id="15" name="Rounded Rectangle 14"/>
            <p:cNvSpPr/>
            <p:nvPr/>
          </p:nvSpPr>
          <p:spPr>
            <a:xfrm>
              <a:off x="786384" y="1828800"/>
              <a:ext cx="3401568" cy="2615184"/>
            </a:xfrm>
            <a:prstGeom prst="roundRect">
              <a:avLst>
                <a:gd name="adj" fmla="val 489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786384" y="1828800"/>
              <a:ext cx="3401568" cy="64008"/>
            </a:xfrm>
            <a:prstGeom prst="roundRect">
              <a:avLst>
                <a:gd name="adj" fmla="val 28571"/>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Oval 16"/>
            <p:cNvSpPr/>
            <p:nvPr/>
          </p:nvSpPr>
          <p:spPr>
            <a:xfrm>
              <a:off x="1042416" y="2048256"/>
              <a:ext cx="512064" cy="512064"/>
            </a:xfrm>
            <a:prstGeom prst="ellipse">
              <a:avLst/>
            </a:prstGeom>
            <a:solidFill>
              <a:srgbClr val="1F5941">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2157984"/>
              <a:ext cx="512064" cy="292608"/>
            </a:xfrm>
            <a:prstGeom prst="rect">
              <a:avLst/>
            </a:prstGeom>
            <a:noFill/>
          </p:spPr>
          <p:txBody>
            <a:bodyPr wrap="square" lIns="0" rIns="0" tIns="0" bIns="0" anchor="t"/>
            <a:lstStyle/>
            <a:p>
              <a:pPr algn="ctr">
                <a:lnSpc>
                  <a:spcPct val="100000"/>
                </a:lnSpc>
              </a:pPr>
              <a:r>
                <a:rPr sz="1500" b="1" i="0">
                  <a:solidFill>
                    <a:srgbClr val="1F5941"/>
                  </a:solidFill>
                  <a:latin typeface="Georgia"/>
                  <a:ea typeface="Georgia"/>
                  <a:cs typeface="Georgia"/>
                </a:rPr>
                <a:t>W</a:t>
              </a:r>
            </a:p>
          </p:txBody>
        </p:sp>
        <p:sp>
          <p:nvSpPr>
            <p:cNvPr id="19" name="TextBox 18"/>
            <p:cNvSpPr txBox="1"/>
            <p:nvPr/>
          </p:nvSpPr>
          <p:spPr>
            <a:xfrm>
              <a:off x="1682495" y="2066543"/>
              <a:ext cx="2304288" cy="274320"/>
            </a:xfrm>
            <a:prstGeom prst="rect">
              <a:avLst/>
            </a:prstGeom>
            <a:noFill/>
          </p:spPr>
          <p:txBody>
            <a:bodyPr wrap="square" lIns="0" rIns="0" tIns="0" bIns="0" anchor="t"/>
            <a:lstStyle/>
            <a:p>
              <a:pPr algn="l">
                <a:lnSpc>
                  <a:spcPct val="100000"/>
                </a:lnSpc>
              </a:pPr>
              <a:r>
                <a:rPr sz="1500" b="1" i="0">
                  <a:solidFill>
                    <a:srgbClr val="12211B"/>
                  </a:solidFill>
                  <a:latin typeface="Georgia"/>
                  <a:ea typeface="Georgia"/>
                  <a:cs typeface="Georgia"/>
                </a:rPr>
                <a:t>Worker</a:t>
              </a:r>
            </a:p>
          </p:txBody>
        </p:sp>
        <p:sp>
          <p:nvSpPr>
            <p:cNvPr id="20" name="TextBox 19"/>
            <p:cNvSpPr txBox="1"/>
            <p:nvPr/>
          </p:nvSpPr>
          <p:spPr>
            <a:xfrm>
              <a:off x="1682495" y="2340864"/>
              <a:ext cx="2304288" cy="219456"/>
            </a:xfrm>
            <a:prstGeom prst="rect">
              <a:avLst/>
            </a:prstGeom>
            <a:noFill/>
          </p:spPr>
          <p:txBody>
            <a:bodyPr wrap="square" lIns="0" rIns="0" tIns="0" bIns="0" anchor="t"/>
            <a:lstStyle/>
            <a:p>
              <a:pPr algn="l">
                <a:lnSpc>
                  <a:spcPct val="100000"/>
                </a:lnSpc>
              </a:pPr>
              <a:r>
                <a:rPr sz="800" b="1" i="0" spc="120">
                  <a:solidFill>
                    <a:srgbClr val="5F776B"/>
                  </a:solidFill>
                  <a:latin typeface="Segoe UI"/>
                  <a:ea typeface="Segoe UI"/>
                  <a:cs typeface="Segoe UI"/>
                </a:rPr>
                <a:t>SEE AND PROVE</a:t>
              </a:r>
            </a:p>
          </p:txBody>
        </p:sp>
        <p:sp>
          <p:nvSpPr>
            <p:cNvPr id="21" name="TextBox 20"/>
            <p:cNvSpPr txBox="1"/>
            <p:nvPr/>
          </p:nvSpPr>
          <p:spPr>
            <a:xfrm>
              <a:off x="1042416" y="2852928"/>
              <a:ext cx="2944368" cy="365760"/>
            </a:xfrm>
            <a:prstGeom prst="rect">
              <a:avLst/>
            </a:prstGeom>
            <a:noFill/>
          </p:spPr>
          <p:txBody>
            <a:bodyPr wrap="square" lIns="0" rIns="0" tIns="0" bIns="0" anchor="t"/>
            <a:lstStyle/>
            <a:p>
              <a:pPr algn="l">
                <a:lnSpc>
                  <a:spcPct val="110000"/>
                </a:lnSpc>
              </a:pPr>
              <a:r>
                <a:rPr sz="1000" b="0" i="0">
                  <a:solidFill>
                    <a:srgbClr val="1F5941"/>
                  </a:solidFill>
                  <a:latin typeface="Segoe UI"/>
                  <a:ea typeface="Segoe UI"/>
                  <a:cs typeface="Segoe UI"/>
                </a:rPr>
                <a:t>—  </a:t>
              </a:r>
              <a:r>
                <a:rPr sz="1000" b="0" i="0">
                  <a:solidFill>
                    <a:srgbClr val="557165"/>
                  </a:solidFill>
                  <a:latin typeface="Segoe UI"/>
                  <a:ea typeface="Segoe UI"/>
                  <a:cs typeface="Segoe UI"/>
                </a:rPr>
                <a:t>Attendance history and balances</a:t>
              </a:r>
            </a:p>
          </p:txBody>
        </p:sp>
        <p:sp>
          <p:nvSpPr>
            <p:cNvPr id="22" name="TextBox 21"/>
            <p:cNvSpPr txBox="1"/>
            <p:nvPr/>
          </p:nvSpPr>
          <p:spPr>
            <a:xfrm>
              <a:off x="1042416" y="3310128"/>
              <a:ext cx="2944368" cy="365760"/>
            </a:xfrm>
            <a:prstGeom prst="rect">
              <a:avLst/>
            </a:prstGeom>
            <a:noFill/>
          </p:spPr>
          <p:txBody>
            <a:bodyPr wrap="square" lIns="0" rIns="0" tIns="0" bIns="0" anchor="t"/>
            <a:lstStyle/>
            <a:p>
              <a:pPr algn="l">
                <a:lnSpc>
                  <a:spcPct val="110000"/>
                </a:lnSpc>
              </a:pPr>
              <a:r>
                <a:rPr sz="1000" b="0" i="0">
                  <a:solidFill>
                    <a:srgbClr val="1F5941"/>
                  </a:solidFill>
                  <a:latin typeface="Segoe UI"/>
                  <a:ea typeface="Segoe UI"/>
                  <a:cs typeface="Segoe UI"/>
                </a:rPr>
                <a:t>—  </a:t>
              </a:r>
              <a:r>
                <a:rPr sz="1000" b="0" i="0">
                  <a:solidFill>
                    <a:srgbClr val="557165"/>
                  </a:solidFill>
                  <a:latin typeface="Segoe UI"/>
                  <a:ea typeface="Segoe UI"/>
                  <a:cs typeface="Segoe UI"/>
                </a:rPr>
                <a:t>Readable wage slip per shift</a:t>
              </a:r>
            </a:p>
          </p:txBody>
        </p:sp>
        <p:sp>
          <p:nvSpPr>
            <p:cNvPr id="23" name="TextBox 22"/>
            <p:cNvSpPr txBox="1"/>
            <p:nvPr/>
          </p:nvSpPr>
          <p:spPr>
            <a:xfrm>
              <a:off x="1042416" y="3767328"/>
              <a:ext cx="2944368" cy="365760"/>
            </a:xfrm>
            <a:prstGeom prst="rect">
              <a:avLst/>
            </a:prstGeom>
            <a:noFill/>
          </p:spPr>
          <p:txBody>
            <a:bodyPr wrap="square" lIns="0" rIns="0" tIns="0" bIns="0" anchor="t"/>
            <a:lstStyle/>
            <a:p>
              <a:pPr algn="l">
                <a:lnSpc>
                  <a:spcPct val="110000"/>
                </a:lnSpc>
              </a:pPr>
              <a:r>
                <a:rPr sz="1000" b="0" i="0">
                  <a:solidFill>
                    <a:srgbClr val="1F5941"/>
                  </a:solidFill>
                  <a:latin typeface="Segoe UI"/>
                  <a:ea typeface="Segoe UI"/>
                  <a:cs typeface="Segoe UI"/>
                </a:rPr>
                <a:t>—  </a:t>
              </a:r>
              <a:r>
                <a:rPr sz="1000" b="0" i="0">
                  <a:solidFill>
                    <a:srgbClr val="557165"/>
                  </a:solidFill>
                  <a:latin typeface="Segoe UI"/>
                  <a:ea typeface="Segoe UI"/>
                  <a:cs typeface="Segoe UI"/>
                </a:rPr>
                <a:t>Acknowledgment and dispute claim</a:t>
              </a:r>
            </a:p>
          </p:txBody>
        </p:sp>
      </p:grpSp>
      <p:grpSp>
        <p:nvGrpSpPr>
          <p:cNvPr id="24" name="!!portal-2"/>
          <p:cNvGrpSpPr/>
          <p:nvPr/>
        </p:nvGrpSpPr>
        <p:grpSpPr>
          <a:xfrm>
            <a:off x="4393692" y="1828800"/>
            <a:ext cx="3401568" cy="2615184"/>
            <a:chOff x="4393692" y="1828800"/>
            <a:chExt cx="3401568" cy="2615184"/>
          </a:xfrm>
        </p:grpSpPr>
        <p:sp>
          <p:nvSpPr>
            <p:cNvPr id="25" name="Rounded Rectangle 24"/>
            <p:cNvSpPr/>
            <p:nvPr/>
          </p:nvSpPr>
          <p:spPr>
            <a:xfrm>
              <a:off x="4393692" y="1828800"/>
              <a:ext cx="3401568" cy="2615184"/>
            </a:xfrm>
            <a:prstGeom prst="roundRect">
              <a:avLst>
                <a:gd name="adj" fmla="val 489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ounded Rectangle 25"/>
            <p:cNvSpPr/>
            <p:nvPr/>
          </p:nvSpPr>
          <p:spPr>
            <a:xfrm>
              <a:off x="4393692" y="1828800"/>
              <a:ext cx="3401568" cy="64008"/>
            </a:xfrm>
            <a:prstGeom prst="roundRect">
              <a:avLst>
                <a:gd name="adj" fmla="val 28571"/>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Oval 26"/>
            <p:cNvSpPr/>
            <p:nvPr/>
          </p:nvSpPr>
          <p:spPr>
            <a:xfrm>
              <a:off x="4649724" y="2048256"/>
              <a:ext cx="512064" cy="512064"/>
            </a:xfrm>
            <a:prstGeom prst="ellipse">
              <a:avLst/>
            </a:prstGeom>
            <a:solidFill>
              <a:srgbClr val="A76F26">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9724" y="2157984"/>
              <a:ext cx="512064" cy="292608"/>
            </a:xfrm>
            <a:prstGeom prst="rect">
              <a:avLst/>
            </a:prstGeom>
            <a:noFill/>
          </p:spPr>
          <p:txBody>
            <a:bodyPr wrap="square" lIns="0" rIns="0" tIns="0" bIns="0" anchor="t"/>
            <a:lstStyle/>
            <a:p>
              <a:pPr algn="ctr">
                <a:lnSpc>
                  <a:spcPct val="100000"/>
                </a:lnSpc>
              </a:pPr>
              <a:r>
                <a:rPr sz="1500" b="1" i="0">
                  <a:solidFill>
                    <a:srgbClr val="A76F26"/>
                  </a:solidFill>
                  <a:latin typeface="Georgia"/>
                  <a:ea typeface="Georgia"/>
                  <a:cs typeface="Georgia"/>
                </a:rPr>
                <a:t>C</a:t>
              </a:r>
            </a:p>
          </p:txBody>
        </p:sp>
        <p:sp>
          <p:nvSpPr>
            <p:cNvPr id="29" name="TextBox 28"/>
            <p:cNvSpPr txBox="1"/>
            <p:nvPr/>
          </p:nvSpPr>
          <p:spPr>
            <a:xfrm>
              <a:off x="5289804" y="2066543"/>
              <a:ext cx="2304288" cy="274320"/>
            </a:xfrm>
            <a:prstGeom prst="rect">
              <a:avLst/>
            </a:prstGeom>
            <a:noFill/>
          </p:spPr>
          <p:txBody>
            <a:bodyPr wrap="square" lIns="0" rIns="0" tIns="0" bIns="0" anchor="t"/>
            <a:lstStyle/>
            <a:p>
              <a:pPr algn="l">
                <a:lnSpc>
                  <a:spcPct val="100000"/>
                </a:lnSpc>
              </a:pPr>
              <a:r>
                <a:rPr sz="1500" b="1" i="0">
                  <a:solidFill>
                    <a:srgbClr val="12211B"/>
                  </a:solidFill>
                  <a:latin typeface="Georgia"/>
                  <a:ea typeface="Georgia"/>
                  <a:cs typeface="Georgia"/>
                </a:rPr>
                <a:t>Contractor</a:t>
              </a:r>
            </a:p>
          </p:txBody>
        </p:sp>
        <p:sp>
          <p:nvSpPr>
            <p:cNvPr id="30" name="TextBox 29"/>
            <p:cNvSpPr txBox="1"/>
            <p:nvPr/>
          </p:nvSpPr>
          <p:spPr>
            <a:xfrm>
              <a:off x="5289804" y="2340864"/>
              <a:ext cx="2304288" cy="219456"/>
            </a:xfrm>
            <a:prstGeom prst="rect">
              <a:avLst/>
            </a:prstGeom>
            <a:noFill/>
          </p:spPr>
          <p:txBody>
            <a:bodyPr wrap="square" lIns="0" rIns="0" tIns="0" bIns="0" anchor="t"/>
            <a:lstStyle/>
            <a:p>
              <a:pPr algn="l">
                <a:lnSpc>
                  <a:spcPct val="100000"/>
                </a:lnSpc>
              </a:pPr>
              <a:r>
                <a:rPr sz="800" b="1" i="0" spc="120">
                  <a:solidFill>
                    <a:srgbClr val="5F776B"/>
                  </a:solidFill>
                  <a:latin typeface="Segoe UI"/>
                  <a:ea typeface="Segoe UI"/>
                  <a:cs typeface="Segoe UI"/>
                </a:rPr>
                <a:t>RECORD AND SETTLE</a:t>
              </a:r>
            </a:p>
          </p:txBody>
        </p:sp>
        <p:sp>
          <p:nvSpPr>
            <p:cNvPr id="31" name="TextBox 30"/>
            <p:cNvSpPr txBox="1"/>
            <p:nvPr/>
          </p:nvSpPr>
          <p:spPr>
            <a:xfrm>
              <a:off x="4649724" y="2852928"/>
              <a:ext cx="2944368" cy="365760"/>
            </a:xfrm>
            <a:prstGeom prst="rect">
              <a:avLst/>
            </a:prstGeom>
            <a:noFill/>
          </p:spPr>
          <p:txBody>
            <a:bodyPr wrap="square" lIns="0" rIns="0" tIns="0" bIns="0" anchor="t"/>
            <a:lstStyle/>
            <a:p>
              <a:pPr algn="l">
                <a:lnSpc>
                  <a:spcPct val="110000"/>
                </a:lnSpc>
              </a:pPr>
              <a:r>
                <a:rPr sz="1000" b="0" i="0">
                  <a:solidFill>
                    <a:srgbClr val="A76F26"/>
                  </a:solidFill>
                  <a:latin typeface="Segoe UI"/>
                  <a:ea typeface="Segoe UI"/>
                  <a:cs typeface="Segoe UI"/>
                </a:rPr>
                <a:t>—  </a:t>
              </a:r>
              <a:r>
                <a:rPr sz="1000" b="0" i="0">
                  <a:solidFill>
                    <a:srgbClr val="557165"/>
                  </a:solidFill>
                  <a:latin typeface="Segoe UI"/>
                  <a:ea typeface="Segoe UI"/>
                  <a:cs typeface="Segoe UI"/>
                </a:rPr>
                <a:t>Site roster and muster approval</a:t>
              </a:r>
            </a:p>
          </p:txBody>
        </p:sp>
        <p:sp>
          <p:nvSpPr>
            <p:cNvPr id="32" name="TextBox 31"/>
            <p:cNvSpPr txBox="1"/>
            <p:nvPr/>
          </p:nvSpPr>
          <p:spPr>
            <a:xfrm>
              <a:off x="4649724" y="3310128"/>
              <a:ext cx="2944368" cy="365760"/>
            </a:xfrm>
            <a:prstGeom prst="rect">
              <a:avLst/>
            </a:prstGeom>
            <a:noFill/>
          </p:spPr>
          <p:txBody>
            <a:bodyPr wrap="square" lIns="0" rIns="0" tIns="0" bIns="0" anchor="t"/>
            <a:lstStyle/>
            <a:p>
              <a:pPr algn="l">
                <a:lnSpc>
                  <a:spcPct val="110000"/>
                </a:lnSpc>
              </a:pPr>
              <a:r>
                <a:rPr sz="1000" b="0" i="0">
                  <a:solidFill>
                    <a:srgbClr val="A76F26"/>
                  </a:solidFill>
                  <a:latin typeface="Segoe UI"/>
                  <a:ea typeface="Segoe UI"/>
                  <a:cs typeface="Segoe UI"/>
                </a:rPr>
                <a:t>—  </a:t>
              </a:r>
              <a:r>
                <a:rPr sz="1000" b="0" i="0">
                  <a:solidFill>
                    <a:srgbClr val="557165"/>
                  </a:solidFill>
                  <a:latin typeface="Segoe UI"/>
                  <a:ea typeface="Segoe UI"/>
                  <a:cs typeface="Segoe UI"/>
                </a:rPr>
                <a:t>Payments entered with method</a:t>
              </a:r>
            </a:p>
          </p:txBody>
        </p:sp>
        <p:sp>
          <p:nvSpPr>
            <p:cNvPr id="33" name="TextBox 32"/>
            <p:cNvSpPr txBox="1"/>
            <p:nvPr/>
          </p:nvSpPr>
          <p:spPr>
            <a:xfrm>
              <a:off x="4649724" y="3767328"/>
              <a:ext cx="2944368" cy="365760"/>
            </a:xfrm>
            <a:prstGeom prst="rect">
              <a:avLst/>
            </a:prstGeom>
            <a:noFill/>
          </p:spPr>
          <p:txBody>
            <a:bodyPr wrap="square" lIns="0" rIns="0" tIns="0" bIns="0" anchor="t"/>
            <a:lstStyle/>
            <a:p>
              <a:pPr algn="l">
                <a:lnSpc>
                  <a:spcPct val="110000"/>
                </a:lnSpc>
              </a:pPr>
              <a:r>
                <a:rPr sz="1000" b="0" i="0">
                  <a:solidFill>
                    <a:srgbClr val="A76F26"/>
                  </a:solidFill>
                  <a:latin typeface="Segoe UI"/>
                  <a:ea typeface="Segoe UI"/>
                  <a:cs typeface="Segoe UI"/>
                </a:rPr>
                <a:t>—  </a:t>
              </a:r>
              <a:r>
                <a:rPr sz="1000" b="0" i="0">
                  <a:solidFill>
                    <a:srgbClr val="557165"/>
                  </a:solidFill>
                  <a:latin typeface="Segoe UI"/>
                  <a:ea typeface="Segoe UI"/>
                  <a:cs typeface="Segoe UI"/>
                </a:rPr>
                <a:t>CSV export for the office</a:t>
              </a:r>
            </a:p>
          </p:txBody>
        </p:sp>
      </p:grpSp>
      <p:grpSp>
        <p:nvGrpSpPr>
          <p:cNvPr id="34" name="!!portal-3"/>
          <p:cNvGrpSpPr/>
          <p:nvPr/>
        </p:nvGrpSpPr>
        <p:grpSpPr>
          <a:xfrm>
            <a:off x="8001000" y="1828800"/>
            <a:ext cx="3401568" cy="2615184"/>
            <a:chOff x="8001000" y="1828800"/>
            <a:chExt cx="3401568" cy="2615184"/>
          </a:xfrm>
        </p:grpSpPr>
        <p:sp>
          <p:nvSpPr>
            <p:cNvPr id="35" name="Rounded Rectangle 34"/>
            <p:cNvSpPr/>
            <p:nvPr/>
          </p:nvSpPr>
          <p:spPr>
            <a:xfrm>
              <a:off x="8001000" y="1828800"/>
              <a:ext cx="3401568" cy="2615184"/>
            </a:xfrm>
            <a:prstGeom prst="roundRect">
              <a:avLst>
                <a:gd name="adj" fmla="val 489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ounded Rectangle 35"/>
            <p:cNvSpPr/>
            <p:nvPr/>
          </p:nvSpPr>
          <p:spPr>
            <a:xfrm>
              <a:off x="8001000" y="1828800"/>
              <a:ext cx="3401568" cy="64008"/>
            </a:xfrm>
            <a:prstGeom prst="roundRect">
              <a:avLst>
                <a:gd name="adj" fmla="val 28571"/>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Oval 36"/>
            <p:cNvSpPr/>
            <p:nvPr/>
          </p:nvSpPr>
          <p:spPr>
            <a:xfrm>
              <a:off x="8257032" y="2048256"/>
              <a:ext cx="512064" cy="512064"/>
            </a:xfrm>
            <a:prstGeom prst="ellipse">
              <a:avLst/>
            </a:prstGeom>
            <a:solidFill>
              <a:srgbClr val="B4482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57032" y="2157984"/>
              <a:ext cx="512064" cy="292608"/>
            </a:xfrm>
            <a:prstGeom prst="rect">
              <a:avLst/>
            </a:prstGeom>
            <a:noFill/>
          </p:spPr>
          <p:txBody>
            <a:bodyPr wrap="square" lIns="0" rIns="0" tIns="0" bIns="0" anchor="t"/>
            <a:lstStyle/>
            <a:p>
              <a:pPr algn="ctr">
                <a:lnSpc>
                  <a:spcPct val="100000"/>
                </a:lnSpc>
              </a:pPr>
              <a:r>
                <a:rPr sz="1500" b="1" i="0">
                  <a:solidFill>
                    <a:srgbClr val="B4482F"/>
                  </a:solidFill>
                  <a:latin typeface="Georgia"/>
                  <a:ea typeface="Georgia"/>
                  <a:cs typeface="Georgia"/>
                </a:rPr>
                <a:t>A</a:t>
              </a:r>
            </a:p>
          </p:txBody>
        </p:sp>
        <p:sp>
          <p:nvSpPr>
            <p:cNvPr id="39" name="TextBox 38"/>
            <p:cNvSpPr txBox="1"/>
            <p:nvPr/>
          </p:nvSpPr>
          <p:spPr>
            <a:xfrm>
              <a:off x="8897112" y="2066543"/>
              <a:ext cx="2304288" cy="274320"/>
            </a:xfrm>
            <a:prstGeom prst="rect">
              <a:avLst/>
            </a:prstGeom>
            <a:noFill/>
          </p:spPr>
          <p:txBody>
            <a:bodyPr wrap="square" lIns="0" rIns="0" tIns="0" bIns="0" anchor="t"/>
            <a:lstStyle/>
            <a:p>
              <a:pPr algn="l">
                <a:lnSpc>
                  <a:spcPct val="100000"/>
                </a:lnSpc>
              </a:pPr>
              <a:r>
                <a:rPr sz="1500" b="1" i="0">
                  <a:solidFill>
                    <a:srgbClr val="12211B"/>
                  </a:solidFill>
                  <a:latin typeface="Georgia"/>
                  <a:ea typeface="Georgia"/>
                  <a:cs typeface="Georgia"/>
                </a:rPr>
                <a:t>Auditor</a:t>
              </a:r>
            </a:p>
          </p:txBody>
        </p:sp>
        <p:sp>
          <p:nvSpPr>
            <p:cNvPr id="40" name="TextBox 39"/>
            <p:cNvSpPr txBox="1"/>
            <p:nvPr/>
          </p:nvSpPr>
          <p:spPr>
            <a:xfrm>
              <a:off x="8897112" y="2340864"/>
              <a:ext cx="2304288" cy="219456"/>
            </a:xfrm>
            <a:prstGeom prst="rect">
              <a:avLst/>
            </a:prstGeom>
            <a:noFill/>
          </p:spPr>
          <p:txBody>
            <a:bodyPr wrap="square" lIns="0" rIns="0" tIns="0" bIns="0" anchor="t"/>
            <a:lstStyle/>
            <a:p>
              <a:pPr algn="l">
                <a:lnSpc>
                  <a:spcPct val="100000"/>
                </a:lnSpc>
              </a:pPr>
              <a:r>
                <a:rPr sz="800" b="1" i="0" spc="120">
                  <a:solidFill>
                    <a:srgbClr val="5F776B"/>
                  </a:solidFill>
                  <a:latin typeface="Segoe UI"/>
                  <a:ea typeface="Segoe UI"/>
                  <a:cs typeface="Segoe UI"/>
                </a:rPr>
                <a:t>VERIFY AND TEST</a:t>
              </a:r>
            </a:p>
          </p:txBody>
        </p:sp>
        <p:sp>
          <p:nvSpPr>
            <p:cNvPr id="41" name="TextBox 40"/>
            <p:cNvSpPr txBox="1"/>
            <p:nvPr/>
          </p:nvSpPr>
          <p:spPr>
            <a:xfrm>
              <a:off x="8257032" y="2852928"/>
              <a:ext cx="2944368" cy="365760"/>
            </a:xfrm>
            <a:prstGeom prst="rect">
              <a:avLst/>
            </a:prstGeom>
            <a:noFill/>
          </p:spPr>
          <p:txBody>
            <a:bodyPr wrap="square" lIns="0" rIns="0" tIns="0" bIns="0" anchor="t"/>
            <a:lstStyle/>
            <a:p>
              <a:pPr algn="l">
                <a:lnSpc>
                  <a:spcPct val="110000"/>
                </a:lnSpc>
              </a:pPr>
              <a:r>
                <a:rPr sz="1000" b="0" i="0">
                  <a:solidFill>
                    <a:srgbClr val="B4482F"/>
                  </a:solidFill>
                  <a:latin typeface="Segoe UI"/>
                  <a:ea typeface="Segoe UI"/>
                  <a:cs typeface="Segoe UI"/>
                </a:rPr>
                <a:t>—  </a:t>
              </a:r>
              <a:r>
                <a:rPr sz="1000" b="0" i="0">
                  <a:solidFill>
                    <a:srgbClr val="557165"/>
                  </a:solidFill>
                  <a:latin typeface="Segoe UI"/>
                  <a:ea typeface="Segoe UI"/>
                  <a:cs typeface="Segoe UI"/>
                </a:rPr>
                <a:t>Ledger explorer, block by block</a:t>
              </a:r>
            </a:p>
          </p:txBody>
        </p:sp>
        <p:sp>
          <p:nvSpPr>
            <p:cNvPr id="42" name="TextBox 41"/>
            <p:cNvSpPr txBox="1"/>
            <p:nvPr/>
          </p:nvSpPr>
          <p:spPr>
            <a:xfrm>
              <a:off x="8257032" y="3310128"/>
              <a:ext cx="2944368" cy="365760"/>
            </a:xfrm>
            <a:prstGeom prst="rect">
              <a:avLst/>
            </a:prstGeom>
            <a:noFill/>
          </p:spPr>
          <p:txBody>
            <a:bodyPr wrap="square" lIns="0" rIns="0" tIns="0" bIns="0" anchor="t"/>
            <a:lstStyle/>
            <a:p>
              <a:pPr algn="l">
                <a:lnSpc>
                  <a:spcPct val="110000"/>
                </a:lnSpc>
              </a:pPr>
              <a:r>
                <a:rPr sz="1000" b="0" i="0">
                  <a:solidFill>
                    <a:srgbClr val="B4482F"/>
                  </a:solidFill>
                  <a:latin typeface="Segoe UI"/>
                  <a:ea typeface="Segoe UI"/>
                  <a:cs typeface="Segoe UI"/>
                </a:rPr>
                <a:t>—  </a:t>
              </a:r>
              <a:r>
                <a:rPr sz="1000" b="0" i="0">
                  <a:solidFill>
                    <a:srgbClr val="557165"/>
                  </a:solidFill>
                  <a:latin typeface="Segoe UI"/>
                  <a:ea typeface="Segoe UI"/>
                  <a:cs typeface="Segoe UI"/>
                </a:rPr>
                <a:t>SHA-256 verification badges</a:t>
              </a:r>
            </a:p>
          </p:txBody>
        </p:sp>
        <p:sp>
          <p:nvSpPr>
            <p:cNvPr id="43" name="TextBox 42"/>
            <p:cNvSpPr txBox="1"/>
            <p:nvPr/>
          </p:nvSpPr>
          <p:spPr>
            <a:xfrm>
              <a:off x="8257032" y="3767328"/>
              <a:ext cx="2944368" cy="365760"/>
            </a:xfrm>
            <a:prstGeom prst="rect">
              <a:avLst/>
            </a:prstGeom>
            <a:noFill/>
          </p:spPr>
          <p:txBody>
            <a:bodyPr wrap="square" lIns="0" rIns="0" tIns="0" bIns="0" anchor="t"/>
            <a:lstStyle/>
            <a:p>
              <a:pPr algn="l">
                <a:lnSpc>
                  <a:spcPct val="110000"/>
                </a:lnSpc>
              </a:pPr>
              <a:r>
                <a:rPr sz="1000" b="0" i="0">
                  <a:solidFill>
                    <a:srgbClr val="B4482F"/>
                  </a:solidFill>
                  <a:latin typeface="Segoe UI"/>
                  <a:ea typeface="Segoe UI"/>
                  <a:cs typeface="Segoe UI"/>
                </a:rPr>
                <a:t>—  </a:t>
              </a:r>
              <a:r>
                <a:rPr sz="1000" b="0" i="0">
                  <a:solidFill>
                    <a:srgbClr val="557165"/>
                  </a:solidFill>
                  <a:latin typeface="Segoe UI"/>
                  <a:ea typeface="Segoe UI"/>
                  <a:cs typeface="Segoe UI"/>
                </a:rPr>
                <a:t>Deliberate tamper test bench</a:t>
              </a:r>
            </a:p>
          </p:txBody>
        </p:sp>
      </p:grpSp>
      <p:sp>
        <p:nvSpPr>
          <p:cNvPr id="44" name="!!shared-band"/>
          <p:cNvSpPr/>
          <p:nvPr/>
        </p:nvSpPr>
        <p:spPr>
          <a:xfrm>
            <a:off x="786384" y="4663440"/>
            <a:ext cx="10616184" cy="822960"/>
          </a:xfrm>
          <a:prstGeom prst="roundRect">
            <a:avLst>
              <a:gd name="adj" fmla="val 13333"/>
            </a:avLst>
          </a:prstGeom>
          <a:solidFill>
            <a:srgbClr val="0A2219"/>
          </a:solidFill>
          <a:ln>
            <a:noFill/>
          </a:ln>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TextBox 44"/>
          <p:cNvSpPr txBox="1"/>
          <p:nvPr/>
        </p:nvSpPr>
        <p:spPr>
          <a:xfrm>
            <a:off x="1106424" y="4791456"/>
            <a:ext cx="9976104" cy="594360"/>
          </a:xfrm>
          <a:prstGeom prst="rect">
            <a:avLst/>
          </a:prstGeom>
          <a:noFill/>
        </p:spPr>
        <p:txBody>
          <a:bodyPr wrap="square" lIns="0" rIns="0" tIns="0" bIns="0" anchor="t"/>
          <a:lstStyle/>
          <a:p>
            <a:pPr algn="l">
              <a:lnSpc>
                <a:spcPct val="120000"/>
              </a:lnSpc>
              <a:spcAft>
                <a:spcPts val="0"/>
              </a:spcAft>
            </a:pPr>
            <a:r>
              <a:rPr sz="850" b="0" i="0" spc="140">
                <a:solidFill>
                  <a:srgbClr val="E5C068"/>
                </a:solidFill>
                <a:latin typeface="Segoe UI"/>
                <a:ea typeface="Segoe UI"/>
                <a:cs typeface="Segoe UI"/>
              </a:rPr>
              <a:t>ONE DOMAIN MODEL   </a:t>
            </a:r>
          </a:p>
          <a:p>
            <a:pPr algn="l">
              <a:lnSpc>
                <a:spcPct val="120000"/>
              </a:lnSpc>
            </a:pPr>
            <a:r>
              <a:rPr sz="1150" b="0" i="0">
                <a:solidFill>
                  <a:srgbClr val="F8F4EA"/>
                </a:solidFill>
                <a:latin typeface="Segoe UI"/>
                <a:ea typeface="Segoe UI"/>
                <a:cs typeface="Segoe UI"/>
              </a:rPr>
              <a:t>The same wage engine, the same ledger and the same history render in all three portals — no screen keeps its own copy of the arithmetic.</a:t>
            </a:r>
          </a:p>
        </p:txBody>
      </p:sp>
      <p:sp>
        <p:nvSpPr>
          <p:cNvPr id="46" name="TextBox 45"/>
          <p:cNvSpPr txBox="1"/>
          <p:nvPr/>
        </p:nvSpPr>
        <p:spPr>
          <a:xfrm>
            <a:off x="786384" y="5705856"/>
            <a:ext cx="10616184" cy="457200"/>
          </a:xfrm>
          <a:prstGeom prst="rect">
            <a:avLst/>
          </a:prstGeom>
          <a:noFill/>
        </p:spPr>
        <p:txBody>
          <a:bodyPr wrap="square" lIns="0" rIns="0" tIns="0" bIns="0" anchor="t"/>
          <a:lstStyle/>
          <a:p>
            <a:pPr algn="l">
              <a:lnSpc>
                <a:spcPct val="100000"/>
              </a:lnSpc>
            </a:pPr>
            <a:r>
              <a:rPr sz="1050" b="0" i="1">
                <a:solidFill>
                  <a:srgbClr val="5F776B"/>
                </a:solidFill>
                <a:latin typeface="Segoe UI"/>
                <a:ea typeface="Segoe UI"/>
                <a:cs typeface="Segoe UI"/>
              </a:rPr>
              <a:t>Role-specific views, shared truth. Access differs; the numbers never do.</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10058400" y="-2834640"/>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286000" y="4206240"/>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1790760"/>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2307396"/>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DESIGN EVOLUTION</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02  </a:t>
            </a:r>
            <a:r>
              <a:rPr sz="950" b="1" i="0" spc="140">
                <a:solidFill>
                  <a:srgbClr val="5F776B"/>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From NFC cards to printed QR passes</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09 / 26</a:t>
            </a:r>
          </a:p>
        </p:txBody>
      </p:sp>
      <p:grpSp>
        <p:nvGrpSpPr>
          <p:cNvPr id="14" name="!!path-rejected"/>
          <p:cNvGrpSpPr/>
          <p:nvPr/>
        </p:nvGrpSpPr>
        <p:grpSpPr>
          <a:xfrm>
            <a:off x="786384" y="1810512"/>
            <a:ext cx="4892040" cy="3712463"/>
            <a:chOff x="786384" y="1810512"/>
            <a:chExt cx="4892040" cy="3712463"/>
          </a:xfrm>
        </p:grpSpPr>
        <p:sp>
          <p:nvSpPr>
            <p:cNvPr id="15" name="Rounded Rectangle 14"/>
            <p:cNvSpPr/>
            <p:nvPr/>
          </p:nvSpPr>
          <p:spPr>
            <a:xfrm>
              <a:off x="786384" y="1810512"/>
              <a:ext cx="4892040" cy="3712463"/>
            </a:xfrm>
            <a:prstGeom prst="roundRect">
              <a:avLst>
                <a:gd name="adj" fmla="val 3448"/>
              </a:avLst>
            </a:prstGeom>
            <a:solidFill>
              <a:srgbClr val="FAF0EC"/>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786384" y="1810512"/>
              <a:ext cx="4892040" cy="59436"/>
            </a:xfrm>
            <a:prstGeom prst="roundRect">
              <a:avLst>
                <a:gd name="adj" fmla="val 30769"/>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ounded Rectangle 16"/>
            <p:cNvSpPr/>
            <p:nvPr/>
          </p:nvSpPr>
          <p:spPr>
            <a:xfrm>
              <a:off x="1042416" y="2011680"/>
              <a:ext cx="1554480" cy="237744"/>
            </a:xfrm>
            <a:prstGeom prst="roundRect">
              <a:avLst>
                <a:gd name="adj" fmla="val 50000"/>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i="0" spc="100">
                  <a:solidFill>
                    <a:srgbClr val="FFFFFF"/>
                  </a:solidFill>
                  <a:latin typeface="Segoe UI"/>
                  <a:ea typeface="Segoe UI"/>
                  <a:cs typeface="Segoe UI"/>
                </a:rPr>
                <a:t>EXPLORED</a:t>
              </a:r>
            </a:p>
          </p:txBody>
        </p:sp>
        <p:sp>
          <p:nvSpPr>
            <p:cNvPr id="18" name="TextBox 17"/>
            <p:cNvSpPr txBox="1"/>
            <p:nvPr/>
          </p:nvSpPr>
          <p:spPr>
            <a:xfrm>
              <a:off x="1042416" y="2359152"/>
              <a:ext cx="4389120" cy="365760"/>
            </a:xfrm>
            <a:prstGeom prst="rect">
              <a:avLst/>
            </a:prstGeom>
            <a:noFill/>
          </p:spPr>
          <p:txBody>
            <a:bodyPr wrap="square" lIns="0" rIns="0" tIns="0" bIns="0" anchor="t"/>
            <a:lstStyle/>
            <a:p>
              <a:pPr algn="l">
                <a:lnSpc>
                  <a:spcPct val="100000"/>
                </a:lnSpc>
              </a:pPr>
              <a:r>
                <a:rPr sz="1700" b="1" i="0">
                  <a:solidFill>
                    <a:srgbClr val="12211B"/>
                  </a:solidFill>
                  <a:latin typeface="Georgia"/>
                  <a:ea typeface="Georgia"/>
                  <a:cs typeface="Georgia"/>
                </a:rPr>
                <a:t>Inexpensive NFC worker cards</a:t>
              </a:r>
            </a:p>
          </p:txBody>
        </p:sp>
        <p:sp>
          <p:nvSpPr>
            <p:cNvPr id="19" name="TextBox 18"/>
            <p:cNvSpPr txBox="1"/>
            <p:nvPr/>
          </p:nvSpPr>
          <p:spPr>
            <a:xfrm>
              <a:off x="1042416" y="2852928"/>
              <a:ext cx="310896" cy="274320"/>
            </a:xfrm>
            <a:prstGeom prst="rect">
              <a:avLst/>
            </a:prstGeom>
            <a:noFill/>
          </p:spPr>
          <p:txBody>
            <a:bodyPr wrap="square" lIns="0" rIns="0" tIns="0" bIns="0" anchor="t"/>
            <a:lstStyle/>
            <a:p>
              <a:pPr algn="l">
                <a:lnSpc>
                  <a:spcPct val="100000"/>
                </a:lnSpc>
              </a:pPr>
              <a:r>
                <a:rPr sz="850" b="1" i="0">
                  <a:solidFill>
                    <a:srgbClr val="B4482F"/>
                  </a:solidFill>
                  <a:latin typeface="Consolas"/>
                  <a:ea typeface="Consolas"/>
                  <a:cs typeface="Consolas"/>
                </a:rPr>
                <a:t>01</a:t>
              </a:r>
            </a:p>
          </p:txBody>
        </p:sp>
        <p:sp>
          <p:nvSpPr>
            <p:cNvPr id="20" name="TextBox 19"/>
            <p:cNvSpPr txBox="1"/>
            <p:nvPr/>
          </p:nvSpPr>
          <p:spPr>
            <a:xfrm>
              <a:off x="1389888" y="2825496"/>
              <a:ext cx="4023360" cy="256032"/>
            </a:xfrm>
            <a:prstGeom prst="rect">
              <a:avLst/>
            </a:prstGeom>
            <a:noFill/>
          </p:spPr>
          <p:txBody>
            <a:bodyPr wrap="square" lIns="0" rIns="0" tIns="0" bIns="0" anchor="t"/>
            <a:lstStyle/>
            <a:p>
              <a:pPr algn="l">
                <a:lnSpc>
                  <a:spcPct val="100000"/>
                </a:lnSpc>
              </a:pPr>
              <a:r>
                <a:rPr sz="1150" b="1" i="0">
                  <a:solidFill>
                    <a:srgbClr val="12211B"/>
                  </a:solidFill>
                  <a:latin typeface="Segoe UI"/>
                  <a:ea typeface="Segoe UI"/>
                  <a:cs typeface="Segoe UI"/>
                </a:rPr>
                <a:t>Cloning</a:t>
              </a:r>
            </a:p>
          </p:txBody>
        </p:sp>
        <p:sp>
          <p:nvSpPr>
            <p:cNvPr id="21" name="TextBox 20"/>
            <p:cNvSpPr txBox="1"/>
            <p:nvPr/>
          </p:nvSpPr>
          <p:spPr>
            <a:xfrm>
              <a:off x="1389888" y="3081528"/>
              <a:ext cx="4023360" cy="502920"/>
            </a:xfrm>
            <a:prstGeom prst="rect">
              <a:avLst/>
            </a:prstGeom>
            <a:noFill/>
          </p:spPr>
          <p:txBody>
            <a:bodyPr wrap="square" lIns="0" rIns="0" tIns="0" bIns="0" anchor="t"/>
            <a:lstStyle/>
            <a:p>
              <a:pPr algn="l">
                <a:lnSpc>
                  <a:spcPct val="116000"/>
                </a:lnSpc>
              </a:pPr>
              <a:r>
                <a:rPr sz="940" b="0" i="0">
                  <a:solidFill>
                    <a:srgbClr val="557165"/>
                  </a:solidFill>
                  <a:latin typeface="Segoe UI"/>
                  <a:ea typeface="Segoe UI"/>
                  <a:cs typeface="Segoe UI"/>
                </a:rPr>
                <a:t>Writable tags can be rewritten by anyone with a reader.</a:t>
              </a:r>
            </a:p>
          </p:txBody>
        </p:sp>
        <p:sp>
          <p:nvSpPr>
            <p:cNvPr id="22" name="TextBox 21"/>
            <p:cNvSpPr txBox="1"/>
            <p:nvPr/>
          </p:nvSpPr>
          <p:spPr>
            <a:xfrm>
              <a:off x="1042416" y="3712464"/>
              <a:ext cx="310896" cy="274320"/>
            </a:xfrm>
            <a:prstGeom prst="rect">
              <a:avLst/>
            </a:prstGeom>
            <a:noFill/>
          </p:spPr>
          <p:txBody>
            <a:bodyPr wrap="square" lIns="0" rIns="0" tIns="0" bIns="0" anchor="t"/>
            <a:lstStyle/>
            <a:p>
              <a:pPr algn="l">
                <a:lnSpc>
                  <a:spcPct val="100000"/>
                </a:lnSpc>
              </a:pPr>
              <a:r>
                <a:rPr sz="850" b="1" i="0">
                  <a:solidFill>
                    <a:srgbClr val="B4482F"/>
                  </a:solidFill>
                  <a:latin typeface="Consolas"/>
                  <a:ea typeface="Consolas"/>
                  <a:cs typeface="Consolas"/>
                </a:rPr>
                <a:t>02</a:t>
              </a:r>
            </a:p>
          </p:txBody>
        </p:sp>
        <p:sp>
          <p:nvSpPr>
            <p:cNvPr id="23" name="TextBox 22"/>
            <p:cNvSpPr txBox="1"/>
            <p:nvPr/>
          </p:nvSpPr>
          <p:spPr>
            <a:xfrm>
              <a:off x="1389888" y="3685032"/>
              <a:ext cx="4023360" cy="256032"/>
            </a:xfrm>
            <a:prstGeom prst="rect">
              <a:avLst/>
            </a:prstGeom>
            <a:noFill/>
          </p:spPr>
          <p:txBody>
            <a:bodyPr wrap="square" lIns="0" rIns="0" tIns="0" bIns="0" anchor="t"/>
            <a:lstStyle/>
            <a:p>
              <a:pPr algn="l">
                <a:lnSpc>
                  <a:spcPct val="100000"/>
                </a:lnSpc>
              </a:pPr>
              <a:r>
                <a:rPr sz="1150" b="1" i="0">
                  <a:solidFill>
                    <a:srgbClr val="12211B"/>
                  </a:solidFill>
                  <a:latin typeface="Segoe UI"/>
                  <a:ea typeface="Segoe UI"/>
                  <a:cs typeface="Segoe UI"/>
                </a:rPr>
                <a:t>Hardware</a:t>
              </a:r>
            </a:p>
          </p:txBody>
        </p:sp>
        <p:sp>
          <p:nvSpPr>
            <p:cNvPr id="24" name="TextBox 23"/>
            <p:cNvSpPr txBox="1"/>
            <p:nvPr/>
          </p:nvSpPr>
          <p:spPr>
            <a:xfrm>
              <a:off x="1389888" y="3941064"/>
              <a:ext cx="4023360" cy="502920"/>
            </a:xfrm>
            <a:prstGeom prst="rect">
              <a:avLst/>
            </a:prstGeom>
            <a:noFill/>
          </p:spPr>
          <p:txBody>
            <a:bodyPr wrap="square" lIns="0" rIns="0" tIns="0" bIns="0" anchor="t"/>
            <a:lstStyle/>
            <a:p>
              <a:pPr algn="l">
                <a:lnSpc>
                  <a:spcPct val="116000"/>
                </a:lnSpc>
              </a:pPr>
              <a:r>
                <a:rPr sz="940" b="0" i="0">
                  <a:solidFill>
                    <a:srgbClr val="557165"/>
                  </a:solidFill>
                  <a:latin typeface="Segoe UI"/>
                  <a:ea typeface="Segoe UI"/>
                  <a:cs typeface="Segoe UI"/>
                </a:rPr>
                <a:t>Every site needs a reader; every lost card needs a replacement reader trip.</a:t>
              </a:r>
            </a:p>
          </p:txBody>
        </p:sp>
        <p:sp>
          <p:nvSpPr>
            <p:cNvPr id="25" name="TextBox 24"/>
            <p:cNvSpPr txBox="1"/>
            <p:nvPr/>
          </p:nvSpPr>
          <p:spPr>
            <a:xfrm>
              <a:off x="1042416" y="4572000"/>
              <a:ext cx="310896" cy="274320"/>
            </a:xfrm>
            <a:prstGeom prst="rect">
              <a:avLst/>
            </a:prstGeom>
            <a:noFill/>
          </p:spPr>
          <p:txBody>
            <a:bodyPr wrap="square" lIns="0" rIns="0" tIns="0" bIns="0" anchor="t"/>
            <a:lstStyle/>
            <a:p>
              <a:pPr algn="l">
                <a:lnSpc>
                  <a:spcPct val="100000"/>
                </a:lnSpc>
              </a:pPr>
              <a:r>
                <a:rPr sz="850" b="1" i="0">
                  <a:solidFill>
                    <a:srgbClr val="B4482F"/>
                  </a:solidFill>
                  <a:latin typeface="Consolas"/>
                  <a:ea typeface="Consolas"/>
                  <a:cs typeface="Consolas"/>
                </a:rPr>
                <a:t>03</a:t>
              </a:r>
            </a:p>
          </p:txBody>
        </p:sp>
        <p:sp>
          <p:nvSpPr>
            <p:cNvPr id="26" name="TextBox 25"/>
            <p:cNvSpPr txBox="1"/>
            <p:nvPr/>
          </p:nvSpPr>
          <p:spPr>
            <a:xfrm>
              <a:off x="1389888" y="4544568"/>
              <a:ext cx="4023360" cy="256032"/>
            </a:xfrm>
            <a:prstGeom prst="rect">
              <a:avLst/>
            </a:prstGeom>
            <a:noFill/>
          </p:spPr>
          <p:txBody>
            <a:bodyPr wrap="square" lIns="0" rIns="0" tIns="0" bIns="0" anchor="t"/>
            <a:lstStyle/>
            <a:p>
              <a:pPr algn="l">
                <a:lnSpc>
                  <a:spcPct val="100000"/>
                </a:lnSpc>
              </a:pPr>
              <a:r>
                <a:rPr sz="1150" b="1" i="0">
                  <a:solidFill>
                    <a:srgbClr val="12211B"/>
                  </a:solidFill>
                  <a:latin typeface="Segoe UI"/>
                  <a:ea typeface="Segoe UI"/>
                  <a:cs typeface="Segoe UI"/>
                </a:rPr>
                <a:t>Cost</a:t>
              </a:r>
            </a:p>
          </p:txBody>
        </p:sp>
        <p:sp>
          <p:nvSpPr>
            <p:cNvPr id="27" name="TextBox 26"/>
            <p:cNvSpPr txBox="1"/>
            <p:nvPr/>
          </p:nvSpPr>
          <p:spPr>
            <a:xfrm>
              <a:off x="1389888" y="4800600"/>
              <a:ext cx="4023360" cy="502920"/>
            </a:xfrm>
            <a:prstGeom prst="rect">
              <a:avLst/>
            </a:prstGeom>
            <a:noFill/>
          </p:spPr>
          <p:txBody>
            <a:bodyPr wrap="square" lIns="0" rIns="0" tIns="0" bIns="0" anchor="t"/>
            <a:lstStyle/>
            <a:p>
              <a:pPr algn="l">
                <a:lnSpc>
                  <a:spcPct val="116000"/>
                </a:lnSpc>
              </a:pPr>
              <a:r>
                <a:rPr sz="940" b="0" i="0">
                  <a:solidFill>
                    <a:srgbClr val="557165"/>
                  </a:solidFill>
                  <a:latin typeface="Segoe UI"/>
                  <a:ea typeface="Segoe UI"/>
                  <a:cs typeface="Segoe UI"/>
                </a:rPr>
                <a:t>Tag plus reader per site is a recurring capital cost for a small contractor.</a:t>
              </a:r>
            </a:p>
          </p:txBody>
        </p:sp>
        <p:sp>
          <p:nvSpPr>
            <p:cNvPr id="28" name="TextBox 27"/>
            <p:cNvSpPr txBox="1"/>
            <p:nvPr/>
          </p:nvSpPr>
          <p:spPr>
            <a:xfrm>
              <a:off x="1042416" y="5138928"/>
              <a:ext cx="4297680" cy="219456"/>
            </a:xfrm>
            <a:prstGeom prst="rect">
              <a:avLst/>
            </a:prstGeom>
            <a:noFill/>
          </p:spPr>
          <p:txBody>
            <a:bodyPr wrap="square" lIns="0" rIns="0" tIns="0" bIns="0" anchor="t"/>
            <a:lstStyle/>
            <a:p>
              <a:pPr algn="l">
                <a:lnSpc>
                  <a:spcPct val="100000"/>
                </a:lnSpc>
              </a:pPr>
              <a:r>
                <a:rPr sz="800" b="0" i="1">
                  <a:solidFill>
                    <a:srgbClr val="8E3625"/>
                  </a:solidFill>
                  <a:latin typeface="Segoe UI"/>
                  <a:ea typeface="Segoe UI"/>
                  <a:cs typeface="Segoe UI"/>
                </a:rPr>
                <a:t>Removed from the design in v2.0 — cost and copyability.</a:t>
              </a:r>
            </a:p>
          </p:txBody>
        </p:sp>
      </p:grpSp>
      <p:grpSp>
        <p:nvGrpSpPr>
          <p:cNvPr id="29" name="!!path-adopted"/>
          <p:cNvGrpSpPr/>
          <p:nvPr/>
        </p:nvGrpSpPr>
        <p:grpSpPr>
          <a:xfrm>
            <a:off x="6419088" y="1810512"/>
            <a:ext cx="4983480" cy="3712463"/>
            <a:chOff x="6419088" y="1810512"/>
            <a:chExt cx="4983480" cy="3712463"/>
          </a:xfrm>
        </p:grpSpPr>
        <p:sp>
          <p:nvSpPr>
            <p:cNvPr id="30" name="Rounded Rectangle 29"/>
            <p:cNvSpPr/>
            <p:nvPr/>
          </p:nvSpPr>
          <p:spPr>
            <a:xfrm>
              <a:off x="6419088" y="1810512"/>
              <a:ext cx="4983480" cy="3712463"/>
            </a:xfrm>
            <a:prstGeom prst="roundRect">
              <a:avLst>
                <a:gd name="adj" fmla="val 3448"/>
              </a:avLst>
            </a:prstGeom>
            <a:solidFill>
              <a:srgbClr val="F1F7F3"/>
            </a:solidFill>
            <a:ln w="9525">
              <a:solidFill>
                <a:srgbClr val="BADFCA"/>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Rounded Rectangle 30"/>
            <p:cNvSpPr/>
            <p:nvPr/>
          </p:nvSpPr>
          <p:spPr>
            <a:xfrm>
              <a:off x="6419088" y="1810512"/>
              <a:ext cx="4983480" cy="59436"/>
            </a:xfrm>
            <a:prstGeom prst="roundRect">
              <a:avLst>
                <a:gd name="adj" fmla="val 30769"/>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Rounded Rectangle 31"/>
            <p:cNvSpPr/>
            <p:nvPr/>
          </p:nvSpPr>
          <p:spPr>
            <a:xfrm>
              <a:off x="6675120" y="2011680"/>
              <a:ext cx="1417320" cy="237744"/>
            </a:xfrm>
            <a:prstGeom prst="roundRect">
              <a:avLst>
                <a:gd name="adj" fmla="val 50000"/>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i="0" spc="100">
                  <a:solidFill>
                    <a:srgbClr val="FFFFFF"/>
                  </a:solidFill>
                  <a:latin typeface="Segoe UI"/>
                  <a:ea typeface="Segoe UI"/>
                  <a:cs typeface="Segoe UI"/>
                </a:rPr>
                <a:t>ADOPTED</a:t>
              </a:r>
            </a:p>
          </p:txBody>
        </p:sp>
        <p:sp>
          <p:nvSpPr>
            <p:cNvPr id="33" name="TextBox 32"/>
            <p:cNvSpPr txBox="1"/>
            <p:nvPr/>
          </p:nvSpPr>
          <p:spPr>
            <a:xfrm>
              <a:off x="6675120" y="2359152"/>
              <a:ext cx="3108960" cy="365760"/>
            </a:xfrm>
            <a:prstGeom prst="rect">
              <a:avLst/>
            </a:prstGeom>
            <a:noFill/>
          </p:spPr>
          <p:txBody>
            <a:bodyPr wrap="square" lIns="0" rIns="0" tIns="0" bIns="0" anchor="t"/>
            <a:lstStyle/>
            <a:p>
              <a:pPr algn="l">
                <a:lnSpc>
                  <a:spcPct val="100000"/>
                </a:lnSpc>
              </a:pPr>
              <a:r>
                <a:rPr sz="1700" b="1" i="0">
                  <a:solidFill>
                    <a:srgbClr val="12211B"/>
                  </a:solidFill>
                  <a:latin typeface="Georgia"/>
                  <a:ea typeface="Georgia"/>
                  <a:cs typeface="Georgia"/>
                </a:rPr>
                <a:t>Printed QR pass</a:t>
              </a:r>
            </a:p>
          </p:txBody>
        </p:sp>
        <p:sp>
          <p:nvSpPr>
            <p:cNvPr id="34" name="TextBox 33"/>
            <p:cNvSpPr txBox="1"/>
            <p:nvPr/>
          </p:nvSpPr>
          <p:spPr>
            <a:xfrm>
              <a:off x="6675120" y="2852928"/>
              <a:ext cx="310896" cy="274320"/>
            </a:xfrm>
            <a:prstGeom prst="rect">
              <a:avLst/>
            </a:prstGeom>
            <a:noFill/>
          </p:spPr>
          <p:txBody>
            <a:bodyPr wrap="square" lIns="0" rIns="0" tIns="0" bIns="0" anchor="t"/>
            <a:lstStyle/>
            <a:p>
              <a:pPr algn="l">
                <a:lnSpc>
                  <a:spcPct val="100000"/>
                </a:lnSpc>
              </a:pPr>
              <a:r>
                <a:rPr sz="850" b="1" i="0">
                  <a:solidFill>
                    <a:srgbClr val="25704F"/>
                  </a:solidFill>
                  <a:latin typeface="Consolas"/>
                  <a:ea typeface="Consolas"/>
                  <a:cs typeface="Consolas"/>
                </a:rPr>
                <a:t>01</a:t>
              </a:r>
            </a:p>
          </p:txBody>
        </p:sp>
        <p:sp>
          <p:nvSpPr>
            <p:cNvPr id="35" name="TextBox 34"/>
            <p:cNvSpPr txBox="1"/>
            <p:nvPr/>
          </p:nvSpPr>
          <p:spPr>
            <a:xfrm>
              <a:off x="7022592" y="2825496"/>
              <a:ext cx="1920240" cy="256032"/>
            </a:xfrm>
            <a:prstGeom prst="rect">
              <a:avLst/>
            </a:prstGeom>
            <a:noFill/>
          </p:spPr>
          <p:txBody>
            <a:bodyPr wrap="square" lIns="0" rIns="0" tIns="0" bIns="0" anchor="t"/>
            <a:lstStyle/>
            <a:p>
              <a:pPr algn="l">
                <a:lnSpc>
                  <a:spcPct val="100000"/>
                </a:lnSpc>
              </a:pPr>
              <a:r>
                <a:rPr sz="1100" b="1" i="0">
                  <a:solidFill>
                    <a:srgbClr val="12211B"/>
                  </a:solidFill>
                  <a:latin typeface="Segoe UI"/>
                  <a:ea typeface="Segoe UI"/>
                  <a:cs typeface="Segoe UI"/>
                </a:rPr>
                <a:t>A few rupees</a:t>
              </a:r>
            </a:p>
          </p:txBody>
        </p:sp>
        <p:sp>
          <p:nvSpPr>
            <p:cNvPr id="36" name="TextBox 35"/>
            <p:cNvSpPr txBox="1"/>
            <p:nvPr/>
          </p:nvSpPr>
          <p:spPr>
            <a:xfrm>
              <a:off x="7022592" y="3081528"/>
              <a:ext cx="1920240" cy="548640"/>
            </a:xfrm>
            <a:prstGeom prst="rect">
              <a:avLst/>
            </a:prstGeom>
            <a:noFill/>
          </p:spPr>
          <p:txBody>
            <a:bodyPr wrap="square" lIns="0" rIns="0" tIns="0" bIns="0" anchor="t"/>
            <a:lstStyle/>
            <a:p>
              <a:pPr algn="l">
                <a:lnSpc>
                  <a:spcPct val="114000"/>
                </a:lnSpc>
              </a:pPr>
              <a:r>
                <a:rPr sz="900" b="0" i="0">
                  <a:solidFill>
                    <a:srgbClr val="557165"/>
                  </a:solidFill>
                  <a:latin typeface="Segoe UI"/>
                  <a:ea typeface="Segoe UI"/>
                  <a:cs typeface="Segoe UI"/>
                </a:rPr>
                <a:t>Ordinary paper or card stock, printed once. An estimate, not a quote.</a:t>
              </a:r>
            </a:p>
          </p:txBody>
        </p:sp>
        <p:sp>
          <p:nvSpPr>
            <p:cNvPr id="37" name="TextBox 36"/>
            <p:cNvSpPr txBox="1"/>
            <p:nvPr/>
          </p:nvSpPr>
          <p:spPr>
            <a:xfrm>
              <a:off x="6675120" y="3712464"/>
              <a:ext cx="310896" cy="274320"/>
            </a:xfrm>
            <a:prstGeom prst="rect">
              <a:avLst/>
            </a:prstGeom>
            <a:noFill/>
          </p:spPr>
          <p:txBody>
            <a:bodyPr wrap="square" lIns="0" rIns="0" tIns="0" bIns="0" anchor="t"/>
            <a:lstStyle/>
            <a:p>
              <a:pPr algn="l">
                <a:lnSpc>
                  <a:spcPct val="100000"/>
                </a:lnSpc>
              </a:pPr>
              <a:r>
                <a:rPr sz="850" b="1" i="0">
                  <a:solidFill>
                    <a:srgbClr val="25704F"/>
                  </a:solidFill>
                  <a:latin typeface="Consolas"/>
                  <a:ea typeface="Consolas"/>
                  <a:cs typeface="Consolas"/>
                </a:rPr>
                <a:t>02</a:t>
              </a:r>
            </a:p>
          </p:txBody>
        </p:sp>
        <p:sp>
          <p:nvSpPr>
            <p:cNvPr id="38" name="TextBox 37"/>
            <p:cNvSpPr txBox="1"/>
            <p:nvPr/>
          </p:nvSpPr>
          <p:spPr>
            <a:xfrm>
              <a:off x="7022592" y="3685032"/>
              <a:ext cx="1920240" cy="256032"/>
            </a:xfrm>
            <a:prstGeom prst="rect">
              <a:avLst/>
            </a:prstGeom>
            <a:noFill/>
          </p:spPr>
          <p:txBody>
            <a:bodyPr wrap="square" lIns="0" rIns="0" tIns="0" bIns="0" anchor="t"/>
            <a:lstStyle/>
            <a:p>
              <a:pPr algn="l">
                <a:lnSpc>
                  <a:spcPct val="100000"/>
                </a:lnSpc>
              </a:pPr>
              <a:r>
                <a:rPr sz="1100" b="1" i="0">
                  <a:solidFill>
                    <a:srgbClr val="12211B"/>
                  </a:solidFill>
                  <a:latin typeface="Segoe UI"/>
                  <a:ea typeface="Segoe UI"/>
                  <a:cs typeface="Segoe UI"/>
                </a:rPr>
                <a:t>Any camera</a:t>
              </a:r>
            </a:p>
          </p:txBody>
        </p:sp>
        <p:sp>
          <p:nvSpPr>
            <p:cNvPr id="39" name="TextBox 38"/>
            <p:cNvSpPr txBox="1"/>
            <p:nvPr/>
          </p:nvSpPr>
          <p:spPr>
            <a:xfrm>
              <a:off x="7022592" y="3941064"/>
              <a:ext cx="1920240" cy="548640"/>
            </a:xfrm>
            <a:prstGeom prst="rect">
              <a:avLst/>
            </a:prstGeom>
            <a:noFill/>
          </p:spPr>
          <p:txBody>
            <a:bodyPr wrap="square" lIns="0" rIns="0" tIns="0" bIns="0" anchor="t"/>
            <a:lstStyle/>
            <a:p>
              <a:pPr algn="l">
                <a:lnSpc>
                  <a:spcPct val="114000"/>
                </a:lnSpc>
              </a:pPr>
              <a:r>
                <a:rPr sz="900" b="0" i="0">
                  <a:solidFill>
                    <a:srgbClr val="557165"/>
                  </a:solidFill>
                  <a:latin typeface="Segoe UI"/>
                  <a:ea typeface="Segoe UI"/>
                  <a:cs typeface="Segoe UI"/>
                </a:rPr>
                <a:t>No dedicated reader and no installation.</a:t>
              </a:r>
            </a:p>
          </p:txBody>
        </p:sp>
        <p:sp>
          <p:nvSpPr>
            <p:cNvPr id="40" name="TextBox 39"/>
            <p:cNvSpPr txBox="1"/>
            <p:nvPr/>
          </p:nvSpPr>
          <p:spPr>
            <a:xfrm>
              <a:off x="6675120" y="4572000"/>
              <a:ext cx="310896" cy="274320"/>
            </a:xfrm>
            <a:prstGeom prst="rect">
              <a:avLst/>
            </a:prstGeom>
            <a:noFill/>
          </p:spPr>
          <p:txBody>
            <a:bodyPr wrap="square" lIns="0" rIns="0" tIns="0" bIns="0" anchor="t"/>
            <a:lstStyle/>
            <a:p>
              <a:pPr algn="l">
                <a:lnSpc>
                  <a:spcPct val="100000"/>
                </a:lnSpc>
              </a:pPr>
              <a:r>
                <a:rPr sz="850" b="1" i="0">
                  <a:solidFill>
                    <a:srgbClr val="25704F"/>
                  </a:solidFill>
                  <a:latin typeface="Consolas"/>
                  <a:ea typeface="Consolas"/>
                  <a:cs typeface="Consolas"/>
                </a:rPr>
                <a:t>03</a:t>
              </a:r>
            </a:p>
          </p:txBody>
        </p:sp>
        <p:sp>
          <p:nvSpPr>
            <p:cNvPr id="41" name="TextBox 40"/>
            <p:cNvSpPr txBox="1"/>
            <p:nvPr/>
          </p:nvSpPr>
          <p:spPr>
            <a:xfrm>
              <a:off x="7022592" y="4544568"/>
              <a:ext cx="1920240" cy="256032"/>
            </a:xfrm>
            <a:prstGeom prst="rect">
              <a:avLst/>
            </a:prstGeom>
            <a:noFill/>
          </p:spPr>
          <p:txBody>
            <a:bodyPr wrap="square" lIns="0" rIns="0" tIns="0" bIns="0" anchor="t"/>
            <a:lstStyle/>
            <a:p>
              <a:pPr algn="l">
                <a:lnSpc>
                  <a:spcPct val="100000"/>
                </a:lnSpc>
              </a:pPr>
              <a:r>
                <a:rPr sz="1100" b="1" i="0">
                  <a:solidFill>
                    <a:srgbClr val="12211B"/>
                  </a:solidFill>
                  <a:latin typeface="Segoe UI"/>
                  <a:ea typeface="Segoe UI"/>
                  <a:cs typeface="Segoe UI"/>
                </a:rPr>
                <a:t>Replaceable</a:t>
              </a:r>
            </a:p>
          </p:txBody>
        </p:sp>
        <p:sp>
          <p:nvSpPr>
            <p:cNvPr id="42" name="TextBox 41"/>
            <p:cNvSpPr txBox="1"/>
            <p:nvPr/>
          </p:nvSpPr>
          <p:spPr>
            <a:xfrm>
              <a:off x="7022592" y="4800600"/>
              <a:ext cx="1920240" cy="548640"/>
            </a:xfrm>
            <a:prstGeom prst="rect">
              <a:avLst/>
            </a:prstGeom>
            <a:noFill/>
          </p:spPr>
          <p:txBody>
            <a:bodyPr wrap="square" lIns="0" rIns="0" tIns="0" bIns="0" anchor="t"/>
            <a:lstStyle/>
            <a:p>
              <a:pPr algn="l">
                <a:lnSpc>
                  <a:spcPct val="114000"/>
                </a:lnSpc>
              </a:pPr>
              <a:r>
                <a:rPr sz="900" b="0" i="0">
                  <a:solidFill>
                    <a:srgbClr val="557165"/>
                  </a:solidFill>
                  <a:latin typeface="Segoe UI"/>
                  <a:ea typeface="Segoe UI"/>
                  <a:cs typeface="Segoe UI"/>
                </a:rPr>
                <a:t>Reprint, reissue, re-link in a minute.</a:t>
              </a:r>
            </a:p>
          </p:txBody>
        </p:sp>
        <p:sp>
          <p:nvSpPr>
            <p:cNvPr id="83" name="TextBox 82"/>
            <p:cNvSpPr txBox="1"/>
            <p:nvPr/>
          </p:nvSpPr>
          <p:spPr>
            <a:xfrm>
              <a:off x="6675120" y="5138928"/>
              <a:ext cx="2377440" cy="219456"/>
            </a:xfrm>
            <a:prstGeom prst="rect">
              <a:avLst/>
            </a:prstGeom>
            <a:noFill/>
          </p:spPr>
          <p:txBody>
            <a:bodyPr wrap="square" lIns="0" rIns="0" tIns="0" bIns="0" anchor="t"/>
            <a:lstStyle/>
            <a:p>
              <a:pPr algn="l">
                <a:lnSpc>
                  <a:spcPct val="100000"/>
                </a:lnSpc>
              </a:pPr>
              <a:r>
                <a:rPr sz="800" b="0" i="1">
                  <a:solidFill>
                    <a:srgbClr val="25704F"/>
                  </a:solidFill>
                  <a:latin typeface="Segoe UI"/>
                  <a:ea typeface="Segoe UI"/>
                  <a:cs typeface="Segoe UI"/>
                </a:rPr>
                <a:t>Carried by every worker, reused every shift.</a:t>
              </a:r>
            </a:p>
          </p:txBody>
        </p:sp>
      </p:grpSp>
      <p:grpSp>
        <p:nvGrpSpPr>
          <p:cNvPr id="43" name="!!pass-card"/>
          <p:cNvGrpSpPr/>
          <p:nvPr/>
        </p:nvGrpSpPr>
        <p:grpSpPr>
          <a:xfrm>
            <a:off x="9253728" y="2395728"/>
            <a:ext cx="1755648" cy="2286000"/>
            <a:chOff x="9253728" y="2395728"/>
            <a:chExt cx="1755648" cy="2286000"/>
          </a:xfrm>
        </p:grpSpPr>
        <p:sp>
          <p:nvSpPr>
            <p:cNvPr id="44" name="Rounded Rectangle 43"/>
            <p:cNvSpPr/>
            <p:nvPr/>
          </p:nvSpPr>
          <p:spPr>
            <a:xfrm>
              <a:off x="9253728" y="2395728"/>
              <a:ext cx="1755648" cy="2286000"/>
            </a:xfrm>
            <a:prstGeom prst="roundRect">
              <a:avLst>
                <a:gd name="adj" fmla="val 8333"/>
              </a:avLst>
            </a:prstGeom>
            <a:solidFill>
              <a:srgbClr val="FFFFFF"/>
            </a:solidFill>
            <a:ln w="11430">
              <a:solidFill>
                <a:srgbClr val="E3D8C2"/>
              </a:solidFill>
            </a:ln>
            <a:effectLst>
              <a:outerShdw blurRad="228600" dist="76200" dir="5400000" rotWithShape="0">
                <a:srgbClr val="0A2219">
                  <a:alpha val="16000"/>
                </a:srgbClr>
              </a:outerShdw>
            </a:effectLst>
            <a:sp3d>
              <a:bevelT w="22860" h="2286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Rounded Rectangle 44"/>
            <p:cNvSpPr/>
            <p:nvPr/>
          </p:nvSpPr>
          <p:spPr>
            <a:xfrm>
              <a:off x="9253728" y="2395728"/>
              <a:ext cx="1755648" cy="434340"/>
            </a:xfrm>
            <a:prstGeom prst="roundRect">
              <a:avLst>
                <a:gd name="adj" fmla="val 33684"/>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Rectangle 45"/>
            <p:cNvSpPr/>
            <p:nvPr/>
          </p:nvSpPr>
          <p:spPr>
            <a:xfrm>
              <a:off x="9253728" y="2720340"/>
              <a:ext cx="1755648" cy="10972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TextBox 46"/>
            <p:cNvSpPr txBox="1"/>
            <p:nvPr/>
          </p:nvSpPr>
          <p:spPr>
            <a:xfrm>
              <a:off x="9400032" y="2459736"/>
              <a:ext cx="1481328" cy="342900"/>
            </a:xfrm>
            <a:prstGeom prst="rect">
              <a:avLst/>
            </a:prstGeom>
            <a:noFill/>
          </p:spPr>
          <p:txBody>
            <a:bodyPr wrap="square" lIns="0" rIns="0" tIns="0" bIns="0" anchor="t"/>
            <a:lstStyle/>
            <a:p>
              <a:pPr algn="l">
                <a:lnSpc>
                  <a:spcPct val="95000"/>
                </a:lnSpc>
                <a:spcAft>
                  <a:spcPts val="0"/>
                </a:spcAft>
              </a:pPr>
              <a:r>
                <a:rPr sz="650" b="1" i="0" spc="120">
                  <a:solidFill>
                    <a:srgbClr val="FDFBF6"/>
                  </a:solidFill>
                  <a:latin typeface="Segoe UI"/>
                  <a:ea typeface="Segoe UI"/>
                  <a:cs typeface="Segoe UI"/>
                </a:rPr>
                <a:t>MP SHRAM PASS</a:t>
              </a:r>
            </a:p>
            <a:p>
              <a:pPr algn="l">
                <a:lnSpc>
                  <a:spcPct val="95000"/>
                </a:lnSpc>
              </a:pPr>
              <a:r>
                <a:rPr sz="550" b="0" i="0">
                  <a:solidFill>
                    <a:srgbClr val="8BC7A6"/>
                  </a:solidFill>
                  <a:latin typeface="Nirmala UI"/>
                  <a:ea typeface="Nirmala UI"/>
                  <a:cs typeface="Nirmala UI"/>
                </a:rPr>
                <a:t>मध्य प्रदेश श्रम सेतु</a:t>
              </a:r>
            </a:p>
          </p:txBody>
        </p:sp>
        <p:sp>
          <p:nvSpPr>
            <p:cNvPr id="48" name="Rounded Rectangle 47"/>
            <p:cNvSpPr/>
            <p:nvPr/>
          </p:nvSpPr>
          <p:spPr>
            <a:xfrm>
              <a:off x="9381744" y="2976372"/>
              <a:ext cx="456468" cy="547762"/>
            </a:xfrm>
            <a:prstGeom prst="roundRect">
              <a:avLst>
                <a:gd name="adj" fmla="val 6009"/>
              </a:avLst>
            </a:prstGeom>
            <a:solidFill>
              <a:srgbClr val="F0E9DA"/>
            </a:solidFill>
            <a:ln w="635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9" name="Oval 48"/>
            <p:cNvSpPr/>
            <p:nvPr/>
          </p:nvSpPr>
          <p:spPr>
            <a:xfrm>
              <a:off x="9509555" y="3049524"/>
              <a:ext cx="200846" cy="200846"/>
            </a:xfrm>
            <a:prstGeom prst="ellipse">
              <a:avLst/>
            </a:prstGeom>
            <a:solidFill>
              <a:srgbClr val="CDBD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445649" y="3305029"/>
              <a:ext cx="328657" cy="191716"/>
            </a:xfrm>
            <a:prstGeom prst="roundRect">
              <a:avLst>
                <a:gd name="adj" fmla="val 50000"/>
              </a:avLst>
            </a:prstGeom>
            <a:solidFill>
              <a:srgbClr val="CDBD9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1" name="TextBox 50"/>
            <p:cNvSpPr txBox="1"/>
            <p:nvPr/>
          </p:nvSpPr>
          <p:spPr>
            <a:xfrm>
              <a:off x="9947940" y="2967228"/>
              <a:ext cx="951707" cy="594360"/>
            </a:xfrm>
            <a:prstGeom prst="rect">
              <a:avLst/>
            </a:prstGeom>
            <a:noFill/>
          </p:spPr>
          <p:txBody>
            <a:bodyPr wrap="square" lIns="0" rIns="0" tIns="0" bIns="0" anchor="t"/>
            <a:lstStyle/>
            <a:p>
              <a:pPr algn="l">
                <a:lnSpc>
                  <a:spcPct val="100000"/>
                </a:lnSpc>
                <a:spcAft>
                  <a:spcPts val="0"/>
                </a:spcAft>
              </a:pPr>
              <a:r>
                <a:rPr sz="806" b="1" i="0">
                  <a:solidFill>
                    <a:srgbClr val="12211B"/>
                  </a:solidFill>
                  <a:latin typeface="Segoe UI"/>
                  <a:ea typeface="Segoe UI"/>
                  <a:cs typeface="Segoe UI"/>
                </a:rPr>
                <a:t>Rajesh K.</a:t>
              </a:r>
            </a:p>
            <a:p>
              <a:pPr algn="l">
                <a:lnSpc>
                  <a:spcPct val="100000"/>
                </a:lnSpc>
                <a:spcAft>
                  <a:spcPts val="0"/>
                </a:spcAft>
              </a:pPr>
              <a:r>
                <a:rPr sz="520" b="0" i="0">
                  <a:solidFill>
                    <a:srgbClr val="557165"/>
                  </a:solidFill>
                  <a:latin typeface="Consolas"/>
                  <a:ea typeface="Consolas"/>
                  <a:cs typeface="Consolas"/>
                </a:rPr>
                <a:t>MP-IND-2026-MM842</a:t>
              </a:r>
            </a:p>
            <a:p>
              <a:pPr algn="l">
                <a:lnSpc>
                  <a:spcPct val="100000"/>
                </a:lnSpc>
              </a:pPr>
              <a:r>
                <a:rPr sz="520" b="1" i="0" spc="80">
                  <a:solidFill>
                    <a:srgbClr val="845321"/>
                  </a:solidFill>
                  <a:latin typeface="Segoe UI"/>
                  <a:ea typeface="Segoe UI"/>
                  <a:cs typeface="Segoe UI"/>
                </a:rPr>
                <a:t>MASON · SITE 04</a:t>
              </a:r>
            </a:p>
          </p:txBody>
        </p:sp>
        <p:sp>
          <p:nvSpPr>
            <p:cNvPr id="52" name="Rectangle 51"/>
            <p:cNvSpPr/>
            <p:nvPr/>
          </p:nvSpPr>
          <p:spPr>
            <a:xfrm>
              <a:off x="10090054" y="3723769"/>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3" name="Rectangle 52"/>
            <p:cNvSpPr/>
            <p:nvPr/>
          </p:nvSpPr>
          <p:spPr>
            <a:xfrm>
              <a:off x="10007060" y="3806763"/>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4" name="Rectangle 53"/>
            <p:cNvSpPr/>
            <p:nvPr/>
          </p:nvSpPr>
          <p:spPr>
            <a:xfrm>
              <a:off x="9924066" y="3972752"/>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5" name="Rectangle 54"/>
            <p:cNvSpPr/>
            <p:nvPr/>
          </p:nvSpPr>
          <p:spPr>
            <a:xfrm>
              <a:off x="10090054" y="3972752"/>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6" name="Rectangle 55"/>
            <p:cNvSpPr/>
            <p:nvPr/>
          </p:nvSpPr>
          <p:spPr>
            <a:xfrm>
              <a:off x="10173049" y="3972752"/>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7" name="Rectangle 56"/>
            <p:cNvSpPr/>
            <p:nvPr/>
          </p:nvSpPr>
          <p:spPr>
            <a:xfrm>
              <a:off x="9841072" y="4055746"/>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8" name="Rectangle 57"/>
            <p:cNvSpPr/>
            <p:nvPr/>
          </p:nvSpPr>
          <p:spPr>
            <a:xfrm>
              <a:off x="9924066" y="4055746"/>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9" name="Rectangle 58"/>
            <p:cNvSpPr/>
            <p:nvPr/>
          </p:nvSpPr>
          <p:spPr>
            <a:xfrm>
              <a:off x="10007060" y="4055746"/>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0" name="Rectangle 59"/>
            <p:cNvSpPr/>
            <p:nvPr/>
          </p:nvSpPr>
          <p:spPr>
            <a:xfrm>
              <a:off x="10256043" y="4055746"/>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1" name="Rectangle 60"/>
            <p:cNvSpPr/>
            <p:nvPr/>
          </p:nvSpPr>
          <p:spPr>
            <a:xfrm>
              <a:off x="10422031" y="4055746"/>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2" name="Rectangle 61"/>
            <p:cNvSpPr/>
            <p:nvPr/>
          </p:nvSpPr>
          <p:spPr>
            <a:xfrm>
              <a:off x="9758077" y="4138740"/>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3" name="Rectangle 62"/>
            <p:cNvSpPr/>
            <p:nvPr/>
          </p:nvSpPr>
          <p:spPr>
            <a:xfrm>
              <a:off x="9841072" y="4138740"/>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4" name="Rectangle 63"/>
            <p:cNvSpPr/>
            <p:nvPr/>
          </p:nvSpPr>
          <p:spPr>
            <a:xfrm>
              <a:off x="9924066" y="4138740"/>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5" name="Rectangle 64"/>
            <p:cNvSpPr/>
            <p:nvPr/>
          </p:nvSpPr>
          <p:spPr>
            <a:xfrm>
              <a:off x="10256043" y="4138740"/>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6" name="Rectangle 65"/>
            <p:cNvSpPr/>
            <p:nvPr/>
          </p:nvSpPr>
          <p:spPr>
            <a:xfrm>
              <a:off x="10007060" y="4221734"/>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7" name="Rectangle 66"/>
            <p:cNvSpPr/>
            <p:nvPr/>
          </p:nvSpPr>
          <p:spPr>
            <a:xfrm>
              <a:off x="10090054" y="4221734"/>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8" name="Rectangle 67"/>
            <p:cNvSpPr/>
            <p:nvPr/>
          </p:nvSpPr>
          <p:spPr>
            <a:xfrm>
              <a:off x="10173049" y="4221734"/>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9" name="Rectangle 68"/>
            <p:cNvSpPr/>
            <p:nvPr/>
          </p:nvSpPr>
          <p:spPr>
            <a:xfrm>
              <a:off x="10422031" y="4221734"/>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0" name="Rectangle 69"/>
            <p:cNvSpPr/>
            <p:nvPr/>
          </p:nvSpPr>
          <p:spPr>
            <a:xfrm>
              <a:off x="10007060" y="4304729"/>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1" name="Rectangle 70"/>
            <p:cNvSpPr/>
            <p:nvPr/>
          </p:nvSpPr>
          <p:spPr>
            <a:xfrm>
              <a:off x="10173049" y="4304729"/>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2" name="Rectangle 71"/>
            <p:cNvSpPr/>
            <p:nvPr/>
          </p:nvSpPr>
          <p:spPr>
            <a:xfrm>
              <a:off x="10256043" y="4304729"/>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3" name="Rectangle 72"/>
            <p:cNvSpPr/>
            <p:nvPr/>
          </p:nvSpPr>
          <p:spPr>
            <a:xfrm>
              <a:off x="10339037" y="4304729"/>
              <a:ext cx="76354" cy="76354"/>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4" name="Rectangle 73"/>
            <p:cNvSpPr/>
            <p:nvPr/>
          </p:nvSpPr>
          <p:spPr>
            <a:xfrm>
              <a:off x="9758077" y="3723769"/>
              <a:ext cx="248982" cy="248982"/>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5" name="Rectangle 74"/>
            <p:cNvSpPr/>
            <p:nvPr/>
          </p:nvSpPr>
          <p:spPr>
            <a:xfrm>
              <a:off x="9807874" y="3773565"/>
              <a:ext cx="149389" cy="14938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6" name="Rectangle 75"/>
            <p:cNvSpPr/>
            <p:nvPr/>
          </p:nvSpPr>
          <p:spPr>
            <a:xfrm>
              <a:off x="9853521" y="3819212"/>
              <a:ext cx="58095" cy="58095"/>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7" name="Rectangle 76"/>
            <p:cNvSpPr/>
            <p:nvPr/>
          </p:nvSpPr>
          <p:spPr>
            <a:xfrm>
              <a:off x="10256043" y="3723769"/>
              <a:ext cx="248982" cy="248982"/>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8" name="Rectangle 77"/>
            <p:cNvSpPr/>
            <p:nvPr/>
          </p:nvSpPr>
          <p:spPr>
            <a:xfrm>
              <a:off x="10305839" y="3773565"/>
              <a:ext cx="149389" cy="14938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9" name="Rectangle 78"/>
            <p:cNvSpPr/>
            <p:nvPr/>
          </p:nvSpPr>
          <p:spPr>
            <a:xfrm>
              <a:off x="10351486" y="3819212"/>
              <a:ext cx="58095" cy="58095"/>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0" name="Rectangle 79"/>
            <p:cNvSpPr/>
            <p:nvPr/>
          </p:nvSpPr>
          <p:spPr>
            <a:xfrm>
              <a:off x="9758077" y="4221734"/>
              <a:ext cx="248982" cy="248982"/>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1" name="Rectangle 80"/>
            <p:cNvSpPr/>
            <p:nvPr/>
          </p:nvSpPr>
          <p:spPr>
            <a:xfrm>
              <a:off x="9807874" y="4271531"/>
              <a:ext cx="149389" cy="14938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2" name="Rectangle 81"/>
            <p:cNvSpPr/>
            <p:nvPr/>
          </p:nvSpPr>
          <p:spPr>
            <a:xfrm>
              <a:off x="9853521" y="4317178"/>
              <a:ext cx="58095" cy="58095"/>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grpSp>
      <p:sp>
        <p:nvSpPr>
          <p:cNvPr id="84" name="!!caveat-band"/>
          <p:cNvSpPr/>
          <p:nvPr/>
        </p:nvSpPr>
        <p:spPr>
          <a:xfrm>
            <a:off x="786384" y="5669280"/>
            <a:ext cx="10616184" cy="457200"/>
          </a:xfrm>
          <a:prstGeom prst="roundRect">
            <a:avLst>
              <a:gd name="adj" fmla="val 16000"/>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5" name="TextBox 84"/>
          <p:cNvSpPr txBox="1"/>
          <p:nvPr/>
        </p:nvSpPr>
        <p:spPr>
          <a:xfrm>
            <a:off x="1005840" y="5760720"/>
            <a:ext cx="10158984" cy="274320"/>
          </a:xfrm>
          <a:prstGeom prst="rect">
            <a:avLst/>
          </a:prstGeom>
          <a:noFill/>
        </p:spPr>
        <p:txBody>
          <a:bodyPr wrap="square" lIns="0" rIns="0" tIns="0" bIns="0" anchor="t"/>
          <a:lstStyle/>
          <a:p>
            <a:pPr algn="l">
              <a:lnSpc>
                <a:spcPct val="100000"/>
              </a:lnSpc>
            </a:pPr>
            <a:r>
              <a:rPr sz="800" b="1" i="0" spc="140">
                <a:solidFill>
                  <a:srgbClr val="B4482F"/>
                </a:solidFill>
                <a:latin typeface="Segoe UI"/>
                <a:ea typeface="Segoe UI"/>
                <a:cs typeface="Segoe UI"/>
              </a:rPr>
              <a:t>CAVEAT  </a:t>
            </a:r>
            <a:r>
              <a:rPr sz="1000" b="0" i="0">
                <a:solidFill>
                  <a:srgbClr val="33483F"/>
                </a:solidFill>
                <a:latin typeface="Segoe UI"/>
                <a:ea typeface="Segoe UI"/>
                <a:cs typeface="Segoe UI"/>
              </a:rPr>
              <a:t>A QR code is an identifier, not an authentication device — a pass can be photographed and copied.</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052560" y="-2578608"/>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834640" y="4526279"/>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2014606"/>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2531242"/>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ARCHITECTURE</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02  </a:t>
            </a:r>
            <a:r>
              <a:rPr sz="950" b="1" i="0" spc="140">
                <a:solidFill>
                  <a:srgbClr val="5F776B"/>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Five layers, one contract</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10 / 26</a:t>
            </a:r>
          </a:p>
        </p:txBody>
      </p:sp>
      <p:sp>
        <p:nvSpPr>
          <p:cNvPr id="14" name="Rectangle 13"/>
          <p:cNvSpPr/>
          <p:nvPr/>
        </p:nvSpPr>
        <p:spPr>
          <a:xfrm>
            <a:off x="786384" y="1828800"/>
            <a:ext cx="12801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786384" y="2075688"/>
            <a:ext cx="1280160" cy="219456"/>
          </a:xfrm>
          <a:prstGeom prst="rect">
            <a:avLst/>
          </a:prstGeom>
          <a:noFill/>
        </p:spPr>
        <p:txBody>
          <a:bodyPr wrap="square" lIns="0" rIns="0" tIns="0" bIns="0" anchor="t"/>
          <a:lstStyle/>
          <a:p>
            <a:pPr algn="l">
              <a:lnSpc>
                <a:spcPct val="100000"/>
              </a:lnSpc>
            </a:pPr>
            <a:r>
              <a:rPr sz="760" b="1" i="0" spc="120">
                <a:solidFill>
                  <a:srgbClr val="5F776B"/>
                </a:solidFill>
                <a:latin typeface="Segoe UI"/>
                <a:ea typeface="Segoe UI"/>
                <a:cs typeface="Segoe UI"/>
              </a:rPr>
              <a:t>PRESENTATION</a:t>
            </a:r>
          </a:p>
        </p:txBody>
      </p:sp>
      <p:sp>
        <p:nvSpPr>
          <p:cNvPr id="16" name="!!layer-ui"/>
          <p:cNvSpPr/>
          <p:nvPr/>
        </p:nvSpPr>
        <p:spPr>
          <a:xfrm>
            <a:off x="2212848" y="1828800"/>
            <a:ext cx="5760720" cy="731520"/>
          </a:xfrm>
          <a:prstGeom prst="roundRect">
            <a:avLst>
              <a:gd name="adj" fmla="val 12500"/>
            </a:avLst>
          </a:prstGeom>
          <a:solidFill>
            <a:srgbClr val="0A2219"/>
          </a:solidFill>
          <a:ln>
            <a:no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2468880" y="1975104"/>
            <a:ext cx="5303520" cy="438912"/>
          </a:xfrm>
          <a:prstGeom prst="rect">
            <a:avLst/>
          </a:prstGeom>
          <a:noFill/>
        </p:spPr>
        <p:txBody>
          <a:bodyPr wrap="square" lIns="0" rIns="0" tIns="0" bIns="0" anchor="ctr"/>
          <a:lstStyle/>
          <a:p>
            <a:pPr algn="l">
              <a:lnSpc>
                <a:spcPct val="100000"/>
              </a:lnSpc>
            </a:pPr>
            <a:r>
              <a:rPr sz="1150" b="0" i="0">
                <a:solidFill>
                  <a:srgbClr val="F8F4EA"/>
                </a:solidFill>
                <a:latin typeface="Segoe UI"/>
                <a:ea typeface="Segoe UI"/>
                <a:cs typeface="Segoe UI"/>
              </a:rPr>
              <a:t>Worker portal    ·    Contractor portal    ·    Audit &amp; tamper bench</a:t>
            </a:r>
          </a:p>
        </p:txBody>
      </p:sp>
      <p:sp>
        <p:nvSpPr>
          <p:cNvPr id="18" name="Rectangle 17"/>
          <p:cNvSpPr/>
          <p:nvPr/>
        </p:nvSpPr>
        <p:spPr>
          <a:xfrm>
            <a:off x="786384" y="2706624"/>
            <a:ext cx="12801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786384" y="3008376"/>
            <a:ext cx="1280160" cy="219456"/>
          </a:xfrm>
          <a:prstGeom prst="rect">
            <a:avLst/>
          </a:prstGeom>
          <a:noFill/>
        </p:spPr>
        <p:txBody>
          <a:bodyPr wrap="square" lIns="0" rIns="0" tIns="0" bIns="0" anchor="t"/>
          <a:lstStyle/>
          <a:p>
            <a:pPr algn="l">
              <a:lnSpc>
                <a:spcPct val="100000"/>
              </a:lnSpc>
            </a:pPr>
            <a:r>
              <a:rPr sz="760" b="1" i="0" spc="120">
                <a:solidFill>
                  <a:srgbClr val="5F776B"/>
                </a:solidFill>
                <a:latin typeface="Segoe UI"/>
                <a:ea typeface="Segoe UI"/>
                <a:cs typeface="Segoe UI"/>
              </a:rPr>
              <a:t>SERVICES</a:t>
            </a:r>
          </a:p>
        </p:txBody>
      </p:sp>
      <p:sp>
        <p:nvSpPr>
          <p:cNvPr id="20" name="!!layer-services"/>
          <p:cNvSpPr/>
          <p:nvPr/>
        </p:nvSpPr>
        <p:spPr>
          <a:xfrm>
            <a:off x="2212848" y="2706624"/>
            <a:ext cx="5760720" cy="841248"/>
          </a:xfrm>
          <a:prstGeom prst="roundRect">
            <a:avLst>
              <a:gd name="adj" fmla="val 10869"/>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2468880" y="2852928"/>
            <a:ext cx="5303520" cy="548640"/>
          </a:xfrm>
          <a:prstGeom prst="rect">
            <a:avLst/>
          </a:prstGeom>
          <a:noFill/>
        </p:spPr>
        <p:txBody>
          <a:bodyPr wrap="square" lIns="0" rIns="0" tIns="0" bIns="0" anchor="ctr"/>
          <a:lstStyle/>
          <a:p>
            <a:pPr algn="l">
              <a:lnSpc>
                <a:spcPct val="114000"/>
              </a:lnSpc>
            </a:pPr>
            <a:r>
              <a:rPr sz="1040" b="0" i="0">
                <a:solidFill>
                  <a:srgbClr val="33483F"/>
                </a:solidFill>
                <a:latin typeface="Segoe UI"/>
                <a:ea typeface="Segoe UI"/>
                <a:cs typeface="Segoe UI"/>
              </a:rPr>
              <a:t>Wage engine   ·   Payment states   ·   Corrections   ·   Disputes   ·   Audit chain   ·   Anomaly rules</a:t>
            </a:r>
          </a:p>
        </p:txBody>
      </p:sp>
      <p:sp>
        <p:nvSpPr>
          <p:cNvPr id="22" name="Rectangle 21"/>
          <p:cNvSpPr/>
          <p:nvPr/>
        </p:nvSpPr>
        <p:spPr>
          <a:xfrm>
            <a:off x="786384" y="3712463"/>
            <a:ext cx="12801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TextBox 22"/>
          <p:cNvSpPr txBox="1"/>
          <p:nvPr/>
        </p:nvSpPr>
        <p:spPr>
          <a:xfrm>
            <a:off x="786384" y="3877055"/>
            <a:ext cx="1280160" cy="219456"/>
          </a:xfrm>
          <a:prstGeom prst="rect">
            <a:avLst/>
          </a:prstGeom>
          <a:noFill/>
        </p:spPr>
        <p:txBody>
          <a:bodyPr wrap="square" lIns="0" rIns="0" tIns="0" bIns="0" anchor="t"/>
          <a:lstStyle/>
          <a:p>
            <a:pPr algn="l">
              <a:lnSpc>
                <a:spcPct val="100000"/>
              </a:lnSpc>
            </a:pPr>
            <a:r>
              <a:rPr sz="760" b="1" i="0" spc="120">
                <a:solidFill>
                  <a:srgbClr val="845321"/>
                </a:solidFill>
                <a:latin typeface="Segoe UI"/>
                <a:ea typeface="Segoe UI"/>
                <a:cs typeface="Segoe UI"/>
              </a:rPr>
              <a:t>REPOSITORY</a:t>
            </a:r>
          </a:p>
        </p:txBody>
      </p:sp>
      <p:sp>
        <p:nvSpPr>
          <p:cNvPr id="24" name="!!layer-repo"/>
          <p:cNvSpPr/>
          <p:nvPr/>
        </p:nvSpPr>
        <p:spPr>
          <a:xfrm>
            <a:off x="2212848" y="3712463"/>
            <a:ext cx="5760720" cy="566928"/>
          </a:xfrm>
          <a:prstGeom prst="roundRect">
            <a:avLst>
              <a:gd name="adj" fmla="val 16129"/>
            </a:avLst>
          </a:prstGeom>
          <a:solidFill>
            <a:srgbClr val="F8EDCD"/>
          </a:solidFill>
          <a:ln w="9525">
            <a:solidFill>
              <a:srgbClr val="E5C068"/>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4"/>
          <p:cNvSpPr txBox="1"/>
          <p:nvPr/>
        </p:nvSpPr>
        <p:spPr>
          <a:xfrm>
            <a:off x="2432304" y="3831336"/>
            <a:ext cx="5349240" cy="365760"/>
          </a:xfrm>
          <a:prstGeom prst="rect">
            <a:avLst/>
          </a:prstGeom>
          <a:noFill/>
        </p:spPr>
        <p:txBody>
          <a:bodyPr wrap="square" lIns="0" rIns="0" tIns="0" bIns="0" anchor="ctr"/>
          <a:lstStyle/>
          <a:p>
            <a:pPr algn="l">
              <a:lnSpc>
                <a:spcPct val="100000"/>
              </a:lnSpc>
            </a:pPr>
            <a:r>
              <a:rPr sz="1100" b="1" i="0">
                <a:solidFill>
                  <a:srgbClr val="6B4321"/>
                </a:solidFill>
                <a:latin typeface="Consolas"/>
                <a:ea typeface="Consolas"/>
                <a:cs typeface="Consolas"/>
              </a:rPr>
              <a:t>IDataRepository</a:t>
            </a:r>
            <a:r>
              <a:rPr sz="960" b="0" i="0">
                <a:solidFill>
                  <a:srgbClr val="6B4321"/>
                </a:solidFill>
                <a:latin typeface="Segoe UI"/>
                <a:ea typeface="Segoe UI"/>
                <a:cs typeface="Segoe UI"/>
              </a:rPr>
              <a:t>   — one contract for workers, records, payments, disputes, audits</a:t>
            </a:r>
          </a:p>
        </p:txBody>
      </p:sp>
      <p:sp>
        <p:nvSpPr>
          <p:cNvPr id="26" name="Rectangle 25"/>
          <p:cNvSpPr/>
          <p:nvPr/>
        </p:nvSpPr>
        <p:spPr>
          <a:xfrm>
            <a:off x="786384" y="4443984"/>
            <a:ext cx="12801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6"/>
          <p:cNvSpPr txBox="1"/>
          <p:nvPr/>
        </p:nvSpPr>
        <p:spPr>
          <a:xfrm>
            <a:off x="786384" y="4764024"/>
            <a:ext cx="1280160" cy="219456"/>
          </a:xfrm>
          <a:prstGeom prst="rect">
            <a:avLst/>
          </a:prstGeom>
          <a:noFill/>
        </p:spPr>
        <p:txBody>
          <a:bodyPr wrap="square" lIns="0" rIns="0" tIns="0" bIns="0" anchor="t"/>
          <a:lstStyle/>
          <a:p>
            <a:pPr algn="l">
              <a:lnSpc>
                <a:spcPct val="100000"/>
              </a:lnSpc>
            </a:pPr>
            <a:r>
              <a:rPr sz="760" b="1" i="0" spc="120">
                <a:solidFill>
                  <a:srgbClr val="5F776B"/>
                </a:solidFill>
                <a:latin typeface="Segoe UI"/>
                <a:ea typeface="Segoe UI"/>
                <a:cs typeface="Segoe UI"/>
              </a:rPr>
              <a:t>ADAPTERS</a:t>
            </a:r>
          </a:p>
        </p:txBody>
      </p:sp>
      <p:sp>
        <p:nvSpPr>
          <p:cNvPr id="28" name="!!layer-adapters"/>
          <p:cNvSpPr/>
          <p:nvPr/>
        </p:nvSpPr>
        <p:spPr>
          <a:xfrm>
            <a:off x="2212848" y="4443984"/>
            <a:ext cx="5760720" cy="877824"/>
          </a:xfrm>
          <a:prstGeom prst="roundRect">
            <a:avLst>
              <a:gd name="adj" fmla="val 10416"/>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adapter-local"/>
          <p:cNvSpPr/>
          <p:nvPr/>
        </p:nvSpPr>
        <p:spPr>
          <a:xfrm>
            <a:off x="2377440" y="4535424"/>
            <a:ext cx="2651760" cy="694944"/>
          </a:xfrm>
          <a:prstGeom prst="roundRect">
            <a:avLst>
              <a:gd name="adj" fmla="val 10526"/>
            </a:avLst>
          </a:prstGeom>
          <a:solidFill>
            <a:srgbClr val="1B4936"/>
          </a:solidFill>
          <a:ln>
            <a:no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29"/>
          <p:cNvSpPr txBox="1"/>
          <p:nvPr/>
        </p:nvSpPr>
        <p:spPr>
          <a:xfrm>
            <a:off x="2578608" y="4608576"/>
            <a:ext cx="2331720" cy="219456"/>
          </a:xfrm>
          <a:prstGeom prst="rect">
            <a:avLst/>
          </a:prstGeom>
          <a:noFill/>
        </p:spPr>
        <p:txBody>
          <a:bodyPr wrap="square" lIns="0" rIns="0" tIns="0" bIns="0" anchor="t"/>
          <a:lstStyle/>
          <a:p>
            <a:pPr algn="l">
              <a:lnSpc>
                <a:spcPct val="100000"/>
              </a:lnSpc>
            </a:pPr>
            <a:r>
              <a:rPr sz="1019" b="1" i="0">
                <a:solidFill>
                  <a:srgbClr val="FDFBF6"/>
                </a:solidFill>
                <a:latin typeface="Segoe UI"/>
                <a:ea typeface="Segoe UI"/>
                <a:cs typeface="Segoe UI"/>
              </a:rPr>
              <a:t>IndexedDB adapter</a:t>
            </a:r>
          </a:p>
        </p:txBody>
      </p:sp>
      <p:sp>
        <p:nvSpPr>
          <p:cNvPr id="31" name="TextBox 30"/>
          <p:cNvSpPr txBox="1"/>
          <p:nvPr/>
        </p:nvSpPr>
        <p:spPr>
          <a:xfrm>
            <a:off x="2578608" y="4846320"/>
            <a:ext cx="2331720" cy="329184"/>
          </a:xfrm>
          <a:prstGeom prst="rect">
            <a:avLst/>
          </a:prstGeom>
          <a:noFill/>
        </p:spPr>
        <p:txBody>
          <a:bodyPr wrap="square" lIns="0" rIns="0" tIns="0" bIns="0" anchor="t"/>
          <a:lstStyle/>
          <a:p>
            <a:pPr algn="l">
              <a:lnSpc>
                <a:spcPct val="100000"/>
              </a:lnSpc>
            </a:pPr>
            <a:r>
              <a:rPr sz="800" b="0" i="0">
                <a:solidFill>
                  <a:srgbClr val="BADFCA"/>
                </a:solidFill>
                <a:latin typeface="Segoe UI"/>
                <a:ea typeface="Segoe UI"/>
                <a:cs typeface="Segoe UI"/>
              </a:rPr>
              <a:t>shram_setu_v2_db · local, seeded</a:t>
            </a:r>
          </a:p>
        </p:txBody>
      </p:sp>
      <p:sp>
        <p:nvSpPr>
          <p:cNvPr id="32" name="!!adapter-remote"/>
          <p:cNvSpPr/>
          <p:nvPr/>
        </p:nvSpPr>
        <p:spPr>
          <a:xfrm>
            <a:off x="5138928" y="4535424"/>
            <a:ext cx="2651760" cy="694944"/>
          </a:xfrm>
          <a:prstGeom prst="roundRect">
            <a:avLst>
              <a:gd name="adj" fmla="val 10526"/>
            </a:avLst>
          </a:prstGeom>
          <a:solidFill>
            <a:srgbClr val="FFFFFF"/>
          </a:solidFill>
          <a:ln w="11430">
            <a:solidFill>
              <a:srgbClr val="57A97E"/>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TextBox 32"/>
          <p:cNvSpPr txBox="1"/>
          <p:nvPr/>
        </p:nvSpPr>
        <p:spPr>
          <a:xfrm>
            <a:off x="5340096" y="4608576"/>
            <a:ext cx="2286000" cy="219456"/>
          </a:xfrm>
          <a:prstGeom prst="rect">
            <a:avLst/>
          </a:prstGeom>
          <a:noFill/>
        </p:spPr>
        <p:txBody>
          <a:bodyPr wrap="square" lIns="0" rIns="0" tIns="0" bIns="0" anchor="t"/>
          <a:lstStyle/>
          <a:p>
            <a:pPr algn="l">
              <a:lnSpc>
                <a:spcPct val="100000"/>
              </a:lnSpc>
            </a:pPr>
            <a:r>
              <a:rPr sz="1019" b="1" i="0">
                <a:solidFill>
                  <a:srgbClr val="1F5941"/>
                </a:solidFill>
                <a:latin typeface="Segoe UI"/>
                <a:ea typeface="Segoe UI"/>
                <a:cs typeface="Segoe UI"/>
              </a:rPr>
              <a:t>Supabase adapter</a:t>
            </a:r>
            <a:r>
              <a:rPr sz="680" b="1" i="0" spc="100">
                <a:solidFill>
                  <a:srgbClr val="B4482F"/>
                </a:solidFill>
                <a:latin typeface="Segoe UI"/>
                <a:ea typeface="Segoe UI"/>
                <a:cs typeface="Segoe UI"/>
              </a:rPr>
              <a:t>  PLANNED</a:t>
            </a:r>
          </a:p>
        </p:txBody>
      </p:sp>
      <p:sp>
        <p:nvSpPr>
          <p:cNvPr id="34" name="TextBox 33"/>
          <p:cNvSpPr txBox="1"/>
          <p:nvPr/>
        </p:nvSpPr>
        <p:spPr>
          <a:xfrm>
            <a:off x="5340096" y="4846320"/>
            <a:ext cx="2286000" cy="329184"/>
          </a:xfrm>
          <a:prstGeom prst="rect">
            <a:avLst/>
          </a:prstGeom>
          <a:noFill/>
        </p:spPr>
        <p:txBody>
          <a:bodyPr wrap="square" lIns="0" rIns="0" tIns="0" bIns="0" anchor="t"/>
          <a:lstStyle/>
          <a:p>
            <a:pPr algn="l">
              <a:lnSpc>
                <a:spcPct val="100000"/>
              </a:lnSpc>
            </a:pPr>
            <a:r>
              <a:rPr sz="800" b="0" i="0">
                <a:solidFill>
                  <a:srgbClr val="557165"/>
                </a:solidFill>
                <a:latin typeface="Segoe UI"/>
                <a:ea typeface="Segoe UI"/>
                <a:cs typeface="Segoe UI"/>
              </a:rPr>
              <a:t>Auth + PostgreSQL + row-level security</a:t>
            </a:r>
          </a:p>
        </p:txBody>
      </p:sp>
      <p:sp>
        <p:nvSpPr>
          <p:cNvPr id="35" name="!!layer-sync"/>
          <p:cNvSpPr/>
          <p:nvPr/>
        </p:nvSpPr>
        <p:spPr>
          <a:xfrm>
            <a:off x="2212848" y="5522976"/>
            <a:ext cx="5760720" cy="457200"/>
          </a:xfrm>
          <a:prstGeom prst="roundRect">
            <a:avLst>
              <a:gd name="adj" fmla="val 16000"/>
            </a:avLst>
          </a:prstGeom>
          <a:solidFill>
            <a:srgbClr val="FFFFFF"/>
          </a:solidFill>
          <a:ln w="11430">
            <a:solidFill>
              <a:srgbClr val="8BC7A6"/>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2432304" y="5605272"/>
            <a:ext cx="5349240" cy="292608"/>
          </a:xfrm>
          <a:prstGeom prst="rect">
            <a:avLst/>
          </a:prstGeom>
          <a:noFill/>
        </p:spPr>
        <p:txBody>
          <a:bodyPr wrap="square" lIns="0" rIns="0" tIns="0" bIns="0" anchor="ctr"/>
          <a:lstStyle/>
          <a:p>
            <a:pPr algn="l">
              <a:lnSpc>
                <a:spcPct val="100000"/>
              </a:lnSpc>
            </a:pPr>
            <a:r>
              <a:rPr sz="940" b="1" i="0">
                <a:solidFill>
                  <a:srgbClr val="1F5941"/>
                </a:solidFill>
                <a:latin typeface="Segoe UI"/>
                <a:ea typeface="Segoe UI"/>
                <a:cs typeface="Segoe UI"/>
              </a:rPr>
              <a:t>Sync &amp; conflict service</a:t>
            </a:r>
            <a:r>
              <a:rPr sz="840" b="0" i="0">
                <a:solidFill>
                  <a:srgbClr val="557165"/>
                </a:solidFill>
                <a:latin typeface="Segoe UI"/>
                <a:ea typeface="Segoe UI"/>
                <a:cs typeface="Segoe UI"/>
              </a:rPr>
              <a:t>  — outbox · retry · idempotency · conflicts preserved   (planned)</a:t>
            </a:r>
          </a:p>
        </p:txBody>
      </p:sp>
      <p:sp>
        <p:nvSpPr>
          <p:cNvPr id="37" name="TextBox 36"/>
          <p:cNvSpPr txBox="1"/>
          <p:nvPr/>
        </p:nvSpPr>
        <p:spPr>
          <a:xfrm>
            <a:off x="786384" y="5650992"/>
            <a:ext cx="1280160" cy="219456"/>
          </a:xfrm>
          <a:prstGeom prst="rect">
            <a:avLst/>
          </a:prstGeom>
          <a:noFill/>
        </p:spPr>
        <p:txBody>
          <a:bodyPr wrap="square" lIns="0" rIns="0" tIns="0" bIns="0" anchor="t"/>
          <a:lstStyle/>
          <a:p>
            <a:pPr algn="l">
              <a:lnSpc>
                <a:spcPct val="100000"/>
              </a:lnSpc>
            </a:pPr>
            <a:r>
              <a:rPr sz="760" b="1" i="0" spc="120">
                <a:solidFill>
                  <a:srgbClr val="5F776B"/>
                </a:solidFill>
                <a:latin typeface="Segoe UI"/>
                <a:ea typeface="Segoe UI"/>
                <a:cs typeface="Segoe UI"/>
              </a:rPr>
              <a:t>SYNC</a:t>
            </a:r>
          </a:p>
        </p:txBody>
      </p:sp>
      <p:cxnSp>
        <p:nvCxnSpPr>
          <p:cNvPr id="38" name="Connector 37"/>
          <p:cNvCxnSpPr/>
          <p:nvPr/>
        </p:nvCxnSpPr>
        <p:spPr>
          <a:xfrm>
            <a:off x="5093208" y="2560320"/>
            <a:ext cx="0" cy="146304"/>
          </a:xfrm>
          <a:prstGeom prst="line">
            <a:avLst/>
          </a:prstGeom>
          <a:ln w="13970">
            <a:solidFill>
              <a:srgbClr val="D9A84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093208" y="3547872"/>
            <a:ext cx="0" cy="164591"/>
          </a:xfrm>
          <a:prstGeom prst="line">
            <a:avLst/>
          </a:prstGeom>
          <a:ln w="13970">
            <a:solidFill>
              <a:srgbClr val="D9A84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093208" y="4279392"/>
            <a:ext cx="0" cy="164592"/>
          </a:xfrm>
          <a:prstGeom prst="line">
            <a:avLst/>
          </a:prstGeom>
          <a:ln w="13970">
            <a:solidFill>
              <a:srgbClr val="D9A84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093208" y="5321808"/>
            <a:ext cx="0" cy="201168"/>
          </a:xfrm>
          <a:prstGeom prst="line">
            <a:avLst/>
          </a:prstGeom>
          <a:ln w="13970">
            <a:solidFill>
              <a:srgbClr val="D9A844"/>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2" name="!!arch-note-1"/>
          <p:cNvGrpSpPr/>
          <p:nvPr/>
        </p:nvGrpSpPr>
        <p:grpSpPr>
          <a:xfrm>
            <a:off x="8321040" y="1828800"/>
            <a:ext cx="3081528" cy="1133856"/>
            <a:chOff x="8321040" y="1828800"/>
            <a:chExt cx="3081528" cy="1133856"/>
          </a:xfrm>
        </p:grpSpPr>
        <p:sp>
          <p:nvSpPr>
            <p:cNvPr id="43" name="Rounded Rectangle 42"/>
            <p:cNvSpPr/>
            <p:nvPr/>
          </p:nvSpPr>
          <p:spPr>
            <a:xfrm>
              <a:off x="8321040" y="1828800"/>
              <a:ext cx="3081528" cy="1133856"/>
            </a:xfrm>
            <a:prstGeom prst="roundRect">
              <a:avLst>
                <a:gd name="adj" fmla="val 806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TextBox 43"/>
            <p:cNvSpPr txBox="1"/>
            <p:nvPr/>
          </p:nvSpPr>
          <p:spPr>
            <a:xfrm>
              <a:off x="8503920" y="1956816"/>
              <a:ext cx="320040" cy="219456"/>
            </a:xfrm>
            <a:prstGeom prst="rect">
              <a:avLst/>
            </a:prstGeom>
            <a:noFill/>
          </p:spPr>
          <p:txBody>
            <a:bodyPr wrap="square" lIns="0" rIns="0" tIns="0" bIns="0" anchor="t"/>
            <a:lstStyle/>
            <a:p>
              <a:pPr algn="l">
                <a:lnSpc>
                  <a:spcPct val="100000"/>
                </a:lnSpc>
              </a:pPr>
              <a:r>
                <a:rPr sz="800" b="1" i="0">
                  <a:solidFill>
                    <a:srgbClr val="A76F26"/>
                  </a:solidFill>
                  <a:latin typeface="Consolas"/>
                  <a:ea typeface="Consolas"/>
                  <a:cs typeface="Consolas"/>
                </a:rPr>
                <a:t>01</a:t>
              </a:r>
            </a:p>
          </p:txBody>
        </p:sp>
        <p:sp>
          <p:nvSpPr>
            <p:cNvPr id="45" name="TextBox 44"/>
            <p:cNvSpPr txBox="1"/>
            <p:nvPr/>
          </p:nvSpPr>
          <p:spPr>
            <a:xfrm>
              <a:off x="8823960" y="1938528"/>
              <a:ext cx="2423160" cy="256032"/>
            </a:xfrm>
            <a:prstGeom prst="rect">
              <a:avLst/>
            </a:prstGeom>
            <a:noFill/>
          </p:spPr>
          <p:txBody>
            <a:bodyPr wrap="square" lIns="0" rIns="0" tIns="0" bIns="0" anchor="t"/>
            <a:lstStyle/>
            <a:p>
              <a:pPr algn="l">
                <a:lnSpc>
                  <a:spcPct val="100000"/>
                </a:lnSpc>
              </a:pPr>
              <a:r>
                <a:rPr sz="1040" b="1" i="0">
                  <a:solidFill>
                    <a:srgbClr val="12211B"/>
                  </a:solidFill>
                  <a:latin typeface="Segoe UI"/>
                  <a:ea typeface="Segoe UI"/>
                  <a:cs typeface="Segoe UI"/>
                </a:rPr>
                <a:t>React never chooses storage</a:t>
              </a:r>
            </a:p>
          </p:txBody>
        </p:sp>
        <p:sp>
          <p:nvSpPr>
            <p:cNvPr id="46" name="TextBox 45"/>
            <p:cNvSpPr txBox="1"/>
            <p:nvPr/>
          </p:nvSpPr>
          <p:spPr>
            <a:xfrm>
              <a:off x="8503920" y="2286000"/>
              <a:ext cx="2651760" cy="603504"/>
            </a:xfrm>
            <a:prstGeom prst="rect">
              <a:avLst/>
            </a:prstGeom>
            <a:noFill/>
          </p:spPr>
          <p:txBody>
            <a:bodyPr wrap="square" lIns="0" rIns="0" tIns="0" bIns="0" anchor="t"/>
            <a:lstStyle/>
            <a:p>
              <a:pPr algn="l">
                <a:lnSpc>
                  <a:spcPct val="116000"/>
                </a:lnSpc>
              </a:pPr>
              <a:r>
                <a:rPr sz="900" b="0" i="0">
                  <a:solidFill>
                    <a:srgbClr val="557165"/>
                  </a:solidFill>
                  <a:latin typeface="Segoe UI"/>
                  <a:ea typeface="Segoe UI"/>
                  <a:cs typeface="Segoe UI"/>
                </a:rPr>
                <a:t>Components call services; services call one repository interface.</a:t>
              </a:r>
            </a:p>
          </p:txBody>
        </p:sp>
      </p:grpSp>
      <p:grpSp>
        <p:nvGrpSpPr>
          <p:cNvPr id="47" name="!!arch-note-2"/>
          <p:cNvGrpSpPr/>
          <p:nvPr/>
        </p:nvGrpSpPr>
        <p:grpSpPr>
          <a:xfrm>
            <a:off x="8321040" y="3127248"/>
            <a:ext cx="3081528" cy="1133856"/>
            <a:chOff x="8321040" y="3127248"/>
            <a:chExt cx="3081528" cy="1133856"/>
          </a:xfrm>
        </p:grpSpPr>
        <p:sp>
          <p:nvSpPr>
            <p:cNvPr id="48" name="Rounded Rectangle 47"/>
            <p:cNvSpPr/>
            <p:nvPr/>
          </p:nvSpPr>
          <p:spPr>
            <a:xfrm>
              <a:off x="8321040" y="3127248"/>
              <a:ext cx="3081528" cy="1133856"/>
            </a:xfrm>
            <a:prstGeom prst="roundRect">
              <a:avLst>
                <a:gd name="adj" fmla="val 806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9" name="TextBox 48"/>
            <p:cNvSpPr txBox="1"/>
            <p:nvPr/>
          </p:nvSpPr>
          <p:spPr>
            <a:xfrm>
              <a:off x="8503920" y="3255264"/>
              <a:ext cx="320040" cy="219456"/>
            </a:xfrm>
            <a:prstGeom prst="rect">
              <a:avLst/>
            </a:prstGeom>
            <a:noFill/>
          </p:spPr>
          <p:txBody>
            <a:bodyPr wrap="square" lIns="0" rIns="0" tIns="0" bIns="0" anchor="t"/>
            <a:lstStyle/>
            <a:p>
              <a:pPr algn="l">
                <a:lnSpc>
                  <a:spcPct val="100000"/>
                </a:lnSpc>
              </a:pPr>
              <a:r>
                <a:rPr sz="800" b="1" i="0">
                  <a:solidFill>
                    <a:srgbClr val="A76F26"/>
                  </a:solidFill>
                  <a:latin typeface="Consolas"/>
                  <a:ea typeface="Consolas"/>
                  <a:cs typeface="Consolas"/>
                </a:rPr>
                <a:t>02</a:t>
              </a:r>
            </a:p>
          </p:txBody>
        </p:sp>
        <p:sp>
          <p:nvSpPr>
            <p:cNvPr id="50" name="TextBox 49"/>
            <p:cNvSpPr txBox="1"/>
            <p:nvPr/>
          </p:nvSpPr>
          <p:spPr>
            <a:xfrm>
              <a:off x="8823960" y="3236976"/>
              <a:ext cx="2423160" cy="256032"/>
            </a:xfrm>
            <a:prstGeom prst="rect">
              <a:avLst/>
            </a:prstGeom>
            <a:noFill/>
          </p:spPr>
          <p:txBody>
            <a:bodyPr wrap="square" lIns="0" rIns="0" tIns="0" bIns="0" anchor="t"/>
            <a:lstStyle/>
            <a:p>
              <a:pPr algn="l">
                <a:lnSpc>
                  <a:spcPct val="100000"/>
                </a:lnSpc>
              </a:pPr>
              <a:r>
                <a:rPr sz="1040" b="1" i="0">
                  <a:solidFill>
                    <a:srgbClr val="12211B"/>
                  </a:solidFill>
                  <a:latin typeface="Segoe UI"/>
                  <a:ea typeface="Segoe UI"/>
                  <a:cs typeface="Segoe UI"/>
                </a:rPr>
                <a:t>Two adapters, same interface</a:t>
              </a:r>
            </a:p>
          </p:txBody>
        </p:sp>
        <p:sp>
          <p:nvSpPr>
            <p:cNvPr id="51" name="TextBox 50"/>
            <p:cNvSpPr txBox="1"/>
            <p:nvPr/>
          </p:nvSpPr>
          <p:spPr>
            <a:xfrm>
              <a:off x="8503920" y="3584448"/>
              <a:ext cx="2651760" cy="603504"/>
            </a:xfrm>
            <a:prstGeom prst="rect">
              <a:avLst/>
            </a:prstGeom>
            <a:noFill/>
          </p:spPr>
          <p:txBody>
            <a:bodyPr wrap="square" lIns="0" rIns="0" tIns="0" bIns="0" anchor="t"/>
            <a:lstStyle/>
            <a:p>
              <a:pPr algn="l">
                <a:lnSpc>
                  <a:spcPct val="116000"/>
                </a:lnSpc>
              </a:pPr>
              <a:r>
                <a:rPr sz="900" b="0" i="0">
                  <a:solidFill>
                    <a:srgbClr val="557165"/>
                  </a:solidFill>
                  <a:latin typeface="Segoe UI"/>
                  <a:ea typeface="Segoe UI"/>
                  <a:cs typeface="Segoe UI"/>
                </a:rPr>
                <a:t>IndexedDB today; Supabase is a swap, not a rewrite.</a:t>
              </a:r>
            </a:p>
          </p:txBody>
        </p:sp>
      </p:grpSp>
      <p:grpSp>
        <p:nvGrpSpPr>
          <p:cNvPr id="52" name="!!arch-note-3"/>
          <p:cNvGrpSpPr/>
          <p:nvPr/>
        </p:nvGrpSpPr>
        <p:grpSpPr>
          <a:xfrm>
            <a:off x="8321040" y="4425696"/>
            <a:ext cx="3081528" cy="1133856"/>
            <a:chOff x="8321040" y="4425696"/>
            <a:chExt cx="3081528" cy="1133856"/>
          </a:xfrm>
        </p:grpSpPr>
        <p:sp>
          <p:nvSpPr>
            <p:cNvPr id="53" name="Rounded Rectangle 52"/>
            <p:cNvSpPr/>
            <p:nvPr/>
          </p:nvSpPr>
          <p:spPr>
            <a:xfrm>
              <a:off x="8321040" y="4425696"/>
              <a:ext cx="3081528" cy="1133856"/>
            </a:xfrm>
            <a:prstGeom prst="roundRect">
              <a:avLst>
                <a:gd name="adj" fmla="val 806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4" name="TextBox 53"/>
            <p:cNvSpPr txBox="1"/>
            <p:nvPr/>
          </p:nvSpPr>
          <p:spPr>
            <a:xfrm>
              <a:off x="8503920" y="4553712"/>
              <a:ext cx="320040" cy="219456"/>
            </a:xfrm>
            <a:prstGeom prst="rect">
              <a:avLst/>
            </a:prstGeom>
            <a:noFill/>
          </p:spPr>
          <p:txBody>
            <a:bodyPr wrap="square" lIns="0" rIns="0" tIns="0" bIns="0" anchor="t"/>
            <a:lstStyle/>
            <a:p>
              <a:pPr algn="l">
                <a:lnSpc>
                  <a:spcPct val="100000"/>
                </a:lnSpc>
              </a:pPr>
              <a:r>
                <a:rPr sz="800" b="1" i="0">
                  <a:solidFill>
                    <a:srgbClr val="A76F26"/>
                  </a:solidFill>
                  <a:latin typeface="Consolas"/>
                  <a:ea typeface="Consolas"/>
                  <a:cs typeface="Consolas"/>
                </a:rPr>
                <a:t>03</a:t>
              </a:r>
            </a:p>
          </p:txBody>
        </p:sp>
        <p:sp>
          <p:nvSpPr>
            <p:cNvPr id="55" name="TextBox 54"/>
            <p:cNvSpPr txBox="1"/>
            <p:nvPr/>
          </p:nvSpPr>
          <p:spPr>
            <a:xfrm>
              <a:off x="8823960" y="4535424"/>
              <a:ext cx="2423160" cy="256032"/>
            </a:xfrm>
            <a:prstGeom prst="rect">
              <a:avLst/>
            </a:prstGeom>
            <a:noFill/>
          </p:spPr>
          <p:txBody>
            <a:bodyPr wrap="square" lIns="0" rIns="0" tIns="0" bIns="0" anchor="t"/>
            <a:lstStyle/>
            <a:p>
              <a:pPr algn="l">
                <a:lnSpc>
                  <a:spcPct val="100000"/>
                </a:lnSpc>
              </a:pPr>
              <a:r>
                <a:rPr sz="1040" b="1" i="0">
                  <a:solidFill>
                    <a:srgbClr val="12211B"/>
                  </a:solidFill>
                  <a:latin typeface="Segoe UI"/>
                  <a:ea typeface="Segoe UI"/>
                  <a:cs typeface="Segoe UI"/>
                </a:rPr>
                <a:t>Rules outlive the database</a:t>
              </a:r>
            </a:p>
          </p:txBody>
        </p:sp>
        <p:sp>
          <p:nvSpPr>
            <p:cNvPr id="56" name="TextBox 55"/>
            <p:cNvSpPr txBox="1"/>
            <p:nvPr/>
          </p:nvSpPr>
          <p:spPr>
            <a:xfrm>
              <a:off x="8503920" y="4882896"/>
              <a:ext cx="2651760" cy="603504"/>
            </a:xfrm>
            <a:prstGeom prst="rect">
              <a:avLst/>
            </a:prstGeom>
            <a:noFill/>
          </p:spPr>
          <p:txBody>
            <a:bodyPr wrap="square" lIns="0" rIns="0" tIns="0" bIns="0" anchor="t"/>
            <a:lstStyle/>
            <a:p>
              <a:pPr algn="l">
                <a:lnSpc>
                  <a:spcPct val="116000"/>
                </a:lnSpc>
              </a:pPr>
              <a:r>
                <a:rPr sz="900" b="0" i="0">
                  <a:solidFill>
                    <a:srgbClr val="557165"/>
                  </a:solidFill>
                  <a:latin typeface="Segoe UI"/>
                  <a:ea typeface="Segoe UI"/>
                  <a:cs typeface="Segoe UI"/>
                </a:rPr>
                <a:t>Wage arithmetic and hash chaining do not import a storage engine.</a:t>
              </a:r>
            </a:p>
          </p:txBody>
        </p:sp>
      </p:grpSp>
      <p:sp>
        <p:nvSpPr>
          <p:cNvPr id="57" name="TextBox 56"/>
          <p:cNvSpPr txBox="1"/>
          <p:nvPr/>
        </p:nvSpPr>
        <p:spPr>
          <a:xfrm>
            <a:off x="8321040" y="5779008"/>
            <a:ext cx="3081528" cy="457200"/>
          </a:xfrm>
          <a:prstGeom prst="rect">
            <a:avLst/>
          </a:prstGeom>
          <a:noFill/>
        </p:spPr>
        <p:txBody>
          <a:bodyPr wrap="square" lIns="0" rIns="0" tIns="0" bIns="0" anchor="t"/>
          <a:lstStyle/>
          <a:p>
            <a:pPr algn="l">
              <a:lnSpc>
                <a:spcPct val="110000"/>
              </a:lnSpc>
              <a:spcAft>
                <a:spcPts val="0"/>
              </a:spcAft>
            </a:pPr>
            <a:r>
              <a:rPr sz="780" b="0" i="0">
                <a:solidFill>
                  <a:srgbClr val="5F776B"/>
                </a:solidFill>
                <a:latin typeface="Consolas"/>
                <a:ea typeface="Consolas"/>
                <a:cs typeface="Consolas"/>
              </a:rPr>
              <a:t>isLocalDemoMode: true</a:t>
            </a:r>
          </a:p>
          <a:p>
            <a:pPr algn="l">
              <a:lnSpc>
                <a:spcPct val="110000"/>
              </a:lnSpc>
            </a:pPr>
            <a:r>
              <a:rPr sz="780" b="0" i="0">
                <a:solidFill>
                  <a:srgbClr val="5F776B"/>
                </a:solidFill>
                <a:latin typeface="Consolas"/>
                <a:ea typeface="Consolas"/>
                <a:cs typeface="Consolas"/>
              </a:rPr>
              <a:t>isSupabaseConnected: false</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555480" y="-2322576"/>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560320" y="4206240"/>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2238451"/>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2755087"/>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TECHNOLOGY</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02  </a:t>
            </a:r>
            <a:r>
              <a:rPr sz="950" b="1" i="0" spc="140">
                <a:solidFill>
                  <a:srgbClr val="5F776B"/>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Six choices, each with a reason</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11 / 26</a:t>
            </a:r>
          </a:p>
        </p:txBody>
      </p:sp>
      <p:grpSp>
        <p:nvGrpSpPr>
          <p:cNvPr id="14" name="!!tech-1"/>
          <p:cNvGrpSpPr/>
          <p:nvPr/>
        </p:nvGrpSpPr>
        <p:grpSpPr>
          <a:xfrm>
            <a:off x="786384" y="1828800"/>
            <a:ext cx="3404616" cy="1627632"/>
            <a:chOff x="786384" y="1828800"/>
            <a:chExt cx="3404616" cy="1627632"/>
          </a:xfrm>
        </p:grpSpPr>
        <p:sp>
          <p:nvSpPr>
            <p:cNvPr id="15" name="Rounded Rectangle 14"/>
            <p:cNvSpPr/>
            <p:nvPr/>
          </p:nvSpPr>
          <p:spPr>
            <a:xfrm>
              <a:off x="786384" y="1828800"/>
              <a:ext cx="3404616" cy="1627632"/>
            </a:xfrm>
            <a:prstGeom prst="roundRect">
              <a:avLst>
                <a:gd name="adj" fmla="val 786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Oval 15"/>
            <p:cNvSpPr/>
            <p:nvPr/>
          </p:nvSpPr>
          <p:spPr>
            <a:xfrm>
              <a:off x="1024128" y="2048256"/>
              <a:ext cx="457200" cy="457200"/>
            </a:xfrm>
            <a:prstGeom prst="ellipse">
              <a:avLst/>
            </a:prstGeom>
            <a:solidFill>
              <a:srgbClr val="1F5941">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139696"/>
              <a:ext cx="457200" cy="274320"/>
            </a:xfrm>
            <a:prstGeom prst="rect">
              <a:avLst/>
            </a:prstGeom>
            <a:noFill/>
          </p:spPr>
          <p:txBody>
            <a:bodyPr wrap="square" lIns="0" rIns="0" tIns="0" bIns="0" anchor="t"/>
            <a:lstStyle/>
            <a:p>
              <a:pPr algn="ctr">
                <a:lnSpc>
                  <a:spcPct val="100000"/>
                </a:lnSpc>
              </a:pPr>
              <a:r>
                <a:rPr sz="1000" b="1" i="0">
                  <a:solidFill>
                    <a:srgbClr val="1F5941"/>
                  </a:solidFill>
                  <a:latin typeface="Consolas"/>
                  <a:ea typeface="Consolas"/>
                  <a:cs typeface="Consolas"/>
                </a:rPr>
                <a:t>Re</a:t>
              </a:r>
            </a:p>
          </p:txBody>
        </p:sp>
        <p:sp>
          <p:nvSpPr>
            <p:cNvPr id="18" name="TextBox 17"/>
            <p:cNvSpPr txBox="1"/>
            <p:nvPr/>
          </p:nvSpPr>
          <p:spPr>
            <a:xfrm>
              <a:off x="1627632" y="2066543"/>
              <a:ext cx="2380488" cy="274320"/>
            </a:xfrm>
            <a:prstGeom prst="rect">
              <a:avLst/>
            </a:prstGeom>
            <a:noFill/>
          </p:spPr>
          <p:txBody>
            <a:bodyPr wrap="square" lIns="0" rIns="0" tIns="0" bIns="0" anchor="t"/>
            <a:lstStyle/>
            <a:p>
              <a:pPr algn="l">
                <a:lnSpc>
                  <a:spcPct val="100000"/>
                </a:lnSpc>
              </a:pPr>
              <a:r>
                <a:rPr sz="1320" b="1" i="0">
                  <a:solidFill>
                    <a:srgbClr val="12211B"/>
                  </a:solidFill>
                  <a:latin typeface="Georgia"/>
                  <a:ea typeface="Georgia"/>
                  <a:cs typeface="Georgia"/>
                </a:rPr>
                <a:t>React 19</a:t>
              </a:r>
            </a:p>
          </p:txBody>
        </p:sp>
        <p:sp>
          <p:nvSpPr>
            <p:cNvPr id="19" name="TextBox 18"/>
            <p:cNvSpPr txBox="1"/>
            <p:nvPr/>
          </p:nvSpPr>
          <p:spPr>
            <a:xfrm>
              <a:off x="1627632" y="2350008"/>
              <a:ext cx="2380488" cy="201168"/>
            </a:xfrm>
            <a:prstGeom prst="rect">
              <a:avLst/>
            </a:prstGeom>
            <a:noFill/>
          </p:spPr>
          <p:txBody>
            <a:bodyPr wrap="square" lIns="0" rIns="0" tIns="0" bIns="0" anchor="t"/>
            <a:lstStyle/>
            <a:p>
              <a:pPr algn="l">
                <a:lnSpc>
                  <a:spcPct val="100000"/>
                </a:lnSpc>
              </a:pPr>
              <a:r>
                <a:rPr sz="700" b="1" i="0" spc="110">
                  <a:solidFill>
                    <a:srgbClr val="5F776B"/>
                  </a:solidFill>
                  <a:latin typeface="Segoe UI"/>
                  <a:ea typeface="Segoe UI"/>
                  <a:cs typeface="Segoe UI"/>
                </a:rPr>
                <a:t>INTERFACE &amp; STATE</a:t>
              </a:r>
            </a:p>
          </p:txBody>
        </p:sp>
        <p:sp>
          <p:nvSpPr>
            <p:cNvPr id="20" name="TextBox 19"/>
            <p:cNvSpPr txBox="1"/>
            <p:nvPr/>
          </p:nvSpPr>
          <p:spPr>
            <a:xfrm>
              <a:off x="1024128" y="2688336"/>
              <a:ext cx="2947416" cy="658368"/>
            </a:xfrm>
            <a:prstGeom prst="rect">
              <a:avLst/>
            </a:prstGeom>
            <a:noFill/>
          </p:spPr>
          <p:txBody>
            <a:bodyPr wrap="square" lIns="0" rIns="0" tIns="0" bIns="0" anchor="t"/>
            <a:lstStyle/>
            <a:p>
              <a:pPr algn="l">
                <a:lnSpc>
                  <a:spcPct val="118000"/>
                </a:lnSpc>
              </a:pPr>
              <a:r>
                <a:rPr sz="950" b="0" i="0">
                  <a:solidFill>
                    <a:srgbClr val="557165"/>
                  </a:solidFill>
                  <a:latin typeface="Segoe UI"/>
                  <a:ea typeface="Segoe UI"/>
                  <a:cs typeface="Segoe UI"/>
                </a:rPr>
                <a:t>Component model, wide familiarity, lazy-loaded portals.</a:t>
              </a:r>
            </a:p>
          </p:txBody>
        </p:sp>
      </p:grpSp>
      <p:grpSp>
        <p:nvGrpSpPr>
          <p:cNvPr id="21" name="!!tech-2"/>
          <p:cNvGrpSpPr/>
          <p:nvPr/>
        </p:nvGrpSpPr>
        <p:grpSpPr>
          <a:xfrm>
            <a:off x="4392168" y="1828800"/>
            <a:ext cx="3404616" cy="1627632"/>
            <a:chOff x="4392168" y="1828800"/>
            <a:chExt cx="3404616" cy="1627632"/>
          </a:xfrm>
        </p:grpSpPr>
        <p:sp>
          <p:nvSpPr>
            <p:cNvPr id="22" name="Rounded Rectangle 21"/>
            <p:cNvSpPr/>
            <p:nvPr/>
          </p:nvSpPr>
          <p:spPr>
            <a:xfrm>
              <a:off x="4392168" y="1828800"/>
              <a:ext cx="3404616" cy="1627632"/>
            </a:xfrm>
            <a:prstGeom prst="roundRect">
              <a:avLst>
                <a:gd name="adj" fmla="val 786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Oval 22"/>
            <p:cNvSpPr/>
            <p:nvPr/>
          </p:nvSpPr>
          <p:spPr>
            <a:xfrm>
              <a:off x="4629912" y="2048256"/>
              <a:ext cx="457200" cy="457200"/>
            </a:xfrm>
            <a:prstGeom prst="ellipse">
              <a:avLst/>
            </a:prstGeom>
            <a:solidFill>
              <a:srgbClr val="25704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29912" y="2139696"/>
              <a:ext cx="457200" cy="274320"/>
            </a:xfrm>
            <a:prstGeom prst="rect">
              <a:avLst/>
            </a:prstGeom>
            <a:noFill/>
          </p:spPr>
          <p:txBody>
            <a:bodyPr wrap="square" lIns="0" rIns="0" tIns="0" bIns="0" anchor="t"/>
            <a:lstStyle/>
            <a:p>
              <a:pPr algn="ctr">
                <a:lnSpc>
                  <a:spcPct val="100000"/>
                </a:lnSpc>
              </a:pPr>
              <a:r>
                <a:rPr sz="1000" b="1" i="0">
                  <a:solidFill>
                    <a:srgbClr val="25704F"/>
                  </a:solidFill>
                  <a:latin typeface="Consolas"/>
                  <a:ea typeface="Consolas"/>
                  <a:cs typeface="Consolas"/>
                </a:rPr>
                <a:t>TS</a:t>
              </a:r>
            </a:p>
          </p:txBody>
        </p:sp>
        <p:sp>
          <p:nvSpPr>
            <p:cNvPr id="25" name="TextBox 24"/>
            <p:cNvSpPr txBox="1"/>
            <p:nvPr/>
          </p:nvSpPr>
          <p:spPr>
            <a:xfrm>
              <a:off x="5233416" y="2066543"/>
              <a:ext cx="2380488" cy="274320"/>
            </a:xfrm>
            <a:prstGeom prst="rect">
              <a:avLst/>
            </a:prstGeom>
            <a:noFill/>
          </p:spPr>
          <p:txBody>
            <a:bodyPr wrap="square" lIns="0" rIns="0" tIns="0" bIns="0" anchor="t"/>
            <a:lstStyle/>
            <a:p>
              <a:pPr algn="l">
                <a:lnSpc>
                  <a:spcPct val="100000"/>
                </a:lnSpc>
              </a:pPr>
              <a:r>
                <a:rPr sz="1320" b="1" i="0">
                  <a:solidFill>
                    <a:srgbClr val="12211B"/>
                  </a:solidFill>
                  <a:latin typeface="Georgia"/>
                  <a:ea typeface="Georgia"/>
                  <a:cs typeface="Georgia"/>
                </a:rPr>
                <a:t>TypeScript</a:t>
              </a:r>
            </a:p>
          </p:txBody>
        </p:sp>
        <p:sp>
          <p:nvSpPr>
            <p:cNvPr id="26" name="TextBox 25"/>
            <p:cNvSpPr txBox="1"/>
            <p:nvPr/>
          </p:nvSpPr>
          <p:spPr>
            <a:xfrm>
              <a:off x="5233416" y="2350008"/>
              <a:ext cx="2380488" cy="201168"/>
            </a:xfrm>
            <a:prstGeom prst="rect">
              <a:avLst/>
            </a:prstGeom>
            <a:noFill/>
          </p:spPr>
          <p:txBody>
            <a:bodyPr wrap="square" lIns="0" rIns="0" tIns="0" bIns="0" anchor="t"/>
            <a:lstStyle/>
            <a:p>
              <a:pPr algn="l">
                <a:lnSpc>
                  <a:spcPct val="100000"/>
                </a:lnSpc>
              </a:pPr>
              <a:r>
                <a:rPr sz="700" b="1" i="0" spc="110">
                  <a:solidFill>
                    <a:srgbClr val="5F776B"/>
                  </a:solidFill>
                  <a:latin typeface="Segoe UI"/>
                  <a:ea typeface="Segoe UI"/>
                  <a:cs typeface="Segoe UI"/>
                </a:rPr>
                <a:t>TYPED APPLICATION CODE</a:t>
              </a:r>
            </a:p>
          </p:txBody>
        </p:sp>
        <p:sp>
          <p:nvSpPr>
            <p:cNvPr id="27" name="TextBox 26"/>
            <p:cNvSpPr txBox="1"/>
            <p:nvPr/>
          </p:nvSpPr>
          <p:spPr>
            <a:xfrm>
              <a:off x="4629912" y="2688336"/>
              <a:ext cx="2947416" cy="658368"/>
            </a:xfrm>
            <a:prstGeom prst="rect">
              <a:avLst/>
            </a:prstGeom>
            <a:noFill/>
          </p:spPr>
          <p:txBody>
            <a:bodyPr wrap="square" lIns="0" rIns="0" tIns="0" bIns="0" anchor="t"/>
            <a:lstStyle/>
            <a:p>
              <a:pPr algn="l">
                <a:lnSpc>
                  <a:spcPct val="118000"/>
                </a:lnSpc>
              </a:pPr>
              <a:r>
                <a:rPr sz="950" b="0" i="0">
                  <a:solidFill>
                    <a:srgbClr val="557165"/>
                  </a:solidFill>
                  <a:latin typeface="Segoe UI"/>
                  <a:ea typeface="Segoe UI"/>
                  <a:cs typeface="Segoe UI"/>
                </a:rPr>
                <a:t>Wrong field names and shapes fail at compile time, not on a site.</a:t>
              </a:r>
            </a:p>
          </p:txBody>
        </p:sp>
      </p:grpSp>
      <p:grpSp>
        <p:nvGrpSpPr>
          <p:cNvPr id="28" name="!!tech-3"/>
          <p:cNvGrpSpPr/>
          <p:nvPr/>
        </p:nvGrpSpPr>
        <p:grpSpPr>
          <a:xfrm>
            <a:off x="7997952" y="1828800"/>
            <a:ext cx="3404616" cy="1627632"/>
            <a:chOff x="7997952" y="1828800"/>
            <a:chExt cx="3404616" cy="1627632"/>
          </a:xfrm>
        </p:grpSpPr>
        <p:sp>
          <p:nvSpPr>
            <p:cNvPr id="29" name="Rounded Rectangle 28"/>
            <p:cNvSpPr/>
            <p:nvPr/>
          </p:nvSpPr>
          <p:spPr>
            <a:xfrm>
              <a:off x="7997952" y="1828800"/>
              <a:ext cx="3404616" cy="1627632"/>
            </a:xfrm>
            <a:prstGeom prst="roundRect">
              <a:avLst>
                <a:gd name="adj" fmla="val 786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Oval 29"/>
            <p:cNvSpPr/>
            <p:nvPr/>
          </p:nvSpPr>
          <p:spPr>
            <a:xfrm>
              <a:off x="8235696" y="2048256"/>
              <a:ext cx="457200" cy="457200"/>
            </a:xfrm>
            <a:prstGeom prst="ellipse">
              <a:avLst/>
            </a:prstGeom>
            <a:solidFill>
              <a:srgbClr val="A76F26">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35696" y="2139696"/>
              <a:ext cx="457200" cy="274320"/>
            </a:xfrm>
            <a:prstGeom prst="rect">
              <a:avLst/>
            </a:prstGeom>
            <a:noFill/>
          </p:spPr>
          <p:txBody>
            <a:bodyPr wrap="square" lIns="0" rIns="0" tIns="0" bIns="0" anchor="t"/>
            <a:lstStyle/>
            <a:p>
              <a:pPr algn="ctr">
                <a:lnSpc>
                  <a:spcPct val="100000"/>
                </a:lnSpc>
              </a:pPr>
              <a:r>
                <a:rPr sz="1000" b="1" i="0">
                  <a:solidFill>
                    <a:srgbClr val="A76F26"/>
                  </a:solidFill>
                  <a:latin typeface="Consolas"/>
                  <a:ea typeface="Consolas"/>
                  <a:cs typeface="Consolas"/>
                </a:rPr>
                <a:t>Vi</a:t>
              </a:r>
            </a:p>
          </p:txBody>
        </p:sp>
        <p:sp>
          <p:nvSpPr>
            <p:cNvPr id="32" name="TextBox 31"/>
            <p:cNvSpPr txBox="1"/>
            <p:nvPr/>
          </p:nvSpPr>
          <p:spPr>
            <a:xfrm>
              <a:off x="8839200" y="2066543"/>
              <a:ext cx="2380488" cy="274320"/>
            </a:xfrm>
            <a:prstGeom prst="rect">
              <a:avLst/>
            </a:prstGeom>
            <a:noFill/>
          </p:spPr>
          <p:txBody>
            <a:bodyPr wrap="square" lIns="0" rIns="0" tIns="0" bIns="0" anchor="t"/>
            <a:lstStyle/>
            <a:p>
              <a:pPr algn="l">
                <a:lnSpc>
                  <a:spcPct val="100000"/>
                </a:lnSpc>
              </a:pPr>
              <a:r>
                <a:rPr sz="1320" b="1" i="0">
                  <a:solidFill>
                    <a:srgbClr val="12211B"/>
                  </a:solidFill>
                  <a:latin typeface="Georgia"/>
                  <a:ea typeface="Georgia"/>
                  <a:cs typeface="Georgia"/>
                </a:rPr>
                <a:t>Vite</a:t>
              </a:r>
            </a:p>
          </p:txBody>
        </p:sp>
        <p:sp>
          <p:nvSpPr>
            <p:cNvPr id="33" name="TextBox 32"/>
            <p:cNvSpPr txBox="1"/>
            <p:nvPr/>
          </p:nvSpPr>
          <p:spPr>
            <a:xfrm>
              <a:off x="8839200" y="2350008"/>
              <a:ext cx="2380488" cy="201168"/>
            </a:xfrm>
            <a:prstGeom prst="rect">
              <a:avLst/>
            </a:prstGeom>
            <a:noFill/>
          </p:spPr>
          <p:txBody>
            <a:bodyPr wrap="square" lIns="0" rIns="0" tIns="0" bIns="0" anchor="t"/>
            <a:lstStyle/>
            <a:p>
              <a:pPr algn="l">
                <a:lnSpc>
                  <a:spcPct val="100000"/>
                </a:lnSpc>
              </a:pPr>
              <a:r>
                <a:rPr sz="700" b="1" i="0" spc="110">
                  <a:solidFill>
                    <a:srgbClr val="5F776B"/>
                  </a:solidFill>
                  <a:latin typeface="Segoe UI"/>
                  <a:ea typeface="Segoe UI"/>
                  <a:cs typeface="Segoe UI"/>
                </a:rPr>
                <a:t>DEV SERVER &amp; BUILD</a:t>
              </a:r>
            </a:p>
          </p:txBody>
        </p:sp>
        <p:sp>
          <p:nvSpPr>
            <p:cNvPr id="34" name="TextBox 33"/>
            <p:cNvSpPr txBox="1"/>
            <p:nvPr/>
          </p:nvSpPr>
          <p:spPr>
            <a:xfrm>
              <a:off x="8235696" y="2688336"/>
              <a:ext cx="2947416" cy="658368"/>
            </a:xfrm>
            <a:prstGeom prst="rect">
              <a:avLst/>
            </a:prstGeom>
            <a:noFill/>
          </p:spPr>
          <p:txBody>
            <a:bodyPr wrap="square" lIns="0" rIns="0" tIns="0" bIns="0" anchor="t"/>
            <a:lstStyle/>
            <a:p>
              <a:pPr algn="l">
                <a:lnSpc>
                  <a:spcPct val="118000"/>
                </a:lnSpc>
              </a:pPr>
              <a:r>
                <a:rPr sz="950" b="0" i="0">
                  <a:solidFill>
                    <a:srgbClr val="557165"/>
                  </a:solidFill>
                  <a:latin typeface="Segoe UI"/>
                  <a:ea typeface="Segoe UI"/>
                  <a:cs typeface="Segoe UI"/>
                </a:rPr>
                <a:t>Fast feedback while iterating; a small production bundle.</a:t>
              </a:r>
            </a:p>
          </p:txBody>
        </p:sp>
      </p:grpSp>
      <p:grpSp>
        <p:nvGrpSpPr>
          <p:cNvPr id="35" name="!!tech-4"/>
          <p:cNvGrpSpPr/>
          <p:nvPr/>
        </p:nvGrpSpPr>
        <p:grpSpPr>
          <a:xfrm>
            <a:off x="786384" y="3639312"/>
            <a:ext cx="3404616" cy="1627632"/>
            <a:chOff x="786384" y="3639312"/>
            <a:chExt cx="3404616" cy="1627632"/>
          </a:xfrm>
        </p:grpSpPr>
        <p:sp>
          <p:nvSpPr>
            <p:cNvPr id="36" name="Rounded Rectangle 35"/>
            <p:cNvSpPr/>
            <p:nvPr/>
          </p:nvSpPr>
          <p:spPr>
            <a:xfrm>
              <a:off x="786384" y="3639312"/>
              <a:ext cx="3404616" cy="1627632"/>
            </a:xfrm>
            <a:prstGeom prst="roundRect">
              <a:avLst>
                <a:gd name="adj" fmla="val 786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Oval 36"/>
            <p:cNvSpPr/>
            <p:nvPr/>
          </p:nvSpPr>
          <p:spPr>
            <a:xfrm>
              <a:off x="1024128" y="3858768"/>
              <a:ext cx="457200" cy="457200"/>
            </a:xfrm>
            <a:prstGeom prst="ellipse">
              <a:avLst/>
            </a:prstGeom>
            <a:solidFill>
              <a:srgbClr val="358B62">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4128" y="3950208"/>
              <a:ext cx="457200" cy="274320"/>
            </a:xfrm>
            <a:prstGeom prst="rect">
              <a:avLst/>
            </a:prstGeom>
            <a:noFill/>
          </p:spPr>
          <p:txBody>
            <a:bodyPr wrap="square" lIns="0" rIns="0" tIns="0" bIns="0" anchor="t"/>
            <a:lstStyle/>
            <a:p>
              <a:pPr algn="ctr">
                <a:lnSpc>
                  <a:spcPct val="100000"/>
                </a:lnSpc>
              </a:pPr>
              <a:r>
                <a:rPr sz="1000" b="1" i="0">
                  <a:solidFill>
                    <a:srgbClr val="358B62"/>
                  </a:solidFill>
                  <a:latin typeface="Consolas"/>
                  <a:ea typeface="Consolas"/>
                  <a:cs typeface="Consolas"/>
                </a:rPr>
                <a:t>ID</a:t>
              </a:r>
            </a:p>
          </p:txBody>
        </p:sp>
        <p:sp>
          <p:nvSpPr>
            <p:cNvPr id="39" name="TextBox 38"/>
            <p:cNvSpPr txBox="1"/>
            <p:nvPr/>
          </p:nvSpPr>
          <p:spPr>
            <a:xfrm>
              <a:off x="1627632" y="3877056"/>
              <a:ext cx="2380488" cy="274320"/>
            </a:xfrm>
            <a:prstGeom prst="rect">
              <a:avLst/>
            </a:prstGeom>
            <a:noFill/>
          </p:spPr>
          <p:txBody>
            <a:bodyPr wrap="square" lIns="0" rIns="0" tIns="0" bIns="0" anchor="t"/>
            <a:lstStyle/>
            <a:p>
              <a:pPr algn="l">
                <a:lnSpc>
                  <a:spcPct val="100000"/>
                </a:lnSpc>
              </a:pPr>
              <a:r>
                <a:rPr sz="1320" b="1" i="0">
                  <a:solidFill>
                    <a:srgbClr val="12211B"/>
                  </a:solidFill>
                  <a:latin typeface="Georgia"/>
                  <a:ea typeface="Georgia"/>
                  <a:cs typeface="Georgia"/>
                </a:rPr>
                <a:t>IndexedDB</a:t>
              </a:r>
            </a:p>
          </p:txBody>
        </p:sp>
        <p:sp>
          <p:nvSpPr>
            <p:cNvPr id="40" name="TextBox 39"/>
            <p:cNvSpPr txBox="1"/>
            <p:nvPr/>
          </p:nvSpPr>
          <p:spPr>
            <a:xfrm>
              <a:off x="1627632" y="4160520"/>
              <a:ext cx="2380488" cy="201168"/>
            </a:xfrm>
            <a:prstGeom prst="rect">
              <a:avLst/>
            </a:prstGeom>
            <a:noFill/>
          </p:spPr>
          <p:txBody>
            <a:bodyPr wrap="square" lIns="0" rIns="0" tIns="0" bIns="0" anchor="t"/>
            <a:lstStyle/>
            <a:p>
              <a:pPr algn="l">
                <a:lnSpc>
                  <a:spcPct val="100000"/>
                </a:lnSpc>
              </a:pPr>
              <a:r>
                <a:rPr sz="700" b="1" i="0" spc="110">
                  <a:solidFill>
                    <a:srgbClr val="5F776B"/>
                  </a:solidFill>
                  <a:latin typeface="Segoe UI"/>
                  <a:ea typeface="Segoe UI"/>
                  <a:cs typeface="Segoe UI"/>
                </a:rPr>
                <a:t>LOCAL STRUCTURED STORE</a:t>
              </a:r>
            </a:p>
          </p:txBody>
        </p:sp>
        <p:sp>
          <p:nvSpPr>
            <p:cNvPr id="41" name="TextBox 40"/>
            <p:cNvSpPr txBox="1"/>
            <p:nvPr/>
          </p:nvSpPr>
          <p:spPr>
            <a:xfrm>
              <a:off x="1024128" y="4498848"/>
              <a:ext cx="2947416" cy="658368"/>
            </a:xfrm>
            <a:prstGeom prst="rect">
              <a:avLst/>
            </a:prstGeom>
            <a:noFill/>
          </p:spPr>
          <p:txBody>
            <a:bodyPr wrap="square" lIns="0" rIns="0" tIns="0" bIns="0" anchor="t"/>
            <a:lstStyle/>
            <a:p>
              <a:pPr algn="l">
                <a:lnSpc>
                  <a:spcPct val="118000"/>
                </a:lnSpc>
              </a:pPr>
              <a:r>
                <a:rPr sz="950" b="0" i="0">
                  <a:solidFill>
                    <a:srgbClr val="557165"/>
                  </a:solidFill>
                  <a:latin typeface="Segoe UI"/>
                  <a:ea typeface="Segoe UI"/>
                  <a:cs typeface="Segoe UI"/>
                </a:rPr>
                <a:t>Offline, indexed, far larger than localStorage.</a:t>
              </a:r>
            </a:p>
          </p:txBody>
        </p:sp>
      </p:grpSp>
      <p:grpSp>
        <p:nvGrpSpPr>
          <p:cNvPr id="42" name="!!tech-5"/>
          <p:cNvGrpSpPr/>
          <p:nvPr/>
        </p:nvGrpSpPr>
        <p:grpSpPr>
          <a:xfrm>
            <a:off x="4392168" y="3639312"/>
            <a:ext cx="3404616" cy="1627632"/>
            <a:chOff x="4392168" y="3639312"/>
            <a:chExt cx="3404616" cy="1627632"/>
          </a:xfrm>
        </p:grpSpPr>
        <p:sp>
          <p:nvSpPr>
            <p:cNvPr id="43" name="Rounded Rectangle 42"/>
            <p:cNvSpPr/>
            <p:nvPr/>
          </p:nvSpPr>
          <p:spPr>
            <a:xfrm>
              <a:off x="4392168" y="3639312"/>
              <a:ext cx="3404616" cy="1627632"/>
            </a:xfrm>
            <a:prstGeom prst="roundRect">
              <a:avLst>
                <a:gd name="adj" fmla="val 786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Oval 43"/>
            <p:cNvSpPr/>
            <p:nvPr/>
          </p:nvSpPr>
          <p:spPr>
            <a:xfrm>
              <a:off x="4629912" y="3858768"/>
              <a:ext cx="457200" cy="457200"/>
            </a:xfrm>
            <a:prstGeom prst="ellipse">
              <a:avLst/>
            </a:prstGeom>
            <a:solidFill>
              <a:srgbClr val="B4482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29912" y="3950208"/>
              <a:ext cx="457200" cy="274320"/>
            </a:xfrm>
            <a:prstGeom prst="rect">
              <a:avLst/>
            </a:prstGeom>
            <a:noFill/>
          </p:spPr>
          <p:txBody>
            <a:bodyPr wrap="square" lIns="0" rIns="0" tIns="0" bIns="0" anchor="t"/>
            <a:lstStyle/>
            <a:p>
              <a:pPr algn="ctr">
                <a:lnSpc>
                  <a:spcPct val="100000"/>
                </a:lnSpc>
              </a:pPr>
              <a:r>
                <a:rPr sz="1000" b="1" i="0">
                  <a:solidFill>
                    <a:srgbClr val="B4482F"/>
                  </a:solidFill>
                  <a:latin typeface="Consolas"/>
                  <a:ea typeface="Consolas"/>
                  <a:cs typeface="Consolas"/>
                </a:rPr>
                <a:t>SH</a:t>
              </a:r>
            </a:p>
          </p:txBody>
        </p:sp>
        <p:sp>
          <p:nvSpPr>
            <p:cNvPr id="46" name="TextBox 45"/>
            <p:cNvSpPr txBox="1"/>
            <p:nvPr/>
          </p:nvSpPr>
          <p:spPr>
            <a:xfrm>
              <a:off x="5233416" y="3877056"/>
              <a:ext cx="2380488" cy="274320"/>
            </a:xfrm>
            <a:prstGeom prst="rect">
              <a:avLst/>
            </a:prstGeom>
            <a:noFill/>
          </p:spPr>
          <p:txBody>
            <a:bodyPr wrap="square" lIns="0" rIns="0" tIns="0" bIns="0" anchor="t"/>
            <a:lstStyle/>
            <a:p>
              <a:pPr algn="l">
                <a:lnSpc>
                  <a:spcPct val="100000"/>
                </a:lnSpc>
              </a:pPr>
              <a:r>
                <a:rPr sz="1320" b="1" i="0">
                  <a:solidFill>
                    <a:srgbClr val="12211B"/>
                  </a:solidFill>
                  <a:latin typeface="Georgia"/>
                  <a:ea typeface="Georgia"/>
                  <a:cs typeface="Georgia"/>
                </a:rPr>
                <a:t>Web Crypto</a:t>
              </a:r>
            </a:p>
          </p:txBody>
        </p:sp>
        <p:sp>
          <p:nvSpPr>
            <p:cNvPr id="47" name="TextBox 46"/>
            <p:cNvSpPr txBox="1"/>
            <p:nvPr/>
          </p:nvSpPr>
          <p:spPr>
            <a:xfrm>
              <a:off x="5233416" y="4160520"/>
              <a:ext cx="2380488" cy="201168"/>
            </a:xfrm>
            <a:prstGeom prst="rect">
              <a:avLst/>
            </a:prstGeom>
            <a:noFill/>
          </p:spPr>
          <p:txBody>
            <a:bodyPr wrap="square" lIns="0" rIns="0" tIns="0" bIns="0" anchor="t"/>
            <a:lstStyle/>
            <a:p>
              <a:pPr algn="l">
                <a:lnSpc>
                  <a:spcPct val="100000"/>
                </a:lnSpc>
              </a:pPr>
              <a:r>
                <a:rPr sz="700" b="1" i="0" spc="110">
                  <a:solidFill>
                    <a:srgbClr val="5F776B"/>
                  </a:solidFill>
                  <a:latin typeface="Segoe UI"/>
                  <a:ea typeface="Segoe UI"/>
                  <a:cs typeface="Segoe UI"/>
                </a:rPr>
                <a:t>SHA-256 DIGESTS</a:t>
              </a:r>
            </a:p>
          </p:txBody>
        </p:sp>
        <p:sp>
          <p:nvSpPr>
            <p:cNvPr id="48" name="TextBox 47"/>
            <p:cNvSpPr txBox="1"/>
            <p:nvPr/>
          </p:nvSpPr>
          <p:spPr>
            <a:xfrm>
              <a:off x="4629912" y="4498848"/>
              <a:ext cx="2947416" cy="658368"/>
            </a:xfrm>
            <a:prstGeom prst="rect">
              <a:avLst/>
            </a:prstGeom>
            <a:noFill/>
          </p:spPr>
          <p:txBody>
            <a:bodyPr wrap="square" lIns="0" rIns="0" tIns="0" bIns="0" anchor="t"/>
            <a:lstStyle/>
            <a:p>
              <a:pPr algn="l">
                <a:lnSpc>
                  <a:spcPct val="118000"/>
                </a:lnSpc>
              </a:pPr>
              <a:r>
                <a:rPr sz="950" b="0" i="0">
                  <a:solidFill>
                    <a:srgbClr val="557165"/>
                  </a:solidFill>
                  <a:latin typeface="Segoe UI"/>
                  <a:ea typeface="Segoe UI"/>
                  <a:cs typeface="Segoe UI"/>
                </a:rPr>
                <a:t>Native browser API — no library, no dependency risk.</a:t>
              </a:r>
            </a:p>
          </p:txBody>
        </p:sp>
      </p:grpSp>
      <p:grpSp>
        <p:nvGrpSpPr>
          <p:cNvPr id="49" name="!!tech-6"/>
          <p:cNvGrpSpPr/>
          <p:nvPr/>
        </p:nvGrpSpPr>
        <p:grpSpPr>
          <a:xfrm>
            <a:off x="7997952" y="3639312"/>
            <a:ext cx="3404616" cy="1627632"/>
            <a:chOff x="7997952" y="3639312"/>
            <a:chExt cx="3404616" cy="1627632"/>
          </a:xfrm>
        </p:grpSpPr>
        <p:sp>
          <p:nvSpPr>
            <p:cNvPr id="50" name="Rounded Rectangle 49"/>
            <p:cNvSpPr/>
            <p:nvPr/>
          </p:nvSpPr>
          <p:spPr>
            <a:xfrm>
              <a:off x="7997952" y="3639312"/>
              <a:ext cx="3404616" cy="1627632"/>
            </a:xfrm>
            <a:prstGeom prst="roundRect">
              <a:avLst>
                <a:gd name="adj" fmla="val 786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1" name="Oval 50"/>
            <p:cNvSpPr/>
            <p:nvPr/>
          </p:nvSpPr>
          <p:spPr>
            <a:xfrm>
              <a:off x="8235696" y="3858768"/>
              <a:ext cx="457200" cy="457200"/>
            </a:xfrm>
            <a:prstGeom prst="ellipse">
              <a:avLst/>
            </a:prstGeom>
            <a:solidFill>
              <a:srgbClr val="C68D2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35696" y="3950208"/>
              <a:ext cx="457200" cy="274320"/>
            </a:xfrm>
            <a:prstGeom prst="rect">
              <a:avLst/>
            </a:prstGeom>
            <a:noFill/>
          </p:spPr>
          <p:txBody>
            <a:bodyPr wrap="square" lIns="0" rIns="0" tIns="0" bIns="0" anchor="t"/>
            <a:lstStyle/>
            <a:p>
              <a:pPr algn="ctr">
                <a:lnSpc>
                  <a:spcPct val="100000"/>
                </a:lnSpc>
              </a:pPr>
              <a:r>
                <a:rPr sz="1000" b="1" i="0">
                  <a:solidFill>
                    <a:srgbClr val="C68D2F"/>
                  </a:solidFill>
                  <a:latin typeface="Consolas"/>
                  <a:ea typeface="Consolas"/>
                  <a:cs typeface="Consolas"/>
                </a:rPr>
                <a:t>QR</a:t>
              </a:r>
            </a:p>
          </p:txBody>
        </p:sp>
        <p:sp>
          <p:nvSpPr>
            <p:cNvPr id="53" name="TextBox 52"/>
            <p:cNvSpPr txBox="1"/>
            <p:nvPr/>
          </p:nvSpPr>
          <p:spPr>
            <a:xfrm>
              <a:off x="8839200" y="3877056"/>
              <a:ext cx="2380488" cy="274320"/>
            </a:xfrm>
            <a:prstGeom prst="rect">
              <a:avLst/>
            </a:prstGeom>
            <a:noFill/>
          </p:spPr>
          <p:txBody>
            <a:bodyPr wrap="square" lIns="0" rIns="0" tIns="0" bIns="0" anchor="t"/>
            <a:lstStyle/>
            <a:p>
              <a:pPr algn="l">
                <a:lnSpc>
                  <a:spcPct val="100000"/>
                </a:lnSpc>
              </a:pPr>
              <a:r>
                <a:rPr sz="1320" b="1" i="0">
                  <a:solidFill>
                    <a:srgbClr val="12211B"/>
                  </a:solidFill>
                  <a:latin typeface="Georgia"/>
                  <a:ea typeface="Georgia"/>
                  <a:cs typeface="Georgia"/>
                </a:rPr>
                <a:t>QR encode</a:t>
              </a:r>
            </a:p>
          </p:txBody>
        </p:sp>
        <p:sp>
          <p:nvSpPr>
            <p:cNvPr id="54" name="TextBox 53"/>
            <p:cNvSpPr txBox="1"/>
            <p:nvPr/>
          </p:nvSpPr>
          <p:spPr>
            <a:xfrm>
              <a:off x="8839200" y="4160520"/>
              <a:ext cx="2380488" cy="201168"/>
            </a:xfrm>
            <a:prstGeom prst="rect">
              <a:avLst/>
            </a:prstGeom>
            <a:noFill/>
          </p:spPr>
          <p:txBody>
            <a:bodyPr wrap="square" lIns="0" rIns="0" tIns="0" bIns="0" anchor="t"/>
            <a:lstStyle/>
            <a:p>
              <a:pPr algn="l">
                <a:lnSpc>
                  <a:spcPct val="100000"/>
                </a:lnSpc>
              </a:pPr>
              <a:r>
                <a:rPr sz="700" b="1" i="0" spc="110">
                  <a:solidFill>
                    <a:srgbClr val="5F776B"/>
                  </a:solidFill>
                  <a:latin typeface="Segoe UI"/>
                  <a:ea typeface="Segoe UI"/>
                  <a:cs typeface="Segoe UI"/>
                </a:rPr>
                <a:t>WORKER REFERENCE</a:t>
              </a:r>
            </a:p>
          </p:txBody>
        </p:sp>
        <p:sp>
          <p:nvSpPr>
            <p:cNvPr id="55" name="TextBox 54"/>
            <p:cNvSpPr txBox="1"/>
            <p:nvPr/>
          </p:nvSpPr>
          <p:spPr>
            <a:xfrm>
              <a:off x="8235696" y="4498848"/>
              <a:ext cx="2947416" cy="658368"/>
            </a:xfrm>
            <a:prstGeom prst="rect">
              <a:avLst/>
            </a:prstGeom>
            <a:noFill/>
          </p:spPr>
          <p:txBody>
            <a:bodyPr wrap="square" lIns="0" rIns="0" tIns="0" bIns="0" anchor="t"/>
            <a:lstStyle/>
            <a:p>
              <a:pPr algn="l">
                <a:lnSpc>
                  <a:spcPct val="118000"/>
                </a:lnSpc>
              </a:pPr>
              <a:r>
                <a:rPr sz="950" b="0" i="0">
                  <a:solidFill>
                    <a:srgbClr val="557165"/>
                  </a:solidFill>
                  <a:latin typeface="Segoe UI"/>
                  <a:ea typeface="Segoe UI"/>
                  <a:cs typeface="Segoe UI"/>
                </a:rPr>
                <a:t>A printed identifier needs no reader hardware.</a:t>
              </a:r>
            </a:p>
          </p:txBody>
        </p:sp>
      </p:grpSp>
      <p:sp>
        <p:nvSpPr>
          <p:cNvPr id="56" name="TextBox 55"/>
          <p:cNvSpPr txBox="1"/>
          <p:nvPr/>
        </p:nvSpPr>
        <p:spPr>
          <a:xfrm>
            <a:off x="786384" y="5669280"/>
            <a:ext cx="10616184" cy="274320"/>
          </a:xfrm>
          <a:prstGeom prst="rect">
            <a:avLst/>
          </a:prstGeom>
          <a:noFill/>
        </p:spPr>
        <p:txBody>
          <a:bodyPr wrap="square" lIns="0" rIns="0" tIns="0" bIns="0" anchor="t"/>
          <a:lstStyle/>
          <a:p>
            <a:pPr algn="l">
              <a:lnSpc>
                <a:spcPct val="100000"/>
              </a:lnSpc>
            </a:pPr>
            <a:r>
              <a:rPr sz="960" b="0" i="1">
                <a:solidFill>
                  <a:srgbClr val="5F776B"/>
                </a:solidFill>
                <a:latin typeface="Segoe UI"/>
                <a:ea typeface="Segoe UI"/>
                <a:cs typeface="Segoe UI"/>
              </a:rPr>
              <a:t>Every dependency is open source and free. No licence cost, no vendor lock-in, and the whole app builds to a single offline HTML file for an exhibition desk.</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10058400" y="-2066543"/>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286000" y="4526279"/>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2462296"/>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2978932"/>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DATA MODEL</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02  </a:t>
            </a:r>
            <a:r>
              <a:rPr sz="950" b="1" i="0" spc="140">
                <a:solidFill>
                  <a:srgbClr val="5F776B"/>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Seven entities, one work record</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12 / 26</a:t>
            </a:r>
          </a:p>
        </p:txBody>
      </p:sp>
      <p:cxnSp>
        <p:nvCxnSpPr>
          <p:cNvPr id="14" name="!!link-worker"/>
          <p:cNvCxnSpPr/>
          <p:nvPr/>
        </p:nvCxnSpPr>
        <p:spPr>
          <a:xfrm>
            <a:off x="3163824" y="2885660"/>
            <a:ext cx="1073586" cy="335122"/>
          </a:xfrm>
          <a:prstGeom prst="line">
            <a:avLst/>
          </a:prstGeom>
          <a:ln w="1143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link-contractor"/>
          <p:cNvCxnSpPr/>
          <p:nvPr/>
        </p:nvCxnSpPr>
        <p:spPr>
          <a:xfrm flipH="1">
            <a:off x="7915004" y="2887861"/>
            <a:ext cx="1082692" cy="336091"/>
          </a:xfrm>
          <a:prstGeom prst="line">
            <a:avLst/>
          </a:prstGeom>
          <a:ln w="1143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link-payment"/>
          <p:cNvCxnSpPr/>
          <p:nvPr/>
        </p:nvCxnSpPr>
        <p:spPr>
          <a:xfrm flipV="1">
            <a:off x="3163824" y="3831733"/>
            <a:ext cx="1069864" cy="21469"/>
          </a:xfrm>
          <a:prstGeom prst="line">
            <a:avLst/>
          </a:prstGeom>
          <a:ln w="1143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link-correction"/>
          <p:cNvCxnSpPr/>
          <p:nvPr/>
        </p:nvCxnSpPr>
        <p:spPr>
          <a:xfrm flipH="1" flipV="1">
            <a:off x="7918679" y="3839698"/>
            <a:ext cx="1079017" cy="26318"/>
          </a:xfrm>
          <a:prstGeom prst="line">
            <a:avLst/>
          </a:prstGeom>
          <a:ln w="1143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link-dispute"/>
          <p:cNvCxnSpPr/>
          <p:nvPr/>
        </p:nvCxnSpPr>
        <p:spPr>
          <a:xfrm flipV="1">
            <a:off x="3163824" y="4409564"/>
            <a:ext cx="1074097" cy="359230"/>
          </a:xfrm>
          <a:prstGeom prst="line">
            <a:avLst/>
          </a:prstGeom>
          <a:ln w="1143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link-anomaly"/>
          <p:cNvCxnSpPr/>
          <p:nvPr/>
        </p:nvCxnSpPr>
        <p:spPr>
          <a:xfrm flipH="1" flipV="1">
            <a:off x="7914446" y="4410230"/>
            <a:ext cx="1083250" cy="362684"/>
          </a:xfrm>
          <a:prstGeom prst="line">
            <a:avLst/>
          </a:prstGeom>
          <a:ln w="1143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link-approval"/>
          <p:cNvCxnSpPr/>
          <p:nvPr/>
        </p:nvCxnSpPr>
        <p:spPr>
          <a:xfrm flipV="1">
            <a:off x="6076188" y="4782312"/>
            <a:ext cx="0" cy="265176"/>
          </a:xfrm>
          <a:prstGeom prst="line">
            <a:avLst/>
          </a:prstGeom>
          <a:ln w="1143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entity-core"/>
          <p:cNvSpPr/>
          <p:nvPr/>
        </p:nvSpPr>
        <p:spPr>
          <a:xfrm>
            <a:off x="4315968" y="2889504"/>
            <a:ext cx="3520440" cy="1810512"/>
          </a:xfrm>
          <a:prstGeom prst="roundRect">
            <a:avLst>
              <a:gd name="adj" fmla="val 6060"/>
            </a:avLst>
          </a:prstGeom>
          <a:solidFill>
            <a:srgbClr val="0A2219"/>
          </a:solidFill>
          <a:ln>
            <a:noFill/>
          </a:ln>
          <a:effectLst>
            <a:outerShdw blurRad="228600" dist="76200" dir="5400000" rotWithShape="0">
              <a:srgbClr val="0A2219">
                <a:alpha val="16000"/>
              </a:srgbClr>
            </a:outerShdw>
          </a:effectLst>
          <a:sp3d>
            <a:bevelT w="25400" h="2540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4553712" y="3054096"/>
            <a:ext cx="3063240" cy="274320"/>
          </a:xfrm>
          <a:prstGeom prst="rect">
            <a:avLst/>
          </a:prstGeom>
          <a:noFill/>
        </p:spPr>
        <p:txBody>
          <a:bodyPr wrap="square" lIns="0" rIns="0" tIns="0" bIns="0" anchor="t"/>
          <a:lstStyle/>
          <a:p>
            <a:pPr algn="l">
              <a:lnSpc>
                <a:spcPct val="100000"/>
              </a:lnSpc>
            </a:pPr>
            <a:r>
              <a:rPr sz="1300" b="1" i="0" spc="120">
                <a:solidFill>
                  <a:srgbClr val="E5C068"/>
                </a:solidFill>
                <a:latin typeface="Consolas"/>
                <a:ea typeface="Consolas"/>
                <a:cs typeface="Consolas"/>
              </a:rPr>
              <a:t>WORK RECORD</a:t>
            </a:r>
          </a:p>
        </p:txBody>
      </p:sp>
      <p:sp>
        <p:nvSpPr>
          <p:cNvPr id="23" name="TextBox 22"/>
          <p:cNvSpPr txBox="1"/>
          <p:nvPr/>
        </p:nvSpPr>
        <p:spPr>
          <a:xfrm>
            <a:off x="4553712" y="3364992"/>
            <a:ext cx="3063240" cy="1188720"/>
          </a:xfrm>
          <a:prstGeom prst="rect">
            <a:avLst/>
          </a:prstGeom>
          <a:noFill/>
        </p:spPr>
        <p:txBody>
          <a:bodyPr wrap="square" lIns="0" rIns="0" tIns="0" bIns="0" anchor="t"/>
          <a:lstStyle/>
          <a:p>
            <a:pPr algn="l">
              <a:lnSpc>
                <a:spcPct val="134000"/>
              </a:lnSpc>
              <a:spcAft>
                <a:spcPts val="0"/>
              </a:spcAft>
            </a:pPr>
            <a:r>
              <a:rPr sz="919" b="0" i="0">
                <a:solidFill>
                  <a:srgbClr val="F0E9DA"/>
                </a:solidFill>
                <a:latin typeface="Consolas"/>
                <a:ea typeface="Consolas"/>
                <a:cs typeface="Consolas"/>
              </a:rPr>
              <a:t>date · shift start/end · site</a:t>
            </a:r>
          </a:p>
          <a:p>
            <a:pPr algn="l">
              <a:lnSpc>
                <a:spcPct val="134000"/>
              </a:lnSpc>
              <a:spcAft>
                <a:spcPts val="0"/>
              </a:spcAft>
            </a:pPr>
            <a:r>
              <a:rPr sz="919" b="0" i="0">
                <a:solidFill>
                  <a:srgbClr val="F0E9DA"/>
                </a:solidFill>
                <a:latin typeface="Consolas"/>
                <a:ea typeface="Consolas"/>
                <a:cs typeface="Consolas"/>
              </a:rPr>
              <a:t>agreed rate · days · hours · OT</a:t>
            </a:r>
          </a:p>
          <a:p>
            <a:pPr algn="l">
              <a:lnSpc>
                <a:spcPct val="134000"/>
              </a:lnSpc>
              <a:spcAft>
                <a:spcPts val="0"/>
              </a:spcAft>
            </a:pPr>
            <a:r>
              <a:rPr sz="919" b="0" i="0">
                <a:solidFill>
                  <a:srgbClr val="F0E9DA"/>
                </a:solidFill>
                <a:latin typeface="Consolas"/>
                <a:ea typeface="Consolas"/>
                <a:cs typeface="Consolas"/>
              </a:rPr>
              <a:t>gross, deductions, net, balance</a:t>
            </a:r>
          </a:p>
          <a:p>
            <a:pPr algn="l">
              <a:lnSpc>
                <a:spcPct val="134000"/>
              </a:lnSpc>
            </a:pPr>
            <a:r>
              <a:rPr sz="919" b="0" i="0">
                <a:solidFill>
                  <a:srgbClr val="8BC7A6"/>
                </a:solidFill>
                <a:latin typeface="Consolas"/>
                <a:ea typeface="Consolas"/>
                <a:cs typeface="Consolas"/>
              </a:rPr>
              <a:t>schema version · sync metadata</a:t>
            </a:r>
          </a:p>
        </p:txBody>
      </p:sp>
      <p:grpSp>
        <p:nvGrpSpPr>
          <p:cNvPr id="24" name="!!entity-1"/>
          <p:cNvGrpSpPr/>
          <p:nvPr/>
        </p:nvGrpSpPr>
        <p:grpSpPr>
          <a:xfrm>
            <a:off x="786384" y="1975104"/>
            <a:ext cx="2377440" cy="1078992"/>
            <a:chOff x="786384" y="1975104"/>
            <a:chExt cx="2377440" cy="1078992"/>
          </a:xfrm>
        </p:grpSpPr>
        <p:sp>
          <p:nvSpPr>
            <p:cNvPr id="25" name="Rounded Rectangle 24"/>
            <p:cNvSpPr/>
            <p:nvPr/>
          </p:nvSpPr>
          <p:spPr>
            <a:xfrm>
              <a:off x="786384" y="1975104"/>
              <a:ext cx="2377440" cy="1078992"/>
            </a:xfrm>
            <a:prstGeom prst="roundRect">
              <a:avLst>
                <a:gd name="adj" fmla="val 847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ounded Rectangle 25"/>
            <p:cNvSpPr/>
            <p:nvPr/>
          </p:nvSpPr>
          <p:spPr>
            <a:xfrm>
              <a:off x="786384" y="1975104"/>
              <a:ext cx="41148" cy="1078992"/>
            </a:xfrm>
            <a:prstGeom prst="roundRect">
              <a:avLst>
                <a:gd name="adj" fmla="val 44444"/>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6"/>
            <p:cNvSpPr txBox="1"/>
            <p:nvPr/>
          </p:nvSpPr>
          <p:spPr>
            <a:xfrm>
              <a:off x="969264" y="2093976"/>
              <a:ext cx="2066544" cy="219456"/>
            </a:xfrm>
            <a:prstGeom prst="rect">
              <a:avLst/>
            </a:prstGeom>
            <a:noFill/>
          </p:spPr>
          <p:txBody>
            <a:bodyPr wrap="square" lIns="0" rIns="0" tIns="0" bIns="0" anchor="t"/>
            <a:lstStyle/>
            <a:p>
              <a:pPr algn="l">
                <a:lnSpc>
                  <a:spcPct val="100000"/>
                </a:lnSpc>
              </a:pPr>
              <a:r>
                <a:rPr sz="1050" b="1" i="0">
                  <a:solidFill>
                    <a:srgbClr val="12211B"/>
                  </a:solidFill>
                  <a:latin typeface="Segoe UI"/>
                  <a:ea typeface="Segoe UI"/>
                  <a:cs typeface="Segoe UI"/>
                </a:rPr>
                <a:t>Worker</a:t>
              </a:r>
            </a:p>
          </p:txBody>
        </p:sp>
        <p:sp>
          <p:nvSpPr>
            <p:cNvPr id="28" name="TextBox 27"/>
            <p:cNvSpPr txBox="1"/>
            <p:nvPr/>
          </p:nvSpPr>
          <p:spPr>
            <a:xfrm>
              <a:off x="969264" y="2359152"/>
              <a:ext cx="2066544" cy="621792"/>
            </a:xfrm>
            <a:prstGeom prst="rect">
              <a:avLst/>
            </a:prstGeom>
            <a:noFill/>
          </p:spPr>
          <p:txBody>
            <a:bodyPr wrap="square" lIns="0" rIns="0" tIns="0" bIns="0" anchor="t"/>
            <a:lstStyle/>
            <a:p>
              <a:pPr algn="l">
                <a:lnSpc>
                  <a:spcPct val="130000"/>
                </a:lnSpc>
                <a:spcAft>
                  <a:spcPts val="0"/>
                </a:spcAft>
              </a:pPr>
              <a:r>
                <a:rPr sz="840" b="0" i="0">
                  <a:solidFill>
                    <a:srgbClr val="557165"/>
                  </a:solidFill>
                  <a:latin typeface="Consolas"/>
                  <a:ea typeface="Consolas"/>
                  <a:cs typeface="Consolas"/>
                </a:rPr>
                <a:t>MP-IND-2026-MM842</a:t>
              </a:r>
            </a:p>
            <a:p>
              <a:pPr algn="l">
                <a:lnSpc>
                  <a:spcPct val="130000"/>
                </a:lnSpc>
              </a:pPr>
              <a:r>
                <a:rPr sz="840" b="0" i="0">
                  <a:solidFill>
                    <a:srgbClr val="557165"/>
                  </a:solidFill>
                  <a:latin typeface="Consolas"/>
                  <a:ea typeface="Consolas"/>
                  <a:cs typeface="Consolas"/>
                </a:rPr>
                <a:t>trade · token · account link</a:t>
              </a:r>
            </a:p>
          </p:txBody>
        </p:sp>
      </p:grpSp>
      <p:grpSp>
        <p:nvGrpSpPr>
          <p:cNvPr id="29" name="!!entity-2"/>
          <p:cNvGrpSpPr/>
          <p:nvPr/>
        </p:nvGrpSpPr>
        <p:grpSpPr>
          <a:xfrm>
            <a:off x="8997696" y="1975104"/>
            <a:ext cx="2404872" cy="1078992"/>
            <a:chOff x="8997696" y="1975104"/>
            <a:chExt cx="2404872" cy="1078992"/>
          </a:xfrm>
        </p:grpSpPr>
        <p:sp>
          <p:nvSpPr>
            <p:cNvPr id="30" name="Rounded Rectangle 29"/>
            <p:cNvSpPr/>
            <p:nvPr/>
          </p:nvSpPr>
          <p:spPr>
            <a:xfrm>
              <a:off x="8997696" y="1975104"/>
              <a:ext cx="2404872" cy="1078992"/>
            </a:xfrm>
            <a:prstGeom prst="roundRect">
              <a:avLst>
                <a:gd name="adj" fmla="val 847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Rounded Rectangle 30"/>
            <p:cNvSpPr/>
            <p:nvPr/>
          </p:nvSpPr>
          <p:spPr>
            <a:xfrm>
              <a:off x="8997696" y="1975104"/>
              <a:ext cx="41148" cy="1078992"/>
            </a:xfrm>
            <a:prstGeom prst="roundRect">
              <a:avLst>
                <a:gd name="adj" fmla="val 44444"/>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TextBox 31"/>
            <p:cNvSpPr txBox="1"/>
            <p:nvPr/>
          </p:nvSpPr>
          <p:spPr>
            <a:xfrm>
              <a:off x="9180576" y="2093976"/>
              <a:ext cx="2093976" cy="219456"/>
            </a:xfrm>
            <a:prstGeom prst="rect">
              <a:avLst/>
            </a:prstGeom>
            <a:noFill/>
          </p:spPr>
          <p:txBody>
            <a:bodyPr wrap="square" lIns="0" rIns="0" tIns="0" bIns="0" anchor="t"/>
            <a:lstStyle/>
            <a:p>
              <a:pPr algn="l">
                <a:lnSpc>
                  <a:spcPct val="100000"/>
                </a:lnSpc>
              </a:pPr>
              <a:r>
                <a:rPr sz="1050" b="1" i="0">
                  <a:solidFill>
                    <a:srgbClr val="12211B"/>
                  </a:solidFill>
                  <a:latin typeface="Segoe UI"/>
                  <a:ea typeface="Segoe UI"/>
                  <a:cs typeface="Segoe UI"/>
                </a:rPr>
                <a:t>Contractor</a:t>
              </a:r>
            </a:p>
          </p:txBody>
        </p:sp>
        <p:sp>
          <p:nvSpPr>
            <p:cNvPr id="33" name="TextBox 32"/>
            <p:cNvSpPr txBox="1"/>
            <p:nvPr/>
          </p:nvSpPr>
          <p:spPr>
            <a:xfrm>
              <a:off x="9180576" y="2359152"/>
              <a:ext cx="2093976" cy="621792"/>
            </a:xfrm>
            <a:prstGeom prst="rect">
              <a:avLst/>
            </a:prstGeom>
            <a:noFill/>
          </p:spPr>
          <p:txBody>
            <a:bodyPr wrap="square" lIns="0" rIns="0" tIns="0" bIns="0" anchor="t"/>
            <a:lstStyle/>
            <a:p>
              <a:pPr algn="l">
                <a:lnSpc>
                  <a:spcPct val="130000"/>
                </a:lnSpc>
                <a:spcAft>
                  <a:spcPts val="0"/>
                </a:spcAft>
              </a:pPr>
              <a:r>
                <a:rPr sz="840" b="0" i="0">
                  <a:solidFill>
                    <a:srgbClr val="557165"/>
                  </a:solidFill>
                  <a:latin typeface="Consolas"/>
                  <a:ea typeface="Consolas"/>
                  <a:cs typeface="Consolas"/>
                </a:rPr>
                <a:t>organisation · membership</a:t>
              </a:r>
            </a:p>
            <a:p>
              <a:pPr algn="l">
                <a:lnSpc>
                  <a:spcPct val="130000"/>
                </a:lnSpc>
              </a:pPr>
              <a:r>
                <a:rPr sz="840" b="0" i="0">
                  <a:solidFill>
                    <a:srgbClr val="557165"/>
                  </a:solidFill>
                  <a:latin typeface="Consolas"/>
                  <a:ea typeface="Consolas"/>
                  <a:cs typeface="Consolas"/>
                </a:rPr>
                <a:t>authorised scope</a:t>
              </a:r>
            </a:p>
          </p:txBody>
        </p:sp>
      </p:grpSp>
      <p:grpSp>
        <p:nvGrpSpPr>
          <p:cNvPr id="34" name="!!entity-3"/>
          <p:cNvGrpSpPr/>
          <p:nvPr/>
        </p:nvGrpSpPr>
        <p:grpSpPr>
          <a:xfrm>
            <a:off x="786384" y="3310128"/>
            <a:ext cx="2377440" cy="1133856"/>
            <a:chOff x="786384" y="3310128"/>
            <a:chExt cx="2377440" cy="1133856"/>
          </a:xfrm>
        </p:grpSpPr>
        <p:sp>
          <p:nvSpPr>
            <p:cNvPr id="35" name="Rounded Rectangle 34"/>
            <p:cNvSpPr/>
            <p:nvPr/>
          </p:nvSpPr>
          <p:spPr>
            <a:xfrm>
              <a:off x="786384" y="3310128"/>
              <a:ext cx="2377440" cy="1133856"/>
            </a:xfrm>
            <a:prstGeom prst="roundRect">
              <a:avLst>
                <a:gd name="adj" fmla="val 806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ounded Rectangle 35"/>
            <p:cNvSpPr/>
            <p:nvPr/>
          </p:nvSpPr>
          <p:spPr>
            <a:xfrm>
              <a:off x="786384" y="3310128"/>
              <a:ext cx="41148" cy="1133856"/>
            </a:xfrm>
            <a:prstGeom prst="roundRect">
              <a:avLst>
                <a:gd name="adj" fmla="val 44444"/>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TextBox 36"/>
            <p:cNvSpPr txBox="1"/>
            <p:nvPr/>
          </p:nvSpPr>
          <p:spPr>
            <a:xfrm>
              <a:off x="969264" y="3429000"/>
              <a:ext cx="2066544" cy="219456"/>
            </a:xfrm>
            <a:prstGeom prst="rect">
              <a:avLst/>
            </a:prstGeom>
            <a:noFill/>
          </p:spPr>
          <p:txBody>
            <a:bodyPr wrap="square" lIns="0" rIns="0" tIns="0" bIns="0" anchor="t"/>
            <a:lstStyle/>
            <a:p>
              <a:pPr algn="l">
                <a:lnSpc>
                  <a:spcPct val="100000"/>
                </a:lnSpc>
              </a:pPr>
              <a:r>
                <a:rPr sz="1050" b="1" i="0">
                  <a:solidFill>
                    <a:srgbClr val="12211B"/>
                  </a:solidFill>
                  <a:latin typeface="Segoe UI"/>
                  <a:ea typeface="Segoe UI"/>
                  <a:cs typeface="Segoe UI"/>
                </a:rPr>
                <a:t>Payment</a:t>
              </a:r>
            </a:p>
          </p:txBody>
        </p:sp>
        <p:sp>
          <p:nvSpPr>
            <p:cNvPr id="38" name="TextBox 37"/>
            <p:cNvSpPr txBox="1"/>
            <p:nvPr/>
          </p:nvSpPr>
          <p:spPr>
            <a:xfrm>
              <a:off x="969264" y="3694176"/>
              <a:ext cx="2066544" cy="621792"/>
            </a:xfrm>
            <a:prstGeom prst="rect">
              <a:avLst/>
            </a:prstGeom>
            <a:noFill/>
          </p:spPr>
          <p:txBody>
            <a:bodyPr wrap="square" lIns="0" rIns="0" tIns="0" bIns="0" anchor="t"/>
            <a:lstStyle/>
            <a:p>
              <a:pPr algn="l">
                <a:lnSpc>
                  <a:spcPct val="130000"/>
                </a:lnSpc>
                <a:spcAft>
                  <a:spcPts val="0"/>
                </a:spcAft>
              </a:pPr>
              <a:r>
                <a:rPr sz="840" b="0" i="0">
                  <a:solidFill>
                    <a:srgbClr val="557165"/>
                  </a:solidFill>
                  <a:latin typeface="Consolas"/>
                  <a:ea typeface="Consolas"/>
                  <a:cs typeface="Consolas"/>
                </a:rPr>
                <a:t>amount · date · method</a:t>
              </a:r>
            </a:p>
            <a:p>
              <a:pPr algn="l">
                <a:lnSpc>
                  <a:spcPct val="130000"/>
                </a:lnSpc>
              </a:pPr>
              <a:r>
                <a:rPr sz="840" b="0" i="0">
                  <a:solidFill>
                    <a:srgbClr val="557165"/>
                  </a:solidFill>
                  <a:latin typeface="Consolas"/>
                  <a:ea typeface="Consolas"/>
                  <a:cs typeface="Consolas"/>
                </a:rPr>
                <a:t>recorded ≠ acknowledged</a:t>
              </a:r>
            </a:p>
          </p:txBody>
        </p:sp>
      </p:grpSp>
      <p:grpSp>
        <p:nvGrpSpPr>
          <p:cNvPr id="39" name="!!entity-4"/>
          <p:cNvGrpSpPr/>
          <p:nvPr/>
        </p:nvGrpSpPr>
        <p:grpSpPr>
          <a:xfrm>
            <a:off x="8997696" y="3310128"/>
            <a:ext cx="2404872" cy="1170432"/>
            <a:chOff x="8997696" y="3310128"/>
            <a:chExt cx="2404872" cy="1170432"/>
          </a:xfrm>
        </p:grpSpPr>
        <p:sp>
          <p:nvSpPr>
            <p:cNvPr id="40" name="Rounded Rectangle 39"/>
            <p:cNvSpPr/>
            <p:nvPr/>
          </p:nvSpPr>
          <p:spPr>
            <a:xfrm>
              <a:off x="8997696" y="3310128"/>
              <a:ext cx="2404872" cy="1170432"/>
            </a:xfrm>
            <a:prstGeom prst="roundRect">
              <a:avLst>
                <a:gd name="adj" fmla="val 7812"/>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Rounded Rectangle 40"/>
            <p:cNvSpPr/>
            <p:nvPr/>
          </p:nvSpPr>
          <p:spPr>
            <a:xfrm>
              <a:off x="8997696" y="3310128"/>
              <a:ext cx="41148" cy="1170432"/>
            </a:xfrm>
            <a:prstGeom prst="roundRect">
              <a:avLst>
                <a:gd name="adj" fmla="val 44444"/>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TextBox 41"/>
            <p:cNvSpPr txBox="1"/>
            <p:nvPr/>
          </p:nvSpPr>
          <p:spPr>
            <a:xfrm>
              <a:off x="9180576" y="3429000"/>
              <a:ext cx="2093976" cy="219456"/>
            </a:xfrm>
            <a:prstGeom prst="rect">
              <a:avLst/>
            </a:prstGeom>
            <a:noFill/>
          </p:spPr>
          <p:txBody>
            <a:bodyPr wrap="square" lIns="0" rIns="0" tIns="0" bIns="0" anchor="t"/>
            <a:lstStyle/>
            <a:p>
              <a:pPr algn="l">
                <a:lnSpc>
                  <a:spcPct val="100000"/>
                </a:lnSpc>
              </a:pPr>
              <a:r>
                <a:rPr sz="1050" b="1" i="0">
                  <a:solidFill>
                    <a:srgbClr val="12211B"/>
                  </a:solidFill>
                  <a:latin typeface="Segoe UI"/>
                  <a:ea typeface="Segoe UI"/>
                  <a:cs typeface="Segoe UI"/>
                </a:rPr>
                <a:t>Correction</a:t>
              </a:r>
            </a:p>
          </p:txBody>
        </p:sp>
        <p:sp>
          <p:nvSpPr>
            <p:cNvPr id="43" name="TextBox 42"/>
            <p:cNvSpPr txBox="1"/>
            <p:nvPr/>
          </p:nvSpPr>
          <p:spPr>
            <a:xfrm>
              <a:off x="9180576" y="3694176"/>
              <a:ext cx="2093976" cy="621792"/>
            </a:xfrm>
            <a:prstGeom prst="rect">
              <a:avLst/>
            </a:prstGeom>
            <a:noFill/>
          </p:spPr>
          <p:txBody>
            <a:bodyPr wrap="square" lIns="0" rIns="0" tIns="0" bIns="0" anchor="t"/>
            <a:lstStyle/>
            <a:p>
              <a:pPr algn="l">
                <a:lnSpc>
                  <a:spcPct val="130000"/>
                </a:lnSpc>
                <a:spcAft>
                  <a:spcPts val="0"/>
                </a:spcAft>
              </a:pPr>
              <a:r>
                <a:rPr sz="840" b="0" i="0">
                  <a:solidFill>
                    <a:srgbClr val="557165"/>
                  </a:solidFill>
                  <a:latin typeface="Consolas"/>
                  <a:ea typeface="Consolas"/>
                  <a:cs typeface="Consolas"/>
                </a:rPr>
                <a:t>prior value · new value</a:t>
              </a:r>
            </a:p>
            <a:p>
              <a:pPr algn="l">
                <a:lnSpc>
                  <a:spcPct val="130000"/>
                </a:lnSpc>
              </a:pPr>
              <a:r>
                <a:rPr sz="840" b="0" i="0">
                  <a:solidFill>
                    <a:srgbClr val="557165"/>
                  </a:solidFill>
                  <a:latin typeface="Consolas"/>
                  <a:ea typeface="Consolas"/>
                  <a:cs typeface="Consolas"/>
                </a:rPr>
                <a:t>reason · actor · time</a:t>
              </a:r>
            </a:p>
          </p:txBody>
        </p:sp>
      </p:grpSp>
      <p:grpSp>
        <p:nvGrpSpPr>
          <p:cNvPr id="44" name="!!entity-5"/>
          <p:cNvGrpSpPr/>
          <p:nvPr/>
        </p:nvGrpSpPr>
        <p:grpSpPr>
          <a:xfrm>
            <a:off x="786384" y="4608576"/>
            <a:ext cx="2377440" cy="1115568"/>
            <a:chOff x="786384" y="4608576"/>
            <a:chExt cx="2377440" cy="1115568"/>
          </a:xfrm>
        </p:grpSpPr>
        <p:sp>
          <p:nvSpPr>
            <p:cNvPr id="45" name="Rounded Rectangle 44"/>
            <p:cNvSpPr/>
            <p:nvPr/>
          </p:nvSpPr>
          <p:spPr>
            <a:xfrm>
              <a:off x="786384" y="4608576"/>
              <a:ext cx="2377440" cy="1115568"/>
            </a:xfrm>
            <a:prstGeom prst="roundRect">
              <a:avLst>
                <a:gd name="adj" fmla="val 8196"/>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Rounded Rectangle 45"/>
            <p:cNvSpPr/>
            <p:nvPr/>
          </p:nvSpPr>
          <p:spPr>
            <a:xfrm>
              <a:off x="786384" y="4608576"/>
              <a:ext cx="41148" cy="1115568"/>
            </a:xfrm>
            <a:prstGeom prst="roundRect">
              <a:avLst>
                <a:gd name="adj" fmla="val 44444"/>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TextBox 46"/>
            <p:cNvSpPr txBox="1"/>
            <p:nvPr/>
          </p:nvSpPr>
          <p:spPr>
            <a:xfrm>
              <a:off x="969264" y="4727448"/>
              <a:ext cx="2066544" cy="219456"/>
            </a:xfrm>
            <a:prstGeom prst="rect">
              <a:avLst/>
            </a:prstGeom>
            <a:noFill/>
          </p:spPr>
          <p:txBody>
            <a:bodyPr wrap="square" lIns="0" rIns="0" tIns="0" bIns="0" anchor="t"/>
            <a:lstStyle/>
            <a:p>
              <a:pPr algn="l">
                <a:lnSpc>
                  <a:spcPct val="100000"/>
                </a:lnSpc>
              </a:pPr>
              <a:r>
                <a:rPr sz="1050" b="1" i="0">
                  <a:solidFill>
                    <a:srgbClr val="12211B"/>
                  </a:solidFill>
                  <a:latin typeface="Segoe UI"/>
                  <a:ea typeface="Segoe UI"/>
                  <a:cs typeface="Segoe UI"/>
                </a:rPr>
                <a:t>Dispute</a:t>
              </a:r>
            </a:p>
          </p:txBody>
        </p:sp>
        <p:sp>
          <p:nvSpPr>
            <p:cNvPr id="48" name="TextBox 47"/>
            <p:cNvSpPr txBox="1"/>
            <p:nvPr/>
          </p:nvSpPr>
          <p:spPr>
            <a:xfrm>
              <a:off x="969264" y="4992624"/>
              <a:ext cx="2066544" cy="621792"/>
            </a:xfrm>
            <a:prstGeom prst="rect">
              <a:avLst/>
            </a:prstGeom>
            <a:noFill/>
          </p:spPr>
          <p:txBody>
            <a:bodyPr wrap="square" lIns="0" rIns="0" tIns="0" bIns="0" anchor="t"/>
            <a:lstStyle/>
            <a:p>
              <a:pPr algn="l">
                <a:lnSpc>
                  <a:spcPct val="130000"/>
                </a:lnSpc>
                <a:spcAft>
                  <a:spcPts val="0"/>
                </a:spcAft>
              </a:pPr>
              <a:r>
                <a:rPr sz="840" b="0" i="0">
                  <a:solidFill>
                    <a:srgbClr val="557165"/>
                  </a:solidFill>
                  <a:latin typeface="Consolas"/>
                  <a:ea typeface="Consolas"/>
                  <a:cs typeface="Consolas"/>
                </a:rPr>
                <a:t>worker claim</a:t>
              </a:r>
            </a:p>
            <a:p>
              <a:pPr algn="l">
                <a:lnSpc>
                  <a:spcPct val="130000"/>
                </a:lnSpc>
              </a:pPr>
              <a:r>
                <a:rPr sz="840" b="0" i="0">
                  <a:solidFill>
                    <a:srgbClr val="557165"/>
                  </a:solidFill>
                  <a:latin typeface="Consolas"/>
                  <a:ea typeface="Consolas"/>
                  <a:cs typeface="Consolas"/>
                </a:rPr>
                <a:t>contractor response</a:t>
              </a:r>
            </a:p>
          </p:txBody>
        </p:sp>
      </p:grpSp>
      <p:grpSp>
        <p:nvGrpSpPr>
          <p:cNvPr id="49" name="!!entity-6"/>
          <p:cNvGrpSpPr/>
          <p:nvPr/>
        </p:nvGrpSpPr>
        <p:grpSpPr>
          <a:xfrm>
            <a:off x="8997696" y="4608576"/>
            <a:ext cx="2404872" cy="1133856"/>
            <a:chOff x="8997696" y="4608576"/>
            <a:chExt cx="2404872" cy="1133856"/>
          </a:xfrm>
        </p:grpSpPr>
        <p:sp>
          <p:nvSpPr>
            <p:cNvPr id="50" name="Rounded Rectangle 49"/>
            <p:cNvSpPr/>
            <p:nvPr/>
          </p:nvSpPr>
          <p:spPr>
            <a:xfrm>
              <a:off x="8997696" y="4608576"/>
              <a:ext cx="2404872" cy="1133856"/>
            </a:xfrm>
            <a:prstGeom prst="roundRect">
              <a:avLst>
                <a:gd name="adj" fmla="val 8064"/>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1" name="Rounded Rectangle 50"/>
            <p:cNvSpPr/>
            <p:nvPr/>
          </p:nvSpPr>
          <p:spPr>
            <a:xfrm>
              <a:off x="8997696" y="4608576"/>
              <a:ext cx="41148" cy="1133856"/>
            </a:xfrm>
            <a:prstGeom prst="roundRect">
              <a:avLst>
                <a:gd name="adj" fmla="val 44444"/>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2" name="TextBox 51"/>
            <p:cNvSpPr txBox="1"/>
            <p:nvPr/>
          </p:nvSpPr>
          <p:spPr>
            <a:xfrm>
              <a:off x="9180576" y="4727448"/>
              <a:ext cx="2093976" cy="219456"/>
            </a:xfrm>
            <a:prstGeom prst="rect">
              <a:avLst/>
            </a:prstGeom>
            <a:noFill/>
          </p:spPr>
          <p:txBody>
            <a:bodyPr wrap="square" lIns="0" rIns="0" tIns="0" bIns="0" anchor="t"/>
            <a:lstStyle/>
            <a:p>
              <a:pPr algn="l">
                <a:lnSpc>
                  <a:spcPct val="100000"/>
                </a:lnSpc>
              </a:pPr>
              <a:r>
                <a:rPr sz="1050" b="1" i="0">
                  <a:solidFill>
                    <a:srgbClr val="12211B"/>
                  </a:solidFill>
                  <a:latin typeface="Segoe UI"/>
                  <a:ea typeface="Segoe UI"/>
                  <a:cs typeface="Segoe UI"/>
                </a:rPr>
                <a:t>AnomalyFinding</a:t>
              </a:r>
            </a:p>
          </p:txBody>
        </p:sp>
        <p:sp>
          <p:nvSpPr>
            <p:cNvPr id="53" name="TextBox 52"/>
            <p:cNvSpPr txBox="1"/>
            <p:nvPr/>
          </p:nvSpPr>
          <p:spPr>
            <a:xfrm>
              <a:off x="9180576" y="4992624"/>
              <a:ext cx="2093976" cy="621792"/>
            </a:xfrm>
            <a:prstGeom prst="rect">
              <a:avLst/>
            </a:prstGeom>
            <a:noFill/>
          </p:spPr>
          <p:txBody>
            <a:bodyPr wrap="square" lIns="0" rIns="0" tIns="0" bIns="0" anchor="t"/>
            <a:lstStyle/>
            <a:p>
              <a:pPr algn="l">
                <a:lnSpc>
                  <a:spcPct val="130000"/>
                </a:lnSpc>
                <a:spcAft>
                  <a:spcPts val="0"/>
                </a:spcAft>
              </a:pPr>
              <a:r>
                <a:rPr sz="840" b="0" i="0">
                  <a:solidFill>
                    <a:srgbClr val="557165"/>
                  </a:solidFill>
                  <a:latin typeface="Consolas"/>
                  <a:ea typeface="Consolas"/>
                  <a:cs typeface="Consolas"/>
                </a:rPr>
                <a:t>rule id · values examined</a:t>
              </a:r>
            </a:p>
            <a:p>
              <a:pPr algn="l">
                <a:lnSpc>
                  <a:spcPct val="130000"/>
                </a:lnSpc>
              </a:pPr>
              <a:r>
                <a:rPr sz="840" b="0" i="0">
                  <a:solidFill>
                    <a:srgbClr val="557165"/>
                  </a:solidFill>
                  <a:latin typeface="Consolas"/>
                  <a:ea typeface="Consolas"/>
                  <a:cs typeface="Consolas"/>
                </a:rPr>
                <a:t>neutral guidance</a:t>
              </a:r>
            </a:p>
          </p:txBody>
        </p:sp>
      </p:grpSp>
      <p:grpSp>
        <p:nvGrpSpPr>
          <p:cNvPr id="54" name="!!entity-7"/>
          <p:cNvGrpSpPr/>
          <p:nvPr/>
        </p:nvGrpSpPr>
        <p:grpSpPr>
          <a:xfrm>
            <a:off x="4315968" y="5047488"/>
            <a:ext cx="3520440" cy="786384"/>
            <a:chOff x="4315968" y="5047488"/>
            <a:chExt cx="3520440" cy="786384"/>
          </a:xfrm>
        </p:grpSpPr>
        <p:sp>
          <p:nvSpPr>
            <p:cNvPr id="55" name="Rounded Rectangle 54"/>
            <p:cNvSpPr/>
            <p:nvPr/>
          </p:nvSpPr>
          <p:spPr>
            <a:xfrm>
              <a:off x="4315968" y="5047488"/>
              <a:ext cx="3520440" cy="786384"/>
            </a:xfrm>
            <a:prstGeom prst="roundRect">
              <a:avLst>
                <a:gd name="adj" fmla="val 11627"/>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6" name="Rounded Rectangle 55"/>
            <p:cNvSpPr/>
            <p:nvPr/>
          </p:nvSpPr>
          <p:spPr>
            <a:xfrm>
              <a:off x="4315968" y="5047488"/>
              <a:ext cx="41148" cy="786384"/>
            </a:xfrm>
            <a:prstGeom prst="roundRect">
              <a:avLst>
                <a:gd name="adj" fmla="val 44444"/>
              </a:avLst>
            </a:prstGeom>
            <a:solidFill>
              <a:srgbClr val="5F776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7" name="TextBox 56"/>
            <p:cNvSpPr txBox="1"/>
            <p:nvPr/>
          </p:nvSpPr>
          <p:spPr>
            <a:xfrm>
              <a:off x="4498848" y="5148072"/>
              <a:ext cx="3200400" cy="219456"/>
            </a:xfrm>
            <a:prstGeom prst="rect">
              <a:avLst/>
            </a:prstGeom>
            <a:noFill/>
          </p:spPr>
          <p:txBody>
            <a:bodyPr wrap="square" lIns="0" rIns="0" tIns="0" bIns="0" anchor="t"/>
            <a:lstStyle/>
            <a:p>
              <a:pPr algn="l">
                <a:lnSpc>
                  <a:spcPct val="100000"/>
                </a:lnSpc>
              </a:pPr>
              <a:r>
                <a:rPr sz="1050" b="1" i="0">
                  <a:solidFill>
                    <a:srgbClr val="12211B"/>
                  </a:solidFill>
                  <a:latin typeface="Segoe UI"/>
                  <a:ea typeface="Segoe UI"/>
                  <a:cs typeface="Segoe UI"/>
                </a:rPr>
                <a:t>ApprovalRequest</a:t>
              </a:r>
            </a:p>
          </p:txBody>
        </p:sp>
        <p:sp>
          <p:nvSpPr>
            <p:cNvPr id="58" name="TextBox 57"/>
            <p:cNvSpPr txBox="1"/>
            <p:nvPr/>
          </p:nvSpPr>
          <p:spPr>
            <a:xfrm>
              <a:off x="4498848" y="5394960"/>
              <a:ext cx="3200400" cy="365760"/>
            </a:xfrm>
            <a:prstGeom prst="rect">
              <a:avLst/>
            </a:prstGeom>
            <a:noFill/>
          </p:spPr>
          <p:txBody>
            <a:bodyPr wrap="square" lIns="0" rIns="0" tIns="0" bIns="0" anchor="t"/>
            <a:lstStyle/>
            <a:p>
              <a:pPr algn="l">
                <a:lnSpc>
                  <a:spcPct val="100000"/>
                </a:lnSpc>
              </a:pPr>
              <a:r>
                <a:rPr sz="840" b="0" i="0">
                  <a:solidFill>
                    <a:srgbClr val="557165"/>
                  </a:solidFill>
                  <a:latin typeface="Consolas"/>
                  <a:ea typeface="Consolas"/>
                  <a:cs typeface="Consolas"/>
                </a:rPr>
                <a:t>simulated locally today; cross-device after Supabase</a:t>
              </a:r>
            </a:p>
          </p:txBody>
        </p:sp>
      </p:gr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052560" y="-2834640"/>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834640" y="4206240"/>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2686141"/>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3202777"/>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WAGE ENGINE</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02  </a:t>
            </a:r>
            <a:r>
              <a:rPr sz="950" b="1" i="0" spc="140">
                <a:solidFill>
                  <a:srgbClr val="5F776B"/>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The arithmetic, entirely in the open</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13 / 26</a:t>
            </a:r>
          </a:p>
        </p:txBody>
      </p:sp>
      <p:sp>
        <p:nvSpPr>
          <p:cNvPr id="14" name="!!calc-panel"/>
          <p:cNvSpPr/>
          <p:nvPr/>
        </p:nvSpPr>
        <p:spPr>
          <a:xfrm>
            <a:off x="786384" y="1792224"/>
            <a:ext cx="6053328" cy="4041648"/>
          </a:xfrm>
          <a:prstGeom prst="roundRect">
            <a:avLst>
              <a:gd name="adj" fmla="val 3167"/>
            </a:avLst>
          </a:prstGeom>
          <a:solidFill>
            <a:srgbClr val="0A2219"/>
          </a:solidFill>
          <a:ln>
            <a:noFill/>
          </a:ln>
          <a:effectLst>
            <a:outerShdw blurRad="228600" dist="76200" dir="5400000" rotWithShape="0">
              <a:srgbClr val="0A2219">
                <a:alpha val="16000"/>
              </a:srgbClr>
            </a:outerShdw>
          </a:effectLst>
          <a:sp3d>
            <a:bevelT w="20320" h="2032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1060704" y="1938528"/>
            <a:ext cx="4023360" cy="219456"/>
          </a:xfrm>
          <a:prstGeom prst="rect">
            <a:avLst/>
          </a:prstGeom>
          <a:noFill/>
        </p:spPr>
        <p:txBody>
          <a:bodyPr wrap="square" lIns="0" rIns="0" tIns="0" bIns="0" anchor="t"/>
          <a:lstStyle/>
          <a:p>
            <a:pPr algn="l">
              <a:lnSpc>
                <a:spcPct val="100000"/>
              </a:lnSpc>
            </a:pPr>
            <a:r>
              <a:rPr sz="800" b="1" i="0" spc="140">
                <a:solidFill>
                  <a:srgbClr val="8BC7A6"/>
                </a:solidFill>
                <a:latin typeface="Consolas"/>
                <a:ea typeface="Consolas"/>
                <a:cs typeface="Consolas"/>
              </a:rPr>
              <a:t>CALCULATE RECORD BREAKDOWN</a:t>
            </a:r>
          </a:p>
        </p:txBody>
      </p:sp>
      <p:sp>
        <p:nvSpPr>
          <p:cNvPr id="16" name="Rectangle 15"/>
          <p:cNvSpPr/>
          <p:nvPr/>
        </p:nvSpPr>
        <p:spPr>
          <a:xfrm>
            <a:off x="1060704" y="2194560"/>
            <a:ext cx="5486400" cy="9144"/>
          </a:xfrm>
          <a:prstGeom prst="rect">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1060704" y="2304288"/>
            <a:ext cx="2148840" cy="237744"/>
          </a:xfrm>
          <a:prstGeom prst="rect">
            <a:avLst/>
          </a:prstGeom>
          <a:noFill/>
        </p:spPr>
        <p:txBody>
          <a:bodyPr wrap="square" lIns="0" rIns="0" tIns="0" bIns="0" anchor="t"/>
          <a:lstStyle/>
          <a:p>
            <a:pPr algn="l">
              <a:lnSpc>
                <a:spcPct val="100000"/>
              </a:lnSpc>
            </a:pPr>
            <a:r>
              <a:rPr sz="960" b="0" i="0">
                <a:solidFill>
                  <a:srgbClr val="8BC7A6"/>
                </a:solidFill>
                <a:latin typeface="Consolas"/>
                <a:ea typeface="Consolas"/>
                <a:cs typeface="Consolas"/>
              </a:rPr>
              <a:t>agreed rate</a:t>
            </a:r>
          </a:p>
        </p:txBody>
      </p:sp>
      <p:sp>
        <p:nvSpPr>
          <p:cNvPr id="18" name="TextBox 17"/>
          <p:cNvSpPr txBox="1"/>
          <p:nvPr/>
        </p:nvSpPr>
        <p:spPr>
          <a:xfrm>
            <a:off x="3163824" y="2304288"/>
            <a:ext cx="3520440" cy="237744"/>
          </a:xfrm>
          <a:prstGeom prst="rect">
            <a:avLst/>
          </a:prstGeom>
          <a:noFill/>
        </p:spPr>
        <p:txBody>
          <a:bodyPr wrap="square" lIns="0" rIns="0" tIns="0" bIns="0" anchor="t"/>
          <a:lstStyle/>
          <a:p>
            <a:pPr algn="r">
              <a:lnSpc>
                <a:spcPct val="100000"/>
              </a:lnSpc>
            </a:pPr>
            <a:r>
              <a:rPr sz="980" b="0" i="0">
                <a:solidFill>
                  <a:srgbClr val="F0E9DA"/>
                </a:solidFill>
                <a:latin typeface="Consolas"/>
                <a:ea typeface="Consolas"/>
                <a:cs typeface="Consolas"/>
              </a:rPr>
              <a:t>₹650.00 / day</a:t>
            </a:r>
          </a:p>
        </p:txBody>
      </p:sp>
      <p:sp>
        <p:nvSpPr>
          <p:cNvPr id="19" name="TextBox 18"/>
          <p:cNvSpPr txBox="1"/>
          <p:nvPr/>
        </p:nvSpPr>
        <p:spPr>
          <a:xfrm>
            <a:off x="1060704" y="2642616"/>
            <a:ext cx="2148840" cy="237744"/>
          </a:xfrm>
          <a:prstGeom prst="rect">
            <a:avLst/>
          </a:prstGeom>
          <a:noFill/>
        </p:spPr>
        <p:txBody>
          <a:bodyPr wrap="square" lIns="0" rIns="0" tIns="0" bIns="0" anchor="t"/>
          <a:lstStyle/>
          <a:p>
            <a:pPr algn="l">
              <a:lnSpc>
                <a:spcPct val="100000"/>
              </a:lnSpc>
            </a:pPr>
            <a:r>
              <a:rPr sz="960" b="0" i="0">
                <a:solidFill>
                  <a:srgbClr val="8BC7A6"/>
                </a:solidFill>
                <a:latin typeface="Consolas"/>
                <a:ea typeface="Consolas"/>
                <a:cs typeface="Consolas"/>
              </a:rPr>
              <a:t>days recorded</a:t>
            </a:r>
          </a:p>
        </p:txBody>
      </p:sp>
      <p:sp>
        <p:nvSpPr>
          <p:cNvPr id="20" name="TextBox 19"/>
          <p:cNvSpPr txBox="1"/>
          <p:nvPr/>
        </p:nvSpPr>
        <p:spPr>
          <a:xfrm>
            <a:off x="3163824" y="2642616"/>
            <a:ext cx="3520440" cy="237744"/>
          </a:xfrm>
          <a:prstGeom prst="rect">
            <a:avLst/>
          </a:prstGeom>
          <a:noFill/>
        </p:spPr>
        <p:txBody>
          <a:bodyPr wrap="square" lIns="0" rIns="0" tIns="0" bIns="0" anchor="t"/>
          <a:lstStyle/>
          <a:p>
            <a:pPr algn="r">
              <a:lnSpc>
                <a:spcPct val="100000"/>
              </a:lnSpc>
            </a:pPr>
            <a:r>
              <a:rPr sz="980" b="0" i="0">
                <a:solidFill>
                  <a:srgbClr val="F0E9DA"/>
                </a:solidFill>
                <a:latin typeface="Consolas"/>
                <a:ea typeface="Consolas"/>
                <a:cs typeface="Consolas"/>
              </a:rPr>
              <a:t>4  (32 h)</a:t>
            </a:r>
          </a:p>
        </p:txBody>
      </p:sp>
      <p:sp>
        <p:nvSpPr>
          <p:cNvPr id="21" name="TextBox 20"/>
          <p:cNvSpPr txBox="1"/>
          <p:nvPr/>
        </p:nvSpPr>
        <p:spPr>
          <a:xfrm>
            <a:off x="1060704" y="2980944"/>
            <a:ext cx="2148840" cy="237744"/>
          </a:xfrm>
          <a:prstGeom prst="rect">
            <a:avLst/>
          </a:prstGeom>
          <a:noFill/>
        </p:spPr>
        <p:txBody>
          <a:bodyPr wrap="square" lIns="0" rIns="0" tIns="0" bIns="0" anchor="t"/>
          <a:lstStyle/>
          <a:p>
            <a:pPr algn="l">
              <a:lnSpc>
                <a:spcPct val="100000"/>
              </a:lnSpc>
            </a:pPr>
            <a:r>
              <a:rPr sz="960" b="0" i="0">
                <a:solidFill>
                  <a:srgbClr val="8BC7A6"/>
                </a:solidFill>
                <a:latin typeface="Consolas"/>
                <a:ea typeface="Consolas"/>
                <a:cs typeface="Consolas"/>
              </a:rPr>
              <a:t>base wages</a:t>
            </a:r>
          </a:p>
        </p:txBody>
      </p:sp>
      <p:sp>
        <p:nvSpPr>
          <p:cNvPr id="22" name="TextBox 21"/>
          <p:cNvSpPr txBox="1"/>
          <p:nvPr/>
        </p:nvSpPr>
        <p:spPr>
          <a:xfrm>
            <a:off x="3163824" y="2980944"/>
            <a:ext cx="3520440" cy="237744"/>
          </a:xfrm>
          <a:prstGeom prst="rect">
            <a:avLst/>
          </a:prstGeom>
          <a:noFill/>
        </p:spPr>
        <p:txBody>
          <a:bodyPr wrap="square" lIns="0" rIns="0" tIns="0" bIns="0" anchor="t"/>
          <a:lstStyle/>
          <a:p>
            <a:pPr algn="r">
              <a:lnSpc>
                <a:spcPct val="100000"/>
              </a:lnSpc>
            </a:pPr>
            <a:r>
              <a:rPr sz="980" b="1" i="0">
                <a:solidFill>
                  <a:srgbClr val="FDFBF6"/>
                </a:solidFill>
                <a:latin typeface="Consolas"/>
                <a:ea typeface="Consolas"/>
                <a:cs typeface="Consolas"/>
              </a:rPr>
              <a:t>4 × 650.00 = ₹2,600.00</a:t>
            </a:r>
          </a:p>
        </p:txBody>
      </p:sp>
      <p:sp>
        <p:nvSpPr>
          <p:cNvPr id="23" name="TextBox 22"/>
          <p:cNvSpPr txBox="1"/>
          <p:nvPr/>
        </p:nvSpPr>
        <p:spPr>
          <a:xfrm>
            <a:off x="1060704" y="3319272"/>
            <a:ext cx="2148840" cy="237744"/>
          </a:xfrm>
          <a:prstGeom prst="rect">
            <a:avLst/>
          </a:prstGeom>
          <a:noFill/>
        </p:spPr>
        <p:txBody>
          <a:bodyPr wrap="square" lIns="0" rIns="0" tIns="0" bIns="0" anchor="t"/>
          <a:lstStyle/>
          <a:p>
            <a:pPr algn="l">
              <a:lnSpc>
                <a:spcPct val="100000"/>
              </a:lnSpc>
            </a:pPr>
            <a:r>
              <a:rPr sz="960" b="0" i="0">
                <a:solidFill>
                  <a:srgbClr val="8BC7A6"/>
                </a:solidFill>
                <a:latin typeface="Consolas"/>
                <a:ea typeface="Consolas"/>
                <a:cs typeface="Consolas"/>
              </a:rPr>
              <a:t>overtime</a:t>
            </a:r>
          </a:p>
        </p:txBody>
      </p:sp>
      <p:sp>
        <p:nvSpPr>
          <p:cNvPr id="24" name="TextBox 23"/>
          <p:cNvSpPr txBox="1"/>
          <p:nvPr/>
        </p:nvSpPr>
        <p:spPr>
          <a:xfrm>
            <a:off x="3163824" y="3319272"/>
            <a:ext cx="3520440" cy="237744"/>
          </a:xfrm>
          <a:prstGeom prst="rect">
            <a:avLst/>
          </a:prstGeom>
          <a:noFill/>
        </p:spPr>
        <p:txBody>
          <a:bodyPr wrap="square" lIns="0" rIns="0" tIns="0" bIns="0" anchor="t"/>
          <a:lstStyle/>
          <a:p>
            <a:pPr algn="r">
              <a:lnSpc>
                <a:spcPct val="100000"/>
              </a:lnSpc>
            </a:pPr>
            <a:r>
              <a:rPr sz="980" b="0" i="0">
                <a:solidFill>
                  <a:srgbClr val="BADFCA"/>
                </a:solidFill>
                <a:latin typeface="Consolas"/>
                <a:ea typeface="Consolas"/>
                <a:cs typeface="Consolas"/>
              </a:rPr>
              <a:t>0 h × 0 = ₹0.00</a:t>
            </a:r>
          </a:p>
        </p:txBody>
      </p:sp>
      <p:sp>
        <p:nvSpPr>
          <p:cNvPr id="25" name="TextBox 24"/>
          <p:cNvSpPr txBox="1"/>
          <p:nvPr/>
        </p:nvSpPr>
        <p:spPr>
          <a:xfrm>
            <a:off x="1060704" y="3657600"/>
            <a:ext cx="2148840" cy="237744"/>
          </a:xfrm>
          <a:prstGeom prst="rect">
            <a:avLst/>
          </a:prstGeom>
          <a:noFill/>
        </p:spPr>
        <p:txBody>
          <a:bodyPr wrap="square" lIns="0" rIns="0" tIns="0" bIns="0" anchor="t"/>
          <a:lstStyle/>
          <a:p>
            <a:pPr algn="l">
              <a:lnSpc>
                <a:spcPct val="100000"/>
              </a:lnSpc>
            </a:pPr>
            <a:r>
              <a:rPr sz="960" b="0" i="0">
                <a:solidFill>
                  <a:srgbClr val="8BC7A6"/>
                </a:solidFill>
                <a:latin typeface="Consolas"/>
                <a:ea typeface="Consolas"/>
                <a:cs typeface="Consolas"/>
              </a:rPr>
              <a:t>allowances</a:t>
            </a:r>
          </a:p>
        </p:txBody>
      </p:sp>
      <p:sp>
        <p:nvSpPr>
          <p:cNvPr id="26" name="TextBox 25"/>
          <p:cNvSpPr txBox="1"/>
          <p:nvPr/>
        </p:nvSpPr>
        <p:spPr>
          <a:xfrm>
            <a:off x="3163824" y="3657600"/>
            <a:ext cx="3520440" cy="237744"/>
          </a:xfrm>
          <a:prstGeom prst="rect">
            <a:avLst/>
          </a:prstGeom>
          <a:noFill/>
        </p:spPr>
        <p:txBody>
          <a:bodyPr wrap="square" lIns="0" rIns="0" tIns="0" bIns="0" anchor="t"/>
          <a:lstStyle/>
          <a:p>
            <a:pPr algn="r">
              <a:lnSpc>
                <a:spcPct val="100000"/>
              </a:lnSpc>
            </a:pPr>
            <a:r>
              <a:rPr sz="980" b="0" i="0">
                <a:solidFill>
                  <a:srgbClr val="BADFCA"/>
                </a:solidFill>
                <a:latin typeface="Consolas"/>
                <a:ea typeface="Consolas"/>
                <a:cs typeface="Consolas"/>
              </a:rPr>
              <a:t>₹0.00</a:t>
            </a:r>
          </a:p>
        </p:txBody>
      </p:sp>
      <p:sp>
        <p:nvSpPr>
          <p:cNvPr id="27" name="TextBox 26"/>
          <p:cNvSpPr txBox="1"/>
          <p:nvPr/>
        </p:nvSpPr>
        <p:spPr>
          <a:xfrm>
            <a:off x="1060704" y="3995928"/>
            <a:ext cx="2148840" cy="237744"/>
          </a:xfrm>
          <a:prstGeom prst="rect">
            <a:avLst/>
          </a:prstGeom>
          <a:noFill/>
        </p:spPr>
        <p:txBody>
          <a:bodyPr wrap="square" lIns="0" rIns="0" tIns="0" bIns="0" anchor="t"/>
          <a:lstStyle/>
          <a:p>
            <a:pPr algn="l">
              <a:lnSpc>
                <a:spcPct val="100000"/>
              </a:lnSpc>
            </a:pPr>
            <a:r>
              <a:rPr sz="960" b="0" i="0">
                <a:solidFill>
                  <a:srgbClr val="8BC7A6"/>
                </a:solidFill>
                <a:latin typeface="Consolas"/>
                <a:ea typeface="Consolas"/>
                <a:cs typeface="Consolas"/>
              </a:rPr>
              <a:t>deductions</a:t>
            </a:r>
          </a:p>
        </p:txBody>
      </p:sp>
      <p:sp>
        <p:nvSpPr>
          <p:cNvPr id="28" name="TextBox 27"/>
          <p:cNvSpPr txBox="1"/>
          <p:nvPr/>
        </p:nvSpPr>
        <p:spPr>
          <a:xfrm>
            <a:off x="3163824" y="3995928"/>
            <a:ext cx="3520440" cy="237744"/>
          </a:xfrm>
          <a:prstGeom prst="rect">
            <a:avLst/>
          </a:prstGeom>
          <a:noFill/>
        </p:spPr>
        <p:txBody>
          <a:bodyPr wrap="square" lIns="0" rIns="0" tIns="0" bIns="0" anchor="t"/>
          <a:lstStyle/>
          <a:p>
            <a:pPr algn="r">
              <a:lnSpc>
                <a:spcPct val="100000"/>
              </a:lnSpc>
            </a:pPr>
            <a:r>
              <a:rPr sz="980" b="0" i="0">
                <a:solidFill>
                  <a:srgbClr val="BADFCA"/>
                </a:solidFill>
                <a:latin typeface="Consolas"/>
                <a:ea typeface="Consolas"/>
                <a:cs typeface="Consolas"/>
              </a:rPr>
              <a:t>₹0.00  (each with a reason)</a:t>
            </a:r>
          </a:p>
        </p:txBody>
      </p:sp>
      <p:sp>
        <p:nvSpPr>
          <p:cNvPr id="29" name="TextBox 28"/>
          <p:cNvSpPr txBox="1"/>
          <p:nvPr/>
        </p:nvSpPr>
        <p:spPr>
          <a:xfrm>
            <a:off x="1060704" y="4334256"/>
            <a:ext cx="2148840" cy="237744"/>
          </a:xfrm>
          <a:prstGeom prst="rect">
            <a:avLst/>
          </a:prstGeom>
          <a:noFill/>
        </p:spPr>
        <p:txBody>
          <a:bodyPr wrap="square" lIns="0" rIns="0" tIns="0" bIns="0" anchor="t"/>
          <a:lstStyle/>
          <a:p>
            <a:pPr algn="l">
              <a:lnSpc>
                <a:spcPct val="100000"/>
              </a:lnSpc>
            </a:pPr>
            <a:r>
              <a:rPr sz="960" b="0" i="0">
                <a:solidFill>
                  <a:srgbClr val="8BC7A6"/>
                </a:solidFill>
                <a:latin typeface="Consolas"/>
                <a:ea typeface="Consolas"/>
                <a:cs typeface="Consolas"/>
              </a:rPr>
              <a:t>wages due</a:t>
            </a:r>
          </a:p>
        </p:txBody>
      </p:sp>
      <p:sp>
        <p:nvSpPr>
          <p:cNvPr id="30" name="TextBox 29"/>
          <p:cNvSpPr txBox="1"/>
          <p:nvPr/>
        </p:nvSpPr>
        <p:spPr>
          <a:xfrm>
            <a:off x="3163824" y="4334256"/>
            <a:ext cx="3520440" cy="237744"/>
          </a:xfrm>
          <a:prstGeom prst="rect">
            <a:avLst/>
          </a:prstGeom>
          <a:noFill/>
        </p:spPr>
        <p:txBody>
          <a:bodyPr wrap="square" lIns="0" rIns="0" tIns="0" bIns="0" anchor="t"/>
          <a:lstStyle/>
          <a:p>
            <a:pPr algn="r">
              <a:lnSpc>
                <a:spcPct val="100000"/>
              </a:lnSpc>
            </a:pPr>
            <a:r>
              <a:rPr sz="980" b="1" i="0">
                <a:solidFill>
                  <a:srgbClr val="F0D99B"/>
                </a:solidFill>
                <a:latin typeface="Consolas"/>
                <a:ea typeface="Consolas"/>
                <a:cs typeface="Consolas"/>
              </a:rPr>
              <a:t>₹2,600.00</a:t>
            </a:r>
          </a:p>
        </p:txBody>
      </p:sp>
      <p:sp>
        <p:nvSpPr>
          <p:cNvPr id="31" name="Rectangle 30"/>
          <p:cNvSpPr/>
          <p:nvPr/>
        </p:nvSpPr>
        <p:spPr>
          <a:xfrm>
            <a:off x="1060704" y="4279392"/>
            <a:ext cx="5623560" cy="7315"/>
          </a:xfrm>
          <a:prstGeom prst="rect">
            <a:avLst/>
          </a:prstGeom>
          <a:solidFill>
            <a:srgbClr val="84532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TextBox 31"/>
          <p:cNvSpPr txBox="1"/>
          <p:nvPr/>
        </p:nvSpPr>
        <p:spPr>
          <a:xfrm>
            <a:off x="1060704" y="4672584"/>
            <a:ext cx="2148840" cy="237744"/>
          </a:xfrm>
          <a:prstGeom prst="rect">
            <a:avLst/>
          </a:prstGeom>
          <a:noFill/>
        </p:spPr>
        <p:txBody>
          <a:bodyPr wrap="square" lIns="0" rIns="0" tIns="0" bIns="0" anchor="t"/>
          <a:lstStyle/>
          <a:p>
            <a:pPr algn="l">
              <a:lnSpc>
                <a:spcPct val="100000"/>
              </a:lnSpc>
            </a:pPr>
            <a:r>
              <a:rPr sz="960" b="0" i="0">
                <a:solidFill>
                  <a:srgbClr val="8BC7A6"/>
                </a:solidFill>
                <a:latin typeface="Consolas"/>
                <a:ea typeface="Consolas"/>
                <a:cs typeface="Consolas"/>
              </a:rPr>
              <a:t>payment recorded</a:t>
            </a:r>
          </a:p>
        </p:txBody>
      </p:sp>
      <p:sp>
        <p:nvSpPr>
          <p:cNvPr id="33" name="TextBox 32"/>
          <p:cNvSpPr txBox="1"/>
          <p:nvPr/>
        </p:nvSpPr>
        <p:spPr>
          <a:xfrm>
            <a:off x="3163824" y="4672584"/>
            <a:ext cx="3520440" cy="237744"/>
          </a:xfrm>
          <a:prstGeom prst="rect">
            <a:avLst/>
          </a:prstGeom>
          <a:noFill/>
        </p:spPr>
        <p:txBody>
          <a:bodyPr wrap="square" lIns="0" rIns="0" tIns="0" bIns="0" anchor="t"/>
          <a:lstStyle/>
          <a:p>
            <a:pPr algn="r">
              <a:lnSpc>
                <a:spcPct val="100000"/>
              </a:lnSpc>
            </a:pPr>
            <a:r>
              <a:rPr sz="980" b="0" i="0">
                <a:solidFill>
                  <a:srgbClr val="F0E9DA"/>
                </a:solidFill>
                <a:latin typeface="Consolas"/>
                <a:ea typeface="Consolas"/>
                <a:cs typeface="Consolas"/>
              </a:rPr>
              <a:t>− ₹1,300.00</a:t>
            </a:r>
          </a:p>
        </p:txBody>
      </p:sp>
      <p:sp>
        <p:nvSpPr>
          <p:cNvPr id="34" name="TextBox 33"/>
          <p:cNvSpPr txBox="1"/>
          <p:nvPr/>
        </p:nvSpPr>
        <p:spPr>
          <a:xfrm>
            <a:off x="1060704" y="5010912"/>
            <a:ext cx="2148840" cy="237744"/>
          </a:xfrm>
          <a:prstGeom prst="rect">
            <a:avLst/>
          </a:prstGeom>
          <a:noFill/>
        </p:spPr>
        <p:txBody>
          <a:bodyPr wrap="square" lIns="0" rIns="0" tIns="0" bIns="0" anchor="t"/>
          <a:lstStyle/>
          <a:p>
            <a:pPr algn="l">
              <a:lnSpc>
                <a:spcPct val="100000"/>
              </a:lnSpc>
            </a:pPr>
            <a:r>
              <a:rPr sz="960" b="0" i="0">
                <a:solidFill>
                  <a:srgbClr val="8BC7A6"/>
                </a:solidFill>
                <a:latin typeface="Consolas"/>
                <a:ea typeface="Consolas"/>
                <a:cs typeface="Consolas"/>
              </a:rPr>
              <a:t>outstanding balance</a:t>
            </a:r>
          </a:p>
        </p:txBody>
      </p:sp>
      <p:sp>
        <p:nvSpPr>
          <p:cNvPr id="35" name="TextBox 34"/>
          <p:cNvSpPr txBox="1"/>
          <p:nvPr/>
        </p:nvSpPr>
        <p:spPr>
          <a:xfrm>
            <a:off x="3163824" y="5010912"/>
            <a:ext cx="3520440" cy="237744"/>
          </a:xfrm>
          <a:prstGeom prst="rect">
            <a:avLst/>
          </a:prstGeom>
          <a:noFill/>
        </p:spPr>
        <p:txBody>
          <a:bodyPr wrap="square" lIns="0" rIns="0" tIns="0" bIns="0" anchor="t"/>
          <a:lstStyle/>
          <a:p>
            <a:pPr algn="r">
              <a:lnSpc>
                <a:spcPct val="100000"/>
              </a:lnSpc>
            </a:pPr>
            <a:r>
              <a:rPr sz="980" b="1" i="0">
                <a:solidFill>
                  <a:srgbClr val="E5C068"/>
                </a:solidFill>
                <a:latin typeface="Consolas"/>
                <a:ea typeface="Consolas"/>
                <a:cs typeface="Consolas"/>
              </a:rPr>
              <a:t>₹1,300.00</a:t>
            </a:r>
          </a:p>
        </p:txBody>
      </p:sp>
      <p:sp>
        <p:nvSpPr>
          <p:cNvPr id="36" name="Rectangle 35"/>
          <p:cNvSpPr/>
          <p:nvPr/>
        </p:nvSpPr>
        <p:spPr>
          <a:xfrm>
            <a:off x="1060704" y="4956048"/>
            <a:ext cx="5623560" cy="7315"/>
          </a:xfrm>
          <a:prstGeom prst="rect">
            <a:avLst/>
          </a:prstGeom>
          <a:solidFill>
            <a:srgbClr val="84532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TextBox 36"/>
          <p:cNvSpPr txBox="1"/>
          <p:nvPr/>
        </p:nvSpPr>
        <p:spPr>
          <a:xfrm>
            <a:off x="1060704" y="5413248"/>
            <a:ext cx="5486400" cy="329184"/>
          </a:xfrm>
          <a:prstGeom prst="rect">
            <a:avLst/>
          </a:prstGeom>
          <a:noFill/>
        </p:spPr>
        <p:txBody>
          <a:bodyPr wrap="square" lIns="0" rIns="0" tIns="0" bIns="0" anchor="t"/>
          <a:lstStyle/>
          <a:p>
            <a:pPr algn="l">
              <a:lnSpc>
                <a:spcPct val="100000"/>
              </a:lnSpc>
            </a:pPr>
            <a:r>
              <a:rPr sz="1050" b="0" i="1">
                <a:solidFill>
                  <a:srgbClr val="F0D99B"/>
                </a:solidFill>
                <a:latin typeface="Consolas"/>
                <a:ea typeface="Consolas"/>
                <a:cs typeface="Consolas"/>
              </a:rPr>
              <a:t>(Days × Rate) + OT + Allowances − Deductions</a:t>
            </a:r>
          </a:p>
        </p:txBody>
      </p:sp>
      <p:sp>
        <p:nvSpPr>
          <p:cNvPr id="38" name="!!inspector"/>
          <p:cNvSpPr/>
          <p:nvPr/>
        </p:nvSpPr>
        <p:spPr>
          <a:xfrm>
            <a:off x="7059168" y="1792224"/>
            <a:ext cx="4343400" cy="4041648"/>
          </a:xfrm>
          <a:prstGeom prst="roundRect">
            <a:avLst>
              <a:gd name="adj" fmla="val 3167"/>
            </a:avLst>
          </a:prstGeom>
          <a:solidFill>
            <a:srgbClr val="FFFFFF"/>
          </a:solidFill>
          <a:ln w="9525">
            <a:solidFill>
              <a:srgbClr val="E3D8C2"/>
            </a:solidFill>
          </a:ln>
          <a:effectLst>
            <a:outerShdw blurRad="228600" dist="76200" dir="5400000" rotWithShape="0">
              <a:srgbClr val="0A2219">
                <a:alpha val="16000"/>
              </a:srgbClr>
            </a:outerShdw>
          </a:effectLst>
          <a:sp3d>
            <a:bevelT w="15240" h="1524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ounded Rectangle 38"/>
          <p:cNvSpPr/>
          <p:nvPr/>
        </p:nvSpPr>
        <p:spPr>
          <a:xfrm>
            <a:off x="7059168" y="1792224"/>
            <a:ext cx="4343400" cy="548640"/>
          </a:xfrm>
          <a:prstGeom prst="roundRect">
            <a:avLst>
              <a:gd name="adj" fmla="val 23333"/>
            </a:avLst>
          </a:prstGeom>
          <a:solidFill>
            <a:srgbClr val="F8F4E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ectangle 39"/>
          <p:cNvSpPr/>
          <p:nvPr/>
        </p:nvSpPr>
        <p:spPr>
          <a:xfrm>
            <a:off x="7059168" y="2212848"/>
            <a:ext cx="4343400" cy="128016"/>
          </a:xfrm>
          <a:prstGeom prst="rect">
            <a:avLst/>
          </a:prstGeom>
          <a:solidFill>
            <a:srgbClr val="F8F4E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TextBox 40"/>
          <p:cNvSpPr txBox="1"/>
          <p:nvPr/>
        </p:nvSpPr>
        <p:spPr>
          <a:xfrm>
            <a:off x="7278624" y="1920240"/>
            <a:ext cx="3886200" cy="274320"/>
          </a:xfrm>
          <a:prstGeom prst="rect">
            <a:avLst/>
          </a:prstGeom>
          <a:noFill/>
        </p:spPr>
        <p:txBody>
          <a:bodyPr wrap="square" lIns="0" rIns="0" tIns="0" bIns="0" anchor="t"/>
          <a:lstStyle/>
          <a:p>
            <a:pPr algn="l">
              <a:lnSpc>
                <a:spcPct val="100000"/>
              </a:lnSpc>
            </a:pPr>
            <a:r>
              <a:rPr sz="860" b="1" i="0" spc="130">
                <a:solidFill>
                  <a:srgbClr val="1F5941"/>
                </a:solidFill>
                <a:latin typeface="Segoe UI"/>
                <a:ea typeface="Segoe UI"/>
                <a:cs typeface="Segoe UI"/>
              </a:rPr>
              <a:t>TRANSPARENT WAGE LEDGER</a:t>
            </a:r>
          </a:p>
        </p:txBody>
      </p:sp>
      <p:sp>
        <p:nvSpPr>
          <p:cNvPr id="42" name="TextBox 41"/>
          <p:cNvSpPr txBox="1"/>
          <p:nvPr/>
        </p:nvSpPr>
        <p:spPr>
          <a:xfrm>
            <a:off x="7278624" y="2157984"/>
            <a:ext cx="3886200" cy="219456"/>
          </a:xfrm>
          <a:prstGeom prst="rect">
            <a:avLst/>
          </a:prstGeom>
          <a:noFill/>
        </p:spPr>
        <p:txBody>
          <a:bodyPr wrap="square" lIns="0" rIns="0" tIns="0" bIns="0" anchor="t"/>
          <a:lstStyle/>
          <a:p>
            <a:pPr algn="l">
              <a:lnSpc>
                <a:spcPct val="100000"/>
              </a:lnSpc>
            </a:pPr>
            <a:r>
              <a:rPr sz="840" b="0" i="0">
                <a:solidFill>
                  <a:srgbClr val="5F776B"/>
                </a:solidFill>
                <a:latin typeface="Segoe UI"/>
                <a:ea typeface="Segoe UI"/>
                <a:cs typeface="Segoe UI"/>
              </a:rPr>
              <a:t>inspector · Ramesh Verma · site 04</a:t>
            </a:r>
          </a:p>
        </p:txBody>
      </p:sp>
      <p:sp>
        <p:nvSpPr>
          <p:cNvPr id="43" name="TextBox 42"/>
          <p:cNvSpPr txBox="1"/>
          <p:nvPr/>
        </p:nvSpPr>
        <p:spPr>
          <a:xfrm>
            <a:off x="7278624" y="2487168"/>
            <a:ext cx="2194560" cy="219456"/>
          </a:xfrm>
          <a:prstGeom prst="rect">
            <a:avLst/>
          </a:prstGeom>
          <a:noFill/>
        </p:spPr>
        <p:txBody>
          <a:bodyPr wrap="square" lIns="0" rIns="0" tIns="0" bIns="0" anchor="t"/>
          <a:lstStyle/>
          <a:p>
            <a:pPr algn="l">
              <a:lnSpc>
                <a:spcPct val="100000"/>
              </a:lnSpc>
            </a:pPr>
            <a:r>
              <a:rPr sz="960" b="0" i="0">
                <a:solidFill>
                  <a:srgbClr val="557165"/>
                </a:solidFill>
                <a:latin typeface="Segoe UI"/>
                <a:ea typeface="Segoe UI"/>
                <a:cs typeface="Segoe UI"/>
              </a:rPr>
              <a:t>Agreed rate</a:t>
            </a:r>
          </a:p>
        </p:txBody>
      </p:sp>
      <p:sp>
        <p:nvSpPr>
          <p:cNvPr id="44" name="TextBox 43"/>
          <p:cNvSpPr txBox="1"/>
          <p:nvPr/>
        </p:nvSpPr>
        <p:spPr>
          <a:xfrm>
            <a:off x="9345167" y="2487168"/>
            <a:ext cx="1828800" cy="219456"/>
          </a:xfrm>
          <a:prstGeom prst="rect">
            <a:avLst/>
          </a:prstGeom>
          <a:noFill/>
        </p:spPr>
        <p:txBody>
          <a:bodyPr wrap="square" lIns="0" rIns="0" tIns="0" bIns="0" anchor="t"/>
          <a:lstStyle/>
          <a:p>
            <a:pPr algn="r">
              <a:lnSpc>
                <a:spcPct val="100000"/>
              </a:lnSpc>
            </a:pPr>
            <a:r>
              <a:rPr sz="980" b="0" i="0">
                <a:solidFill>
                  <a:srgbClr val="12211B"/>
                </a:solidFill>
                <a:latin typeface="Consolas"/>
                <a:ea typeface="Consolas"/>
                <a:cs typeface="Consolas"/>
              </a:rPr>
              <a:t>₹650.00</a:t>
            </a:r>
          </a:p>
        </p:txBody>
      </p:sp>
      <p:sp>
        <p:nvSpPr>
          <p:cNvPr id="45" name="Rectangle 44"/>
          <p:cNvSpPr/>
          <p:nvPr/>
        </p:nvSpPr>
        <p:spPr>
          <a:xfrm>
            <a:off x="7278624" y="2798064"/>
            <a:ext cx="3904487"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TextBox 45"/>
          <p:cNvSpPr txBox="1"/>
          <p:nvPr/>
        </p:nvSpPr>
        <p:spPr>
          <a:xfrm>
            <a:off x="7278624" y="2871216"/>
            <a:ext cx="2194560" cy="219456"/>
          </a:xfrm>
          <a:prstGeom prst="rect">
            <a:avLst/>
          </a:prstGeom>
          <a:noFill/>
        </p:spPr>
        <p:txBody>
          <a:bodyPr wrap="square" lIns="0" rIns="0" tIns="0" bIns="0" anchor="t"/>
          <a:lstStyle/>
          <a:p>
            <a:pPr algn="l">
              <a:lnSpc>
                <a:spcPct val="100000"/>
              </a:lnSpc>
            </a:pPr>
            <a:r>
              <a:rPr sz="960" b="0" i="0">
                <a:solidFill>
                  <a:srgbClr val="557165"/>
                </a:solidFill>
                <a:latin typeface="Segoe UI"/>
                <a:ea typeface="Segoe UI"/>
                <a:cs typeface="Segoe UI"/>
              </a:rPr>
              <a:t>Days</a:t>
            </a:r>
          </a:p>
        </p:txBody>
      </p:sp>
      <p:sp>
        <p:nvSpPr>
          <p:cNvPr id="47" name="TextBox 46"/>
          <p:cNvSpPr txBox="1"/>
          <p:nvPr/>
        </p:nvSpPr>
        <p:spPr>
          <a:xfrm>
            <a:off x="9345167" y="2871216"/>
            <a:ext cx="1828800" cy="219456"/>
          </a:xfrm>
          <a:prstGeom prst="rect">
            <a:avLst/>
          </a:prstGeom>
          <a:noFill/>
        </p:spPr>
        <p:txBody>
          <a:bodyPr wrap="square" lIns="0" rIns="0" tIns="0" bIns="0" anchor="t"/>
          <a:lstStyle/>
          <a:p>
            <a:pPr algn="r">
              <a:lnSpc>
                <a:spcPct val="100000"/>
              </a:lnSpc>
            </a:pPr>
            <a:r>
              <a:rPr sz="980" b="0" i="0">
                <a:solidFill>
                  <a:srgbClr val="12211B"/>
                </a:solidFill>
                <a:latin typeface="Consolas"/>
                <a:ea typeface="Consolas"/>
                <a:cs typeface="Consolas"/>
              </a:rPr>
              <a:t>4</a:t>
            </a:r>
          </a:p>
        </p:txBody>
      </p:sp>
      <p:sp>
        <p:nvSpPr>
          <p:cNvPr id="48" name="Rectangle 47"/>
          <p:cNvSpPr/>
          <p:nvPr/>
        </p:nvSpPr>
        <p:spPr>
          <a:xfrm>
            <a:off x="7278624" y="3182112"/>
            <a:ext cx="3904487"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9" name="TextBox 48"/>
          <p:cNvSpPr txBox="1"/>
          <p:nvPr/>
        </p:nvSpPr>
        <p:spPr>
          <a:xfrm>
            <a:off x="7278624" y="3255264"/>
            <a:ext cx="2194560" cy="219456"/>
          </a:xfrm>
          <a:prstGeom prst="rect">
            <a:avLst/>
          </a:prstGeom>
          <a:noFill/>
        </p:spPr>
        <p:txBody>
          <a:bodyPr wrap="square" lIns="0" rIns="0" tIns="0" bIns="0" anchor="t"/>
          <a:lstStyle/>
          <a:p>
            <a:pPr algn="l">
              <a:lnSpc>
                <a:spcPct val="100000"/>
              </a:lnSpc>
            </a:pPr>
            <a:r>
              <a:rPr sz="960" b="0" i="0">
                <a:solidFill>
                  <a:srgbClr val="557165"/>
                </a:solidFill>
                <a:latin typeface="Segoe UI"/>
                <a:ea typeface="Segoe UI"/>
                <a:cs typeface="Segoe UI"/>
              </a:rPr>
              <a:t>Hours</a:t>
            </a:r>
          </a:p>
        </p:txBody>
      </p:sp>
      <p:sp>
        <p:nvSpPr>
          <p:cNvPr id="50" name="TextBox 49"/>
          <p:cNvSpPr txBox="1"/>
          <p:nvPr/>
        </p:nvSpPr>
        <p:spPr>
          <a:xfrm>
            <a:off x="9345167" y="3255264"/>
            <a:ext cx="1828800" cy="219456"/>
          </a:xfrm>
          <a:prstGeom prst="rect">
            <a:avLst/>
          </a:prstGeom>
          <a:noFill/>
        </p:spPr>
        <p:txBody>
          <a:bodyPr wrap="square" lIns="0" rIns="0" tIns="0" bIns="0" anchor="t"/>
          <a:lstStyle/>
          <a:p>
            <a:pPr algn="r">
              <a:lnSpc>
                <a:spcPct val="100000"/>
              </a:lnSpc>
            </a:pPr>
            <a:r>
              <a:rPr sz="980" b="0" i="0">
                <a:solidFill>
                  <a:srgbClr val="12211B"/>
                </a:solidFill>
                <a:latin typeface="Consolas"/>
                <a:ea typeface="Consolas"/>
                <a:cs typeface="Consolas"/>
              </a:rPr>
              <a:t>32.0</a:t>
            </a:r>
          </a:p>
        </p:txBody>
      </p:sp>
      <p:sp>
        <p:nvSpPr>
          <p:cNvPr id="51" name="Rectangle 50"/>
          <p:cNvSpPr/>
          <p:nvPr/>
        </p:nvSpPr>
        <p:spPr>
          <a:xfrm>
            <a:off x="7278624" y="3566160"/>
            <a:ext cx="3904487"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2" name="TextBox 51"/>
          <p:cNvSpPr txBox="1"/>
          <p:nvPr/>
        </p:nvSpPr>
        <p:spPr>
          <a:xfrm>
            <a:off x="7278624" y="3639312"/>
            <a:ext cx="2194560" cy="219456"/>
          </a:xfrm>
          <a:prstGeom prst="rect">
            <a:avLst/>
          </a:prstGeom>
          <a:noFill/>
        </p:spPr>
        <p:txBody>
          <a:bodyPr wrap="square" lIns="0" rIns="0" tIns="0" bIns="0" anchor="t"/>
          <a:lstStyle/>
          <a:p>
            <a:pPr algn="l">
              <a:lnSpc>
                <a:spcPct val="100000"/>
              </a:lnSpc>
            </a:pPr>
            <a:r>
              <a:rPr sz="960" b="0" i="0">
                <a:solidFill>
                  <a:srgbClr val="557165"/>
                </a:solidFill>
                <a:latin typeface="Segoe UI"/>
                <a:ea typeface="Segoe UI"/>
                <a:cs typeface="Segoe UI"/>
              </a:rPr>
              <a:t>Wages due</a:t>
            </a:r>
          </a:p>
        </p:txBody>
      </p:sp>
      <p:sp>
        <p:nvSpPr>
          <p:cNvPr id="53" name="TextBox 52"/>
          <p:cNvSpPr txBox="1"/>
          <p:nvPr/>
        </p:nvSpPr>
        <p:spPr>
          <a:xfrm>
            <a:off x="9345167" y="3639312"/>
            <a:ext cx="1828800" cy="219456"/>
          </a:xfrm>
          <a:prstGeom prst="rect">
            <a:avLst/>
          </a:prstGeom>
          <a:noFill/>
        </p:spPr>
        <p:txBody>
          <a:bodyPr wrap="square" lIns="0" rIns="0" tIns="0" bIns="0" anchor="t"/>
          <a:lstStyle/>
          <a:p>
            <a:pPr algn="r">
              <a:lnSpc>
                <a:spcPct val="100000"/>
              </a:lnSpc>
            </a:pPr>
            <a:r>
              <a:rPr sz="980" b="1" i="0">
                <a:solidFill>
                  <a:srgbClr val="12211B"/>
                </a:solidFill>
                <a:latin typeface="Consolas"/>
                <a:ea typeface="Consolas"/>
                <a:cs typeface="Consolas"/>
              </a:rPr>
              <a:t>₹2,600.00</a:t>
            </a:r>
          </a:p>
        </p:txBody>
      </p:sp>
      <p:sp>
        <p:nvSpPr>
          <p:cNvPr id="54" name="Rectangle 53"/>
          <p:cNvSpPr/>
          <p:nvPr/>
        </p:nvSpPr>
        <p:spPr>
          <a:xfrm>
            <a:off x="7278624" y="3950208"/>
            <a:ext cx="3904487"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5" name="TextBox 54"/>
          <p:cNvSpPr txBox="1"/>
          <p:nvPr/>
        </p:nvSpPr>
        <p:spPr>
          <a:xfrm>
            <a:off x="7278624" y="4023360"/>
            <a:ext cx="2194560" cy="219456"/>
          </a:xfrm>
          <a:prstGeom prst="rect">
            <a:avLst/>
          </a:prstGeom>
          <a:noFill/>
        </p:spPr>
        <p:txBody>
          <a:bodyPr wrap="square" lIns="0" rIns="0" tIns="0" bIns="0" anchor="t"/>
          <a:lstStyle/>
          <a:p>
            <a:pPr algn="l">
              <a:lnSpc>
                <a:spcPct val="100000"/>
              </a:lnSpc>
            </a:pPr>
            <a:r>
              <a:rPr sz="960" b="0" i="0">
                <a:solidFill>
                  <a:srgbClr val="557165"/>
                </a:solidFill>
                <a:latin typeface="Segoe UI"/>
                <a:ea typeface="Segoe UI"/>
                <a:cs typeface="Segoe UI"/>
              </a:rPr>
              <a:t>Payments recorded</a:t>
            </a:r>
          </a:p>
        </p:txBody>
      </p:sp>
      <p:sp>
        <p:nvSpPr>
          <p:cNvPr id="56" name="TextBox 55"/>
          <p:cNvSpPr txBox="1"/>
          <p:nvPr/>
        </p:nvSpPr>
        <p:spPr>
          <a:xfrm>
            <a:off x="9345167" y="4023360"/>
            <a:ext cx="1828800" cy="219456"/>
          </a:xfrm>
          <a:prstGeom prst="rect">
            <a:avLst/>
          </a:prstGeom>
          <a:noFill/>
        </p:spPr>
        <p:txBody>
          <a:bodyPr wrap="square" lIns="0" rIns="0" tIns="0" bIns="0" anchor="t"/>
          <a:lstStyle/>
          <a:p>
            <a:pPr algn="r">
              <a:lnSpc>
                <a:spcPct val="100000"/>
              </a:lnSpc>
            </a:pPr>
            <a:r>
              <a:rPr sz="980" b="1" i="0">
                <a:solidFill>
                  <a:srgbClr val="12211B"/>
                </a:solidFill>
                <a:latin typeface="Consolas"/>
                <a:ea typeface="Consolas"/>
                <a:cs typeface="Consolas"/>
              </a:rPr>
              <a:t>₹1,300.00</a:t>
            </a:r>
          </a:p>
        </p:txBody>
      </p:sp>
      <p:sp>
        <p:nvSpPr>
          <p:cNvPr id="57" name="Rectangle 56"/>
          <p:cNvSpPr/>
          <p:nvPr/>
        </p:nvSpPr>
        <p:spPr>
          <a:xfrm>
            <a:off x="7278624" y="4334256"/>
            <a:ext cx="3904487"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8" name="TextBox 57"/>
          <p:cNvSpPr txBox="1"/>
          <p:nvPr/>
        </p:nvSpPr>
        <p:spPr>
          <a:xfrm>
            <a:off x="7278624" y="4407408"/>
            <a:ext cx="2194560" cy="219456"/>
          </a:xfrm>
          <a:prstGeom prst="rect">
            <a:avLst/>
          </a:prstGeom>
          <a:noFill/>
        </p:spPr>
        <p:txBody>
          <a:bodyPr wrap="square" lIns="0" rIns="0" tIns="0" bIns="0" anchor="t"/>
          <a:lstStyle/>
          <a:p>
            <a:pPr algn="l">
              <a:lnSpc>
                <a:spcPct val="100000"/>
              </a:lnSpc>
            </a:pPr>
            <a:r>
              <a:rPr sz="960" b="0" i="0">
                <a:solidFill>
                  <a:srgbClr val="557165"/>
                </a:solidFill>
                <a:latin typeface="Segoe UI"/>
                <a:ea typeface="Segoe UI"/>
                <a:cs typeface="Segoe UI"/>
              </a:rPr>
              <a:t>Outstanding</a:t>
            </a:r>
          </a:p>
        </p:txBody>
      </p:sp>
      <p:sp>
        <p:nvSpPr>
          <p:cNvPr id="59" name="TextBox 58"/>
          <p:cNvSpPr txBox="1"/>
          <p:nvPr/>
        </p:nvSpPr>
        <p:spPr>
          <a:xfrm>
            <a:off x="9345167" y="4407408"/>
            <a:ext cx="1828800" cy="219456"/>
          </a:xfrm>
          <a:prstGeom prst="rect">
            <a:avLst/>
          </a:prstGeom>
          <a:noFill/>
        </p:spPr>
        <p:txBody>
          <a:bodyPr wrap="square" lIns="0" rIns="0" tIns="0" bIns="0" anchor="t"/>
          <a:lstStyle/>
          <a:p>
            <a:pPr algn="r">
              <a:lnSpc>
                <a:spcPct val="100000"/>
              </a:lnSpc>
            </a:pPr>
            <a:r>
              <a:rPr sz="980" b="1" i="0">
                <a:solidFill>
                  <a:srgbClr val="12211B"/>
                </a:solidFill>
                <a:latin typeface="Consolas"/>
                <a:ea typeface="Consolas"/>
                <a:cs typeface="Consolas"/>
              </a:rPr>
              <a:t>₹1,300.00</a:t>
            </a:r>
          </a:p>
        </p:txBody>
      </p:sp>
      <p:sp>
        <p:nvSpPr>
          <p:cNvPr id="60" name="Rounded Rectangle 59"/>
          <p:cNvSpPr/>
          <p:nvPr/>
        </p:nvSpPr>
        <p:spPr>
          <a:xfrm>
            <a:off x="7278624" y="4864608"/>
            <a:ext cx="3886200" cy="310896"/>
          </a:xfrm>
          <a:prstGeom prst="roundRect">
            <a:avLst>
              <a:gd name="adj" fmla="val 50000"/>
            </a:avLst>
          </a:prstGeom>
          <a:solidFill>
            <a:srgbClr val="F8EDCD"/>
          </a:solidFill>
          <a:ln w="9525">
            <a:solidFill>
              <a:srgbClr val="E5C068"/>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60" b="1" i="0" spc="100">
                <a:solidFill>
                  <a:srgbClr val="6B4321"/>
                </a:solidFill>
                <a:latin typeface="Segoe UI"/>
                <a:ea typeface="Segoe UI"/>
                <a:cs typeface="Segoe UI"/>
              </a:rPr>
              <a:t>PARTIALLY PAID · ACKNOWLEDGEMENT PENDING</a:t>
            </a:r>
          </a:p>
        </p:txBody>
      </p:sp>
      <p:sp>
        <p:nvSpPr>
          <p:cNvPr id="61" name="TextBox 60"/>
          <p:cNvSpPr txBox="1"/>
          <p:nvPr/>
        </p:nvSpPr>
        <p:spPr>
          <a:xfrm>
            <a:off x="7278624" y="5303520"/>
            <a:ext cx="3886200" cy="457200"/>
          </a:xfrm>
          <a:prstGeom prst="rect">
            <a:avLst/>
          </a:prstGeom>
          <a:noFill/>
        </p:spPr>
        <p:txBody>
          <a:bodyPr wrap="square" lIns="0" rIns="0" tIns="0" bIns="0" anchor="t"/>
          <a:lstStyle/>
          <a:p>
            <a:pPr algn="l">
              <a:lnSpc>
                <a:spcPct val="116000"/>
              </a:lnSpc>
            </a:pPr>
            <a:r>
              <a:rPr sz="880" b="0" i="0">
                <a:solidFill>
                  <a:srgbClr val="5F776B"/>
                </a:solidFill>
                <a:latin typeface="Segoe UI"/>
                <a:ea typeface="Segoe UI"/>
                <a:cs typeface="Segoe UI"/>
              </a:rPr>
              <a:t>Integer paise. Deterministic. The same function renders this card in every portal and in the inspector.</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555480" y="-2578608"/>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560320" y="4526279"/>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2909986"/>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3426622"/>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PAYMENT STATES</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02  </a:t>
            </a:r>
            <a:r>
              <a:rPr sz="950" b="1" i="0" spc="140">
                <a:solidFill>
                  <a:srgbClr val="5F776B"/>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Recorded is not the same as received</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14 / 26</a:t>
            </a:r>
          </a:p>
        </p:txBody>
      </p:sp>
      <p:grpSp>
        <p:nvGrpSpPr>
          <p:cNvPr id="14" name="!!state-1"/>
          <p:cNvGrpSpPr/>
          <p:nvPr/>
        </p:nvGrpSpPr>
        <p:grpSpPr>
          <a:xfrm>
            <a:off x="786384" y="1828800"/>
            <a:ext cx="2006193" cy="914400"/>
            <a:chOff x="786384" y="1828800"/>
            <a:chExt cx="2006193" cy="914400"/>
          </a:xfrm>
        </p:grpSpPr>
        <p:sp>
          <p:nvSpPr>
            <p:cNvPr id="15" name="Rounded Rectangle 14"/>
            <p:cNvSpPr/>
            <p:nvPr/>
          </p:nvSpPr>
          <p:spPr>
            <a:xfrm>
              <a:off x="786384" y="1828800"/>
              <a:ext cx="2006193" cy="603504"/>
            </a:xfrm>
            <a:prstGeom prst="roundRect">
              <a:avLst>
                <a:gd name="adj" fmla="val 15151"/>
              </a:avLst>
            </a:prstGeom>
            <a:solidFill>
              <a:srgbClr val="F0E9DA"/>
            </a:solidFill>
            <a:ln w="10160">
              <a:solidFill>
                <a:srgbClr val="33483F"/>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896112" y="1938528"/>
              <a:ext cx="1786737" cy="384048"/>
            </a:xfrm>
            <a:prstGeom prst="rect">
              <a:avLst/>
            </a:prstGeom>
            <a:noFill/>
          </p:spPr>
          <p:txBody>
            <a:bodyPr wrap="square" lIns="0" rIns="0" tIns="0" bIns="0" anchor="ctr"/>
            <a:lstStyle/>
            <a:p>
              <a:pPr algn="ctr">
                <a:lnSpc>
                  <a:spcPct val="100000"/>
                </a:lnSpc>
              </a:pPr>
              <a:r>
                <a:rPr sz="1050" b="1" i="0">
                  <a:solidFill>
                    <a:srgbClr val="33483F"/>
                  </a:solidFill>
                  <a:latin typeface="Segoe UI"/>
                  <a:ea typeface="Segoe UI"/>
                  <a:cs typeface="Segoe UI"/>
                </a:rPr>
                <a:t>Unpaid</a:t>
              </a:r>
            </a:p>
          </p:txBody>
        </p:sp>
        <p:sp>
          <p:nvSpPr>
            <p:cNvPr id="17" name="TextBox 16"/>
            <p:cNvSpPr txBox="1"/>
            <p:nvPr/>
          </p:nvSpPr>
          <p:spPr>
            <a:xfrm>
              <a:off x="859536" y="2523744"/>
              <a:ext cx="1859889" cy="219456"/>
            </a:xfrm>
            <a:prstGeom prst="rect">
              <a:avLst/>
            </a:prstGeom>
            <a:noFill/>
          </p:spPr>
          <p:txBody>
            <a:bodyPr wrap="square" lIns="0" rIns="0" tIns="0" bIns="0" anchor="t"/>
            <a:lstStyle/>
            <a:p>
              <a:pPr algn="ctr">
                <a:lnSpc>
                  <a:spcPct val="100000"/>
                </a:lnSpc>
              </a:pPr>
              <a:r>
                <a:rPr sz="819" b="0" i="0">
                  <a:solidFill>
                    <a:srgbClr val="5F776B"/>
                  </a:solidFill>
                  <a:latin typeface="Segoe UI"/>
                  <a:ea typeface="Segoe UI"/>
                  <a:cs typeface="Segoe UI"/>
                </a:rPr>
                <a:t>nothing entered</a:t>
              </a:r>
            </a:p>
          </p:txBody>
        </p:sp>
      </p:grpSp>
      <p:cxnSp>
        <p:nvCxnSpPr>
          <p:cNvPr id="18" name="Connector 17"/>
          <p:cNvCxnSpPr/>
          <p:nvPr/>
        </p:nvCxnSpPr>
        <p:spPr>
          <a:xfrm>
            <a:off x="2801721" y="2130552"/>
            <a:ext cx="128016" cy="0"/>
          </a:xfrm>
          <a:prstGeom prst="line">
            <a:avLst/>
          </a:prstGeom>
          <a:ln w="1270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9" name="!!state-2"/>
          <p:cNvGrpSpPr/>
          <p:nvPr/>
        </p:nvGrpSpPr>
        <p:grpSpPr>
          <a:xfrm>
            <a:off x="2938881" y="1828800"/>
            <a:ext cx="2006193" cy="914400"/>
            <a:chOff x="2938881" y="1828800"/>
            <a:chExt cx="2006193" cy="914400"/>
          </a:xfrm>
        </p:grpSpPr>
        <p:sp>
          <p:nvSpPr>
            <p:cNvPr id="20" name="Rounded Rectangle 19"/>
            <p:cNvSpPr/>
            <p:nvPr/>
          </p:nvSpPr>
          <p:spPr>
            <a:xfrm>
              <a:off x="2938881" y="1828800"/>
              <a:ext cx="2006193" cy="603504"/>
            </a:xfrm>
            <a:prstGeom prst="roundRect">
              <a:avLst>
                <a:gd name="adj" fmla="val 15151"/>
              </a:avLst>
            </a:prstGeom>
            <a:solidFill>
              <a:srgbClr val="F8EDCD"/>
            </a:solidFill>
            <a:ln w="10160">
              <a:solidFill>
                <a:srgbClr val="6B4321"/>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3048609" y="1938528"/>
              <a:ext cx="1786737" cy="384048"/>
            </a:xfrm>
            <a:prstGeom prst="rect">
              <a:avLst/>
            </a:prstGeom>
            <a:noFill/>
          </p:spPr>
          <p:txBody>
            <a:bodyPr wrap="square" lIns="0" rIns="0" tIns="0" bIns="0" anchor="ctr"/>
            <a:lstStyle/>
            <a:p>
              <a:pPr algn="ctr">
                <a:lnSpc>
                  <a:spcPct val="100000"/>
                </a:lnSpc>
              </a:pPr>
              <a:r>
                <a:rPr sz="1050" b="1" i="0">
                  <a:solidFill>
                    <a:srgbClr val="6B4321"/>
                  </a:solidFill>
                  <a:latin typeface="Segoe UI"/>
                  <a:ea typeface="Segoe UI"/>
                  <a:cs typeface="Segoe UI"/>
                </a:rPr>
                <a:t>Partially paid</a:t>
              </a:r>
            </a:p>
          </p:txBody>
        </p:sp>
        <p:sp>
          <p:nvSpPr>
            <p:cNvPr id="22" name="TextBox 21"/>
            <p:cNvSpPr txBox="1"/>
            <p:nvPr/>
          </p:nvSpPr>
          <p:spPr>
            <a:xfrm>
              <a:off x="3012033" y="2523744"/>
              <a:ext cx="1859889" cy="219456"/>
            </a:xfrm>
            <a:prstGeom prst="rect">
              <a:avLst/>
            </a:prstGeom>
            <a:noFill/>
          </p:spPr>
          <p:txBody>
            <a:bodyPr wrap="square" lIns="0" rIns="0" tIns="0" bIns="0" anchor="t"/>
            <a:lstStyle/>
            <a:p>
              <a:pPr algn="ctr">
                <a:lnSpc>
                  <a:spcPct val="100000"/>
                </a:lnSpc>
              </a:pPr>
              <a:r>
                <a:rPr sz="819" b="0" i="0">
                  <a:solidFill>
                    <a:srgbClr val="5F776B"/>
                  </a:solidFill>
                  <a:latin typeface="Segoe UI"/>
                  <a:ea typeface="Segoe UI"/>
                  <a:cs typeface="Segoe UI"/>
                </a:rPr>
                <a:t>some amount entered</a:t>
              </a:r>
            </a:p>
          </p:txBody>
        </p:sp>
      </p:grpSp>
      <p:cxnSp>
        <p:nvCxnSpPr>
          <p:cNvPr id="23" name="Connector 22"/>
          <p:cNvCxnSpPr/>
          <p:nvPr/>
        </p:nvCxnSpPr>
        <p:spPr>
          <a:xfrm>
            <a:off x="4954219" y="2130552"/>
            <a:ext cx="128016" cy="0"/>
          </a:xfrm>
          <a:prstGeom prst="line">
            <a:avLst/>
          </a:prstGeom>
          <a:ln w="1270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24" name="!!state-3"/>
          <p:cNvGrpSpPr/>
          <p:nvPr/>
        </p:nvGrpSpPr>
        <p:grpSpPr>
          <a:xfrm>
            <a:off x="5091379" y="1828800"/>
            <a:ext cx="2006193" cy="914400"/>
            <a:chOff x="5091379" y="1828800"/>
            <a:chExt cx="2006193" cy="914400"/>
          </a:xfrm>
        </p:grpSpPr>
        <p:sp>
          <p:nvSpPr>
            <p:cNvPr id="25" name="Rounded Rectangle 24"/>
            <p:cNvSpPr/>
            <p:nvPr/>
          </p:nvSpPr>
          <p:spPr>
            <a:xfrm>
              <a:off x="5091379" y="1828800"/>
              <a:ext cx="2006193" cy="603504"/>
            </a:xfrm>
            <a:prstGeom prst="roundRect">
              <a:avLst>
                <a:gd name="adj" fmla="val 15151"/>
              </a:avLst>
            </a:prstGeom>
            <a:solidFill>
              <a:srgbClr val="E5C068"/>
            </a:solidFill>
            <a:ln w="10160">
              <a:solidFill>
                <a:srgbClr val="6B4321"/>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5201107" y="1938528"/>
              <a:ext cx="1786737" cy="384048"/>
            </a:xfrm>
            <a:prstGeom prst="rect">
              <a:avLst/>
            </a:prstGeom>
            <a:noFill/>
          </p:spPr>
          <p:txBody>
            <a:bodyPr wrap="square" lIns="0" rIns="0" tIns="0" bIns="0" anchor="ctr"/>
            <a:lstStyle/>
            <a:p>
              <a:pPr algn="ctr">
                <a:lnSpc>
                  <a:spcPct val="100000"/>
                </a:lnSpc>
              </a:pPr>
              <a:r>
                <a:rPr sz="1050" b="1" i="0">
                  <a:solidFill>
                    <a:srgbClr val="6B4321"/>
                  </a:solidFill>
                  <a:latin typeface="Segoe UI"/>
                  <a:ea typeface="Segoe UI"/>
                  <a:cs typeface="Segoe UI"/>
                </a:rPr>
                <a:t>Recorded as paid</a:t>
              </a:r>
            </a:p>
          </p:txBody>
        </p:sp>
        <p:sp>
          <p:nvSpPr>
            <p:cNvPr id="27" name="TextBox 26"/>
            <p:cNvSpPr txBox="1"/>
            <p:nvPr/>
          </p:nvSpPr>
          <p:spPr>
            <a:xfrm>
              <a:off x="5164531" y="2523744"/>
              <a:ext cx="1859889" cy="219456"/>
            </a:xfrm>
            <a:prstGeom prst="rect">
              <a:avLst/>
            </a:prstGeom>
            <a:noFill/>
          </p:spPr>
          <p:txBody>
            <a:bodyPr wrap="square" lIns="0" rIns="0" tIns="0" bIns="0" anchor="t"/>
            <a:lstStyle/>
            <a:p>
              <a:pPr algn="ctr">
                <a:lnSpc>
                  <a:spcPct val="100000"/>
                </a:lnSpc>
              </a:pPr>
              <a:r>
                <a:rPr sz="819" b="0" i="0">
                  <a:solidFill>
                    <a:srgbClr val="5F776B"/>
                  </a:solidFill>
                  <a:latin typeface="Segoe UI"/>
                  <a:ea typeface="Segoe UI"/>
                  <a:cs typeface="Segoe UI"/>
                </a:rPr>
                <a:t>contractor's entry</a:t>
              </a:r>
            </a:p>
          </p:txBody>
        </p:sp>
      </p:grpSp>
      <p:cxnSp>
        <p:nvCxnSpPr>
          <p:cNvPr id="28" name="Connector 27"/>
          <p:cNvCxnSpPr/>
          <p:nvPr/>
        </p:nvCxnSpPr>
        <p:spPr>
          <a:xfrm>
            <a:off x="7106716" y="2130552"/>
            <a:ext cx="128016" cy="0"/>
          </a:xfrm>
          <a:prstGeom prst="line">
            <a:avLst/>
          </a:prstGeom>
          <a:ln w="1270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29" name="!!state-4"/>
          <p:cNvGrpSpPr/>
          <p:nvPr/>
        </p:nvGrpSpPr>
        <p:grpSpPr>
          <a:xfrm>
            <a:off x="7243876" y="1828800"/>
            <a:ext cx="2006193" cy="914400"/>
            <a:chOff x="7243876" y="1828800"/>
            <a:chExt cx="2006193" cy="914400"/>
          </a:xfrm>
        </p:grpSpPr>
        <p:sp>
          <p:nvSpPr>
            <p:cNvPr id="30" name="Rounded Rectangle 29"/>
            <p:cNvSpPr/>
            <p:nvPr/>
          </p:nvSpPr>
          <p:spPr>
            <a:xfrm>
              <a:off x="7243876" y="1828800"/>
              <a:ext cx="2006193" cy="603504"/>
            </a:xfrm>
            <a:prstGeom prst="roundRect">
              <a:avLst>
                <a:gd name="adj" fmla="val 15151"/>
              </a:avLst>
            </a:prstGeom>
            <a:solidFill>
              <a:srgbClr val="DCEFE4"/>
            </a:solidFill>
            <a:ln w="10160">
              <a:solidFill>
                <a:srgbClr val="1B4936"/>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7353604" y="1938528"/>
              <a:ext cx="1786737" cy="384048"/>
            </a:xfrm>
            <a:prstGeom prst="rect">
              <a:avLst/>
            </a:prstGeom>
            <a:noFill/>
          </p:spPr>
          <p:txBody>
            <a:bodyPr wrap="square" lIns="0" rIns="0" tIns="0" bIns="0" anchor="ctr"/>
            <a:lstStyle/>
            <a:p>
              <a:pPr algn="ctr">
                <a:lnSpc>
                  <a:spcPct val="100000"/>
                </a:lnSpc>
              </a:pPr>
              <a:r>
                <a:rPr sz="1050" b="1" i="0">
                  <a:solidFill>
                    <a:srgbClr val="1B4936"/>
                  </a:solidFill>
                  <a:latin typeface="Segoe UI"/>
                  <a:ea typeface="Segoe UI"/>
                  <a:cs typeface="Segoe UI"/>
                </a:rPr>
                <a:t>Acknowledged</a:t>
              </a:r>
            </a:p>
          </p:txBody>
        </p:sp>
        <p:sp>
          <p:nvSpPr>
            <p:cNvPr id="32" name="TextBox 31"/>
            <p:cNvSpPr txBox="1"/>
            <p:nvPr/>
          </p:nvSpPr>
          <p:spPr>
            <a:xfrm>
              <a:off x="7317028" y="2523744"/>
              <a:ext cx="1859889" cy="219456"/>
            </a:xfrm>
            <a:prstGeom prst="rect">
              <a:avLst/>
            </a:prstGeom>
            <a:noFill/>
          </p:spPr>
          <p:txBody>
            <a:bodyPr wrap="square" lIns="0" rIns="0" tIns="0" bIns="0" anchor="t"/>
            <a:lstStyle/>
            <a:p>
              <a:pPr algn="ctr">
                <a:lnSpc>
                  <a:spcPct val="100000"/>
                </a:lnSpc>
              </a:pPr>
              <a:r>
                <a:rPr sz="819" b="0" i="0">
                  <a:solidFill>
                    <a:srgbClr val="5F776B"/>
                  </a:solidFill>
                  <a:latin typeface="Segoe UI"/>
                  <a:ea typeface="Segoe UI"/>
                  <a:cs typeface="Segoe UI"/>
                </a:rPr>
                <a:t>worker confirms</a:t>
              </a:r>
            </a:p>
          </p:txBody>
        </p:sp>
      </p:grpSp>
      <p:cxnSp>
        <p:nvCxnSpPr>
          <p:cNvPr id="33" name="Connector 32"/>
          <p:cNvCxnSpPr/>
          <p:nvPr/>
        </p:nvCxnSpPr>
        <p:spPr>
          <a:xfrm>
            <a:off x="9259214" y="2130552"/>
            <a:ext cx="128016" cy="0"/>
          </a:xfrm>
          <a:prstGeom prst="line">
            <a:avLst/>
          </a:prstGeom>
          <a:ln w="1270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4" name="!!state-5"/>
          <p:cNvGrpSpPr/>
          <p:nvPr/>
        </p:nvGrpSpPr>
        <p:grpSpPr>
          <a:xfrm>
            <a:off x="9396374" y="1828800"/>
            <a:ext cx="2006193" cy="914400"/>
            <a:chOff x="9396374" y="1828800"/>
            <a:chExt cx="2006193" cy="914400"/>
          </a:xfrm>
        </p:grpSpPr>
        <p:sp>
          <p:nvSpPr>
            <p:cNvPr id="35" name="Rounded Rectangle 34"/>
            <p:cNvSpPr/>
            <p:nvPr/>
          </p:nvSpPr>
          <p:spPr>
            <a:xfrm>
              <a:off x="9396374" y="1828800"/>
              <a:ext cx="2006193" cy="603504"/>
            </a:xfrm>
            <a:prstGeom prst="roundRect">
              <a:avLst>
                <a:gd name="adj" fmla="val 15151"/>
              </a:avLst>
            </a:prstGeom>
            <a:solidFill>
              <a:srgbClr val="F4E2DC"/>
            </a:solidFill>
            <a:ln w="10160">
              <a:solidFill>
                <a:srgbClr val="8E3625"/>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9506102" y="1938528"/>
              <a:ext cx="1786737" cy="384048"/>
            </a:xfrm>
            <a:prstGeom prst="rect">
              <a:avLst/>
            </a:prstGeom>
            <a:noFill/>
          </p:spPr>
          <p:txBody>
            <a:bodyPr wrap="square" lIns="0" rIns="0" tIns="0" bIns="0" anchor="ctr"/>
            <a:lstStyle/>
            <a:p>
              <a:pPr algn="ctr">
                <a:lnSpc>
                  <a:spcPct val="100000"/>
                </a:lnSpc>
              </a:pPr>
              <a:r>
                <a:rPr sz="1050" b="1" i="0">
                  <a:solidFill>
                    <a:srgbClr val="8E3625"/>
                  </a:solidFill>
                  <a:latin typeface="Segoe UI"/>
                  <a:ea typeface="Segoe UI"/>
                  <a:cs typeface="Segoe UI"/>
                </a:rPr>
                <a:t>Disputed</a:t>
              </a:r>
            </a:p>
          </p:txBody>
        </p:sp>
        <p:sp>
          <p:nvSpPr>
            <p:cNvPr id="37" name="TextBox 36"/>
            <p:cNvSpPr txBox="1"/>
            <p:nvPr/>
          </p:nvSpPr>
          <p:spPr>
            <a:xfrm>
              <a:off x="9469526" y="2523744"/>
              <a:ext cx="1859889" cy="219456"/>
            </a:xfrm>
            <a:prstGeom prst="rect">
              <a:avLst/>
            </a:prstGeom>
            <a:noFill/>
          </p:spPr>
          <p:txBody>
            <a:bodyPr wrap="square" lIns="0" rIns="0" tIns="0" bIns="0" anchor="t"/>
            <a:lstStyle/>
            <a:p>
              <a:pPr algn="ctr">
                <a:lnSpc>
                  <a:spcPct val="100000"/>
                </a:lnSpc>
              </a:pPr>
              <a:r>
                <a:rPr sz="819" b="0" i="0">
                  <a:solidFill>
                    <a:srgbClr val="5F776B"/>
                  </a:solidFill>
                  <a:latin typeface="Segoe UI"/>
                  <a:ea typeface="Segoe UI"/>
                  <a:cs typeface="Segoe UI"/>
                </a:rPr>
                <a:t>either party objects</a:t>
              </a:r>
            </a:p>
          </p:txBody>
        </p:sp>
      </p:grpSp>
      <p:sp>
        <p:nvSpPr>
          <p:cNvPr id="38" name="!!neq-band"/>
          <p:cNvSpPr/>
          <p:nvPr/>
        </p:nvSpPr>
        <p:spPr>
          <a:xfrm>
            <a:off x="786384" y="2999232"/>
            <a:ext cx="10616184" cy="960120"/>
          </a:xfrm>
          <a:prstGeom prst="roundRect">
            <a:avLst>
              <a:gd name="adj" fmla="val 9523"/>
            </a:avLst>
          </a:prstGeom>
          <a:solidFill>
            <a:srgbClr val="0A2219"/>
          </a:solidFill>
          <a:ln>
            <a:no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TextBox 38"/>
          <p:cNvSpPr txBox="1"/>
          <p:nvPr/>
        </p:nvSpPr>
        <p:spPr>
          <a:xfrm>
            <a:off x="1097280" y="3145536"/>
            <a:ext cx="9976104" cy="658368"/>
          </a:xfrm>
          <a:prstGeom prst="rect">
            <a:avLst/>
          </a:prstGeom>
          <a:noFill/>
        </p:spPr>
        <p:txBody>
          <a:bodyPr wrap="square" lIns="0" rIns="0" tIns="0" bIns="0" anchor="ctr"/>
          <a:lstStyle/>
          <a:p>
            <a:pPr algn="l">
              <a:lnSpc>
                <a:spcPct val="120000"/>
              </a:lnSpc>
              <a:spcAft>
                <a:spcPts val="0"/>
              </a:spcAft>
            </a:pPr>
            <a:r>
              <a:rPr sz="1200" b="1" i="0">
                <a:solidFill>
                  <a:srgbClr val="E5C068"/>
                </a:solidFill>
                <a:latin typeface="Segoe UI"/>
                <a:ea typeface="Segoe UI"/>
                <a:cs typeface="Segoe UI"/>
              </a:rPr>
              <a:t>PAYMENT RECORDED</a:t>
            </a:r>
            <a:r>
              <a:rPr sz="1600" b="1" i="0">
                <a:solidFill>
                  <a:srgbClr val="FDFBF6"/>
                </a:solidFill>
                <a:latin typeface="Segoe UI"/>
                <a:ea typeface="Segoe UI"/>
                <a:cs typeface="Segoe UI"/>
              </a:rPr>
              <a:t>  ≠  </a:t>
            </a:r>
            <a:r>
              <a:rPr sz="1200" b="1" i="0">
                <a:solidFill>
                  <a:srgbClr val="BADFCA"/>
                </a:solidFill>
                <a:latin typeface="Segoe UI"/>
                <a:ea typeface="Segoe UI"/>
                <a:cs typeface="Segoe UI"/>
              </a:rPr>
              <a:t>PAYMENT RECEIVED</a:t>
            </a:r>
          </a:p>
          <a:p>
            <a:pPr algn="l">
              <a:lnSpc>
                <a:spcPct val="120000"/>
              </a:lnSpc>
            </a:pPr>
            <a:r>
              <a:rPr sz="1000" b="0" i="0">
                <a:solidFill>
                  <a:srgbClr val="E3D8C2"/>
                </a:solidFill>
                <a:latin typeface="Segoe UI"/>
                <a:ea typeface="Segoe UI"/>
                <a:cs typeface="Segoe UI"/>
              </a:rPr>
              <a:t>Two separate facts, two separate actors, two separate timestamps — and the ledger shows both.</a:t>
            </a:r>
          </a:p>
        </p:txBody>
      </p:sp>
      <p:grpSp>
        <p:nvGrpSpPr>
          <p:cNvPr id="40" name="!!payment-note-1"/>
          <p:cNvGrpSpPr/>
          <p:nvPr/>
        </p:nvGrpSpPr>
        <p:grpSpPr>
          <a:xfrm>
            <a:off x="786384" y="4187952"/>
            <a:ext cx="3416808" cy="1371600"/>
            <a:chOff x="786384" y="4187952"/>
            <a:chExt cx="3416808" cy="1371600"/>
          </a:xfrm>
        </p:grpSpPr>
        <p:sp>
          <p:nvSpPr>
            <p:cNvPr id="41" name="Rounded Rectangle 40"/>
            <p:cNvSpPr/>
            <p:nvPr/>
          </p:nvSpPr>
          <p:spPr>
            <a:xfrm>
              <a:off x="786384" y="4187952"/>
              <a:ext cx="3416808" cy="1371600"/>
            </a:xfrm>
            <a:prstGeom prst="roundRect">
              <a:avLst>
                <a:gd name="adj" fmla="val 8000"/>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Rectangle 41"/>
            <p:cNvSpPr/>
            <p:nvPr/>
          </p:nvSpPr>
          <p:spPr>
            <a:xfrm>
              <a:off x="1005840" y="4334256"/>
              <a:ext cx="329184" cy="27432"/>
            </a:xfrm>
            <a:prstGeom prst="rect">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TextBox 42"/>
            <p:cNvSpPr txBox="1"/>
            <p:nvPr/>
          </p:nvSpPr>
          <p:spPr>
            <a:xfrm>
              <a:off x="1005840" y="4443984"/>
              <a:ext cx="2977896" cy="237744"/>
            </a:xfrm>
            <a:prstGeom prst="rect">
              <a:avLst/>
            </a:prstGeom>
            <a:noFill/>
          </p:spPr>
          <p:txBody>
            <a:bodyPr wrap="square" lIns="0" rIns="0" tIns="0" bIns="0" anchor="t"/>
            <a:lstStyle/>
            <a:p>
              <a:pPr algn="l">
                <a:lnSpc>
                  <a:spcPct val="100000"/>
                </a:lnSpc>
              </a:pPr>
              <a:r>
                <a:rPr sz="1060" b="1" i="0">
                  <a:solidFill>
                    <a:srgbClr val="12211B"/>
                  </a:solidFill>
                  <a:latin typeface="Segoe UI"/>
                  <a:ea typeface="Segoe UI"/>
                  <a:cs typeface="Segoe UI"/>
                </a:rPr>
                <a:t>The contractor records</a:t>
              </a:r>
            </a:p>
          </p:txBody>
        </p:sp>
        <p:sp>
          <p:nvSpPr>
            <p:cNvPr id="44" name="TextBox 43"/>
            <p:cNvSpPr txBox="1"/>
            <p:nvPr/>
          </p:nvSpPr>
          <p:spPr>
            <a:xfrm>
              <a:off x="1005840" y="4718304"/>
              <a:ext cx="2977896" cy="749808"/>
            </a:xfrm>
            <a:prstGeom prst="rect">
              <a:avLst/>
            </a:prstGeom>
            <a:noFill/>
          </p:spPr>
          <p:txBody>
            <a:bodyPr wrap="square" lIns="0" rIns="0" tIns="0" bIns="0" anchor="t"/>
            <a:lstStyle/>
            <a:p>
              <a:pPr algn="l">
                <a:lnSpc>
                  <a:spcPct val="118000"/>
                </a:lnSpc>
              </a:pPr>
              <a:r>
                <a:rPr sz="919" b="0" i="0">
                  <a:solidFill>
                    <a:srgbClr val="557165"/>
                  </a:solidFill>
                  <a:latin typeface="Segoe UI"/>
                  <a:ea typeface="Segoe UI"/>
                  <a:cs typeface="Segoe UI"/>
                </a:rPr>
                <a:t>Amount, date and method entered against the work record. It proves an entry was made — not that cash or a transfer reached the worker.</a:t>
              </a:r>
            </a:p>
          </p:txBody>
        </p:sp>
      </p:grpSp>
      <p:grpSp>
        <p:nvGrpSpPr>
          <p:cNvPr id="45" name="!!payment-note-2"/>
          <p:cNvGrpSpPr/>
          <p:nvPr/>
        </p:nvGrpSpPr>
        <p:grpSpPr>
          <a:xfrm>
            <a:off x="4386072" y="4187952"/>
            <a:ext cx="3416808" cy="1371600"/>
            <a:chOff x="4386072" y="4187952"/>
            <a:chExt cx="3416808" cy="1371600"/>
          </a:xfrm>
        </p:grpSpPr>
        <p:sp>
          <p:nvSpPr>
            <p:cNvPr id="46" name="Rounded Rectangle 45"/>
            <p:cNvSpPr/>
            <p:nvPr/>
          </p:nvSpPr>
          <p:spPr>
            <a:xfrm>
              <a:off x="4386072" y="4187952"/>
              <a:ext cx="3416808" cy="1371600"/>
            </a:xfrm>
            <a:prstGeom prst="roundRect">
              <a:avLst>
                <a:gd name="adj" fmla="val 8000"/>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Rectangle 46"/>
            <p:cNvSpPr/>
            <p:nvPr/>
          </p:nvSpPr>
          <p:spPr>
            <a:xfrm>
              <a:off x="4605528" y="4334256"/>
              <a:ext cx="329184" cy="27432"/>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TextBox 47"/>
            <p:cNvSpPr txBox="1"/>
            <p:nvPr/>
          </p:nvSpPr>
          <p:spPr>
            <a:xfrm>
              <a:off x="4605528" y="4443984"/>
              <a:ext cx="2977896" cy="237744"/>
            </a:xfrm>
            <a:prstGeom prst="rect">
              <a:avLst/>
            </a:prstGeom>
            <a:noFill/>
          </p:spPr>
          <p:txBody>
            <a:bodyPr wrap="square" lIns="0" rIns="0" tIns="0" bIns="0" anchor="t"/>
            <a:lstStyle/>
            <a:p>
              <a:pPr algn="l">
                <a:lnSpc>
                  <a:spcPct val="100000"/>
                </a:lnSpc>
              </a:pPr>
              <a:r>
                <a:rPr sz="1060" b="1" i="0">
                  <a:solidFill>
                    <a:srgbClr val="12211B"/>
                  </a:solidFill>
                  <a:latin typeface="Segoe UI"/>
                  <a:ea typeface="Segoe UI"/>
                  <a:cs typeface="Segoe UI"/>
                </a:rPr>
                <a:t>The worker acknowledges</a:t>
              </a:r>
            </a:p>
          </p:txBody>
        </p:sp>
        <p:sp>
          <p:nvSpPr>
            <p:cNvPr id="49" name="TextBox 48"/>
            <p:cNvSpPr txBox="1"/>
            <p:nvPr/>
          </p:nvSpPr>
          <p:spPr>
            <a:xfrm>
              <a:off x="4605528" y="4718304"/>
              <a:ext cx="2977896" cy="749808"/>
            </a:xfrm>
            <a:prstGeom prst="rect">
              <a:avLst/>
            </a:prstGeom>
            <a:noFill/>
          </p:spPr>
          <p:txBody>
            <a:bodyPr wrap="square" lIns="0" rIns="0" tIns="0" bIns="0" anchor="t"/>
            <a:lstStyle/>
            <a:p>
              <a:pPr algn="l">
                <a:lnSpc>
                  <a:spcPct val="118000"/>
                </a:lnSpc>
              </a:pPr>
              <a:r>
                <a:rPr sz="919" b="0" i="0">
                  <a:solidFill>
                    <a:srgbClr val="557165"/>
                  </a:solidFill>
                  <a:latin typeface="Segoe UI"/>
                  <a:ea typeface="Segoe UI"/>
                  <a:cs typeface="Segoe UI"/>
                </a:rPr>
                <a:t>The worker confirms receipt on their own device. Until then the record reads "unpaid (acknowledgement pending)" — deliberately.</a:t>
              </a:r>
            </a:p>
          </p:txBody>
        </p:sp>
      </p:grpSp>
      <p:grpSp>
        <p:nvGrpSpPr>
          <p:cNvPr id="50" name="!!payment-note-3"/>
          <p:cNvGrpSpPr/>
          <p:nvPr/>
        </p:nvGrpSpPr>
        <p:grpSpPr>
          <a:xfrm>
            <a:off x="7985760" y="4187952"/>
            <a:ext cx="3416808" cy="1371600"/>
            <a:chOff x="7985760" y="4187952"/>
            <a:chExt cx="3416808" cy="1371600"/>
          </a:xfrm>
        </p:grpSpPr>
        <p:sp>
          <p:nvSpPr>
            <p:cNvPr id="51" name="Rounded Rectangle 50"/>
            <p:cNvSpPr/>
            <p:nvPr/>
          </p:nvSpPr>
          <p:spPr>
            <a:xfrm>
              <a:off x="7985760" y="4187952"/>
              <a:ext cx="3416808" cy="1371600"/>
            </a:xfrm>
            <a:prstGeom prst="roundRect">
              <a:avLst>
                <a:gd name="adj" fmla="val 8000"/>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2" name="Rectangle 51"/>
            <p:cNvSpPr/>
            <p:nvPr/>
          </p:nvSpPr>
          <p:spPr>
            <a:xfrm>
              <a:off x="8205216" y="4334256"/>
              <a:ext cx="329184" cy="27432"/>
            </a:xfrm>
            <a:prstGeom prst="rect">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3" name="TextBox 52"/>
            <p:cNvSpPr txBox="1"/>
            <p:nvPr/>
          </p:nvSpPr>
          <p:spPr>
            <a:xfrm>
              <a:off x="8205216" y="4443984"/>
              <a:ext cx="2977896" cy="237744"/>
            </a:xfrm>
            <a:prstGeom prst="rect">
              <a:avLst/>
            </a:prstGeom>
            <a:noFill/>
          </p:spPr>
          <p:txBody>
            <a:bodyPr wrap="square" lIns="0" rIns="0" tIns="0" bIns="0" anchor="t"/>
            <a:lstStyle/>
            <a:p>
              <a:pPr algn="l">
                <a:lnSpc>
                  <a:spcPct val="100000"/>
                </a:lnSpc>
              </a:pPr>
              <a:r>
                <a:rPr sz="1060" b="1" i="0">
                  <a:solidFill>
                    <a:srgbClr val="12211B"/>
                  </a:solidFill>
                  <a:latin typeface="Segoe UI"/>
                  <a:ea typeface="Segoe UI"/>
                  <a:cs typeface="Segoe UI"/>
                </a:rPr>
                <a:t>The system keeps both</a:t>
              </a:r>
            </a:p>
          </p:txBody>
        </p:sp>
        <p:sp>
          <p:nvSpPr>
            <p:cNvPr id="54" name="TextBox 53"/>
            <p:cNvSpPr txBox="1"/>
            <p:nvPr/>
          </p:nvSpPr>
          <p:spPr>
            <a:xfrm>
              <a:off x="8205216" y="4718304"/>
              <a:ext cx="2977896" cy="749808"/>
            </a:xfrm>
            <a:prstGeom prst="rect">
              <a:avLst/>
            </a:prstGeom>
            <a:noFill/>
          </p:spPr>
          <p:txBody>
            <a:bodyPr wrap="square" lIns="0" rIns="0" tIns="0" bIns="0" anchor="t"/>
            <a:lstStyle/>
            <a:p>
              <a:pPr algn="l">
                <a:lnSpc>
                  <a:spcPct val="118000"/>
                </a:lnSpc>
              </a:pPr>
              <a:r>
                <a:rPr sz="919" b="0" i="0">
                  <a:solidFill>
                    <a:srgbClr val="557165"/>
                  </a:solidFill>
                  <a:latin typeface="Segoe UI"/>
                  <a:ea typeface="Segoe UI"/>
                  <a:cs typeface="Segoe UI"/>
                </a:rPr>
                <a:t>No state is inferred, merged or auto-completed. A gap between the two is a fact the interface displays, not a glitch it hides.</a:t>
              </a:r>
            </a:p>
          </p:txBody>
        </p:sp>
      </p:grpSp>
      <p:sp>
        <p:nvSpPr>
          <p:cNvPr id="55" name="TextBox 54"/>
          <p:cNvSpPr txBox="1"/>
          <p:nvPr/>
        </p:nvSpPr>
        <p:spPr>
          <a:xfrm>
            <a:off x="786384" y="5742432"/>
            <a:ext cx="10616184" cy="365760"/>
          </a:xfrm>
          <a:prstGeom prst="rect">
            <a:avLst/>
          </a:prstGeom>
          <a:noFill/>
        </p:spPr>
        <p:txBody>
          <a:bodyPr wrap="square" lIns="0" rIns="0" tIns="0" bIns="0" anchor="t"/>
          <a:lstStyle/>
          <a:p>
            <a:pPr algn="l">
              <a:lnSpc>
                <a:spcPct val="100000"/>
              </a:lnSpc>
            </a:pPr>
            <a:r>
              <a:rPr sz="980" b="0" i="1">
                <a:solidFill>
                  <a:srgbClr val="5F776B"/>
                </a:solidFill>
                <a:latin typeface="Segoe UI"/>
                <a:ea typeface="Segoe UI"/>
                <a:cs typeface="Segoe UI"/>
              </a:rPr>
              <a:t>This single separation removes the most common silent disagreement in daily-wage work: "I paid you" against "I never got it".</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10058400" y="-2322576"/>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286000" y="4206240"/>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3133831"/>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3650467"/>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CORRECTIONS &amp; DISPUTES</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02  </a:t>
            </a:r>
            <a:r>
              <a:rPr sz="950" b="1" i="0" spc="140">
                <a:solidFill>
                  <a:srgbClr val="5F776B"/>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Nothing is silently overwritten</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15 / 26</a:t>
            </a:r>
          </a:p>
        </p:txBody>
      </p:sp>
      <p:grpSp>
        <p:nvGrpSpPr>
          <p:cNvPr id="14" name="!!rule03"/>
          <p:cNvGrpSpPr/>
          <p:nvPr/>
        </p:nvGrpSpPr>
        <p:grpSpPr>
          <a:xfrm>
            <a:off x="786384" y="1810512"/>
            <a:ext cx="5358384" cy="3401568"/>
            <a:chOff x="786384" y="1810512"/>
            <a:chExt cx="5358384" cy="3401568"/>
          </a:xfrm>
        </p:grpSpPr>
        <p:sp>
          <p:nvSpPr>
            <p:cNvPr id="15" name="Rounded Rectangle 14"/>
            <p:cNvSpPr/>
            <p:nvPr/>
          </p:nvSpPr>
          <p:spPr>
            <a:xfrm>
              <a:off x="786384" y="1810512"/>
              <a:ext cx="5358384" cy="3401568"/>
            </a:xfrm>
            <a:prstGeom prst="roundRect">
              <a:avLst>
                <a:gd name="adj" fmla="val 3763"/>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786384" y="1810512"/>
              <a:ext cx="5358384" cy="384048"/>
            </a:xfrm>
            <a:prstGeom prst="roundRect">
              <a:avLst>
                <a:gd name="adj" fmla="val 33333"/>
              </a:avLst>
            </a:prstGeom>
            <a:solidFill>
              <a:srgbClr val="F4E2D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ectangle 16"/>
            <p:cNvSpPr/>
            <p:nvPr/>
          </p:nvSpPr>
          <p:spPr>
            <a:xfrm>
              <a:off x="786384" y="2066543"/>
              <a:ext cx="5358384" cy="128016"/>
            </a:xfrm>
            <a:prstGeom prst="rect">
              <a:avLst/>
            </a:prstGeom>
            <a:solidFill>
              <a:srgbClr val="F4E2D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ounded Rectangle 17"/>
            <p:cNvSpPr/>
            <p:nvPr/>
          </p:nvSpPr>
          <p:spPr>
            <a:xfrm>
              <a:off x="969264" y="1874519"/>
              <a:ext cx="822960" cy="237744"/>
            </a:xfrm>
            <a:prstGeom prst="roundRect">
              <a:avLst>
                <a:gd name="adj" fmla="val 50000"/>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00" b="1" i="0" spc="100">
                  <a:solidFill>
                    <a:srgbClr val="FFFFFF"/>
                  </a:solidFill>
                  <a:latin typeface="Segoe UI"/>
                  <a:ea typeface="Segoe UI"/>
                  <a:cs typeface="Segoe UI"/>
                </a:rPr>
                <a:t>RULE-03</a:t>
              </a:r>
            </a:p>
          </p:txBody>
        </p:sp>
        <p:sp>
          <p:nvSpPr>
            <p:cNvPr id="19" name="TextBox 18"/>
            <p:cNvSpPr txBox="1"/>
            <p:nvPr/>
          </p:nvSpPr>
          <p:spPr>
            <a:xfrm>
              <a:off x="1883664" y="1901952"/>
              <a:ext cx="4023360" cy="219456"/>
            </a:xfrm>
            <a:prstGeom prst="rect">
              <a:avLst/>
            </a:prstGeom>
            <a:noFill/>
          </p:spPr>
          <p:txBody>
            <a:bodyPr wrap="square" lIns="0" rIns="0" tIns="0" bIns="0" anchor="t"/>
            <a:lstStyle/>
            <a:p>
              <a:pPr algn="l">
                <a:lnSpc>
                  <a:spcPct val="100000"/>
                </a:lnSpc>
              </a:pPr>
              <a:r>
                <a:rPr sz="940" b="1" i="0">
                  <a:solidFill>
                    <a:srgbClr val="8E3625"/>
                  </a:solidFill>
                  <a:latin typeface="Segoe UI"/>
                  <a:ea typeface="Segoe UI"/>
                  <a:cs typeface="Segoe UI"/>
                </a:rPr>
                <a:t>Retroactive record modification</a:t>
              </a:r>
            </a:p>
          </p:txBody>
        </p:sp>
        <p:sp>
          <p:nvSpPr>
            <p:cNvPr id="20" name="TextBox 19"/>
            <p:cNvSpPr txBox="1"/>
            <p:nvPr/>
          </p:nvSpPr>
          <p:spPr>
            <a:xfrm>
              <a:off x="1024128" y="2304288"/>
              <a:ext cx="1828800" cy="201168"/>
            </a:xfrm>
            <a:prstGeom prst="rect">
              <a:avLst/>
            </a:prstGeom>
            <a:noFill/>
          </p:spPr>
          <p:txBody>
            <a:bodyPr wrap="square" lIns="0" rIns="0" tIns="0" bIns="0" anchor="t"/>
            <a:lstStyle/>
            <a:p>
              <a:pPr algn="l">
                <a:lnSpc>
                  <a:spcPct val="100000"/>
                </a:lnSpc>
              </a:pPr>
              <a:r>
                <a:rPr sz="750" b="1" i="0" spc="160">
                  <a:solidFill>
                    <a:srgbClr val="5F776B"/>
                  </a:solidFill>
                  <a:latin typeface="Segoe UI"/>
                  <a:ea typeface="Segoe UI"/>
                  <a:cs typeface="Segoe UI"/>
                </a:rPr>
                <a:t>ORIGINAL RATE</a:t>
              </a:r>
            </a:p>
          </p:txBody>
        </p:sp>
        <p:sp>
          <p:nvSpPr>
            <p:cNvPr id="21" name="TextBox 20"/>
            <p:cNvSpPr txBox="1"/>
            <p:nvPr/>
          </p:nvSpPr>
          <p:spPr>
            <a:xfrm>
              <a:off x="3529584" y="2304288"/>
              <a:ext cx="1828800" cy="201168"/>
            </a:xfrm>
            <a:prstGeom prst="rect">
              <a:avLst/>
            </a:prstGeom>
            <a:noFill/>
          </p:spPr>
          <p:txBody>
            <a:bodyPr wrap="square" lIns="0" rIns="0" tIns="0" bIns="0" anchor="t"/>
            <a:lstStyle/>
            <a:p>
              <a:pPr algn="l">
                <a:lnSpc>
                  <a:spcPct val="100000"/>
                </a:lnSpc>
              </a:pPr>
              <a:r>
                <a:rPr sz="750" b="1" i="0" spc="160">
                  <a:solidFill>
                    <a:srgbClr val="5F776B"/>
                  </a:solidFill>
                  <a:latin typeface="Segoe UI"/>
                  <a:ea typeface="Segoe UI"/>
                  <a:cs typeface="Segoe UI"/>
                </a:rPr>
                <a:t>CURRENT RATE</a:t>
              </a:r>
            </a:p>
          </p:txBody>
        </p:sp>
        <p:sp>
          <p:nvSpPr>
            <p:cNvPr id="22" name="TextBox 21"/>
            <p:cNvSpPr txBox="1"/>
            <p:nvPr/>
          </p:nvSpPr>
          <p:spPr>
            <a:xfrm>
              <a:off x="1024128" y="2487168"/>
              <a:ext cx="2011680" cy="384048"/>
            </a:xfrm>
            <a:prstGeom prst="rect">
              <a:avLst/>
            </a:prstGeom>
            <a:noFill/>
          </p:spPr>
          <p:txBody>
            <a:bodyPr wrap="square" lIns="0" rIns="0" tIns="0" bIns="0" anchor="t"/>
            <a:lstStyle/>
            <a:p>
              <a:pPr algn="l">
                <a:lnSpc>
                  <a:spcPct val="100000"/>
                </a:lnSpc>
              </a:pPr>
              <a:r>
                <a:rPr sz="2100" b="1" i="0">
                  <a:solidFill>
                    <a:srgbClr val="5F776B"/>
                  </a:solidFill>
                  <a:latin typeface="Georgia"/>
                  <a:ea typeface="Georgia"/>
                  <a:cs typeface="Georgia"/>
                </a:rPr>
                <a:t>₹550</a:t>
              </a:r>
            </a:p>
          </p:txBody>
        </p:sp>
        <p:sp>
          <p:nvSpPr>
            <p:cNvPr id="23" name="TextBox 22"/>
            <p:cNvSpPr txBox="1"/>
            <p:nvPr/>
          </p:nvSpPr>
          <p:spPr>
            <a:xfrm>
              <a:off x="3529584" y="2487168"/>
              <a:ext cx="2011680" cy="384048"/>
            </a:xfrm>
            <a:prstGeom prst="rect">
              <a:avLst/>
            </a:prstGeom>
            <a:noFill/>
          </p:spPr>
          <p:txBody>
            <a:bodyPr wrap="square" lIns="0" rIns="0" tIns="0" bIns="0" anchor="t"/>
            <a:lstStyle/>
            <a:p>
              <a:pPr algn="l">
                <a:lnSpc>
                  <a:spcPct val="100000"/>
                </a:lnSpc>
              </a:pPr>
              <a:r>
                <a:rPr sz="2100" b="1" i="0">
                  <a:solidFill>
                    <a:srgbClr val="B4482F"/>
                  </a:solidFill>
                  <a:latin typeface="Georgia"/>
                  <a:ea typeface="Georgia"/>
                  <a:cs typeface="Georgia"/>
                </a:rPr>
                <a:t>₹650</a:t>
              </a:r>
            </a:p>
          </p:txBody>
        </p:sp>
        <p:sp>
          <p:nvSpPr>
            <p:cNvPr id="25" name="TextBox 24"/>
            <p:cNvSpPr txBox="1"/>
            <p:nvPr/>
          </p:nvSpPr>
          <p:spPr>
            <a:xfrm>
              <a:off x="1024128" y="3035808"/>
              <a:ext cx="1371600" cy="219456"/>
            </a:xfrm>
            <a:prstGeom prst="rect">
              <a:avLst/>
            </a:prstGeom>
            <a:noFill/>
          </p:spPr>
          <p:txBody>
            <a:bodyPr wrap="square" lIns="0" rIns="0" tIns="0" bIns="0" anchor="t"/>
            <a:lstStyle/>
            <a:p>
              <a:pPr algn="l">
                <a:lnSpc>
                  <a:spcPct val="100000"/>
                </a:lnSpc>
              </a:pPr>
              <a:r>
                <a:rPr sz="880" b="0" i="0">
                  <a:solidFill>
                    <a:srgbClr val="5F776B"/>
                  </a:solidFill>
                  <a:latin typeface="Segoe UI"/>
                  <a:ea typeface="Segoe UI"/>
                  <a:cs typeface="Segoe UI"/>
                </a:rPr>
                <a:t>Reason given</a:t>
              </a:r>
            </a:p>
          </p:txBody>
        </p:sp>
        <p:sp>
          <p:nvSpPr>
            <p:cNvPr id="26" name="TextBox 25"/>
            <p:cNvSpPr txBox="1"/>
            <p:nvPr/>
          </p:nvSpPr>
          <p:spPr>
            <a:xfrm>
              <a:off x="2340864" y="3026664"/>
              <a:ext cx="3611880" cy="237744"/>
            </a:xfrm>
            <a:prstGeom prst="rect">
              <a:avLst/>
            </a:prstGeom>
            <a:noFill/>
          </p:spPr>
          <p:txBody>
            <a:bodyPr wrap="square" lIns="0" rIns="0" tIns="0" bIns="0" anchor="t"/>
            <a:lstStyle/>
            <a:p>
              <a:pPr algn="l">
                <a:lnSpc>
                  <a:spcPct val="100000"/>
                </a:lnSpc>
              </a:pPr>
              <a:r>
                <a:rPr sz="919" b="0" i="0">
                  <a:solidFill>
                    <a:srgbClr val="12211B"/>
                  </a:solidFill>
                  <a:latin typeface="Segoe UI"/>
                  <a:ea typeface="Segoe UI"/>
                  <a:cs typeface="Segoe UI"/>
                </a:rPr>
                <a:t>"Corrected from helper rate to mason rate"</a:t>
              </a:r>
            </a:p>
          </p:txBody>
        </p:sp>
        <p:sp>
          <p:nvSpPr>
            <p:cNvPr id="27" name="TextBox 26"/>
            <p:cNvSpPr txBox="1"/>
            <p:nvPr/>
          </p:nvSpPr>
          <p:spPr>
            <a:xfrm>
              <a:off x="1024128" y="3419856"/>
              <a:ext cx="1371600" cy="219456"/>
            </a:xfrm>
            <a:prstGeom prst="rect">
              <a:avLst/>
            </a:prstGeom>
            <a:noFill/>
          </p:spPr>
          <p:txBody>
            <a:bodyPr wrap="square" lIns="0" rIns="0" tIns="0" bIns="0" anchor="t"/>
            <a:lstStyle/>
            <a:p>
              <a:pPr algn="l">
                <a:lnSpc>
                  <a:spcPct val="100000"/>
                </a:lnSpc>
              </a:pPr>
              <a:r>
                <a:rPr sz="880" b="0" i="0">
                  <a:solidFill>
                    <a:srgbClr val="5F776B"/>
                  </a:solidFill>
                  <a:latin typeface="Segoe UI"/>
                  <a:ea typeface="Segoe UI"/>
                  <a:cs typeface="Segoe UI"/>
                </a:rPr>
                <a:t>Actor / role</a:t>
              </a:r>
            </a:p>
          </p:txBody>
        </p:sp>
        <p:sp>
          <p:nvSpPr>
            <p:cNvPr id="28" name="TextBox 27"/>
            <p:cNvSpPr txBox="1"/>
            <p:nvPr/>
          </p:nvSpPr>
          <p:spPr>
            <a:xfrm>
              <a:off x="2340864" y="3410712"/>
              <a:ext cx="3611880" cy="237744"/>
            </a:xfrm>
            <a:prstGeom prst="rect">
              <a:avLst/>
            </a:prstGeom>
            <a:noFill/>
          </p:spPr>
          <p:txBody>
            <a:bodyPr wrap="square" lIns="0" rIns="0" tIns="0" bIns="0" anchor="t"/>
            <a:lstStyle/>
            <a:p>
              <a:pPr algn="l">
                <a:lnSpc>
                  <a:spcPct val="100000"/>
                </a:lnSpc>
              </a:pPr>
              <a:r>
                <a:rPr sz="919" b="0" i="0">
                  <a:solidFill>
                    <a:srgbClr val="12211B"/>
                  </a:solidFill>
                  <a:latin typeface="Segoe UI"/>
                  <a:ea typeface="Segoe UI"/>
                  <a:cs typeface="Segoe UI"/>
                </a:rPr>
                <a:t>Contractor · site supervisor</a:t>
              </a:r>
            </a:p>
          </p:txBody>
        </p:sp>
        <p:sp>
          <p:nvSpPr>
            <p:cNvPr id="29" name="TextBox 28"/>
            <p:cNvSpPr txBox="1"/>
            <p:nvPr/>
          </p:nvSpPr>
          <p:spPr>
            <a:xfrm>
              <a:off x="1024128" y="3803904"/>
              <a:ext cx="1371600" cy="219456"/>
            </a:xfrm>
            <a:prstGeom prst="rect">
              <a:avLst/>
            </a:prstGeom>
            <a:noFill/>
          </p:spPr>
          <p:txBody>
            <a:bodyPr wrap="square" lIns="0" rIns="0" tIns="0" bIns="0" anchor="t"/>
            <a:lstStyle/>
            <a:p>
              <a:pPr algn="l">
                <a:lnSpc>
                  <a:spcPct val="100000"/>
                </a:lnSpc>
              </a:pPr>
              <a:r>
                <a:rPr sz="880" b="0" i="0">
                  <a:solidFill>
                    <a:srgbClr val="5F776B"/>
                  </a:solidFill>
                  <a:latin typeface="Segoe UI"/>
                  <a:ea typeface="Segoe UI"/>
                  <a:cs typeface="Segoe UI"/>
                </a:rPr>
                <a:t>Timestamp</a:t>
              </a:r>
            </a:p>
          </p:txBody>
        </p:sp>
        <p:sp>
          <p:nvSpPr>
            <p:cNvPr id="30" name="TextBox 29"/>
            <p:cNvSpPr txBox="1"/>
            <p:nvPr/>
          </p:nvSpPr>
          <p:spPr>
            <a:xfrm>
              <a:off x="2340864" y="3794760"/>
              <a:ext cx="3611880" cy="237744"/>
            </a:xfrm>
            <a:prstGeom prst="rect">
              <a:avLst/>
            </a:prstGeom>
            <a:noFill/>
          </p:spPr>
          <p:txBody>
            <a:bodyPr wrap="square" lIns="0" rIns="0" tIns="0" bIns="0" anchor="t"/>
            <a:lstStyle/>
            <a:p>
              <a:pPr algn="l">
                <a:lnSpc>
                  <a:spcPct val="100000"/>
                </a:lnSpc>
              </a:pPr>
              <a:r>
                <a:rPr sz="919" b="0" i="0">
                  <a:solidFill>
                    <a:srgbClr val="12211B"/>
                  </a:solidFill>
                  <a:latin typeface="Segoe UI"/>
                  <a:ea typeface="Segoe UI"/>
                  <a:cs typeface="Segoe UI"/>
                </a:rPr>
                <a:t>12 Oct 2026, 19:42</a:t>
              </a:r>
            </a:p>
          </p:txBody>
        </p:sp>
        <p:sp>
          <p:nvSpPr>
            <p:cNvPr id="31" name="TextBox 30"/>
            <p:cNvSpPr txBox="1"/>
            <p:nvPr/>
          </p:nvSpPr>
          <p:spPr>
            <a:xfrm>
              <a:off x="1024128" y="4187952"/>
              <a:ext cx="1371600" cy="219456"/>
            </a:xfrm>
            <a:prstGeom prst="rect">
              <a:avLst/>
            </a:prstGeom>
            <a:noFill/>
          </p:spPr>
          <p:txBody>
            <a:bodyPr wrap="square" lIns="0" rIns="0" tIns="0" bIns="0" anchor="t"/>
            <a:lstStyle/>
            <a:p>
              <a:pPr algn="l">
                <a:lnSpc>
                  <a:spcPct val="100000"/>
                </a:lnSpc>
              </a:pPr>
              <a:r>
                <a:rPr sz="880" b="0" i="0">
                  <a:solidFill>
                    <a:srgbClr val="5F776B"/>
                  </a:solidFill>
                  <a:latin typeface="Segoe UI"/>
                  <a:ea typeface="Segoe UI"/>
                  <a:cs typeface="Segoe UI"/>
                </a:rPr>
                <a:t>Tamper flag</a:t>
              </a:r>
            </a:p>
          </p:txBody>
        </p:sp>
        <p:sp>
          <p:nvSpPr>
            <p:cNvPr id="32" name="TextBox 31"/>
            <p:cNvSpPr txBox="1"/>
            <p:nvPr/>
          </p:nvSpPr>
          <p:spPr>
            <a:xfrm>
              <a:off x="2340864" y="4178808"/>
              <a:ext cx="3611880" cy="237744"/>
            </a:xfrm>
            <a:prstGeom prst="rect">
              <a:avLst/>
            </a:prstGeom>
            <a:noFill/>
          </p:spPr>
          <p:txBody>
            <a:bodyPr wrap="square" lIns="0" rIns="0" tIns="0" bIns="0" anchor="t"/>
            <a:lstStyle/>
            <a:p>
              <a:pPr algn="l">
                <a:lnSpc>
                  <a:spcPct val="100000"/>
                </a:lnSpc>
              </a:pPr>
              <a:r>
                <a:rPr sz="919" b="1" i="0">
                  <a:solidFill>
                    <a:srgbClr val="12211B"/>
                  </a:solidFill>
                  <a:latin typeface="Segoe UI"/>
                  <a:ea typeface="Segoe UI"/>
                  <a:cs typeface="Segoe UI"/>
                </a:rPr>
                <a:t>None — modification is disclosed</a:t>
              </a:r>
            </a:p>
          </p:txBody>
        </p:sp>
        <p:sp>
          <p:nvSpPr>
            <p:cNvPr id="33" name="TextBox 32"/>
            <p:cNvSpPr txBox="1"/>
            <p:nvPr/>
          </p:nvSpPr>
          <p:spPr>
            <a:xfrm>
              <a:off x="1024128" y="4590288"/>
              <a:ext cx="4892040" cy="548640"/>
            </a:xfrm>
            <a:prstGeom prst="rect">
              <a:avLst/>
            </a:prstGeom>
            <a:noFill/>
          </p:spPr>
          <p:txBody>
            <a:bodyPr wrap="square" lIns="0" rIns="0" tIns="0" bIns="0" anchor="t"/>
            <a:lstStyle/>
            <a:p>
              <a:pPr algn="l">
                <a:lnSpc>
                  <a:spcPct val="116000"/>
                </a:lnSpc>
              </a:pPr>
              <a:r>
                <a:rPr sz="880" b="0" i="0">
                  <a:solidFill>
                    <a:srgbClr val="557165"/>
                  </a:solidFill>
                  <a:latin typeface="Segoe UI"/>
                  <a:ea typeface="Segoe UI"/>
                  <a:cs typeface="Segoe UI"/>
                </a:rPr>
                <a:t>The earlier value is preserved in the audit trail. The system surfaces the change; it does not accuse anyone of anything.</a:t>
              </a:r>
            </a:p>
          </p:txBody>
        </p:sp>
      </p:grpSp>
      <p:cxnSp>
        <p:nvCxnSpPr>
          <p:cNvPr id="24" name="Connector 23"/>
          <p:cNvCxnSpPr/>
          <p:nvPr/>
        </p:nvCxnSpPr>
        <p:spPr>
          <a:xfrm>
            <a:off x="2935224" y="2670048"/>
            <a:ext cx="521208" cy="0"/>
          </a:xfrm>
          <a:prstGeom prst="line">
            <a:avLst/>
          </a:prstGeom>
          <a:ln w="1524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4" name="!!dispute-card"/>
          <p:cNvGrpSpPr/>
          <p:nvPr/>
        </p:nvGrpSpPr>
        <p:grpSpPr>
          <a:xfrm>
            <a:off x="6272784" y="1810512"/>
            <a:ext cx="5129784" cy="3401568"/>
            <a:chOff x="6272784" y="1810512"/>
            <a:chExt cx="5129784" cy="3401568"/>
          </a:xfrm>
        </p:grpSpPr>
        <p:sp>
          <p:nvSpPr>
            <p:cNvPr id="35" name="Rounded Rectangle 34"/>
            <p:cNvSpPr/>
            <p:nvPr/>
          </p:nvSpPr>
          <p:spPr>
            <a:xfrm>
              <a:off x="6272784" y="1810512"/>
              <a:ext cx="5129784" cy="3401568"/>
            </a:xfrm>
            <a:prstGeom prst="roundRect">
              <a:avLst>
                <a:gd name="adj" fmla="val 3763"/>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ounded Rectangle 35"/>
            <p:cNvSpPr/>
            <p:nvPr/>
          </p:nvSpPr>
          <p:spPr>
            <a:xfrm>
              <a:off x="6272784" y="1810512"/>
              <a:ext cx="5129784" cy="384048"/>
            </a:xfrm>
            <a:prstGeom prst="roundRect">
              <a:avLst>
                <a:gd name="adj" fmla="val 33333"/>
              </a:avLst>
            </a:prstGeom>
            <a:solidFill>
              <a:srgbClr val="F1F7F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Rectangle 36"/>
            <p:cNvSpPr/>
            <p:nvPr/>
          </p:nvSpPr>
          <p:spPr>
            <a:xfrm>
              <a:off x="6272784" y="2066543"/>
              <a:ext cx="5129784" cy="128016"/>
            </a:xfrm>
            <a:prstGeom prst="rect">
              <a:avLst/>
            </a:prstGeom>
            <a:solidFill>
              <a:srgbClr val="F1F7F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ounded Rectangle 37"/>
            <p:cNvSpPr/>
            <p:nvPr/>
          </p:nvSpPr>
          <p:spPr>
            <a:xfrm>
              <a:off x="6272784" y="1810512"/>
              <a:ext cx="5129784" cy="54864"/>
            </a:xfrm>
            <a:prstGeom prst="roundRect">
              <a:avLst>
                <a:gd name="adj" fmla="val 33333"/>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ounded Rectangle 38"/>
            <p:cNvSpPr/>
            <p:nvPr/>
          </p:nvSpPr>
          <p:spPr>
            <a:xfrm>
              <a:off x="6455664" y="1874519"/>
              <a:ext cx="914400" cy="237744"/>
            </a:xfrm>
            <a:prstGeom prst="roundRect">
              <a:avLst>
                <a:gd name="adj" fmla="val 50000"/>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00" b="1" i="0" spc="100">
                  <a:solidFill>
                    <a:srgbClr val="FFFFFF"/>
                  </a:solidFill>
                  <a:latin typeface="Segoe UI"/>
                  <a:ea typeface="Segoe UI"/>
                  <a:cs typeface="Segoe UI"/>
                </a:rPr>
                <a:t>DISPUTE</a:t>
              </a:r>
            </a:p>
          </p:txBody>
        </p:sp>
        <p:sp>
          <p:nvSpPr>
            <p:cNvPr id="40" name="TextBox 39"/>
            <p:cNvSpPr txBox="1"/>
            <p:nvPr/>
          </p:nvSpPr>
          <p:spPr>
            <a:xfrm>
              <a:off x="7461504" y="1901952"/>
              <a:ext cx="3657600" cy="219456"/>
            </a:xfrm>
            <a:prstGeom prst="rect">
              <a:avLst/>
            </a:prstGeom>
            <a:noFill/>
          </p:spPr>
          <p:txBody>
            <a:bodyPr wrap="square" lIns="0" rIns="0" tIns="0" bIns="0" anchor="t"/>
            <a:lstStyle/>
            <a:p>
              <a:pPr algn="l">
                <a:lnSpc>
                  <a:spcPct val="100000"/>
                </a:lnSpc>
              </a:pPr>
              <a:r>
                <a:rPr sz="940" b="1" i="0">
                  <a:solidFill>
                    <a:srgbClr val="1F5941"/>
                  </a:solidFill>
                  <a:latin typeface="Segoe UI"/>
                  <a:ea typeface="Segoe UI"/>
                  <a:cs typeface="Segoe UI"/>
                </a:rPr>
                <a:t>Open · D-2026-014</a:t>
              </a:r>
            </a:p>
          </p:txBody>
        </p:sp>
        <p:sp>
          <p:nvSpPr>
            <p:cNvPr id="41" name="TextBox 40"/>
            <p:cNvSpPr txBox="1"/>
            <p:nvPr/>
          </p:nvSpPr>
          <p:spPr>
            <a:xfrm>
              <a:off x="6455664" y="2304288"/>
              <a:ext cx="2286000" cy="201168"/>
            </a:xfrm>
            <a:prstGeom prst="rect">
              <a:avLst/>
            </a:prstGeom>
            <a:noFill/>
          </p:spPr>
          <p:txBody>
            <a:bodyPr wrap="square" lIns="0" rIns="0" tIns="0" bIns="0" anchor="t"/>
            <a:lstStyle/>
            <a:p>
              <a:pPr algn="l">
                <a:lnSpc>
                  <a:spcPct val="100000"/>
                </a:lnSpc>
              </a:pPr>
              <a:r>
                <a:rPr sz="750" b="1" i="0" spc="160">
                  <a:solidFill>
                    <a:srgbClr val="5F776B"/>
                  </a:solidFill>
                  <a:latin typeface="Segoe UI"/>
                  <a:ea typeface="Segoe UI"/>
                  <a:cs typeface="Segoe UI"/>
                </a:rPr>
                <a:t>WORKER'S CLAIM</a:t>
              </a:r>
            </a:p>
          </p:txBody>
        </p:sp>
        <p:sp>
          <p:nvSpPr>
            <p:cNvPr id="42" name="TextBox 41"/>
            <p:cNvSpPr txBox="1"/>
            <p:nvPr/>
          </p:nvSpPr>
          <p:spPr>
            <a:xfrm>
              <a:off x="6455664" y="2505456"/>
              <a:ext cx="2286000" cy="914400"/>
            </a:xfrm>
            <a:prstGeom prst="rect">
              <a:avLst/>
            </a:prstGeom>
            <a:noFill/>
          </p:spPr>
          <p:txBody>
            <a:bodyPr wrap="square" lIns="0" rIns="0" tIns="0" bIns="0" anchor="t"/>
            <a:lstStyle/>
            <a:p>
              <a:pPr algn="l">
                <a:lnSpc>
                  <a:spcPct val="120000"/>
                </a:lnSpc>
              </a:pPr>
              <a:r>
                <a:rPr sz="960" b="0" i="1">
                  <a:solidFill>
                    <a:srgbClr val="12211B"/>
                  </a:solidFill>
                  <a:latin typeface="Segoe UI"/>
                  <a:ea typeface="Segoe UI"/>
                  <a:cs typeface="Segoe UI"/>
                </a:rPr>
                <a:t>"I worked four days. Only half the wages reached me."</a:t>
              </a:r>
            </a:p>
          </p:txBody>
        </p:sp>
        <p:sp>
          <p:nvSpPr>
            <p:cNvPr id="43" name="Rectangle 42"/>
            <p:cNvSpPr/>
            <p:nvPr/>
          </p:nvSpPr>
          <p:spPr>
            <a:xfrm>
              <a:off x="8887968" y="2340864"/>
              <a:ext cx="10972" cy="1737360"/>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TextBox 43"/>
            <p:cNvSpPr txBox="1"/>
            <p:nvPr/>
          </p:nvSpPr>
          <p:spPr>
            <a:xfrm>
              <a:off x="9089136" y="2304288"/>
              <a:ext cx="2286000" cy="201168"/>
            </a:xfrm>
            <a:prstGeom prst="rect">
              <a:avLst/>
            </a:prstGeom>
            <a:noFill/>
          </p:spPr>
          <p:txBody>
            <a:bodyPr wrap="square" lIns="0" rIns="0" tIns="0" bIns="0" anchor="t"/>
            <a:lstStyle/>
            <a:p>
              <a:pPr algn="l">
                <a:lnSpc>
                  <a:spcPct val="100000"/>
                </a:lnSpc>
              </a:pPr>
              <a:r>
                <a:rPr sz="750" b="1" i="0" spc="160">
                  <a:solidFill>
                    <a:srgbClr val="5F776B"/>
                  </a:solidFill>
                  <a:latin typeface="Segoe UI"/>
                  <a:ea typeface="Segoe UI"/>
                  <a:cs typeface="Segoe UI"/>
                </a:rPr>
                <a:t>CONTRACTOR'S RESPONSE</a:t>
              </a:r>
            </a:p>
          </p:txBody>
        </p:sp>
        <p:sp>
          <p:nvSpPr>
            <p:cNvPr id="45" name="TextBox 44"/>
            <p:cNvSpPr txBox="1"/>
            <p:nvPr/>
          </p:nvSpPr>
          <p:spPr>
            <a:xfrm>
              <a:off x="9089136" y="2505456"/>
              <a:ext cx="2148840" cy="914400"/>
            </a:xfrm>
            <a:prstGeom prst="rect">
              <a:avLst/>
            </a:prstGeom>
            <a:noFill/>
          </p:spPr>
          <p:txBody>
            <a:bodyPr wrap="square" lIns="0" rIns="0" tIns="0" bIns="0" anchor="t"/>
            <a:lstStyle/>
            <a:p>
              <a:pPr algn="l">
                <a:lnSpc>
                  <a:spcPct val="120000"/>
                </a:lnSpc>
              </a:pPr>
              <a:r>
                <a:rPr sz="960" b="0" i="1">
                  <a:solidFill>
                    <a:srgbClr val="12211B"/>
                  </a:solidFill>
                  <a:latin typeface="Segoe UI"/>
                  <a:ea typeface="Segoe UI"/>
                  <a:cs typeface="Segoe UI"/>
                </a:rPr>
                <a:t>"₹1,300 was paid in cash on 10 October; the balance is pending."</a:t>
              </a:r>
            </a:p>
          </p:txBody>
        </p:sp>
        <p:sp>
          <p:nvSpPr>
            <p:cNvPr id="46" name="TextBox 45"/>
            <p:cNvSpPr txBox="1"/>
            <p:nvPr/>
          </p:nvSpPr>
          <p:spPr>
            <a:xfrm>
              <a:off x="6455664" y="3291840"/>
              <a:ext cx="2377440" cy="182880"/>
            </a:xfrm>
            <a:prstGeom prst="rect">
              <a:avLst/>
            </a:prstGeom>
            <a:noFill/>
          </p:spPr>
          <p:txBody>
            <a:bodyPr wrap="square" lIns="0" rIns="0" tIns="0" bIns="0" anchor="t"/>
            <a:lstStyle/>
            <a:p>
              <a:pPr algn="l">
                <a:lnSpc>
                  <a:spcPct val="100000"/>
                </a:lnSpc>
              </a:pPr>
              <a:r>
                <a:rPr sz="680" b="1" i="0" spc="110">
                  <a:solidFill>
                    <a:srgbClr val="5F776B"/>
                  </a:solidFill>
                  <a:latin typeface="Segoe UI"/>
                  <a:ea typeface="Segoe UI"/>
                  <a:cs typeface="Segoe UI"/>
                </a:rPr>
                <a:t>ATTACHED EVIDENCE</a:t>
              </a:r>
            </a:p>
          </p:txBody>
        </p:sp>
        <p:sp>
          <p:nvSpPr>
            <p:cNvPr id="47" name="Rounded Rectangle 46"/>
            <p:cNvSpPr/>
            <p:nvPr/>
          </p:nvSpPr>
          <p:spPr>
            <a:xfrm>
              <a:off x="6455664" y="3511296"/>
              <a:ext cx="1408176" cy="274320"/>
            </a:xfrm>
            <a:prstGeom prst="roundRect">
              <a:avLst>
                <a:gd name="adj" fmla="val 50000"/>
              </a:avLst>
            </a:prstGeom>
            <a:solidFill>
              <a:srgbClr val="F8F4EA"/>
            </a:solidFill>
            <a:ln w="635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TextBox 47"/>
            <p:cNvSpPr txBox="1"/>
            <p:nvPr/>
          </p:nvSpPr>
          <p:spPr>
            <a:xfrm>
              <a:off x="6455664" y="3566160"/>
              <a:ext cx="1408176" cy="182880"/>
            </a:xfrm>
            <a:prstGeom prst="rect">
              <a:avLst/>
            </a:prstGeom>
            <a:noFill/>
          </p:spPr>
          <p:txBody>
            <a:bodyPr wrap="square" lIns="0" rIns="0" tIns="0" bIns="0" anchor="t"/>
            <a:lstStyle/>
            <a:p>
              <a:pPr algn="ctr">
                <a:lnSpc>
                  <a:spcPct val="100000"/>
                </a:lnSpc>
              </a:pPr>
              <a:r>
                <a:rPr sz="740" b="0" i="0">
                  <a:solidFill>
                    <a:srgbClr val="557165"/>
                  </a:solidFill>
                  <a:latin typeface="Segoe UI"/>
                  <a:ea typeface="Segoe UI"/>
                  <a:cs typeface="Segoe UI"/>
                </a:rPr>
                <a:t>site photo ×2</a:t>
              </a:r>
            </a:p>
          </p:txBody>
        </p:sp>
        <p:sp>
          <p:nvSpPr>
            <p:cNvPr id="49" name="Rounded Rectangle 48"/>
            <p:cNvSpPr/>
            <p:nvPr/>
          </p:nvSpPr>
          <p:spPr>
            <a:xfrm>
              <a:off x="7991856" y="3511296"/>
              <a:ext cx="1408176" cy="274320"/>
            </a:xfrm>
            <a:prstGeom prst="roundRect">
              <a:avLst>
                <a:gd name="adj" fmla="val 50000"/>
              </a:avLst>
            </a:prstGeom>
            <a:solidFill>
              <a:srgbClr val="F8F4EA"/>
            </a:solidFill>
            <a:ln w="635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0" name="TextBox 49"/>
            <p:cNvSpPr txBox="1"/>
            <p:nvPr/>
          </p:nvSpPr>
          <p:spPr>
            <a:xfrm>
              <a:off x="7991856" y="3566160"/>
              <a:ext cx="1408176" cy="182880"/>
            </a:xfrm>
            <a:prstGeom prst="rect">
              <a:avLst/>
            </a:prstGeom>
            <a:noFill/>
          </p:spPr>
          <p:txBody>
            <a:bodyPr wrap="square" lIns="0" rIns="0" tIns="0" bIns="0" anchor="t"/>
            <a:lstStyle/>
            <a:p>
              <a:pPr algn="ctr">
                <a:lnSpc>
                  <a:spcPct val="100000"/>
                </a:lnSpc>
              </a:pPr>
              <a:r>
                <a:rPr sz="740" b="0" i="0">
                  <a:solidFill>
                    <a:srgbClr val="557165"/>
                  </a:solidFill>
                  <a:latin typeface="Segoe UI"/>
                  <a:ea typeface="Segoe UI"/>
                  <a:cs typeface="Segoe UI"/>
                </a:rPr>
                <a:t>WhatsApp export</a:t>
              </a:r>
            </a:p>
          </p:txBody>
        </p:sp>
        <p:sp>
          <p:nvSpPr>
            <p:cNvPr id="51" name="Rounded Rectangle 50"/>
            <p:cNvSpPr/>
            <p:nvPr/>
          </p:nvSpPr>
          <p:spPr>
            <a:xfrm>
              <a:off x="9528048" y="3511296"/>
              <a:ext cx="1408176" cy="274320"/>
            </a:xfrm>
            <a:prstGeom prst="roundRect">
              <a:avLst>
                <a:gd name="adj" fmla="val 50000"/>
              </a:avLst>
            </a:prstGeom>
            <a:solidFill>
              <a:srgbClr val="F8F4EA"/>
            </a:solidFill>
            <a:ln w="635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2" name="TextBox 51"/>
            <p:cNvSpPr txBox="1"/>
            <p:nvPr/>
          </p:nvSpPr>
          <p:spPr>
            <a:xfrm>
              <a:off x="9528048" y="3566160"/>
              <a:ext cx="1408176" cy="182880"/>
            </a:xfrm>
            <a:prstGeom prst="rect">
              <a:avLst/>
            </a:prstGeom>
            <a:noFill/>
          </p:spPr>
          <p:txBody>
            <a:bodyPr wrap="square" lIns="0" rIns="0" tIns="0" bIns="0" anchor="t"/>
            <a:lstStyle/>
            <a:p>
              <a:pPr algn="ctr">
                <a:lnSpc>
                  <a:spcPct val="100000"/>
                </a:lnSpc>
              </a:pPr>
              <a:r>
                <a:rPr sz="740" b="0" i="0">
                  <a:solidFill>
                    <a:srgbClr val="557165"/>
                  </a:solidFill>
                  <a:latin typeface="Segoe UI"/>
                  <a:ea typeface="Segoe UI"/>
                  <a:cs typeface="Segoe UI"/>
                </a:rPr>
                <a:t>rate card</a:t>
              </a:r>
            </a:p>
          </p:txBody>
        </p:sp>
        <p:sp>
          <p:nvSpPr>
            <p:cNvPr id="53" name="Rectangle 52"/>
            <p:cNvSpPr/>
            <p:nvPr/>
          </p:nvSpPr>
          <p:spPr>
            <a:xfrm>
              <a:off x="6455664" y="3986784"/>
              <a:ext cx="4754880" cy="9144"/>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4" name="TextBox 53"/>
            <p:cNvSpPr txBox="1"/>
            <p:nvPr/>
          </p:nvSpPr>
          <p:spPr>
            <a:xfrm>
              <a:off x="6455664" y="4151376"/>
              <a:ext cx="4754880" cy="822960"/>
            </a:xfrm>
            <a:prstGeom prst="rect">
              <a:avLst/>
            </a:prstGeom>
            <a:noFill/>
          </p:spPr>
          <p:txBody>
            <a:bodyPr wrap="square" lIns="0" rIns="0" tIns="0" bIns="0" anchor="t"/>
            <a:lstStyle/>
            <a:p>
              <a:pPr algn="l">
                <a:lnSpc>
                  <a:spcPct val="118000"/>
                </a:lnSpc>
              </a:pPr>
              <a:r>
                <a:rPr sz="919" b="0" i="0">
                  <a:solidFill>
                    <a:srgbClr val="557165"/>
                  </a:solidFill>
                  <a:latin typeface="Segoe UI"/>
                  <a:ea typeface="Segoe UI"/>
                  <a:cs typeface="Segoe UI"/>
                </a:rPr>
                <a:t>Both statements are stored verbatim, with attachments and the correction history, until the parties resolve it outside the system. The software does not declare a winner.</a:t>
              </a:r>
            </a:p>
          </p:txBody>
        </p:sp>
      </p:grpSp>
      <p:grpSp>
        <p:nvGrpSpPr>
          <p:cNvPr id="55" name="!!principle-1"/>
          <p:cNvGrpSpPr/>
          <p:nvPr/>
        </p:nvGrpSpPr>
        <p:grpSpPr>
          <a:xfrm>
            <a:off x="786384" y="5431536"/>
            <a:ext cx="3416808" cy="457200"/>
            <a:chOff x="786384" y="5431536"/>
            <a:chExt cx="3416808" cy="457200"/>
          </a:xfrm>
        </p:grpSpPr>
        <p:sp>
          <p:nvSpPr>
            <p:cNvPr id="56" name="Rounded Rectangle 55"/>
            <p:cNvSpPr/>
            <p:nvPr/>
          </p:nvSpPr>
          <p:spPr>
            <a:xfrm>
              <a:off x="786384" y="5431536"/>
              <a:ext cx="3416808" cy="457200"/>
            </a:xfrm>
            <a:prstGeom prst="roundRect">
              <a:avLst>
                <a:gd name="adj" fmla="val 20000"/>
              </a:avLst>
            </a:prstGeom>
            <a:solidFill>
              <a:srgbClr val="F8F4EA"/>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7" name="TextBox 56"/>
            <p:cNvSpPr txBox="1"/>
            <p:nvPr/>
          </p:nvSpPr>
          <p:spPr>
            <a:xfrm>
              <a:off x="987552" y="5559552"/>
              <a:ext cx="3014472" cy="219456"/>
            </a:xfrm>
            <a:prstGeom prst="rect">
              <a:avLst/>
            </a:prstGeom>
            <a:noFill/>
          </p:spPr>
          <p:txBody>
            <a:bodyPr wrap="square" lIns="0" rIns="0" tIns="0" bIns="0" anchor="t"/>
            <a:lstStyle/>
            <a:p>
              <a:pPr algn="l">
                <a:lnSpc>
                  <a:spcPct val="100000"/>
                </a:lnSpc>
              </a:pPr>
              <a:r>
                <a:rPr sz="919" b="1" i="0">
                  <a:solidFill>
                    <a:srgbClr val="12211B"/>
                  </a:solidFill>
                  <a:latin typeface="Segoe UI"/>
                  <a:ea typeface="Segoe UI"/>
                  <a:cs typeface="Segoe UI"/>
                </a:rPr>
                <a:t>Never overwrite</a:t>
              </a:r>
              <a:r>
                <a:rPr sz="919" b="0" i="0">
                  <a:solidFill>
                    <a:srgbClr val="557165"/>
                  </a:solidFill>
                  <a:latin typeface="Segoe UI"/>
                  <a:ea typeface="Segoe UI"/>
                  <a:cs typeface="Segoe UI"/>
                </a:rPr>
                <a:t>  —  prior value kept</a:t>
              </a:r>
            </a:p>
          </p:txBody>
        </p:sp>
      </p:grpSp>
      <p:grpSp>
        <p:nvGrpSpPr>
          <p:cNvPr id="58" name="!!principle-2"/>
          <p:cNvGrpSpPr/>
          <p:nvPr/>
        </p:nvGrpSpPr>
        <p:grpSpPr>
          <a:xfrm>
            <a:off x="4386072" y="5431536"/>
            <a:ext cx="3416808" cy="457200"/>
            <a:chOff x="4386072" y="5431536"/>
            <a:chExt cx="3416808" cy="457200"/>
          </a:xfrm>
        </p:grpSpPr>
        <p:sp>
          <p:nvSpPr>
            <p:cNvPr id="59" name="Rounded Rectangle 58"/>
            <p:cNvSpPr/>
            <p:nvPr/>
          </p:nvSpPr>
          <p:spPr>
            <a:xfrm>
              <a:off x="4386072" y="5431536"/>
              <a:ext cx="3416808" cy="457200"/>
            </a:xfrm>
            <a:prstGeom prst="roundRect">
              <a:avLst>
                <a:gd name="adj" fmla="val 20000"/>
              </a:avLst>
            </a:prstGeom>
            <a:solidFill>
              <a:srgbClr val="F8F4EA"/>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0" name="TextBox 59"/>
            <p:cNvSpPr txBox="1"/>
            <p:nvPr/>
          </p:nvSpPr>
          <p:spPr>
            <a:xfrm>
              <a:off x="4587240" y="5559552"/>
              <a:ext cx="3014472" cy="219456"/>
            </a:xfrm>
            <a:prstGeom prst="rect">
              <a:avLst/>
            </a:prstGeom>
            <a:noFill/>
          </p:spPr>
          <p:txBody>
            <a:bodyPr wrap="square" lIns="0" rIns="0" tIns="0" bIns="0" anchor="t"/>
            <a:lstStyle/>
            <a:p>
              <a:pPr algn="l">
                <a:lnSpc>
                  <a:spcPct val="100000"/>
                </a:lnSpc>
              </a:pPr>
              <a:r>
                <a:rPr sz="919" b="1" i="0">
                  <a:solidFill>
                    <a:srgbClr val="12211B"/>
                  </a:solidFill>
                  <a:latin typeface="Segoe UI"/>
                  <a:ea typeface="Segoe UI"/>
                  <a:cs typeface="Segoe UI"/>
                </a:rPr>
                <a:t>Always a reason</a:t>
              </a:r>
              <a:r>
                <a:rPr sz="919" b="0" i="0">
                  <a:solidFill>
                    <a:srgbClr val="557165"/>
                  </a:solidFill>
                  <a:latin typeface="Segoe UI"/>
                  <a:ea typeface="Segoe UI"/>
                  <a:cs typeface="Segoe UI"/>
                </a:rPr>
                <a:t>  —  free-text, attributed</a:t>
              </a:r>
            </a:p>
          </p:txBody>
        </p:sp>
      </p:grpSp>
      <p:grpSp>
        <p:nvGrpSpPr>
          <p:cNvPr id="61" name="!!principle-3"/>
          <p:cNvGrpSpPr/>
          <p:nvPr/>
        </p:nvGrpSpPr>
        <p:grpSpPr>
          <a:xfrm>
            <a:off x="7985760" y="5431536"/>
            <a:ext cx="3416808" cy="457200"/>
            <a:chOff x="7985760" y="5431536"/>
            <a:chExt cx="3416808" cy="457200"/>
          </a:xfrm>
        </p:grpSpPr>
        <p:sp>
          <p:nvSpPr>
            <p:cNvPr id="62" name="Rounded Rectangle 61"/>
            <p:cNvSpPr/>
            <p:nvPr/>
          </p:nvSpPr>
          <p:spPr>
            <a:xfrm>
              <a:off x="7985760" y="5431536"/>
              <a:ext cx="3416808" cy="457200"/>
            </a:xfrm>
            <a:prstGeom prst="roundRect">
              <a:avLst>
                <a:gd name="adj" fmla="val 20000"/>
              </a:avLst>
            </a:prstGeom>
            <a:solidFill>
              <a:srgbClr val="F8F4EA"/>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3" name="TextBox 62"/>
            <p:cNvSpPr txBox="1"/>
            <p:nvPr/>
          </p:nvSpPr>
          <p:spPr>
            <a:xfrm>
              <a:off x="8186928" y="5559552"/>
              <a:ext cx="3014472" cy="219456"/>
            </a:xfrm>
            <a:prstGeom prst="rect">
              <a:avLst/>
            </a:prstGeom>
            <a:noFill/>
          </p:spPr>
          <p:txBody>
            <a:bodyPr wrap="square" lIns="0" rIns="0" tIns="0" bIns="0" anchor="t"/>
            <a:lstStyle/>
            <a:p>
              <a:pPr algn="l">
                <a:lnSpc>
                  <a:spcPct val="100000"/>
                </a:lnSpc>
              </a:pPr>
              <a:r>
                <a:rPr sz="919" b="1" i="0">
                  <a:solidFill>
                    <a:srgbClr val="12211B"/>
                  </a:solidFill>
                  <a:latin typeface="Segoe UI"/>
                  <a:ea typeface="Segoe UI"/>
                  <a:cs typeface="Segoe UI"/>
                </a:rPr>
                <a:t>Keep the status</a:t>
              </a:r>
              <a:r>
                <a:rPr sz="919" b="0" i="0">
                  <a:solidFill>
                    <a:srgbClr val="557165"/>
                  </a:solidFill>
                  <a:latin typeface="Segoe UI"/>
                  <a:ea typeface="Segoe UI"/>
                  <a:cs typeface="Segoe UI"/>
                </a:rPr>
                <a:t>  —  survives edits and reversals</a:t>
              </a:r>
            </a:p>
          </p:txBody>
        </p:sp>
      </p:gr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2219"/>
        </a:solidFill>
        <a:effectLst/>
      </p:bgPr>
    </p:bg>
    <p:spTree>
      <p:nvGrpSpPr>
        <p:cNvPr id="1" name=""/>
        <p:cNvGrpSpPr/>
        <p:nvPr/>
      </p:nvGrpSpPr>
      <p:grpSpPr/>
      <p:sp>
        <p:nvSpPr>
          <p:cNvPr id="2" name="!!glow-a"/>
          <p:cNvSpPr/>
          <p:nvPr/>
        </p:nvSpPr>
        <p:spPr>
          <a:xfrm>
            <a:off x="9052560" y="-2066543"/>
            <a:ext cx="6035040" cy="6035040"/>
          </a:xfrm>
          <a:prstGeom prst="ellipse">
            <a:avLst/>
          </a:prstGeom>
          <a:gradFill rotWithShape="1">
            <a:gsLst>
              <a:gs pos="0">
                <a:srgbClr val="57A97E">
                  <a:alpha val="26000"/>
                </a:srgbClr>
              </a:gs>
              <a:gs pos="60000">
                <a:srgbClr val="57A97E">
                  <a:alpha val="11700"/>
                </a:srgbClr>
              </a:gs>
              <a:gs pos="100000">
                <a:srgbClr val="57A97E">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834640" y="4526279"/>
            <a:ext cx="4937760" cy="4937760"/>
          </a:xfrm>
          <a:prstGeom prst="ellipse">
            <a:avLst/>
          </a:prstGeom>
          <a:gradFill rotWithShape="1">
            <a:gsLst>
              <a:gs pos="0">
                <a:srgbClr val="D9A844">
                  <a:alpha val="20000"/>
                </a:srgbClr>
              </a:gs>
              <a:gs pos="60000">
                <a:srgbClr val="D9A844">
                  <a:alpha val="900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3357676"/>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3874312"/>
            <a:ext cx="118872" cy="118872"/>
          </a:xfrm>
          <a:prstGeom prst="ellipse">
            <a:avLst/>
          </a:prstGeom>
          <a:solidFill>
            <a:srgbClr val="E5C0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E5C068"/>
                </a:solidFill>
                <a:latin typeface="Segoe UI"/>
                <a:ea typeface="Segoe UI"/>
                <a:cs typeface="Segoe UI"/>
              </a:rPr>
              <a:t>INTEGRITY</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D9A844"/>
                </a:solidFill>
                <a:latin typeface="Segoe UI"/>
                <a:ea typeface="Segoe UI"/>
                <a:cs typeface="Segoe UI"/>
              </a:rPr>
              <a:t>02  </a:t>
            </a:r>
            <a:r>
              <a:rPr sz="950" b="1" i="0" spc="140">
                <a:solidFill>
                  <a:srgbClr val="57A97E"/>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FDFBF6"/>
                </a:solidFill>
                <a:latin typeface="Georgia"/>
                <a:ea typeface="Georgia"/>
                <a:cs typeface="Georgia"/>
              </a:rPr>
              <a:t>Every block carries the one before it</a:t>
            </a:r>
          </a:p>
        </p:txBody>
      </p:sp>
      <p:sp>
        <p:nvSpPr>
          <p:cNvPr id="11" name="!!rule"/>
          <p:cNvSpPr/>
          <p:nvPr/>
        </p:nvSpPr>
        <p:spPr>
          <a:xfrm>
            <a:off x="786384" y="1591056"/>
            <a:ext cx="1325880" cy="41148"/>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7A97E"/>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8BC7A6"/>
                </a:solidFill>
                <a:latin typeface="Consolas"/>
                <a:ea typeface="Consolas"/>
                <a:cs typeface="Consolas"/>
              </a:rPr>
              <a:t>16 / 26</a:t>
            </a:r>
          </a:p>
        </p:txBody>
      </p:sp>
      <p:grpSp>
        <p:nvGrpSpPr>
          <p:cNvPr id="14" name="!!blk-1"/>
          <p:cNvGrpSpPr/>
          <p:nvPr/>
        </p:nvGrpSpPr>
        <p:grpSpPr>
          <a:xfrm>
            <a:off x="868680" y="1828800"/>
            <a:ext cx="3977639" cy="841248"/>
            <a:chOff x="868680" y="1828800"/>
            <a:chExt cx="3977639" cy="841248"/>
          </a:xfrm>
        </p:grpSpPr>
        <p:sp>
          <p:nvSpPr>
            <p:cNvPr id="15" name="Rounded Rectangle 14"/>
            <p:cNvSpPr/>
            <p:nvPr/>
          </p:nvSpPr>
          <p:spPr>
            <a:xfrm>
              <a:off x="868680" y="1828800"/>
              <a:ext cx="3977639" cy="841248"/>
            </a:xfrm>
            <a:prstGeom prst="roundRect">
              <a:avLst>
                <a:gd name="adj" fmla="val 9782"/>
              </a:avLst>
            </a:prstGeom>
            <a:solidFill>
              <a:srgbClr val="163A2B"/>
            </a:solidFill>
            <a:ln w="10160">
              <a:solidFill>
                <a:srgbClr val="25704F"/>
              </a:solidFill>
            </a:ln>
            <a:effectLst>
              <a:outerShdw blurRad="228600" dist="76200" dir="5400000" rotWithShape="0">
                <a:srgbClr val="0A2219">
                  <a:alpha val="16000"/>
                </a:srgbClr>
              </a:outerShdw>
            </a:effectLst>
            <a:scene3d>
              <a:camera prst="perspectiveFront" fov="3600000" zoom="100000">
                <a:rot lat="0" lon="360000" rev="0"/>
              </a:camera>
              <a:lightRig rig="threePt" dir="t">
                <a:rot lat="0" lon="0" rev="0"/>
              </a:lightRig>
            </a:scene3d>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868680" y="1828800"/>
              <a:ext cx="45720" cy="841248"/>
            </a:xfrm>
            <a:prstGeom prst="roundRect">
              <a:avLst>
                <a:gd name="adj" fmla="val 40000"/>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1051560" y="1920240"/>
              <a:ext cx="502920" cy="201168"/>
            </a:xfrm>
            <a:prstGeom prst="rect">
              <a:avLst/>
            </a:prstGeom>
            <a:noFill/>
          </p:spPr>
          <p:txBody>
            <a:bodyPr wrap="square" lIns="0" rIns="0" tIns="0" bIns="0" anchor="t"/>
            <a:lstStyle/>
            <a:p>
              <a:pPr algn="l">
                <a:lnSpc>
                  <a:spcPct val="100000"/>
                </a:lnSpc>
              </a:pPr>
              <a:r>
                <a:rPr sz="900" b="1" i="0">
                  <a:solidFill>
                    <a:srgbClr val="E5C068"/>
                  </a:solidFill>
                  <a:latin typeface="Consolas"/>
                  <a:ea typeface="Consolas"/>
                  <a:cs typeface="Consolas"/>
                </a:rPr>
                <a:t>#01</a:t>
              </a:r>
            </a:p>
          </p:txBody>
        </p:sp>
        <p:sp>
          <p:nvSpPr>
            <p:cNvPr id="18" name="TextBox 17"/>
            <p:cNvSpPr txBox="1"/>
            <p:nvPr/>
          </p:nvSpPr>
          <p:spPr>
            <a:xfrm>
              <a:off x="1527048" y="1920240"/>
              <a:ext cx="2194560" cy="201168"/>
            </a:xfrm>
            <a:prstGeom prst="rect">
              <a:avLst/>
            </a:prstGeom>
            <a:noFill/>
          </p:spPr>
          <p:txBody>
            <a:bodyPr wrap="square" lIns="0" rIns="0" tIns="0" bIns="0" anchor="t"/>
            <a:lstStyle/>
            <a:p>
              <a:pPr algn="l">
                <a:lnSpc>
                  <a:spcPct val="100000"/>
                </a:lnSpc>
              </a:pPr>
              <a:r>
                <a:rPr sz="760" b="0" i="0">
                  <a:solidFill>
                    <a:srgbClr val="8BC7A6"/>
                  </a:solidFill>
                  <a:latin typeface="Consolas"/>
                  <a:ea typeface="Consolas"/>
                  <a:cs typeface="Consolas"/>
                </a:rPr>
                <a:t>genesis · no predecessor</a:t>
              </a:r>
            </a:p>
          </p:txBody>
        </p:sp>
        <p:sp>
          <p:nvSpPr>
            <p:cNvPr id="19" name="Rounded Rectangle 18"/>
            <p:cNvSpPr/>
            <p:nvPr/>
          </p:nvSpPr>
          <p:spPr>
            <a:xfrm>
              <a:off x="3867911" y="1911095"/>
              <a:ext cx="841248" cy="201168"/>
            </a:xfrm>
            <a:prstGeom prst="roundRect">
              <a:avLst>
                <a:gd name="adj" fmla="val 50000"/>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40" b="1" i="0" spc="100">
                  <a:solidFill>
                    <a:srgbClr val="FFFFFF"/>
                  </a:solidFill>
                  <a:latin typeface="Segoe UI"/>
                  <a:ea typeface="Segoe UI"/>
                  <a:cs typeface="Segoe UI"/>
                </a:rPr>
                <a:t>VALID</a:t>
              </a:r>
            </a:p>
          </p:txBody>
        </p:sp>
        <p:sp>
          <p:nvSpPr>
            <p:cNvPr id="20" name="TextBox 19"/>
            <p:cNvSpPr txBox="1"/>
            <p:nvPr/>
          </p:nvSpPr>
          <p:spPr>
            <a:xfrm>
              <a:off x="1051560" y="2176272"/>
              <a:ext cx="2651760" cy="201168"/>
            </a:xfrm>
            <a:prstGeom prst="rect">
              <a:avLst/>
            </a:prstGeom>
            <a:noFill/>
          </p:spPr>
          <p:txBody>
            <a:bodyPr wrap="square" lIns="0" rIns="0" tIns="0" bIns="0" anchor="t"/>
            <a:lstStyle/>
            <a:p>
              <a:pPr algn="l">
                <a:lnSpc>
                  <a:spcPct val="100000"/>
                </a:lnSpc>
              </a:pPr>
              <a:r>
                <a:rPr sz="760" b="0" i="0">
                  <a:solidFill>
                    <a:srgbClr val="F0E9DA"/>
                  </a:solidFill>
                  <a:latin typeface="Consolas"/>
                  <a:ea typeface="Consolas"/>
                  <a:cs typeface="Consolas"/>
                </a:rPr>
                <a:t>2026-10-01 · ₹650 · 8h · ₹650</a:t>
              </a:r>
            </a:p>
          </p:txBody>
        </p:sp>
        <p:sp>
          <p:nvSpPr>
            <p:cNvPr id="21" name="TextBox 20"/>
            <p:cNvSpPr txBox="1"/>
            <p:nvPr/>
          </p:nvSpPr>
          <p:spPr>
            <a:xfrm>
              <a:off x="1051560" y="2414016"/>
              <a:ext cx="2468880" cy="201168"/>
            </a:xfrm>
            <a:prstGeom prst="rect">
              <a:avLst/>
            </a:prstGeom>
            <a:noFill/>
          </p:spPr>
          <p:txBody>
            <a:bodyPr wrap="square" lIns="0" rIns="0" tIns="0" bIns="0" anchor="t"/>
            <a:lstStyle/>
            <a:p>
              <a:pPr algn="l">
                <a:lnSpc>
                  <a:spcPct val="100000"/>
                </a:lnSpc>
              </a:pPr>
              <a:r>
                <a:rPr sz="740" b="0" i="0">
                  <a:solidFill>
                    <a:srgbClr val="F0D99B"/>
                  </a:solidFill>
                  <a:latin typeface="Consolas"/>
                  <a:ea typeface="Consolas"/>
                  <a:cs typeface="Consolas"/>
                </a:rPr>
                <a:t>sha256  3f9a…d210</a:t>
              </a:r>
            </a:p>
          </p:txBody>
        </p:sp>
      </p:grpSp>
      <p:grpSp>
        <p:nvGrpSpPr>
          <p:cNvPr id="22" name="!!blk-2"/>
          <p:cNvGrpSpPr/>
          <p:nvPr/>
        </p:nvGrpSpPr>
        <p:grpSpPr>
          <a:xfrm>
            <a:off x="1234440" y="2551176"/>
            <a:ext cx="3977639" cy="841248"/>
            <a:chOff x="1234440" y="2551176"/>
            <a:chExt cx="3977639" cy="841248"/>
          </a:xfrm>
        </p:grpSpPr>
        <p:sp>
          <p:nvSpPr>
            <p:cNvPr id="23" name="Rounded Rectangle 22"/>
            <p:cNvSpPr/>
            <p:nvPr/>
          </p:nvSpPr>
          <p:spPr>
            <a:xfrm>
              <a:off x="1234440" y="2551176"/>
              <a:ext cx="3977639" cy="841248"/>
            </a:xfrm>
            <a:prstGeom prst="roundRect">
              <a:avLst>
                <a:gd name="adj" fmla="val 9782"/>
              </a:avLst>
            </a:prstGeom>
            <a:solidFill>
              <a:srgbClr val="163A2B"/>
            </a:solidFill>
            <a:ln w="10160">
              <a:solidFill>
                <a:srgbClr val="25704F"/>
              </a:solidFill>
            </a:ln>
            <a:effectLst>
              <a:outerShdw blurRad="228600" dist="76200" dir="5400000" rotWithShape="0">
                <a:srgbClr val="0A2219">
                  <a:alpha val="16000"/>
                </a:srgbClr>
              </a:outerShdw>
            </a:effectLst>
            <a:scene3d>
              <a:camera prst="perspectiveFront" fov="3600000" zoom="100000">
                <a:rot lat="0" lon="360000" rev="0"/>
              </a:camera>
              <a:lightRig rig="threePt" dir="t">
                <a:rot lat="0" lon="0" rev="0"/>
              </a:lightRig>
            </a:scene3d>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ounded Rectangle 23"/>
            <p:cNvSpPr/>
            <p:nvPr/>
          </p:nvSpPr>
          <p:spPr>
            <a:xfrm>
              <a:off x="1234440" y="2551176"/>
              <a:ext cx="45720" cy="841248"/>
            </a:xfrm>
            <a:prstGeom prst="roundRect">
              <a:avLst>
                <a:gd name="adj" fmla="val 40000"/>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4"/>
            <p:cNvSpPr txBox="1"/>
            <p:nvPr/>
          </p:nvSpPr>
          <p:spPr>
            <a:xfrm>
              <a:off x="1417320" y="2642616"/>
              <a:ext cx="502920" cy="201168"/>
            </a:xfrm>
            <a:prstGeom prst="rect">
              <a:avLst/>
            </a:prstGeom>
            <a:noFill/>
          </p:spPr>
          <p:txBody>
            <a:bodyPr wrap="square" lIns="0" rIns="0" tIns="0" bIns="0" anchor="t"/>
            <a:lstStyle/>
            <a:p>
              <a:pPr algn="l">
                <a:lnSpc>
                  <a:spcPct val="100000"/>
                </a:lnSpc>
              </a:pPr>
              <a:r>
                <a:rPr sz="900" b="1" i="0">
                  <a:solidFill>
                    <a:srgbClr val="E5C068"/>
                  </a:solidFill>
                  <a:latin typeface="Consolas"/>
                  <a:ea typeface="Consolas"/>
                  <a:cs typeface="Consolas"/>
                </a:rPr>
                <a:t>#02</a:t>
              </a:r>
            </a:p>
          </p:txBody>
        </p:sp>
        <p:sp>
          <p:nvSpPr>
            <p:cNvPr id="26" name="TextBox 25"/>
            <p:cNvSpPr txBox="1"/>
            <p:nvPr/>
          </p:nvSpPr>
          <p:spPr>
            <a:xfrm>
              <a:off x="1892808" y="2642616"/>
              <a:ext cx="2194560" cy="201168"/>
            </a:xfrm>
            <a:prstGeom prst="rect">
              <a:avLst/>
            </a:prstGeom>
            <a:noFill/>
          </p:spPr>
          <p:txBody>
            <a:bodyPr wrap="square" lIns="0" rIns="0" tIns="0" bIns="0" anchor="t"/>
            <a:lstStyle/>
            <a:p>
              <a:pPr algn="l">
                <a:lnSpc>
                  <a:spcPct val="100000"/>
                </a:lnSpc>
              </a:pPr>
              <a:r>
                <a:rPr sz="760" b="0" i="0">
                  <a:solidFill>
                    <a:srgbClr val="8BC7A6"/>
                  </a:solidFill>
                  <a:latin typeface="Consolas"/>
                  <a:ea typeface="Consolas"/>
                  <a:cs typeface="Consolas"/>
                </a:rPr>
                <a:t>prev 3f9a…d210</a:t>
              </a:r>
            </a:p>
          </p:txBody>
        </p:sp>
        <p:sp>
          <p:nvSpPr>
            <p:cNvPr id="27" name="Rounded Rectangle 26"/>
            <p:cNvSpPr/>
            <p:nvPr/>
          </p:nvSpPr>
          <p:spPr>
            <a:xfrm>
              <a:off x="4233672" y="2633472"/>
              <a:ext cx="841248" cy="201168"/>
            </a:xfrm>
            <a:prstGeom prst="roundRect">
              <a:avLst>
                <a:gd name="adj" fmla="val 50000"/>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40" b="1" i="0" spc="100">
                  <a:solidFill>
                    <a:srgbClr val="FFFFFF"/>
                  </a:solidFill>
                  <a:latin typeface="Segoe UI"/>
                  <a:ea typeface="Segoe UI"/>
                  <a:cs typeface="Segoe UI"/>
                </a:rPr>
                <a:t>VALID</a:t>
              </a:r>
            </a:p>
          </p:txBody>
        </p:sp>
        <p:sp>
          <p:nvSpPr>
            <p:cNvPr id="28" name="TextBox 27"/>
            <p:cNvSpPr txBox="1"/>
            <p:nvPr/>
          </p:nvSpPr>
          <p:spPr>
            <a:xfrm>
              <a:off x="1417320" y="2898648"/>
              <a:ext cx="2651760" cy="201168"/>
            </a:xfrm>
            <a:prstGeom prst="rect">
              <a:avLst/>
            </a:prstGeom>
            <a:noFill/>
          </p:spPr>
          <p:txBody>
            <a:bodyPr wrap="square" lIns="0" rIns="0" tIns="0" bIns="0" anchor="t"/>
            <a:lstStyle/>
            <a:p>
              <a:pPr algn="l">
                <a:lnSpc>
                  <a:spcPct val="100000"/>
                </a:lnSpc>
              </a:pPr>
              <a:r>
                <a:rPr sz="760" b="0" i="0">
                  <a:solidFill>
                    <a:srgbClr val="F0E9DA"/>
                  </a:solidFill>
                  <a:latin typeface="Consolas"/>
                  <a:ea typeface="Consolas"/>
                  <a:cs typeface="Consolas"/>
                </a:rPr>
                <a:t>2026-10-02 · ₹650 · 8h · ₹650</a:t>
              </a:r>
            </a:p>
          </p:txBody>
        </p:sp>
        <p:sp>
          <p:nvSpPr>
            <p:cNvPr id="29" name="TextBox 28"/>
            <p:cNvSpPr txBox="1"/>
            <p:nvPr/>
          </p:nvSpPr>
          <p:spPr>
            <a:xfrm>
              <a:off x="1417320" y="3136392"/>
              <a:ext cx="2468880" cy="201168"/>
            </a:xfrm>
            <a:prstGeom prst="rect">
              <a:avLst/>
            </a:prstGeom>
            <a:noFill/>
          </p:spPr>
          <p:txBody>
            <a:bodyPr wrap="square" lIns="0" rIns="0" tIns="0" bIns="0" anchor="t"/>
            <a:lstStyle/>
            <a:p>
              <a:pPr algn="l">
                <a:lnSpc>
                  <a:spcPct val="100000"/>
                </a:lnSpc>
              </a:pPr>
              <a:r>
                <a:rPr sz="740" b="0" i="0">
                  <a:solidFill>
                    <a:srgbClr val="F0D99B"/>
                  </a:solidFill>
                  <a:latin typeface="Consolas"/>
                  <a:ea typeface="Consolas"/>
                  <a:cs typeface="Consolas"/>
                </a:rPr>
                <a:t>sha256  71be…04fa</a:t>
              </a:r>
            </a:p>
          </p:txBody>
        </p:sp>
      </p:grpSp>
      <p:cxnSp>
        <p:nvCxnSpPr>
          <p:cNvPr id="30" name="Connector 29"/>
          <p:cNvCxnSpPr/>
          <p:nvPr/>
        </p:nvCxnSpPr>
        <p:spPr>
          <a:xfrm flipV="1">
            <a:off x="2880360" y="2532888"/>
            <a:ext cx="91440" cy="155448"/>
          </a:xfrm>
          <a:prstGeom prst="line">
            <a:avLst/>
          </a:prstGeom>
          <a:ln w="12700">
            <a:solidFill>
              <a:srgbClr val="358B62"/>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1" name="!!blk-3"/>
          <p:cNvGrpSpPr/>
          <p:nvPr/>
        </p:nvGrpSpPr>
        <p:grpSpPr>
          <a:xfrm>
            <a:off x="1600200" y="3273552"/>
            <a:ext cx="3977639" cy="841248"/>
            <a:chOff x="1600200" y="3273552"/>
            <a:chExt cx="3977639" cy="841248"/>
          </a:xfrm>
        </p:grpSpPr>
        <p:sp>
          <p:nvSpPr>
            <p:cNvPr id="32" name="Rounded Rectangle 31"/>
            <p:cNvSpPr/>
            <p:nvPr/>
          </p:nvSpPr>
          <p:spPr>
            <a:xfrm>
              <a:off x="1600200" y="3273552"/>
              <a:ext cx="3977639" cy="841248"/>
            </a:xfrm>
            <a:prstGeom prst="roundRect">
              <a:avLst>
                <a:gd name="adj" fmla="val 9782"/>
              </a:avLst>
            </a:prstGeom>
            <a:solidFill>
              <a:srgbClr val="163A2B"/>
            </a:solidFill>
            <a:ln w="10160">
              <a:solidFill>
                <a:srgbClr val="25704F"/>
              </a:solidFill>
            </a:ln>
            <a:effectLst>
              <a:outerShdw blurRad="228600" dist="76200" dir="5400000" rotWithShape="0">
                <a:srgbClr val="0A2219">
                  <a:alpha val="16000"/>
                </a:srgbClr>
              </a:outerShdw>
            </a:effectLst>
            <a:scene3d>
              <a:camera prst="perspectiveFront" fov="3600000" zoom="100000">
                <a:rot lat="0" lon="360000" rev="0"/>
              </a:camera>
              <a:lightRig rig="threePt" dir="t">
                <a:rot lat="0" lon="0" rev="0"/>
              </a:lightRig>
            </a:scene3d>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Rounded Rectangle 32"/>
            <p:cNvSpPr/>
            <p:nvPr/>
          </p:nvSpPr>
          <p:spPr>
            <a:xfrm>
              <a:off x="1600200" y="3273552"/>
              <a:ext cx="45720" cy="841248"/>
            </a:xfrm>
            <a:prstGeom prst="roundRect">
              <a:avLst>
                <a:gd name="adj" fmla="val 40000"/>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3"/>
            <p:cNvSpPr txBox="1"/>
            <p:nvPr/>
          </p:nvSpPr>
          <p:spPr>
            <a:xfrm>
              <a:off x="1783080" y="3364992"/>
              <a:ext cx="502920" cy="201168"/>
            </a:xfrm>
            <a:prstGeom prst="rect">
              <a:avLst/>
            </a:prstGeom>
            <a:noFill/>
          </p:spPr>
          <p:txBody>
            <a:bodyPr wrap="square" lIns="0" rIns="0" tIns="0" bIns="0" anchor="t"/>
            <a:lstStyle/>
            <a:p>
              <a:pPr algn="l">
                <a:lnSpc>
                  <a:spcPct val="100000"/>
                </a:lnSpc>
              </a:pPr>
              <a:r>
                <a:rPr sz="900" b="1" i="0">
                  <a:solidFill>
                    <a:srgbClr val="E5C068"/>
                  </a:solidFill>
                  <a:latin typeface="Consolas"/>
                  <a:ea typeface="Consolas"/>
                  <a:cs typeface="Consolas"/>
                </a:rPr>
                <a:t>#03</a:t>
              </a:r>
            </a:p>
          </p:txBody>
        </p:sp>
        <p:sp>
          <p:nvSpPr>
            <p:cNvPr id="35" name="TextBox 34"/>
            <p:cNvSpPr txBox="1"/>
            <p:nvPr/>
          </p:nvSpPr>
          <p:spPr>
            <a:xfrm>
              <a:off x="2258568" y="3364992"/>
              <a:ext cx="2194560" cy="201168"/>
            </a:xfrm>
            <a:prstGeom prst="rect">
              <a:avLst/>
            </a:prstGeom>
            <a:noFill/>
          </p:spPr>
          <p:txBody>
            <a:bodyPr wrap="square" lIns="0" rIns="0" tIns="0" bIns="0" anchor="t"/>
            <a:lstStyle/>
            <a:p>
              <a:pPr algn="l">
                <a:lnSpc>
                  <a:spcPct val="100000"/>
                </a:lnSpc>
              </a:pPr>
              <a:r>
                <a:rPr sz="760" b="0" i="0">
                  <a:solidFill>
                    <a:srgbClr val="8BC7A6"/>
                  </a:solidFill>
                  <a:latin typeface="Consolas"/>
                  <a:ea typeface="Consolas"/>
                  <a:cs typeface="Consolas"/>
                </a:rPr>
                <a:t>prev 71be…04fa</a:t>
              </a:r>
            </a:p>
          </p:txBody>
        </p:sp>
        <p:sp>
          <p:nvSpPr>
            <p:cNvPr id="36" name="Rounded Rectangle 35"/>
            <p:cNvSpPr/>
            <p:nvPr/>
          </p:nvSpPr>
          <p:spPr>
            <a:xfrm>
              <a:off x="4599431" y="3355848"/>
              <a:ext cx="841248" cy="201168"/>
            </a:xfrm>
            <a:prstGeom prst="roundRect">
              <a:avLst>
                <a:gd name="adj" fmla="val 50000"/>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40" b="1" i="0" spc="100">
                  <a:solidFill>
                    <a:srgbClr val="FFFFFF"/>
                  </a:solidFill>
                  <a:latin typeface="Segoe UI"/>
                  <a:ea typeface="Segoe UI"/>
                  <a:cs typeface="Segoe UI"/>
                </a:rPr>
                <a:t>VALID</a:t>
              </a:r>
            </a:p>
          </p:txBody>
        </p:sp>
        <p:sp>
          <p:nvSpPr>
            <p:cNvPr id="37" name="TextBox 36"/>
            <p:cNvSpPr txBox="1"/>
            <p:nvPr/>
          </p:nvSpPr>
          <p:spPr>
            <a:xfrm>
              <a:off x="1783080" y="3621024"/>
              <a:ext cx="2651760" cy="201168"/>
            </a:xfrm>
            <a:prstGeom prst="rect">
              <a:avLst/>
            </a:prstGeom>
            <a:noFill/>
          </p:spPr>
          <p:txBody>
            <a:bodyPr wrap="square" lIns="0" rIns="0" tIns="0" bIns="0" anchor="t"/>
            <a:lstStyle/>
            <a:p>
              <a:pPr algn="l">
                <a:lnSpc>
                  <a:spcPct val="100000"/>
                </a:lnSpc>
              </a:pPr>
              <a:r>
                <a:rPr sz="760" b="0" i="0">
                  <a:solidFill>
                    <a:srgbClr val="F0E9DA"/>
                  </a:solidFill>
                  <a:latin typeface="Consolas"/>
                  <a:ea typeface="Consolas"/>
                  <a:cs typeface="Consolas"/>
                </a:rPr>
                <a:t>2026-10-05 · ₹650 · 8h · ₹650</a:t>
              </a:r>
            </a:p>
          </p:txBody>
        </p:sp>
        <p:sp>
          <p:nvSpPr>
            <p:cNvPr id="38" name="TextBox 37"/>
            <p:cNvSpPr txBox="1"/>
            <p:nvPr/>
          </p:nvSpPr>
          <p:spPr>
            <a:xfrm>
              <a:off x="1783080" y="3858768"/>
              <a:ext cx="2468880" cy="201168"/>
            </a:xfrm>
            <a:prstGeom prst="rect">
              <a:avLst/>
            </a:prstGeom>
            <a:noFill/>
          </p:spPr>
          <p:txBody>
            <a:bodyPr wrap="square" lIns="0" rIns="0" tIns="0" bIns="0" anchor="t"/>
            <a:lstStyle/>
            <a:p>
              <a:pPr algn="l">
                <a:lnSpc>
                  <a:spcPct val="100000"/>
                </a:lnSpc>
              </a:pPr>
              <a:r>
                <a:rPr sz="740" b="0" i="0">
                  <a:solidFill>
                    <a:srgbClr val="F0D99B"/>
                  </a:solidFill>
                  <a:latin typeface="Consolas"/>
                  <a:ea typeface="Consolas"/>
                  <a:cs typeface="Consolas"/>
                </a:rPr>
                <a:t>sha256  c4d8…9e31</a:t>
              </a:r>
            </a:p>
          </p:txBody>
        </p:sp>
      </p:grpSp>
      <p:cxnSp>
        <p:nvCxnSpPr>
          <p:cNvPr id="39" name="Connector 38"/>
          <p:cNvCxnSpPr/>
          <p:nvPr/>
        </p:nvCxnSpPr>
        <p:spPr>
          <a:xfrm flipV="1">
            <a:off x="3246120" y="3255264"/>
            <a:ext cx="91440" cy="155448"/>
          </a:xfrm>
          <a:prstGeom prst="line">
            <a:avLst/>
          </a:prstGeom>
          <a:ln w="12700">
            <a:solidFill>
              <a:srgbClr val="358B62"/>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0" name="!!blk-4"/>
          <p:cNvGrpSpPr/>
          <p:nvPr/>
        </p:nvGrpSpPr>
        <p:grpSpPr>
          <a:xfrm>
            <a:off x="1965960" y="3995928"/>
            <a:ext cx="3977639" cy="841248"/>
            <a:chOff x="1965960" y="3995928"/>
            <a:chExt cx="3977639" cy="841248"/>
          </a:xfrm>
        </p:grpSpPr>
        <p:sp>
          <p:nvSpPr>
            <p:cNvPr id="41" name="Rounded Rectangle 40"/>
            <p:cNvSpPr/>
            <p:nvPr/>
          </p:nvSpPr>
          <p:spPr>
            <a:xfrm>
              <a:off x="1965960" y="3995928"/>
              <a:ext cx="3977639" cy="841248"/>
            </a:xfrm>
            <a:prstGeom prst="roundRect">
              <a:avLst>
                <a:gd name="adj" fmla="val 9782"/>
              </a:avLst>
            </a:prstGeom>
            <a:solidFill>
              <a:srgbClr val="163A2B"/>
            </a:solidFill>
            <a:ln w="10160">
              <a:solidFill>
                <a:srgbClr val="25704F"/>
              </a:solidFill>
            </a:ln>
            <a:effectLst>
              <a:outerShdw blurRad="228600" dist="76200" dir="5400000" rotWithShape="0">
                <a:srgbClr val="0A2219">
                  <a:alpha val="16000"/>
                </a:srgbClr>
              </a:outerShdw>
            </a:effectLst>
            <a:scene3d>
              <a:camera prst="perspectiveFront" fov="3600000" zoom="100000">
                <a:rot lat="0" lon="360000" rev="0"/>
              </a:camera>
              <a:lightRig rig="threePt" dir="t">
                <a:rot lat="0" lon="0" rev="0"/>
              </a:lightRig>
            </a:scene3d>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Rounded Rectangle 41"/>
            <p:cNvSpPr/>
            <p:nvPr/>
          </p:nvSpPr>
          <p:spPr>
            <a:xfrm>
              <a:off x="1965960" y="3995928"/>
              <a:ext cx="45720" cy="841248"/>
            </a:xfrm>
            <a:prstGeom prst="roundRect">
              <a:avLst>
                <a:gd name="adj" fmla="val 40000"/>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TextBox 42"/>
            <p:cNvSpPr txBox="1"/>
            <p:nvPr/>
          </p:nvSpPr>
          <p:spPr>
            <a:xfrm>
              <a:off x="2148840" y="4087368"/>
              <a:ext cx="502920" cy="201168"/>
            </a:xfrm>
            <a:prstGeom prst="rect">
              <a:avLst/>
            </a:prstGeom>
            <a:noFill/>
          </p:spPr>
          <p:txBody>
            <a:bodyPr wrap="square" lIns="0" rIns="0" tIns="0" bIns="0" anchor="t"/>
            <a:lstStyle/>
            <a:p>
              <a:pPr algn="l">
                <a:lnSpc>
                  <a:spcPct val="100000"/>
                </a:lnSpc>
              </a:pPr>
              <a:r>
                <a:rPr sz="900" b="1" i="0">
                  <a:solidFill>
                    <a:srgbClr val="E5C068"/>
                  </a:solidFill>
                  <a:latin typeface="Consolas"/>
                  <a:ea typeface="Consolas"/>
                  <a:cs typeface="Consolas"/>
                </a:rPr>
                <a:t>#04</a:t>
              </a:r>
            </a:p>
          </p:txBody>
        </p:sp>
        <p:sp>
          <p:nvSpPr>
            <p:cNvPr id="44" name="TextBox 43"/>
            <p:cNvSpPr txBox="1"/>
            <p:nvPr/>
          </p:nvSpPr>
          <p:spPr>
            <a:xfrm>
              <a:off x="2624328" y="4087368"/>
              <a:ext cx="2194560" cy="201168"/>
            </a:xfrm>
            <a:prstGeom prst="rect">
              <a:avLst/>
            </a:prstGeom>
            <a:noFill/>
          </p:spPr>
          <p:txBody>
            <a:bodyPr wrap="square" lIns="0" rIns="0" tIns="0" bIns="0" anchor="t"/>
            <a:lstStyle/>
            <a:p>
              <a:pPr algn="l">
                <a:lnSpc>
                  <a:spcPct val="100000"/>
                </a:lnSpc>
              </a:pPr>
              <a:r>
                <a:rPr sz="760" b="0" i="0">
                  <a:solidFill>
                    <a:srgbClr val="8BC7A6"/>
                  </a:solidFill>
                  <a:latin typeface="Consolas"/>
                  <a:ea typeface="Consolas"/>
                  <a:cs typeface="Consolas"/>
                </a:rPr>
                <a:t>prev c4d8…9e31</a:t>
              </a:r>
            </a:p>
          </p:txBody>
        </p:sp>
        <p:sp>
          <p:nvSpPr>
            <p:cNvPr id="45" name="Rounded Rectangle 44"/>
            <p:cNvSpPr/>
            <p:nvPr/>
          </p:nvSpPr>
          <p:spPr>
            <a:xfrm>
              <a:off x="4965192" y="4078224"/>
              <a:ext cx="841248" cy="201168"/>
            </a:xfrm>
            <a:prstGeom prst="roundRect">
              <a:avLst>
                <a:gd name="adj" fmla="val 50000"/>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40" b="1" i="0" spc="100">
                  <a:solidFill>
                    <a:srgbClr val="FFFFFF"/>
                  </a:solidFill>
                  <a:latin typeface="Segoe UI"/>
                  <a:ea typeface="Segoe UI"/>
                  <a:cs typeface="Segoe UI"/>
                </a:rPr>
                <a:t>VALID</a:t>
              </a:r>
            </a:p>
          </p:txBody>
        </p:sp>
        <p:sp>
          <p:nvSpPr>
            <p:cNvPr id="46" name="TextBox 45"/>
            <p:cNvSpPr txBox="1"/>
            <p:nvPr/>
          </p:nvSpPr>
          <p:spPr>
            <a:xfrm>
              <a:off x="2148840" y="4343400"/>
              <a:ext cx="2651760" cy="201168"/>
            </a:xfrm>
            <a:prstGeom prst="rect">
              <a:avLst/>
            </a:prstGeom>
            <a:noFill/>
          </p:spPr>
          <p:txBody>
            <a:bodyPr wrap="square" lIns="0" rIns="0" tIns="0" bIns="0" anchor="t"/>
            <a:lstStyle/>
            <a:p>
              <a:pPr algn="l">
                <a:lnSpc>
                  <a:spcPct val="100000"/>
                </a:lnSpc>
              </a:pPr>
              <a:r>
                <a:rPr sz="760" b="0" i="0">
                  <a:solidFill>
                    <a:srgbClr val="F0E9DA"/>
                  </a:solidFill>
                  <a:latin typeface="Consolas"/>
                  <a:ea typeface="Consolas"/>
                  <a:cs typeface="Consolas"/>
                </a:rPr>
                <a:t>2026-10-06 · ₹650 · 8h · ₹650</a:t>
              </a:r>
            </a:p>
          </p:txBody>
        </p:sp>
        <p:sp>
          <p:nvSpPr>
            <p:cNvPr id="47" name="TextBox 46"/>
            <p:cNvSpPr txBox="1"/>
            <p:nvPr/>
          </p:nvSpPr>
          <p:spPr>
            <a:xfrm>
              <a:off x="2148840" y="4581144"/>
              <a:ext cx="2468880" cy="201168"/>
            </a:xfrm>
            <a:prstGeom prst="rect">
              <a:avLst/>
            </a:prstGeom>
            <a:noFill/>
          </p:spPr>
          <p:txBody>
            <a:bodyPr wrap="square" lIns="0" rIns="0" tIns="0" bIns="0" anchor="t"/>
            <a:lstStyle/>
            <a:p>
              <a:pPr algn="l">
                <a:lnSpc>
                  <a:spcPct val="100000"/>
                </a:lnSpc>
              </a:pPr>
              <a:r>
                <a:rPr sz="740" b="0" i="0">
                  <a:solidFill>
                    <a:srgbClr val="F0D99B"/>
                  </a:solidFill>
                  <a:latin typeface="Consolas"/>
                  <a:ea typeface="Consolas"/>
                  <a:cs typeface="Consolas"/>
                </a:rPr>
                <a:t>sha256  8a02…f7c5</a:t>
              </a:r>
            </a:p>
          </p:txBody>
        </p:sp>
      </p:grpSp>
      <p:cxnSp>
        <p:nvCxnSpPr>
          <p:cNvPr id="48" name="Connector 47"/>
          <p:cNvCxnSpPr/>
          <p:nvPr/>
        </p:nvCxnSpPr>
        <p:spPr>
          <a:xfrm flipV="1">
            <a:off x="3611880" y="3977640"/>
            <a:ext cx="91440" cy="155447"/>
          </a:xfrm>
          <a:prstGeom prst="line">
            <a:avLst/>
          </a:prstGeom>
          <a:ln w="12700">
            <a:solidFill>
              <a:srgbClr val="358B62"/>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9" name="!!blk-5"/>
          <p:cNvGrpSpPr/>
          <p:nvPr/>
        </p:nvGrpSpPr>
        <p:grpSpPr>
          <a:xfrm>
            <a:off x="2331720" y="4718304"/>
            <a:ext cx="3977639" cy="841248"/>
            <a:chOff x="2331720" y="4718304"/>
            <a:chExt cx="3977639" cy="841248"/>
          </a:xfrm>
        </p:grpSpPr>
        <p:sp>
          <p:nvSpPr>
            <p:cNvPr id="50" name="Rounded Rectangle 49"/>
            <p:cNvSpPr/>
            <p:nvPr/>
          </p:nvSpPr>
          <p:spPr>
            <a:xfrm>
              <a:off x="2331720" y="4718304"/>
              <a:ext cx="3977639" cy="841248"/>
            </a:xfrm>
            <a:prstGeom prst="roundRect">
              <a:avLst>
                <a:gd name="adj" fmla="val 9782"/>
              </a:avLst>
            </a:prstGeom>
            <a:solidFill>
              <a:srgbClr val="163A2B"/>
            </a:solidFill>
            <a:ln w="10160">
              <a:solidFill>
                <a:srgbClr val="25704F"/>
              </a:solidFill>
            </a:ln>
            <a:effectLst>
              <a:outerShdw blurRad="228600" dist="76200" dir="5400000" rotWithShape="0">
                <a:srgbClr val="0A2219">
                  <a:alpha val="16000"/>
                </a:srgbClr>
              </a:outerShdw>
            </a:effectLst>
            <a:scene3d>
              <a:camera prst="perspectiveFront" fov="3600000" zoom="100000">
                <a:rot lat="0" lon="360000" rev="0"/>
              </a:camera>
              <a:lightRig rig="threePt" dir="t">
                <a:rot lat="0" lon="0" rev="0"/>
              </a:lightRig>
            </a:scene3d>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1" name="Rounded Rectangle 50"/>
            <p:cNvSpPr/>
            <p:nvPr/>
          </p:nvSpPr>
          <p:spPr>
            <a:xfrm>
              <a:off x="2331720" y="4718304"/>
              <a:ext cx="45720" cy="841248"/>
            </a:xfrm>
            <a:prstGeom prst="roundRect">
              <a:avLst>
                <a:gd name="adj" fmla="val 40000"/>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2" name="TextBox 51"/>
            <p:cNvSpPr txBox="1"/>
            <p:nvPr/>
          </p:nvSpPr>
          <p:spPr>
            <a:xfrm>
              <a:off x="2514600" y="4809744"/>
              <a:ext cx="502920" cy="201168"/>
            </a:xfrm>
            <a:prstGeom prst="rect">
              <a:avLst/>
            </a:prstGeom>
            <a:noFill/>
          </p:spPr>
          <p:txBody>
            <a:bodyPr wrap="square" lIns="0" rIns="0" tIns="0" bIns="0" anchor="t"/>
            <a:lstStyle/>
            <a:p>
              <a:pPr algn="l">
                <a:lnSpc>
                  <a:spcPct val="100000"/>
                </a:lnSpc>
              </a:pPr>
              <a:r>
                <a:rPr sz="900" b="1" i="0">
                  <a:solidFill>
                    <a:srgbClr val="E5C068"/>
                  </a:solidFill>
                  <a:latin typeface="Consolas"/>
                  <a:ea typeface="Consolas"/>
                  <a:cs typeface="Consolas"/>
                </a:rPr>
                <a:t>#05</a:t>
              </a:r>
            </a:p>
          </p:txBody>
        </p:sp>
        <p:sp>
          <p:nvSpPr>
            <p:cNvPr id="53" name="TextBox 52"/>
            <p:cNvSpPr txBox="1"/>
            <p:nvPr/>
          </p:nvSpPr>
          <p:spPr>
            <a:xfrm>
              <a:off x="2990087" y="4809744"/>
              <a:ext cx="2194560" cy="201168"/>
            </a:xfrm>
            <a:prstGeom prst="rect">
              <a:avLst/>
            </a:prstGeom>
            <a:noFill/>
          </p:spPr>
          <p:txBody>
            <a:bodyPr wrap="square" lIns="0" rIns="0" tIns="0" bIns="0" anchor="t"/>
            <a:lstStyle/>
            <a:p>
              <a:pPr algn="l">
                <a:lnSpc>
                  <a:spcPct val="100000"/>
                </a:lnSpc>
              </a:pPr>
              <a:r>
                <a:rPr sz="760" b="0" i="0">
                  <a:solidFill>
                    <a:srgbClr val="8BC7A6"/>
                  </a:solidFill>
                  <a:latin typeface="Consolas"/>
                  <a:ea typeface="Consolas"/>
                  <a:cs typeface="Consolas"/>
                </a:rPr>
                <a:t>prev 8a02…f7c5</a:t>
              </a:r>
            </a:p>
          </p:txBody>
        </p:sp>
        <p:sp>
          <p:nvSpPr>
            <p:cNvPr id="54" name="Rounded Rectangle 53"/>
            <p:cNvSpPr/>
            <p:nvPr/>
          </p:nvSpPr>
          <p:spPr>
            <a:xfrm>
              <a:off x="5330952" y="4800600"/>
              <a:ext cx="841248" cy="201168"/>
            </a:xfrm>
            <a:prstGeom prst="roundRect">
              <a:avLst>
                <a:gd name="adj" fmla="val 50000"/>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40" b="1" i="0" spc="100">
                  <a:solidFill>
                    <a:srgbClr val="FFFFFF"/>
                  </a:solidFill>
                  <a:latin typeface="Segoe UI"/>
                  <a:ea typeface="Segoe UI"/>
                  <a:cs typeface="Segoe UI"/>
                </a:rPr>
                <a:t>VALID</a:t>
              </a:r>
            </a:p>
          </p:txBody>
        </p:sp>
        <p:sp>
          <p:nvSpPr>
            <p:cNvPr id="55" name="TextBox 54"/>
            <p:cNvSpPr txBox="1"/>
            <p:nvPr/>
          </p:nvSpPr>
          <p:spPr>
            <a:xfrm>
              <a:off x="2514600" y="5065776"/>
              <a:ext cx="2651760" cy="201168"/>
            </a:xfrm>
            <a:prstGeom prst="rect">
              <a:avLst/>
            </a:prstGeom>
            <a:noFill/>
          </p:spPr>
          <p:txBody>
            <a:bodyPr wrap="square" lIns="0" rIns="0" tIns="0" bIns="0" anchor="t"/>
            <a:lstStyle/>
            <a:p>
              <a:pPr algn="l">
                <a:lnSpc>
                  <a:spcPct val="100000"/>
                </a:lnSpc>
              </a:pPr>
              <a:r>
                <a:rPr sz="760" b="0" i="0">
                  <a:solidFill>
                    <a:srgbClr val="F0E9DA"/>
                  </a:solidFill>
                  <a:latin typeface="Consolas"/>
                  <a:ea typeface="Consolas"/>
                  <a:cs typeface="Consolas"/>
                </a:rPr>
                <a:t>2026-10-09 · ₹650 · 8h · ₹650</a:t>
              </a:r>
            </a:p>
          </p:txBody>
        </p:sp>
        <p:sp>
          <p:nvSpPr>
            <p:cNvPr id="56" name="TextBox 55"/>
            <p:cNvSpPr txBox="1"/>
            <p:nvPr/>
          </p:nvSpPr>
          <p:spPr>
            <a:xfrm>
              <a:off x="2514600" y="5303520"/>
              <a:ext cx="2468880" cy="201168"/>
            </a:xfrm>
            <a:prstGeom prst="rect">
              <a:avLst/>
            </a:prstGeom>
            <a:noFill/>
          </p:spPr>
          <p:txBody>
            <a:bodyPr wrap="square" lIns="0" rIns="0" tIns="0" bIns="0" anchor="t"/>
            <a:lstStyle/>
            <a:p>
              <a:pPr algn="l">
                <a:lnSpc>
                  <a:spcPct val="100000"/>
                </a:lnSpc>
              </a:pPr>
              <a:r>
                <a:rPr sz="740" b="0" i="0">
                  <a:solidFill>
                    <a:srgbClr val="F0D99B"/>
                  </a:solidFill>
                  <a:latin typeface="Consolas"/>
                  <a:ea typeface="Consolas"/>
                  <a:cs typeface="Consolas"/>
                </a:rPr>
                <a:t>sha256  e19d…2b76</a:t>
              </a:r>
            </a:p>
          </p:txBody>
        </p:sp>
      </p:grpSp>
      <p:cxnSp>
        <p:nvCxnSpPr>
          <p:cNvPr id="57" name="Connector 56"/>
          <p:cNvCxnSpPr/>
          <p:nvPr/>
        </p:nvCxnSpPr>
        <p:spPr>
          <a:xfrm flipV="1">
            <a:off x="3977640" y="4700016"/>
            <a:ext cx="91439" cy="155448"/>
          </a:xfrm>
          <a:prstGeom prst="line">
            <a:avLst/>
          </a:prstGeom>
          <a:ln w="12700">
            <a:solidFill>
              <a:srgbClr val="358B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868680" y="5724144"/>
            <a:ext cx="1874519" cy="237744"/>
          </a:xfrm>
          <a:prstGeom prst="roundRect">
            <a:avLst>
              <a:gd name="adj" fmla="val 50000"/>
            </a:avLst>
          </a:prstGeom>
          <a:noFill/>
          <a:ln w="9525">
            <a:solidFill>
              <a:srgbClr val="25704F"/>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8BC7A6"/>
                </a:solidFill>
                <a:latin typeface="Segoe UI"/>
                <a:ea typeface="Segoe UI"/>
                <a:cs typeface="Segoe UI"/>
              </a:rPr>
              <a:t>+ 3 MORE BLOCKS · 8 TOTAL</a:t>
            </a:r>
          </a:p>
        </p:txBody>
      </p:sp>
      <p:sp>
        <p:nvSpPr>
          <p:cNvPr id="59" name="!!canonical-panel"/>
          <p:cNvSpPr/>
          <p:nvPr/>
        </p:nvSpPr>
        <p:spPr>
          <a:xfrm>
            <a:off x="6720840" y="1792224"/>
            <a:ext cx="4681728" cy="4160520"/>
          </a:xfrm>
          <a:prstGeom prst="roundRect">
            <a:avLst>
              <a:gd name="adj" fmla="val 3076"/>
            </a:avLst>
          </a:prstGeom>
          <a:solidFill>
            <a:srgbClr val="163A2B"/>
          </a:solidFill>
          <a:ln w="9525">
            <a:solidFill>
              <a:srgbClr val="1F5941"/>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0" name="TextBox 59"/>
          <p:cNvSpPr txBox="1"/>
          <p:nvPr/>
        </p:nvSpPr>
        <p:spPr>
          <a:xfrm>
            <a:off x="6958583" y="1920240"/>
            <a:ext cx="3657600" cy="201168"/>
          </a:xfrm>
          <a:prstGeom prst="rect">
            <a:avLst/>
          </a:prstGeom>
          <a:noFill/>
        </p:spPr>
        <p:txBody>
          <a:bodyPr wrap="square" lIns="0" rIns="0" tIns="0" bIns="0" anchor="t"/>
          <a:lstStyle/>
          <a:p>
            <a:pPr algn="l">
              <a:lnSpc>
                <a:spcPct val="100000"/>
              </a:lnSpc>
            </a:pPr>
            <a:r>
              <a:rPr sz="760" b="1" i="0" spc="160">
                <a:solidFill>
                  <a:srgbClr val="E5C068"/>
                </a:solidFill>
                <a:latin typeface="Segoe UI"/>
                <a:ea typeface="Segoe UI"/>
                <a:cs typeface="Segoe UI"/>
              </a:rPr>
              <a:t>WHAT GETS HASHED</a:t>
            </a:r>
          </a:p>
        </p:txBody>
      </p:sp>
      <p:sp>
        <p:nvSpPr>
          <p:cNvPr id="61" name="TextBox 60"/>
          <p:cNvSpPr txBox="1"/>
          <p:nvPr/>
        </p:nvSpPr>
        <p:spPr>
          <a:xfrm>
            <a:off x="6958583" y="2139696"/>
            <a:ext cx="4224528" cy="822960"/>
          </a:xfrm>
          <a:prstGeom prst="rect">
            <a:avLst/>
          </a:prstGeom>
          <a:noFill/>
        </p:spPr>
        <p:txBody>
          <a:bodyPr wrap="square" lIns="0" rIns="0" tIns="0" bIns="0" anchor="t"/>
          <a:lstStyle/>
          <a:p>
            <a:pPr algn="l">
              <a:lnSpc>
                <a:spcPct val="150000"/>
              </a:lnSpc>
            </a:pPr>
            <a:r>
              <a:rPr sz="960" b="0" i="0">
                <a:solidFill>
                  <a:srgbClr val="F8F4EA"/>
                </a:solidFill>
                <a:latin typeface="Consolas"/>
                <a:ea typeface="Consolas"/>
                <a:cs typeface="Consolas"/>
              </a:rPr>
              <a:t>prev_hash + date + agreed_rate + duration + earned_wages   →   SHA-256</a:t>
            </a:r>
          </a:p>
        </p:txBody>
      </p:sp>
      <p:sp>
        <p:nvSpPr>
          <p:cNvPr id="62" name="Rectangle 61"/>
          <p:cNvSpPr/>
          <p:nvPr/>
        </p:nvSpPr>
        <p:spPr>
          <a:xfrm>
            <a:off x="6958583" y="2889504"/>
            <a:ext cx="4206240" cy="9144"/>
          </a:xfrm>
          <a:prstGeom prst="rect">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3" name="TextBox 62"/>
          <p:cNvSpPr txBox="1"/>
          <p:nvPr/>
        </p:nvSpPr>
        <p:spPr>
          <a:xfrm>
            <a:off x="6958583" y="2980944"/>
            <a:ext cx="3657600" cy="201168"/>
          </a:xfrm>
          <a:prstGeom prst="rect">
            <a:avLst/>
          </a:prstGeom>
          <a:noFill/>
        </p:spPr>
        <p:txBody>
          <a:bodyPr wrap="square" lIns="0" rIns="0" tIns="0" bIns="0" anchor="t"/>
          <a:lstStyle/>
          <a:p>
            <a:pPr algn="l">
              <a:lnSpc>
                <a:spcPct val="100000"/>
              </a:lnSpc>
            </a:pPr>
            <a:r>
              <a:rPr sz="760" b="1" i="0" spc="160">
                <a:solidFill>
                  <a:srgbClr val="E5C068"/>
                </a:solidFill>
                <a:latin typeface="Segoe UI"/>
                <a:ea typeface="Segoe UI"/>
                <a:cs typeface="Segoe UI"/>
              </a:rPr>
              <a:t>VERIFICATION OUTCOMES</a:t>
            </a:r>
          </a:p>
        </p:txBody>
      </p:sp>
      <p:sp>
        <p:nvSpPr>
          <p:cNvPr id="64" name="Oval 63"/>
          <p:cNvSpPr/>
          <p:nvPr/>
        </p:nvSpPr>
        <p:spPr>
          <a:xfrm>
            <a:off x="6976872" y="3264408"/>
            <a:ext cx="82296" cy="82296"/>
          </a:xfrm>
          <a:prstGeom prst="ellipse">
            <a:avLst/>
          </a:prstGeom>
          <a:solidFill>
            <a:srgbClr val="8BC7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78040" y="3200400"/>
            <a:ext cx="3950208" cy="237744"/>
          </a:xfrm>
          <a:prstGeom prst="rect">
            <a:avLst/>
          </a:prstGeom>
          <a:noFill/>
        </p:spPr>
        <p:txBody>
          <a:bodyPr wrap="square" lIns="0" rIns="0" tIns="0" bIns="0" anchor="t"/>
          <a:lstStyle/>
          <a:p>
            <a:pPr algn="l">
              <a:lnSpc>
                <a:spcPct val="100000"/>
              </a:lnSpc>
            </a:pPr>
            <a:r>
              <a:rPr sz="960" b="0" i="0">
                <a:solidFill>
                  <a:srgbClr val="F0E9DA"/>
                </a:solidFill>
                <a:latin typeface="Segoe UI"/>
                <a:ea typeface="Segoe UI"/>
                <a:cs typeface="Segoe UI"/>
              </a:rPr>
              <a:t>Integrity check passed</a:t>
            </a:r>
          </a:p>
        </p:txBody>
      </p:sp>
      <p:sp>
        <p:nvSpPr>
          <p:cNvPr id="66" name="Oval 65"/>
          <p:cNvSpPr/>
          <p:nvPr/>
        </p:nvSpPr>
        <p:spPr>
          <a:xfrm>
            <a:off x="6976872" y="3575303"/>
            <a:ext cx="82296" cy="82296"/>
          </a:xfrm>
          <a:prstGeom prst="ellipse">
            <a:avLst/>
          </a:prstGeom>
          <a:solidFill>
            <a:srgbClr val="F4E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178040" y="3511296"/>
            <a:ext cx="3950208" cy="237744"/>
          </a:xfrm>
          <a:prstGeom prst="rect">
            <a:avLst/>
          </a:prstGeom>
          <a:noFill/>
        </p:spPr>
        <p:txBody>
          <a:bodyPr wrap="square" lIns="0" rIns="0" tIns="0" bIns="0" anchor="t"/>
          <a:lstStyle/>
          <a:p>
            <a:pPr algn="l">
              <a:lnSpc>
                <a:spcPct val="100000"/>
              </a:lnSpc>
            </a:pPr>
            <a:r>
              <a:rPr sz="960" b="0" i="0">
                <a:solidFill>
                  <a:srgbClr val="F0E9DA"/>
                </a:solidFill>
                <a:latin typeface="Segoe UI"/>
                <a:ea typeface="Segoe UI"/>
                <a:cs typeface="Segoe UI"/>
              </a:rPr>
              <a:t>Record modified — hash mismatch</a:t>
            </a:r>
          </a:p>
        </p:txBody>
      </p:sp>
      <p:sp>
        <p:nvSpPr>
          <p:cNvPr id="68" name="Oval 67"/>
          <p:cNvSpPr/>
          <p:nvPr/>
        </p:nvSpPr>
        <p:spPr>
          <a:xfrm>
            <a:off x="6976872" y="3886200"/>
            <a:ext cx="82296" cy="82296"/>
          </a:xfrm>
          <a:prstGeom prst="ellipse">
            <a:avLst/>
          </a:prstGeom>
          <a:solidFill>
            <a:srgbClr val="F0D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178040" y="3822191"/>
            <a:ext cx="3950208" cy="237744"/>
          </a:xfrm>
          <a:prstGeom prst="rect">
            <a:avLst/>
          </a:prstGeom>
          <a:noFill/>
        </p:spPr>
        <p:txBody>
          <a:bodyPr wrap="square" lIns="0" rIns="0" tIns="0" bIns="0" anchor="t"/>
          <a:lstStyle/>
          <a:p>
            <a:pPr algn="l">
              <a:lnSpc>
                <a:spcPct val="100000"/>
              </a:lnSpc>
            </a:pPr>
            <a:r>
              <a:rPr sz="960" b="0" i="0">
                <a:solidFill>
                  <a:srgbClr val="F0E9DA"/>
                </a:solidFill>
                <a:latin typeface="Segoe UI"/>
                <a:ea typeface="Segoe UI"/>
                <a:cs typeface="Segoe UI"/>
              </a:rPr>
              <a:t>Linkage broken or history incomplete</a:t>
            </a:r>
          </a:p>
        </p:txBody>
      </p:sp>
      <p:sp>
        <p:nvSpPr>
          <p:cNvPr id="70" name="Oval 69"/>
          <p:cNvSpPr/>
          <p:nvPr/>
        </p:nvSpPr>
        <p:spPr>
          <a:xfrm>
            <a:off x="6976872" y="4197096"/>
            <a:ext cx="82296" cy="82296"/>
          </a:xfrm>
          <a:prstGeom prst="ellipse">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178040" y="4133087"/>
            <a:ext cx="3950208" cy="237744"/>
          </a:xfrm>
          <a:prstGeom prst="rect">
            <a:avLst/>
          </a:prstGeom>
          <a:noFill/>
        </p:spPr>
        <p:txBody>
          <a:bodyPr wrap="square" lIns="0" rIns="0" tIns="0" bIns="0" anchor="t"/>
          <a:lstStyle/>
          <a:p>
            <a:pPr algn="l">
              <a:lnSpc>
                <a:spcPct val="100000"/>
              </a:lnSpc>
            </a:pPr>
            <a:r>
              <a:rPr sz="960" b="0" i="0">
                <a:solidFill>
                  <a:srgbClr val="F0E9DA"/>
                </a:solidFill>
                <a:latin typeface="Segoe UI"/>
                <a:ea typeface="Segoe UI"/>
                <a:cs typeface="Segoe UI"/>
              </a:rPr>
              <a:t>Verification could not be completed</a:t>
            </a:r>
          </a:p>
        </p:txBody>
      </p:sp>
      <p:sp>
        <p:nvSpPr>
          <p:cNvPr id="72" name="TextBox 71"/>
          <p:cNvSpPr txBox="1"/>
          <p:nvPr/>
        </p:nvSpPr>
        <p:spPr>
          <a:xfrm>
            <a:off x="6958583" y="4517136"/>
            <a:ext cx="4206240" cy="1188720"/>
          </a:xfrm>
          <a:prstGeom prst="rect">
            <a:avLst/>
          </a:prstGeom>
          <a:noFill/>
        </p:spPr>
        <p:txBody>
          <a:bodyPr wrap="square" lIns="0" rIns="0" tIns="0" bIns="0" anchor="t"/>
          <a:lstStyle/>
          <a:p>
            <a:pPr algn="l">
              <a:lnSpc>
                <a:spcPct val="120000"/>
              </a:lnSpc>
              <a:spcAft>
                <a:spcPts val="0"/>
              </a:spcAft>
            </a:pPr>
            <a:r>
              <a:rPr sz="819" b="1" i="0" spc="120">
                <a:solidFill>
                  <a:srgbClr val="F4E2DC"/>
                </a:solidFill>
                <a:latin typeface="Segoe UI"/>
                <a:ea typeface="Segoe UI"/>
                <a:cs typeface="Segoe UI"/>
              </a:rPr>
              <a:t>What it does not claim</a:t>
            </a:r>
          </a:p>
          <a:p>
            <a:pPr algn="l">
              <a:lnSpc>
                <a:spcPct val="120000"/>
              </a:lnSpc>
            </a:pPr>
            <a:r>
              <a:rPr sz="880" b="0" i="0">
                <a:solidFill>
                  <a:srgbClr val="BADFCA"/>
                </a:solidFill>
                <a:latin typeface="Segoe UI"/>
                <a:ea typeface="Segoe UI"/>
                <a:cs typeface="Segoe UI"/>
              </a:rPr>
              <a:t>A valid hash does not prove the original entry was true, and a local chain can be recomputed by anyone who controls the device. This is tamper-evident, not tamper-proof — and not a blockchain.</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555480" y="-2834640"/>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560320" y="4206240"/>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3581521"/>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4098157"/>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ANOMALY DETECTION</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02  </a:t>
            </a:r>
            <a:r>
              <a:rPr sz="950" b="1" i="0" spc="140">
                <a:solidFill>
                  <a:srgbClr val="5F776B"/>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Seven rules, zero black boxes</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17 / 26</a:t>
            </a:r>
          </a:p>
        </p:txBody>
      </p:sp>
      <p:grpSp>
        <p:nvGrpSpPr>
          <p:cNvPr id="14" name="!!rule-1"/>
          <p:cNvGrpSpPr/>
          <p:nvPr/>
        </p:nvGrpSpPr>
        <p:grpSpPr>
          <a:xfrm>
            <a:off x="786384" y="1828800"/>
            <a:ext cx="2516886" cy="1682496"/>
            <a:chOff x="786384" y="1828800"/>
            <a:chExt cx="2516886" cy="1682496"/>
          </a:xfrm>
        </p:grpSpPr>
        <p:sp>
          <p:nvSpPr>
            <p:cNvPr id="15" name="Rounded Rectangle 14"/>
            <p:cNvSpPr/>
            <p:nvPr/>
          </p:nvSpPr>
          <p:spPr>
            <a:xfrm>
              <a:off x="786384" y="1828800"/>
              <a:ext cx="2516886" cy="1682496"/>
            </a:xfrm>
            <a:prstGeom prst="roundRect">
              <a:avLst>
                <a:gd name="adj" fmla="val 6521"/>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786384" y="1828800"/>
              <a:ext cx="41148" cy="1682496"/>
            </a:xfrm>
            <a:prstGeom prst="roundRect">
              <a:avLst>
                <a:gd name="adj" fmla="val 44444"/>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987552" y="1975104"/>
              <a:ext cx="1280160" cy="201168"/>
            </a:xfrm>
            <a:prstGeom prst="rect">
              <a:avLst/>
            </a:prstGeom>
            <a:noFill/>
          </p:spPr>
          <p:txBody>
            <a:bodyPr wrap="square" lIns="0" rIns="0" tIns="0" bIns="0" anchor="t"/>
            <a:lstStyle/>
            <a:p>
              <a:pPr algn="l">
                <a:lnSpc>
                  <a:spcPct val="100000"/>
                </a:lnSpc>
              </a:pPr>
              <a:r>
                <a:rPr sz="780" b="1" i="0" spc="80">
                  <a:solidFill>
                    <a:srgbClr val="1F5941"/>
                  </a:solidFill>
                  <a:latin typeface="Consolas"/>
                  <a:ea typeface="Consolas"/>
                  <a:cs typeface="Consolas"/>
                </a:rPr>
                <a:t>RULE-01</a:t>
              </a:r>
            </a:p>
          </p:txBody>
        </p:sp>
        <p:sp>
          <p:nvSpPr>
            <p:cNvPr id="18" name="TextBox 17"/>
            <p:cNvSpPr txBox="1"/>
            <p:nvPr/>
          </p:nvSpPr>
          <p:spPr>
            <a:xfrm>
              <a:off x="987552" y="2212848"/>
              <a:ext cx="2151126" cy="219456"/>
            </a:xfrm>
            <a:prstGeom prst="rect">
              <a:avLst/>
            </a:prstGeom>
            <a:noFill/>
          </p:spPr>
          <p:txBody>
            <a:bodyPr wrap="square" lIns="0" rIns="0" tIns="0" bIns="0" anchor="t"/>
            <a:lstStyle/>
            <a:p>
              <a:pPr algn="l">
                <a:lnSpc>
                  <a:spcPct val="100000"/>
                </a:lnSpc>
              </a:pPr>
              <a:r>
                <a:rPr sz="1100" b="1" i="0">
                  <a:solidFill>
                    <a:srgbClr val="12211B"/>
                  </a:solidFill>
                  <a:latin typeface="Segoe UI"/>
                  <a:ea typeface="Segoe UI"/>
                  <a:cs typeface="Segoe UI"/>
                </a:rPr>
                <a:t>Duplicate date</a:t>
              </a:r>
            </a:p>
          </p:txBody>
        </p:sp>
        <p:sp>
          <p:nvSpPr>
            <p:cNvPr id="19" name="TextBox 18"/>
            <p:cNvSpPr txBox="1"/>
            <p:nvPr/>
          </p:nvSpPr>
          <p:spPr>
            <a:xfrm>
              <a:off x="987552" y="2487168"/>
              <a:ext cx="2151126" cy="603504"/>
            </a:xfrm>
            <a:prstGeom prst="rect">
              <a:avLst/>
            </a:prstGeom>
            <a:noFill/>
          </p:spPr>
          <p:txBody>
            <a:bodyPr wrap="square" lIns="0" rIns="0" tIns="0" bIns="0" anchor="t"/>
            <a:lstStyle/>
            <a:p>
              <a:pPr algn="l">
                <a:lnSpc>
                  <a:spcPct val="116000"/>
                </a:lnSpc>
              </a:pPr>
              <a:r>
                <a:rPr sz="860" b="0" i="0">
                  <a:solidFill>
                    <a:srgbClr val="557165"/>
                  </a:solidFill>
                  <a:latin typeface="Segoe UI"/>
                  <a:ea typeface="Segoe UI"/>
                  <a:cs typeface="Segoe UI"/>
                </a:rPr>
                <a:t>Two entries for the same worker on one calendar date.</a:t>
              </a:r>
            </a:p>
          </p:txBody>
        </p:sp>
        <p:sp>
          <p:nvSpPr>
            <p:cNvPr id="20" name="Rectangle 19"/>
            <p:cNvSpPr/>
            <p:nvPr/>
          </p:nvSpPr>
          <p:spPr>
            <a:xfrm>
              <a:off x="987552" y="3127248"/>
              <a:ext cx="2114550"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987552" y="3200400"/>
              <a:ext cx="2151126" cy="219456"/>
            </a:xfrm>
            <a:prstGeom prst="rect">
              <a:avLst/>
            </a:prstGeom>
            <a:noFill/>
          </p:spPr>
          <p:txBody>
            <a:bodyPr wrap="square" lIns="0" rIns="0" tIns="0" bIns="0" anchor="t"/>
            <a:lstStyle/>
            <a:p>
              <a:pPr algn="l">
                <a:lnSpc>
                  <a:spcPct val="100000"/>
                </a:lnSpc>
              </a:pPr>
              <a:r>
                <a:rPr sz="800" b="1" i="0">
                  <a:solidFill>
                    <a:srgbClr val="1F5941"/>
                  </a:solidFill>
                  <a:latin typeface="Segoe UI"/>
                  <a:ea typeface="Segoe UI"/>
                  <a:cs typeface="Segoe UI"/>
                </a:rPr>
                <a:t>Flag for review</a:t>
              </a:r>
            </a:p>
          </p:txBody>
        </p:sp>
      </p:grpSp>
      <p:grpSp>
        <p:nvGrpSpPr>
          <p:cNvPr id="22" name="!!rule-2"/>
          <p:cNvGrpSpPr/>
          <p:nvPr/>
        </p:nvGrpSpPr>
        <p:grpSpPr>
          <a:xfrm>
            <a:off x="3486150" y="1828800"/>
            <a:ext cx="2516886" cy="1682496"/>
            <a:chOff x="3486150" y="1828800"/>
            <a:chExt cx="2516886" cy="1682496"/>
          </a:xfrm>
        </p:grpSpPr>
        <p:sp>
          <p:nvSpPr>
            <p:cNvPr id="23" name="Rounded Rectangle 22"/>
            <p:cNvSpPr/>
            <p:nvPr/>
          </p:nvSpPr>
          <p:spPr>
            <a:xfrm>
              <a:off x="3486150" y="1828800"/>
              <a:ext cx="2516886" cy="1682496"/>
            </a:xfrm>
            <a:prstGeom prst="roundRect">
              <a:avLst>
                <a:gd name="adj" fmla="val 6521"/>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ounded Rectangle 23"/>
            <p:cNvSpPr/>
            <p:nvPr/>
          </p:nvSpPr>
          <p:spPr>
            <a:xfrm>
              <a:off x="3486150" y="1828800"/>
              <a:ext cx="41148" cy="1682496"/>
            </a:xfrm>
            <a:prstGeom prst="roundRect">
              <a:avLst>
                <a:gd name="adj" fmla="val 44444"/>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4"/>
            <p:cNvSpPr txBox="1"/>
            <p:nvPr/>
          </p:nvSpPr>
          <p:spPr>
            <a:xfrm>
              <a:off x="3687318" y="1975104"/>
              <a:ext cx="1280160" cy="201168"/>
            </a:xfrm>
            <a:prstGeom prst="rect">
              <a:avLst/>
            </a:prstGeom>
            <a:noFill/>
          </p:spPr>
          <p:txBody>
            <a:bodyPr wrap="square" lIns="0" rIns="0" tIns="0" bIns="0" anchor="t"/>
            <a:lstStyle/>
            <a:p>
              <a:pPr algn="l">
                <a:lnSpc>
                  <a:spcPct val="100000"/>
                </a:lnSpc>
              </a:pPr>
              <a:r>
                <a:rPr sz="780" b="1" i="0" spc="80">
                  <a:solidFill>
                    <a:srgbClr val="1F5941"/>
                  </a:solidFill>
                  <a:latin typeface="Consolas"/>
                  <a:ea typeface="Consolas"/>
                  <a:cs typeface="Consolas"/>
                </a:rPr>
                <a:t>RULE-02</a:t>
              </a:r>
            </a:p>
          </p:txBody>
        </p:sp>
        <p:sp>
          <p:nvSpPr>
            <p:cNvPr id="26" name="TextBox 25"/>
            <p:cNvSpPr txBox="1"/>
            <p:nvPr/>
          </p:nvSpPr>
          <p:spPr>
            <a:xfrm>
              <a:off x="3687318" y="2212848"/>
              <a:ext cx="2151126" cy="219456"/>
            </a:xfrm>
            <a:prstGeom prst="rect">
              <a:avLst/>
            </a:prstGeom>
            <a:noFill/>
          </p:spPr>
          <p:txBody>
            <a:bodyPr wrap="square" lIns="0" rIns="0" tIns="0" bIns="0" anchor="t"/>
            <a:lstStyle/>
            <a:p>
              <a:pPr algn="l">
                <a:lnSpc>
                  <a:spcPct val="100000"/>
                </a:lnSpc>
              </a:pPr>
              <a:r>
                <a:rPr sz="1100" b="1" i="0">
                  <a:solidFill>
                    <a:srgbClr val="12211B"/>
                  </a:solidFill>
                  <a:latin typeface="Segoe UI"/>
                  <a:ea typeface="Segoe UI"/>
                  <a:cs typeface="Segoe UI"/>
                </a:rPr>
                <a:t>Shift too long</a:t>
              </a:r>
            </a:p>
          </p:txBody>
        </p:sp>
        <p:sp>
          <p:nvSpPr>
            <p:cNvPr id="27" name="TextBox 26"/>
            <p:cNvSpPr txBox="1"/>
            <p:nvPr/>
          </p:nvSpPr>
          <p:spPr>
            <a:xfrm>
              <a:off x="3687318" y="2487168"/>
              <a:ext cx="2151126" cy="603504"/>
            </a:xfrm>
            <a:prstGeom prst="rect">
              <a:avLst/>
            </a:prstGeom>
            <a:noFill/>
          </p:spPr>
          <p:txBody>
            <a:bodyPr wrap="square" lIns="0" rIns="0" tIns="0" bIns="0" anchor="t"/>
            <a:lstStyle/>
            <a:p>
              <a:pPr algn="l">
                <a:lnSpc>
                  <a:spcPct val="116000"/>
                </a:lnSpc>
              </a:pPr>
              <a:r>
                <a:rPr sz="860" b="0" i="0">
                  <a:solidFill>
                    <a:srgbClr val="557165"/>
                  </a:solidFill>
                  <a:latin typeface="Segoe UI"/>
                  <a:ea typeface="Segoe UI"/>
                  <a:cs typeface="Segoe UI"/>
                </a:rPr>
                <a:t>Continuous duration above a configurable threshold, e.g. 12 h.</a:t>
              </a:r>
            </a:p>
          </p:txBody>
        </p:sp>
        <p:sp>
          <p:nvSpPr>
            <p:cNvPr id="28" name="Rectangle 27"/>
            <p:cNvSpPr/>
            <p:nvPr/>
          </p:nvSpPr>
          <p:spPr>
            <a:xfrm>
              <a:off x="3687318" y="3127248"/>
              <a:ext cx="2114550"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TextBox 28"/>
            <p:cNvSpPr txBox="1"/>
            <p:nvPr/>
          </p:nvSpPr>
          <p:spPr>
            <a:xfrm>
              <a:off x="3687318" y="3200400"/>
              <a:ext cx="2151126" cy="219456"/>
            </a:xfrm>
            <a:prstGeom prst="rect">
              <a:avLst/>
            </a:prstGeom>
            <a:noFill/>
          </p:spPr>
          <p:txBody>
            <a:bodyPr wrap="square" lIns="0" rIns="0" tIns="0" bIns="0" anchor="t"/>
            <a:lstStyle/>
            <a:p>
              <a:pPr algn="l">
                <a:lnSpc>
                  <a:spcPct val="100000"/>
                </a:lnSpc>
              </a:pPr>
              <a:r>
                <a:rPr sz="800" b="1" i="0">
                  <a:solidFill>
                    <a:srgbClr val="1F5941"/>
                  </a:solidFill>
                  <a:latin typeface="Segoe UI"/>
                  <a:ea typeface="Segoe UI"/>
                  <a:cs typeface="Segoe UI"/>
                </a:rPr>
                <a:t>Flag for review</a:t>
              </a:r>
            </a:p>
          </p:txBody>
        </p:sp>
      </p:grpSp>
      <p:grpSp>
        <p:nvGrpSpPr>
          <p:cNvPr id="30" name="!!rule-3"/>
          <p:cNvGrpSpPr/>
          <p:nvPr/>
        </p:nvGrpSpPr>
        <p:grpSpPr>
          <a:xfrm>
            <a:off x="6185916" y="1828800"/>
            <a:ext cx="2516886" cy="1682496"/>
            <a:chOff x="6185916" y="1828800"/>
            <a:chExt cx="2516886" cy="1682496"/>
          </a:xfrm>
        </p:grpSpPr>
        <p:sp>
          <p:nvSpPr>
            <p:cNvPr id="31" name="Rounded Rectangle 30"/>
            <p:cNvSpPr/>
            <p:nvPr/>
          </p:nvSpPr>
          <p:spPr>
            <a:xfrm>
              <a:off x="6185916" y="1828800"/>
              <a:ext cx="2516886" cy="1682496"/>
            </a:xfrm>
            <a:prstGeom prst="roundRect">
              <a:avLst>
                <a:gd name="adj" fmla="val 6521"/>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Rounded Rectangle 31"/>
            <p:cNvSpPr/>
            <p:nvPr/>
          </p:nvSpPr>
          <p:spPr>
            <a:xfrm>
              <a:off x="6185916" y="1828800"/>
              <a:ext cx="41148" cy="1682496"/>
            </a:xfrm>
            <a:prstGeom prst="roundRect">
              <a:avLst>
                <a:gd name="adj" fmla="val 44444"/>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TextBox 32"/>
            <p:cNvSpPr txBox="1"/>
            <p:nvPr/>
          </p:nvSpPr>
          <p:spPr>
            <a:xfrm>
              <a:off x="6387084" y="1975104"/>
              <a:ext cx="1280160" cy="201168"/>
            </a:xfrm>
            <a:prstGeom prst="rect">
              <a:avLst/>
            </a:prstGeom>
            <a:noFill/>
          </p:spPr>
          <p:txBody>
            <a:bodyPr wrap="square" lIns="0" rIns="0" tIns="0" bIns="0" anchor="t"/>
            <a:lstStyle/>
            <a:p>
              <a:pPr algn="l">
                <a:lnSpc>
                  <a:spcPct val="100000"/>
                </a:lnSpc>
              </a:pPr>
              <a:r>
                <a:rPr sz="780" b="1" i="0" spc="80">
                  <a:solidFill>
                    <a:srgbClr val="B4482F"/>
                  </a:solidFill>
                  <a:latin typeface="Consolas"/>
                  <a:ea typeface="Consolas"/>
                  <a:cs typeface="Consolas"/>
                </a:rPr>
                <a:t>RULE-03</a:t>
              </a:r>
            </a:p>
          </p:txBody>
        </p:sp>
        <p:sp>
          <p:nvSpPr>
            <p:cNvPr id="34" name="TextBox 33"/>
            <p:cNvSpPr txBox="1"/>
            <p:nvPr/>
          </p:nvSpPr>
          <p:spPr>
            <a:xfrm>
              <a:off x="6387084" y="2212848"/>
              <a:ext cx="2151126" cy="219456"/>
            </a:xfrm>
            <a:prstGeom prst="rect">
              <a:avLst/>
            </a:prstGeom>
            <a:noFill/>
          </p:spPr>
          <p:txBody>
            <a:bodyPr wrap="square" lIns="0" rIns="0" tIns="0" bIns="0" anchor="t"/>
            <a:lstStyle/>
            <a:p>
              <a:pPr algn="l">
                <a:lnSpc>
                  <a:spcPct val="100000"/>
                </a:lnSpc>
              </a:pPr>
              <a:r>
                <a:rPr sz="1100" b="1" i="0">
                  <a:solidFill>
                    <a:srgbClr val="12211B"/>
                  </a:solidFill>
                  <a:latin typeface="Segoe UI"/>
                  <a:ea typeface="Segoe UI"/>
                  <a:cs typeface="Segoe UI"/>
                </a:rPr>
                <a:t>Retroactive edit</a:t>
              </a:r>
            </a:p>
          </p:txBody>
        </p:sp>
        <p:sp>
          <p:nvSpPr>
            <p:cNvPr id="35" name="TextBox 34"/>
            <p:cNvSpPr txBox="1"/>
            <p:nvPr/>
          </p:nvSpPr>
          <p:spPr>
            <a:xfrm>
              <a:off x="6387084" y="2487168"/>
              <a:ext cx="2151126" cy="603504"/>
            </a:xfrm>
            <a:prstGeom prst="rect">
              <a:avLst/>
            </a:prstGeom>
            <a:noFill/>
          </p:spPr>
          <p:txBody>
            <a:bodyPr wrap="square" lIns="0" rIns="0" tIns="0" bIns="0" anchor="t"/>
            <a:lstStyle/>
            <a:p>
              <a:pPr algn="l">
                <a:lnSpc>
                  <a:spcPct val="116000"/>
                </a:lnSpc>
              </a:pPr>
              <a:r>
                <a:rPr sz="860" b="0" i="0">
                  <a:solidFill>
                    <a:srgbClr val="557165"/>
                  </a:solidFill>
                  <a:latin typeface="Segoe UI"/>
                  <a:ea typeface="Segoe UI"/>
                  <a:cs typeface="Segoe UI"/>
                </a:rPr>
                <a:t>Record modified after initial registration.</a:t>
              </a:r>
            </a:p>
          </p:txBody>
        </p:sp>
        <p:sp>
          <p:nvSpPr>
            <p:cNvPr id="36" name="Rectangle 35"/>
            <p:cNvSpPr/>
            <p:nvPr/>
          </p:nvSpPr>
          <p:spPr>
            <a:xfrm>
              <a:off x="6387084" y="3127248"/>
              <a:ext cx="2114550"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TextBox 36"/>
            <p:cNvSpPr txBox="1"/>
            <p:nvPr/>
          </p:nvSpPr>
          <p:spPr>
            <a:xfrm>
              <a:off x="6387084" y="3200400"/>
              <a:ext cx="2151126" cy="219456"/>
            </a:xfrm>
            <a:prstGeom prst="rect">
              <a:avLst/>
            </a:prstGeom>
            <a:noFill/>
          </p:spPr>
          <p:txBody>
            <a:bodyPr wrap="square" lIns="0" rIns="0" tIns="0" bIns="0" anchor="t"/>
            <a:lstStyle/>
            <a:p>
              <a:pPr algn="l">
                <a:lnSpc>
                  <a:spcPct val="100000"/>
                </a:lnSpc>
              </a:pPr>
              <a:r>
                <a:rPr sz="800" b="1" i="0">
                  <a:solidFill>
                    <a:srgbClr val="B4482F"/>
                  </a:solidFill>
                  <a:latin typeface="Segoe UI"/>
                  <a:ea typeface="Segoe UI"/>
                  <a:cs typeface="Segoe UI"/>
                </a:rPr>
                <a:t>Prior value preserved</a:t>
              </a:r>
            </a:p>
          </p:txBody>
        </p:sp>
      </p:grpSp>
      <p:grpSp>
        <p:nvGrpSpPr>
          <p:cNvPr id="38" name="!!rule-4"/>
          <p:cNvGrpSpPr/>
          <p:nvPr/>
        </p:nvGrpSpPr>
        <p:grpSpPr>
          <a:xfrm>
            <a:off x="8885682" y="1828800"/>
            <a:ext cx="2516886" cy="1682496"/>
            <a:chOff x="8885682" y="1828800"/>
            <a:chExt cx="2516886" cy="1682496"/>
          </a:xfrm>
        </p:grpSpPr>
        <p:sp>
          <p:nvSpPr>
            <p:cNvPr id="39" name="Rounded Rectangle 38"/>
            <p:cNvSpPr/>
            <p:nvPr/>
          </p:nvSpPr>
          <p:spPr>
            <a:xfrm>
              <a:off x="8885682" y="1828800"/>
              <a:ext cx="2516886" cy="1682496"/>
            </a:xfrm>
            <a:prstGeom prst="roundRect">
              <a:avLst>
                <a:gd name="adj" fmla="val 6521"/>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ounded Rectangle 39"/>
            <p:cNvSpPr/>
            <p:nvPr/>
          </p:nvSpPr>
          <p:spPr>
            <a:xfrm>
              <a:off x="8885682" y="1828800"/>
              <a:ext cx="41148" cy="1682496"/>
            </a:xfrm>
            <a:prstGeom prst="roundRect">
              <a:avLst>
                <a:gd name="adj" fmla="val 44444"/>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TextBox 40"/>
            <p:cNvSpPr txBox="1"/>
            <p:nvPr/>
          </p:nvSpPr>
          <p:spPr>
            <a:xfrm>
              <a:off x="9086850" y="1975104"/>
              <a:ext cx="1280160" cy="201168"/>
            </a:xfrm>
            <a:prstGeom prst="rect">
              <a:avLst/>
            </a:prstGeom>
            <a:noFill/>
          </p:spPr>
          <p:txBody>
            <a:bodyPr wrap="square" lIns="0" rIns="0" tIns="0" bIns="0" anchor="t"/>
            <a:lstStyle/>
            <a:p>
              <a:pPr algn="l">
                <a:lnSpc>
                  <a:spcPct val="100000"/>
                </a:lnSpc>
              </a:pPr>
              <a:r>
                <a:rPr sz="780" b="1" i="0" spc="80">
                  <a:solidFill>
                    <a:srgbClr val="A76F26"/>
                  </a:solidFill>
                  <a:latin typeface="Consolas"/>
                  <a:ea typeface="Consolas"/>
                  <a:cs typeface="Consolas"/>
                </a:rPr>
                <a:t>RULE-04</a:t>
              </a:r>
            </a:p>
          </p:txBody>
        </p:sp>
        <p:sp>
          <p:nvSpPr>
            <p:cNvPr id="42" name="TextBox 41"/>
            <p:cNvSpPr txBox="1"/>
            <p:nvPr/>
          </p:nvSpPr>
          <p:spPr>
            <a:xfrm>
              <a:off x="9086850" y="2212848"/>
              <a:ext cx="2151126" cy="219456"/>
            </a:xfrm>
            <a:prstGeom prst="rect">
              <a:avLst/>
            </a:prstGeom>
            <a:noFill/>
          </p:spPr>
          <p:txBody>
            <a:bodyPr wrap="square" lIns="0" rIns="0" tIns="0" bIns="0" anchor="t"/>
            <a:lstStyle/>
            <a:p>
              <a:pPr algn="l">
                <a:lnSpc>
                  <a:spcPct val="100000"/>
                </a:lnSpc>
              </a:pPr>
              <a:r>
                <a:rPr sz="1100" b="1" i="0">
                  <a:solidFill>
                    <a:srgbClr val="12211B"/>
                  </a:solidFill>
                  <a:latin typeface="Segoe UI"/>
                  <a:ea typeface="Segoe UI"/>
                  <a:cs typeface="Segoe UI"/>
                </a:rPr>
                <a:t>Reconciliation gap</a:t>
              </a:r>
            </a:p>
          </p:txBody>
        </p:sp>
        <p:sp>
          <p:nvSpPr>
            <p:cNvPr id="43" name="TextBox 42"/>
            <p:cNvSpPr txBox="1"/>
            <p:nvPr/>
          </p:nvSpPr>
          <p:spPr>
            <a:xfrm>
              <a:off x="9086850" y="2487168"/>
              <a:ext cx="2151126" cy="603504"/>
            </a:xfrm>
            <a:prstGeom prst="rect">
              <a:avLst/>
            </a:prstGeom>
            <a:noFill/>
          </p:spPr>
          <p:txBody>
            <a:bodyPr wrap="square" lIns="0" rIns="0" tIns="0" bIns="0" anchor="t"/>
            <a:lstStyle/>
            <a:p>
              <a:pPr algn="l">
                <a:lnSpc>
                  <a:spcPct val="116000"/>
                </a:lnSpc>
              </a:pPr>
              <a:r>
                <a:rPr sz="860" b="0" i="0">
                  <a:solidFill>
                    <a:srgbClr val="557165"/>
                  </a:solidFill>
                  <a:latin typeface="Segoe UI"/>
                  <a:ea typeface="Segoe UI"/>
                  <a:cs typeface="Segoe UI"/>
                </a:rPr>
                <a:t>Wages due, payments recorded and acknowledgements disagree.</a:t>
              </a:r>
            </a:p>
          </p:txBody>
        </p:sp>
        <p:sp>
          <p:nvSpPr>
            <p:cNvPr id="44" name="Rectangle 43"/>
            <p:cNvSpPr/>
            <p:nvPr/>
          </p:nvSpPr>
          <p:spPr>
            <a:xfrm>
              <a:off x="9086850" y="3127248"/>
              <a:ext cx="2114550"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TextBox 44"/>
            <p:cNvSpPr txBox="1"/>
            <p:nvPr/>
          </p:nvSpPr>
          <p:spPr>
            <a:xfrm>
              <a:off x="9086850" y="3200400"/>
              <a:ext cx="2151126" cy="219456"/>
            </a:xfrm>
            <a:prstGeom prst="rect">
              <a:avLst/>
            </a:prstGeom>
            <a:noFill/>
          </p:spPr>
          <p:txBody>
            <a:bodyPr wrap="square" lIns="0" rIns="0" tIns="0" bIns="0" anchor="t"/>
            <a:lstStyle/>
            <a:p>
              <a:pPr algn="l">
                <a:lnSpc>
                  <a:spcPct val="100000"/>
                </a:lnSpc>
              </a:pPr>
              <a:r>
                <a:rPr sz="800" b="1" i="0">
                  <a:solidFill>
                    <a:srgbClr val="A76F26"/>
                  </a:solidFill>
                  <a:latin typeface="Segoe UI"/>
                  <a:ea typeface="Segoe UI"/>
                  <a:cs typeface="Segoe UI"/>
                </a:rPr>
                <a:t>Highlight mismatch</a:t>
              </a:r>
            </a:p>
          </p:txBody>
        </p:sp>
      </p:grpSp>
      <p:grpSp>
        <p:nvGrpSpPr>
          <p:cNvPr id="46" name="!!rule-5"/>
          <p:cNvGrpSpPr/>
          <p:nvPr/>
        </p:nvGrpSpPr>
        <p:grpSpPr>
          <a:xfrm>
            <a:off x="786384" y="3675887"/>
            <a:ext cx="2516886" cy="1682496"/>
            <a:chOff x="786384" y="3675887"/>
            <a:chExt cx="2516886" cy="1682496"/>
          </a:xfrm>
        </p:grpSpPr>
        <p:sp>
          <p:nvSpPr>
            <p:cNvPr id="47" name="Rounded Rectangle 46"/>
            <p:cNvSpPr/>
            <p:nvPr/>
          </p:nvSpPr>
          <p:spPr>
            <a:xfrm>
              <a:off x="786384" y="3675887"/>
              <a:ext cx="2516886" cy="1682496"/>
            </a:xfrm>
            <a:prstGeom prst="roundRect">
              <a:avLst>
                <a:gd name="adj" fmla="val 6521"/>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Rounded Rectangle 47"/>
            <p:cNvSpPr/>
            <p:nvPr/>
          </p:nvSpPr>
          <p:spPr>
            <a:xfrm>
              <a:off x="786384" y="3675887"/>
              <a:ext cx="41148" cy="1682496"/>
            </a:xfrm>
            <a:prstGeom prst="roundRect">
              <a:avLst>
                <a:gd name="adj" fmla="val 44444"/>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9" name="TextBox 48"/>
            <p:cNvSpPr txBox="1"/>
            <p:nvPr/>
          </p:nvSpPr>
          <p:spPr>
            <a:xfrm>
              <a:off x="987552" y="3822191"/>
              <a:ext cx="1280160" cy="201168"/>
            </a:xfrm>
            <a:prstGeom prst="rect">
              <a:avLst/>
            </a:prstGeom>
            <a:noFill/>
          </p:spPr>
          <p:txBody>
            <a:bodyPr wrap="square" lIns="0" rIns="0" tIns="0" bIns="0" anchor="t"/>
            <a:lstStyle/>
            <a:p>
              <a:pPr algn="l">
                <a:lnSpc>
                  <a:spcPct val="100000"/>
                </a:lnSpc>
              </a:pPr>
              <a:r>
                <a:rPr sz="780" b="1" i="0" spc="80">
                  <a:solidFill>
                    <a:srgbClr val="A76F26"/>
                  </a:solidFill>
                  <a:latin typeface="Consolas"/>
                  <a:ea typeface="Consolas"/>
                  <a:cs typeface="Consolas"/>
                </a:rPr>
                <a:t>RULE-05</a:t>
              </a:r>
            </a:p>
          </p:txBody>
        </p:sp>
        <p:sp>
          <p:nvSpPr>
            <p:cNvPr id="50" name="TextBox 49"/>
            <p:cNvSpPr txBox="1"/>
            <p:nvPr/>
          </p:nvSpPr>
          <p:spPr>
            <a:xfrm>
              <a:off x="987552" y="4059935"/>
              <a:ext cx="2151126" cy="219456"/>
            </a:xfrm>
            <a:prstGeom prst="rect">
              <a:avLst/>
            </a:prstGeom>
            <a:noFill/>
          </p:spPr>
          <p:txBody>
            <a:bodyPr wrap="square" lIns="0" rIns="0" tIns="0" bIns="0" anchor="t"/>
            <a:lstStyle/>
            <a:p>
              <a:pPr algn="l">
                <a:lnSpc>
                  <a:spcPct val="100000"/>
                </a:lnSpc>
              </a:pPr>
              <a:r>
                <a:rPr sz="1100" b="1" i="0">
                  <a:solidFill>
                    <a:srgbClr val="12211B"/>
                  </a:solidFill>
                  <a:latin typeface="Segoe UI"/>
                  <a:ea typeface="Segoe UI"/>
                  <a:cs typeface="Segoe UI"/>
                </a:rPr>
                <a:t>Silent deduction</a:t>
              </a:r>
            </a:p>
          </p:txBody>
        </p:sp>
        <p:sp>
          <p:nvSpPr>
            <p:cNvPr id="51" name="TextBox 50"/>
            <p:cNvSpPr txBox="1"/>
            <p:nvPr/>
          </p:nvSpPr>
          <p:spPr>
            <a:xfrm>
              <a:off x="987552" y="4334255"/>
              <a:ext cx="2151126" cy="603504"/>
            </a:xfrm>
            <a:prstGeom prst="rect">
              <a:avLst/>
            </a:prstGeom>
            <a:noFill/>
          </p:spPr>
          <p:txBody>
            <a:bodyPr wrap="square" lIns="0" rIns="0" tIns="0" bIns="0" anchor="t"/>
            <a:lstStyle/>
            <a:p>
              <a:pPr algn="l">
                <a:lnSpc>
                  <a:spcPct val="116000"/>
                </a:lnSpc>
              </a:pPr>
              <a:r>
                <a:rPr sz="860" b="0" i="0">
                  <a:solidFill>
                    <a:srgbClr val="557165"/>
                  </a:solidFill>
                  <a:latin typeface="Segoe UI"/>
                  <a:ea typeface="Segoe UI"/>
                  <a:cs typeface="Segoe UI"/>
                </a:rPr>
                <a:t>A deduction recorded without a stated reason.</a:t>
              </a:r>
            </a:p>
          </p:txBody>
        </p:sp>
        <p:sp>
          <p:nvSpPr>
            <p:cNvPr id="52" name="Rectangle 51"/>
            <p:cNvSpPr/>
            <p:nvPr/>
          </p:nvSpPr>
          <p:spPr>
            <a:xfrm>
              <a:off x="987552" y="4974336"/>
              <a:ext cx="2114550"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3" name="TextBox 52"/>
            <p:cNvSpPr txBox="1"/>
            <p:nvPr/>
          </p:nvSpPr>
          <p:spPr>
            <a:xfrm>
              <a:off x="987552" y="5047488"/>
              <a:ext cx="2151126" cy="219456"/>
            </a:xfrm>
            <a:prstGeom prst="rect">
              <a:avLst/>
            </a:prstGeom>
            <a:noFill/>
          </p:spPr>
          <p:txBody>
            <a:bodyPr wrap="square" lIns="0" rIns="0" tIns="0" bIns="0" anchor="t"/>
            <a:lstStyle/>
            <a:p>
              <a:pPr algn="l">
                <a:lnSpc>
                  <a:spcPct val="100000"/>
                </a:lnSpc>
              </a:pPr>
              <a:r>
                <a:rPr sz="800" b="1" i="0">
                  <a:solidFill>
                    <a:srgbClr val="A76F26"/>
                  </a:solidFill>
                  <a:latin typeface="Segoe UI"/>
                  <a:ea typeface="Segoe UI"/>
                  <a:cs typeface="Segoe UI"/>
                </a:rPr>
                <a:t>Flag unexplained</a:t>
              </a:r>
            </a:p>
          </p:txBody>
        </p:sp>
      </p:grpSp>
      <p:grpSp>
        <p:nvGrpSpPr>
          <p:cNvPr id="54" name="!!rule-6"/>
          <p:cNvGrpSpPr/>
          <p:nvPr/>
        </p:nvGrpSpPr>
        <p:grpSpPr>
          <a:xfrm>
            <a:off x="3486150" y="3675887"/>
            <a:ext cx="2516886" cy="1682496"/>
            <a:chOff x="3486150" y="3675887"/>
            <a:chExt cx="2516886" cy="1682496"/>
          </a:xfrm>
        </p:grpSpPr>
        <p:sp>
          <p:nvSpPr>
            <p:cNvPr id="55" name="Rounded Rectangle 54"/>
            <p:cNvSpPr/>
            <p:nvPr/>
          </p:nvSpPr>
          <p:spPr>
            <a:xfrm>
              <a:off x="3486150" y="3675887"/>
              <a:ext cx="2516886" cy="1682496"/>
            </a:xfrm>
            <a:prstGeom prst="roundRect">
              <a:avLst>
                <a:gd name="adj" fmla="val 6521"/>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6" name="Rounded Rectangle 55"/>
            <p:cNvSpPr/>
            <p:nvPr/>
          </p:nvSpPr>
          <p:spPr>
            <a:xfrm>
              <a:off x="3486150" y="3675887"/>
              <a:ext cx="41148" cy="1682496"/>
            </a:xfrm>
            <a:prstGeom prst="roundRect">
              <a:avLst>
                <a:gd name="adj" fmla="val 44444"/>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7" name="TextBox 56"/>
            <p:cNvSpPr txBox="1"/>
            <p:nvPr/>
          </p:nvSpPr>
          <p:spPr>
            <a:xfrm>
              <a:off x="3687318" y="3822191"/>
              <a:ext cx="1280160" cy="201168"/>
            </a:xfrm>
            <a:prstGeom prst="rect">
              <a:avLst/>
            </a:prstGeom>
            <a:noFill/>
          </p:spPr>
          <p:txBody>
            <a:bodyPr wrap="square" lIns="0" rIns="0" tIns="0" bIns="0" anchor="t"/>
            <a:lstStyle/>
            <a:p>
              <a:pPr algn="l">
                <a:lnSpc>
                  <a:spcPct val="100000"/>
                </a:lnSpc>
              </a:pPr>
              <a:r>
                <a:rPr sz="780" b="1" i="0" spc="80">
                  <a:solidFill>
                    <a:srgbClr val="358B62"/>
                  </a:solidFill>
                  <a:latin typeface="Consolas"/>
                  <a:ea typeface="Consolas"/>
                  <a:cs typeface="Consolas"/>
                </a:rPr>
                <a:t>RULE-06</a:t>
              </a:r>
            </a:p>
          </p:txBody>
        </p:sp>
        <p:sp>
          <p:nvSpPr>
            <p:cNvPr id="58" name="TextBox 57"/>
            <p:cNvSpPr txBox="1"/>
            <p:nvPr/>
          </p:nvSpPr>
          <p:spPr>
            <a:xfrm>
              <a:off x="3687318" y="4059935"/>
              <a:ext cx="2151126" cy="219456"/>
            </a:xfrm>
            <a:prstGeom prst="rect">
              <a:avLst/>
            </a:prstGeom>
            <a:noFill/>
          </p:spPr>
          <p:txBody>
            <a:bodyPr wrap="square" lIns="0" rIns="0" tIns="0" bIns="0" anchor="t"/>
            <a:lstStyle/>
            <a:p>
              <a:pPr algn="l">
                <a:lnSpc>
                  <a:spcPct val="100000"/>
                </a:lnSpc>
              </a:pPr>
              <a:r>
                <a:rPr sz="1100" b="1" i="0">
                  <a:solidFill>
                    <a:srgbClr val="12211B"/>
                  </a:solidFill>
                  <a:latin typeface="Segoe UI"/>
                  <a:ea typeface="Segoe UI"/>
                  <a:cs typeface="Segoe UI"/>
                </a:rPr>
                <a:t>Overdue balance</a:t>
              </a:r>
            </a:p>
          </p:txBody>
        </p:sp>
        <p:sp>
          <p:nvSpPr>
            <p:cNvPr id="59" name="TextBox 58"/>
            <p:cNvSpPr txBox="1"/>
            <p:nvPr/>
          </p:nvSpPr>
          <p:spPr>
            <a:xfrm>
              <a:off x="3687318" y="4334255"/>
              <a:ext cx="2151126" cy="603504"/>
            </a:xfrm>
            <a:prstGeom prst="rect">
              <a:avLst/>
            </a:prstGeom>
            <a:noFill/>
          </p:spPr>
          <p:txBody>
            <a:bodyPr wrap="square" lIns="0" rIns="0" tIns="0" bIns="0" anchor="t"/>
            <a:lstStyle/>
            <a:p>
              <a:pPr algn="l">
                <a:lnSpc>
                  <a:spcPct val="116000"/>
                </a:lnSpc>
              </a:pPr>
              <a:r>
                <a:rPr sz="860" b="0" i="0">
                  <a:solidFill>
                    <a:srgbClr val="557165"/>
                  </a:solidFill>
                  <a:latin typeface="Segoe UI"/>
                  <a:ea typeface="Segoe UI"/>
                  <a:cs typeface="Segoe UI"/>
                </a:rPr>
                <a:t>Outstanding amount older than the configured window.</a:t>
              </a:r>
            </a:p>
          </p:txBody>
        </p:sp>
        <p:sp>
          <p:nvSpPr>
            <p:cNvPr id="60" name="Rectangle 59"/>
            <p:cNvSpPr/>
            <p:nvPr/>
          </p:nvSpPr>
          <p:spPr>
            <a:xfrm>
              <a:off x="3687318" y="4974336"/>
              <a:ext cx="2114550"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1" name="TextBox 60"/>
            <p:cNvSpPr txBox="1"/>
            <p:nvPr/>
          </p:nvSpPr>
          <p:spPr>
            <a:xfrm>
              <a:off x="3687318" y="5047488"/>
              <a:ext cx="2151126" cy="219456"/>
            </a:xfrm>
            <a:prstGeom prst="rect">
              <a:avLst/>
            </a:prstGeom>
            <a:noFill/>
          </p:spPr>
          <p:txBody>
            <a:bodyPr wrap="square" lIns="0" rIns="0" tIns="0" bIns="0" anchor="t"/>
            <a:lstStyle/>
            <a:p>
              <a:pPr algn="l">
                <a:lnSpc>
                  <a:spcPct val="100000"/>
                </a:lnSpc>
              </a:pPr>
              <a:r>
                <a:rPr sz="800" b="1" i="0">
                  <a:solidFill>
                    <a:srgbClr val="358B62"/>
                  </a:solidFill>
                  <a:latin typeface="Segoe UI"/>
                  <a:ea typeface="Segoe UI"/>
                  <a:cs typeface="Segoe UI"/>
                </a:rPr>
                <a:t>Follow-up, not a deadline</a:t>
              </a:r>
            </a:p>
          </p:txBody>
        </p:sp>
      </p:grpSp>
      <p:grpSp>
        <p:nvGrpSpPr>
          <p:cNvPr id="62" name="!!rule-7"/>
          <p:cNvGrpSpPr/>
          <p:nvPr/>
        </p:nvGrpSpPr>
        <p:grpSpPr>
          <a:xfrm>
            <a:off x="6185916" y="3675887"/>
            <a:ext cx="2516886" cy="1682496"/>
            <a:chOff x="6185916" y="3675887"/>
            <a:chExt cx="2516886" cy="1682496"/>
          </a:xfrm>
        </p:grpSpPr>
        <p:sp>
          <p:nvSpPr>
            <p:cNvPr id="63" name="Rounded Rectangle 62"/>
            <p:cNvSpPr/>
            <p:nvPr/>
          </p:nvSpPr>
          <p:spPr>
            <a:xfrm>
              <a:off x="6185916" y="3675887"/>
              <a:ext cx="2516886" cy="1682496"/>
            </a:xfrm>
            <a:prstGeom prst="roundRect">
              <a:avLst>
                <a:gd name="adj" fmla="val 6521"/>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4" name="Rounded Rectangle 63"/>
            <p:cNvSpPr/>
            <p:nvPr/>
          </p:nvSpPr>
          <p:spPr>
            <a:xfrm>
              <a:off x="6185916" y="3675887"/>
              <a:ext cx="41148" cy="1682496"/>
            </a:xfrm>
            <a:prstGeom prst="roundRect">
              <a:avLst>
                <a:gd name="adj" fmla="val 44444"/>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5" name="TextBox 64"/>
            <p:cNvSpPr txBox="1"/>
            <p:nvPr/>
          </p:nvSpPr>
          <p:spPr>
            <a:xfrm>
              <a:off x="6387084" y="3822191"/>
              <a:ext cx="1280160" cy="201168"/>
            </a:xfrm>
            <a:prstGeom prst="rect">
              <a:avLst/>
            </a:prstGeom>
            <a:noFill/>
          </p:spPr>
          <p:txBody>
            <a:bodyPr wrap="square" lIns="0" rIns="0" tIns="0" bIns="0" anchor="t"/>
            <a:lstStyle/>
            <a:p>
              <a:pPr algn="l">
                <a:lnSpc>
                  <a:spcPct val="100000"/>
                </a:lnSpc>
              </a:pPr>
              <a:r>
                <a:rPr sz="780" b="1" i="0" spc="80">
                  <a:solidFill>
                    <a:srgbClr val="358B62"/>
                  </a:solidFill>
                  <a:latin typeface="Consolas"/>
                  <a:ea typeface="Consolas"/>
                  <a:cs typeface="Consolas"/>
                </a:rPr>
                <a:t>RULE-07</a:t>
              </a:r>
            </a:p>
          </p:txBody>
        </p:sp>
        <p:sp>
          <p:nvSpPr>
            <p:cNvPr id="66" name="TextBox 65"/>
            <p:cNvSpPr txBox="1"/>
            <p:nvPr/>
          </p:nvSpPr>
          <p:spPr>
            <a:xfrm>
              <a:off x="6387084" y="4059935"/>
              <a:ext cx="2151126" cy="219456"/>
            </a:xfrm>
            <a:prstGeom prst="rect">
              <a:avLst/>
            </a:prstGeom>
            <a:noFill/>
          </p:spPr>
          <p:txBody>
            <a:bodyPr wrap="square" lIns="0" rIns="0" tIns="0" bIns="0" anchor="t"/>
            <a:lstStyle/>
            <a:p>
              <a:pPr algn="l">
                <a:lnSpc>
                  <a:spcPct val="100000"/>
                </a:lnSpc>
              </a:pPr>
              <a:r>
                <a:rPr sz="1100" b="1" i="0">
                  <a:solidFill>
                    <a:srgbClr val="12211B"/>
                  </a:solidFill>
                  <a:latin typeface="Segoe UI"/>
                  <a:ea typeface="Segoe UI"/>
                  <a:cs typeface="Segoe UI"/>
                </a:rPr>
                <a:t>Below benchmark</a:t>
              </a:r>
            </a:p>
          </p:txBody>
        </p:sp>
        <p:sp>
          <p:nvSpPr>
            <p:cNvPr id="67" name="TextBox 66"/>
            <p:cNvSpPr txBox="1"/>
            <p:nvPr/>
          </p:nvSpPr>
          <p:spPr>
            <a:xfrm>
              <a:off x="6387084" y="4334255"/>
              <a:ext cx="2151126" cy="603504"/>
            </a:xfrm>
            <a:prstGeom prst="rect">
              <a:avLst/>
            </a:prstGeom>
            <a:noFill/>
          </p:spPr>
          <p:txBody>
            <a:bodyPr wrap="square" lIns="0" rIns="0" tIns="0" bIns="0" anchor="t"/>
            <a:lstStyle/>
            <a:p>
              <a:pPr algn="l">
                <a:lnSpc>
                  <a:spcPct val="116000"/>
                </a:lnSpc>
              </a:pPr>
              <a:r>
                <a:rPr sz="860" b="0" i="0">
                  <a:solidFill>
                    <a:srgbClr val="557165"/>
                  </a:solidFill>
                  <a:latin typeface="Segoe UI"/>
                  <a:ea typeface="Segoe UI"/>
                  <a:cs typeface="Segoe UI"/>
                </a:rPr>
                <a:t>Agreed rate under a configurable statutory reference.</a:t>
              </a:r>
            </a:p>
          </p:txBody>
        </p:sp>
        <p:sp>
          <p:nvSpPr>
            <p:cNvPr id="68" name="Rectangle 67"/>
            <p:cNvSpPr/>
            <p:nvPr/>
          </p:nvSpPr>
          <p:spPr>
            <a:xfrm>
              <a:off x="6387084" y="4974336"/>
              <a:ext cx="2114550"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9" name="TextBox 68"/>
            <p:cNvSpPr txBox="1"/>
            <p:nvPr/>
          </p:nvSpPr>
          <p:spPr>
            <a:xfrm>
              <a:off x="6387084" y="5047488"/>
              <a:ext cx="2151126" cy="219456"/>
            </a:xfrm>
            <a:prstGeom prst="rect">
              <a:avLst/>
            </a:prstGeom>
            <a:noFill/>
          </p:spPr>
          <p:txBody>
            <a:bodyPr wrap="square" lIns="0" rIns="0" tIns="0" bIns="0" anchor="t"/>
            <a:lstStyle/>
            <a:p>
              <a:pPr algn="l">
                <a:lnSpc>
                  <a:spcPct val="100000"/>
                </a:lnSpc>
              </a:pPr>
              <a:r>
                <a:rPr sz="800" b="1" i="0">
                  <a:solidFill>
                    <a:srgbClr val="358B62"/>
                  </a:solidFill>
                  <a:latin typeface="Segoe UI"/>
                  <a:ea typeface="Segoe UI"/>
                  <a:cs typeface="Segoe UI"/>
                </a:rPr>
                <a:t>Alert only — verify notice</a:t>
              </a:r>
            </a:p>
          </p:txBody>
        </p:sp>
      </p:grpSp>
      <p:grpSp>
        <p:nvGrpSpPr>
          <p:cNvPr id="70" name="!!rule-explainer"/>
          <p:cNvGrpSpPr/>
          <p:nvPr/>
        </p:nvGrpSpPr>
        <p:grpSpPr>
          <a:xfrm>
            <a:off x="8885682" y="3675887"/>
            <a:ext cx="2516886" cy="1682496"/>
            <a:chOff x="8885682" y="3675887"/>
            <a:chExt cx="2516886" cy="1682496"/>
          </a:xfrm>
        </p:grpSpPr>
        <p:sp>
          <p:nvSpPr>
            <p:cNvPr id="71" name="Rounded Rectangle 70"/>
            <p:cNvSpPr/>
            <p:nvPr/>
          </p:nvSpPr>
          <p:spPr>
            <a:xfrm>
              <a:off x="8885682" y="3675887"/>
              <a:ext cx="2516886" cy="1682496"/>
            </a:xfrm>
            <a:prstGeom prst="roundRect">
              <a:avLst>
                <a:gd name="adj" fmla="val 6521"/>
              </a:avLst>
            </a:prstGeom>
            <a:solidFill>
              <a:srgbClr val="0A2219"/>
            </a:solidFill>
            <a:ln w="9525">
              <a:solidFill>
                <a:srgbClr val="1F5941"/>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2" name="TextBox 71"/>
            <p:cNvSpPr txBox="1"/>
            <p:nvPr/>
          </p:nvSpPr>
          <p:spPr>
            <a:xfrm>
              <a:off x="9086850" y="3822191"/>
              <a:ext cx="2151126" cy="201168"/>
            </a:xfrm>
            <a:prstGeom prst="rect">
              <a:avLst/>
            </a:prstGeom>
            <a:noFill/>
          </p:spPr>
          <p:txBody>
            <a:bodyPr wrap="square" lIns="0" rIns="0" tIns="0" bIns="0" anchor="t"/>
            <a:lstStyle/>
            <a:p>
              <a:pPr algn="l">
                <a:lnSpc>
                  <a:spcPct val="100000"/>
                </a:lnSpc>
              </a:pPr>
              <a:r>
                <a:rPr sz="740" b="1" i="0" spc="110">
                  <a:solidFill>
                    <a:srgbClr val="E5C068"/>
                  </a:solidFill>
                  <a:latin typeface="Segoe UI"/>
                  <a:ea typeface="Segoe UI"/>
                  <a:cs typeface="Segoe UI"/>
                </a:rPr>
                <a:t>EVERY FINDING SHOWS</a:t>
              </a:r>
            </a:p>
          </p:txBody>
        </p:sp>
        <p:sp>
          <p:nvSpPr>
            <p:cNvPr id="73" name="Oval 72"/>
            <p:cNvSpPr/>
            <p:nvPr/>
          </p:nvSpPr>
          <p:spPr>
            <a:xfrm>
              <a:off x="9105138" y="4178807"/>
              <a:ext cx="64008" cy="64008"/>
            </a:xfrm>
            <a:prstGeom prst="ellipse">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269730" y="4114800"/>
              <a:ext cx="1968246" cy="219456"/>
            </a:xfrm>
            <a:prstGeom prst="rect">
              <a:avLst/>
            </a:prstGeom>
            <a:noFill/>
          </p:spPr>
          <p:txBody>
            <a:bodyPr wrap="square" lIns="0" rIns="0" tIns="0" bIns="0" anchor="t"/>
            <a:lstStyle/>
            <a:p>
              <a:pPr algn="l">
                <a:lnSpc>
                  <a:spcPct val="100000"/>
                </a:lnSpc>
              </a:pPr>
              <a:r>
                <a:rPr sz="840" b="0" i="0">
                  <a:solidFill>
                    <a:srgbClr val="BADFCA"/>
                  </a:solidFill>
                  <a:latin typeface="Segoe UI"/>
                  <a:ea typeface="Segoe UI"/>
                  <a:cs typeface="Segoe UI"/>
                </a:rPr>
                <a:t>the rule that fired</a:t>
              </a:r>
            </a:p>
          </p:txBody>
        </p:sp>
        <p:sp>
          <p:nvSpPr>
            <p:cNvPr id="75" name="Oval 74"/>
            <p:cNvSpPr/>
            <p:nvPr/>
          </p:nvSpPr>
          <p:spPr>
            <a:xfrm>
              <a:off x="9105138" y="4462271"/>
              <a:ext cx="64008" cy="64008"/>
            </a:xfrm>
            <a:prstGeom prst="ellipse">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269730" y="4398264"/>
              <a:ext cx="1968246" cy="219456"/>
            </a:xfrm>
            <a:prstGeom prst="rect">
              <a:avLst/>
            </a:prstGeom>
            <a:noFill/>
          </p:spPr>
          <p:txBody>
            <a:bodyPr wrap="square" lIns="0" rIns="0" tIns="0" bIns="0" anchor="t"/>
            <a:lstStyle/>
            <a:p>
              <a:pPr algn="l">
                <a:lnSpc>
                  <a:spcPct val="100000"/>
                </a:lnSpc>
              </a:pPr>
              <a:r>
                <a:rPr sz="840" b="0" i="0">
                  <a:solidFill>
                    <a:srgbClr val="BADFCA"/>
                  </a:solidFill>
                  <a:latin typeface="Segoe UI"/>
                  <a:ea typeface="Segoe UI"/>
                  <a:cs typeface="Segoe UI"/>
                </a:rPr>
                <a:t>the exact values compared</a:t>
              </a:r>
            </a:p>
          </p:txBody>
        </p:sp>
        <p:sp>
          <p:nvSpPr>
            <p:cNvPr id="77" name="Oval 76"/>
            <p:cNvSpPr/>
            <p:nvPr/>
          </p:nvSpPr>
          <p:spPr>
            <a:xfrm>
              <a:off x="9105138" y="4745736"/>
              <a:ext cx="64008" cy="64008"/>
            </a:xfrm>
            <a:prstGeom prst="ellipse">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269730" y="4681728"/>
              <a:ext cx="1968246" cy="219456"/>
            </a:xfrm>
            <a:prstGeom prst="rect">
              <a:avLst/>
            </a:prstGeom>
            <a:noFill/>
          </p:spPr>
          <p:txBody>
            <a:bodyPr wrap="square" lIns="0" rIns="0" tIns="0" bIns="0" anchor="t"/>
            <a:lstStyle/>
            <a:p>
              <a:pPr algn="l">
                <a:lnSpc>
                  <a:spcPct val="100000"/>
                </a:lnSpc>
              </a:pPr>
              <a:r>
                <a:rPr sz="840" b="0" i="0">
                  <a:solidFill>
                    <a:srgbClr val="BADFCA"/>
                  </a:solidFill>
                  <a:latin typeface="Segoe UI"/>
                  <a:ea typeface="Segoe UI"/>
                  <a:cs typeface="Segoe UI"/>
                </a:rPr>
                <a:t>the threshold in force</a:t>
              </a:r>
            </a:p>
          </p:txBody>
        </p:sp>
        <p:sp>
          <p:nvSpPr>
            <p:cNvPr id="79" name="Oval 78"/>
            <p:cNvSpPr/>
            <p:nvPr/>
          </p:nvSpPr>
          <p:spPr>
            <a:xfrm>
              <a:off x="9105138" y="5029199"/>
              <a:ext cx="64008" cy="64008"/>
            </a:xfrm>
            <a:prstGeom prst="ellipse">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269730" y="4965192"/>
              <a:ext cx="1968246" cy="219456"/>
            </a:xfrm>
            <a:prstGeom prst="rect">
              <a:avLst/>
            </a:prstGeom>
            <a:noFill/>
          </p:spPr>
          <p:txBody>
            <a:bodyPr wrap="square" lIns="0" rIns="0" tIns="0" bIns="0" anchor="t"/>
            <a:lstStyle/>
            <a:p>
              <a:pPr algn="l">
                <a:lnSpc>
                  <a:spcPct val="100000"/>
                </a:lnSpc>
              </a:pPr>
              <a:r>
                <a:rPr sz="840" b="0" i="0">
                  <a:solidFill>
                    <a:srgbClr val="BADFCA"/>
                  </a:solidFill>
                  <a:latin typeface="Segoe UI"/>
                  <a:ea typeface="Segoe UI"/>
                  <a:cs typeface="Segoe UI"/>
                </a:rPr>
                <a:t>guidance, not a verdict</a:t>
              </a:r>
            </a:p>
          </p:txBody>
        </p:sp>
      </p:grpSp>
      <p:sp>
        <p:nvSpPr>
          <p:cNvPr id="81" name="!!rules-band"/>
          <p:cNvSpPr/>
          <p:nvPr/>
        </p:nvSpPr>
        <p:spPr>
          <a:xfrm>
            <a:off x="786384" y="5632704"/>
            <a:ext cx="10616184" cy="475488"/>
          </a:xfrm>
          <a:prstGeom prst="roundRect">
            <a:avLst>
              <a:gd name="adj" fmla="val 15384"/>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2" name="TextBox 81"/>
          <p:cNvSpPr txBox="1"/>
          <p:nvPr/>
        </p:nvSpPr>
        <p:spPr>
          <a:xfrm>
            <a:off x="1005840" y="5724144"/>
            <a:ext cx="10158984" cy="292608"/>
          </a:xfrm>
          <a:prstGeom prst="rect">
            <a:avLst/>
          </a:prstGeom>
          <a:noFill/>
        </p:spPr>
        <p:txBody>
          <a:bodyPr wrap="square" lIns="0" rIns="0" tIns="0" bIns="0" anchor="t"/>
          <a:lstStyle/>
          <a:p>
            <a:pPr algn="l">
              <a:lnSpc>
                <a:spcPct val="100000"/>
              </a:lnSpc>
            </a:pPr>
            <a:r>
              <a:rPr sz="800" b="1" i="0" spc="140">
                <a:solidFill>
                  <a:srgbClr val="B4482F"/>
                </a:solidFill>
                <a:latin typeface="Segoe UI"/>
                <a:ea typeface="Segoe UI"/>
                <a:cs typeface="Segoe UI"/>
              </a:rPr>
              <a:t>DETERMINISTIC, NOT AI  </a:t>
            </a:r>
            <a:r>
              <a:rPr sz="960" b="0" i="0">
                <a:solidFill>
                  <a:srgbClr val="33483F"/>
                </a:solidFill>
                <a:latin typeface="Segoe UI"/>
                <a:ea typeface="Segoe UI"/>
                <a:cs typeface="Segoe UI"/>
              </a:rPr>
              <a:t>Every check compares stored values against a stated threshold. No model, no score, no accusation — facts for joint resolution.</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10058400" y="-2578608"/>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286000" y="4526279"/>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3805367"/>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4322003"/>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QR &amp; SECURITY</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02  </a:t>
            </a:r>
            <a:r>
              <a:rPr sz="950" b="1" i="0" spc="140">
                <a:solidFill>
                  <a:srgbClr val="5F776B"/>
                </a:solidFill>
                <a:latin typeface="Segoe UI"/>
                <a:ea typeface="Segoe UI"/>
                <a:cs typeface="Segoe UI"/>
              </a:rPr>
              <a:t>DESIGN</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Identify, authenticate, authorise</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18 / 26</a:t>
            </a:r>
          </a:p>
        </p:txBody>
      </p:sp>
      <p:grpSp>
        <p:nvGrpSpPr>
          <p:cNvPr id="14" name="!!pass-card"/>
          <p:cNvGrpSpPr/>
          <p:nvPr/>
        </p:nvGrpSpPr>
        <p:grpSpPr>
          <a:xfrm>
            <a:off x="923544" y="1792224"/>
            <a:ext cx="2212848" cy="3200400"/>
            <a:chOff x="923544" y="1792224"/>
            <a:chExt cx="2212848" cy="3200400"/>
          </a:xfrm>
        </p:grpSpPr>
        <p:sp>
          <p:nvSpPr>
            <p:cNvPr id="15" name="Rounded Rectangle 14"/>
            <p:cNvSpPr/>
            <p:nvPr/>
          </p:nvSpPr>
          <p:spPr>
            <a:xfrm>
              <a:off x="923544" y="1792224"/>
              <a:ext cx="2212848" cy="3200400"/>
            </a:xfrm>
            <a:prstGeom prst="roundRect">
              <a:avLst>
                <a:gd name="adj" fmla="val 6611"/>
              </a:avLst>
            </a:prstGeom>
            <a:solidFill>
              <a:srgbClr val="FFFFFF"/>
            </a:solidFill>
            <a:ln w="11430">
              <a:solidFill>
                <a:srgbClr val="E3D8C2"/>
              </a:solidFill>
            </a:ln>
            <a:effectLst>
              <a:outerShdw blurRad="228600" dist="76200" dir="5400000" rotWithShape="0">
                <a:srgbClr val="0A2219">
                  <a:alpha val="16000"/>
                </a:srgbClr>
              </a:outerShdw>
            </a:effectLst>
            <a:sp3d>
              <a:bevelT w="22860" h="2286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923544" y="1792224"/>
              <a:ext cx="2212848" cy="608076"/>
            </a:xfrm>
            <a:prstGeom prst="roundRect">
              <a:avLst>
                <a:gd name="adj" fmla="val 24060"/>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ectangle 16"/>
            <p:cNvSpPr/>
            <p:nvPr/>
          </p:nvSpPr>
          <p:spPr>
            <a:xfrm>
              <a:off x="923544" y="2290572"/>
              <a:ext cx="2212848" cy="10972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1069848" y="1856231"/>
              <a:ext cx="1938528" cy="516636"/>
            </a:xfrm>
            <a:prstGeom prst="rect">
              <a:avLst/>
            </a:prstGeom>
            <a:noFill/>
          </p:spPr>
          <p:txBody>
            <a:bodyPr wrap="square" lIns="0" rIns="0" tIns="0" bIns="0" anchor="t"/>
            <a:lstStyle/>
            <a:p>
              <a:pPr algn="l">
                <a:lnSpc>
                  <a:spcPct val="95000"/>
                </a:lnSpc>
                <a:spcAft>
                  <a:spcPts val="0"/>
                </a:spcAft>
              </a:pPr>
              <a:r>
                <a:rPr sz="774" b="1" i="0" spc="120">
                  <a:solidFill>
                    <a:srgbClr val="FDFBF6"/>
                  </a:solidFill>
                  <a:latin typeface="Segoe UI"/>
                  <a:ea typeface="Segoe UI"/>
                  <a:cs typeface="Segoe UI"/>
                </a:rPr>
                <a:t>MP SHRAM PASS</a:t>
              </a:r>
            </a:p>
            <a:p>
              <a:pPr algn="l">
                <a:lnSpc>
                  <a:spcPct val="95000"/>
                </a:lnSpc>
              </a:pPr>
              <a:r>
                <a:rPr sz="580" b="0" i="0">
                  <a:solidFill>
                    <a:srgbClr val="8BC7A6"/>
                  </a:solidFill>
                  <a:latin typeface="Nirmala UI"/>
                  <a:ea typeface="Nirmala UI"/>
                  <a:cs typeface="Nirmala UI"/>
                </a:rPr>
                <a:t>मध्य प्रदेश श्रम सेतु</a:t>
              </a:r>
            </a:p>
          </p:txBody>
        </p:sp>
        <p:sp>
          <p:nvSpPr>
            <p:cNvPr id="19" name="Rounded Rectangle 18"/>
            <p:cNvSpPr/>
            <p:nvPr/>
          </p:nvSpPr>
          <p:spPr>
            <a:xfrm>
              <a:off x="1051560" y="2546604"/>
              <a:ext cx="575340" cy="690408"/>
            </a:xfrm>
            <a:prstGeom prst="roundRect">
              <a:avLst>
                <a:gd name="adj" fmla="val 4767"/>
              </a:avLst>
            </a:prstGeom>
            <a:solidFill>
              <a:srgbClr val="F0E9DA"/>
            </a:solidFill>
            <a:ln w="635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Oval 19"/>
            <p:cNvSpPr/>
            <p:nvPr/>
          </p:nvSpPr>
          <p:spPr>
            <a:xfrm>
              <a:off x="1212655" y="2619756"/>
              <a:ext cx="253149" cy="253149"/>
            </a:xfrm>
            <a:prstGeom prst="ellipse">
              <a:avLst/>
            </a:prstGeom>
            <a:solidFill>
              <a:srgbClr val="CDBD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132107" y="2960849"/>
              <a:ext cx="414245" cy="241643"/>
            </a:xfrm>
            <a:prstGeom prst="roundRect">
              <a:avLst>
                <a:gd name="adj" fmla="val 45409"/>
              </a:avLst>
            </a:prstGeom>
            <a:solidFill>
              <a:srgbClr val="CDBD9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1736628" y="2537460"/>
              <a:ext cx="1290035" cy="832104"/>
            </a:xfrm>
            <a:prstGeom prst="rect">
              <a:avLst/>
            </a:prstGeom>
            <a:noFill/>
          </p:spPr>
          <p:txBody>
            <a:bodyPr wrap="square" lIns="0" rIns="0" tIns="0" bIns="0" anchor="t"/>
            <a:lstStyle/>
            <a:p>
              <a:pPr algn="l">
                <a:lnSpc>
                  <a:spcPct val="100000"/>
                </a:lnSpc>
                <a:spcAft>
                  <a:spcPts val="0"/>
                </a:spcAft>
              </a:pPr>
              <a:r>
                <a:rPr sz="1016" b="1" i="0">
                  <a:solidFill>
                    <a:srgbClr val="12211B"/>
                  </a:solidFill>
                  <a:latin typeface="Segoe UI"/>
                  <a:ea typeface="Segoe UI"/>
                  <a:cs typeface="Segoe UI"/>
                </a:rPr>
                <a:t>Rajesh K.</a:t>
              </a:r>
            </a:p>
            <a:p>
              <a:pPr algn="l">
                <a:lnSpc>
                  <a:spcPct val="100000"/>
                </a:lnSpc>
                <a:spcAft>
                  <a:spcPts val="0"/>
                </a:spcAft>
              </a:pPr>
              <a:r>
                <a:rPr sz="556" b="0" i="0">
                  <a:solidFill>
                    <a:srgbClr val="557165"/>
                  </a:solidFill>
                  <a:latin typeface="Consolas"/>
                  <a:ea typeface="Consolas"/>
                  <a:cs typeface="Consolas"/>
                </a:rPr>
                <a:t>MP-IND-2026-MM842</a:t>
              </a:r>
            </a:p>
            <a:p>
              <a:pPr algn="l">
                <a:lnSpc>
                  <a:spcPct val="100000"/>
                </a:lnSpc>
              </a:pPr>
              <a:r>
                <a:rPr sz="532" b="1" i="0" spc="80">
                  <a:solidFill>
                    <a:srgbClr val="845321"/>
                  </a:solidFill>
                  <a:latin typeface="Segoe UI"/>
                  <a:ea typeface="Segoe UI"/>
                  <a:cs typeface="Segoe UI"/>
                </a:rPr>
                <a:t>MASON · SITE 04</a:t>
              </a:r>
            </a:p>
          </p:txBody>
        </p:sp>
        <p:sp>
          <p:nvSpPr>
            <p:cNvPr id="23" name="Rectangle 22"/>
            <p:cNvSpPr/>
            <p:nvPr/>
          </p:nvSpPr>
          <p:spPr>
            <a:xfrm>
              <a:off x="1977664" y="3818534"/>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ectangle 23"/>
            <p:cNvSpPr/>
            <p:nvPr/>
          </p:nvSpPr>
          <p:spPr>
            <a:xfrm>
              <a:off x="1873056" y="3923141"/>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Rectangle 24"/>
            <p:cNvSpPr/>
            <p:nvPr/>
          </p:nvSpPr>
          <p:spPr>
            <a:xfrm>
              <a:off x="1768449" y="4132356"/>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ectangle 25"/>
            <p:cNvSpPr/>
            <p:nvPr/>
          </p:nvSpPr>
          <p:spPr>
            <a:xfrm>
              <a:off x="1977664" y="4132356"/>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Rectangle 26"/>
            <p:cNvSpPr/>
            <p:nvPr/>
          </p:nvSpPr>
          <p:spPr>
            <a:xfrm>
              <a:off x="2082271" y="4132356"/>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Rectangle 27"/>
            <p:cNvSpPr/>
            <p:nvPr/>
          </p:nvSpPr>
          <p:spPr>
            <a:xfrm>
              <a:off x="1663842" y="4236963"/>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Rectangle 28"/>
            <p:cNvSpPr/>
            <p:nvPr/>
          </p:nvSpPr>
          <p:spPr>
            <a:xfrm>
              <a:off x="1768449" y="4236963"/>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Rectangle 29"/>
            <p:cNvSpPr/>
            <p:nvPr/>
          </p:nvSpPr>
          <p:spPr>
            <a:xfrm>
              <a:off x="1873056" y="4236963"/>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Rectangle 30"/>
            <p:cNvSpPr/>
            <p:nvPr/>
          </p:nvSpPr>
          <p:spPr>
            <a:xfrm>
              <a:off x="2186879" y="4236963"/>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Rectangle 31"/>
            <p:cNvSpPr/>
            <p:nvPr/>
          </p:nvSpPr>
          <p:spPr>
            <a:xfrm>
              <a:off x="2396093" y="4236963"/>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Rectangle 32"/>
            <p:cNvSpPr/>
            <p:nvPr/>
          </p:nvSpPr>
          <p:spPr>
            <a:xfrm>
              <a:off x="1559234" y="4341571"/>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Rectangle 33"/>
            <p:cNvSpPr/>
            <p:nvPr/>
          </p:nvSpPr>
          <p:spPr>
            <a:xfrm>
              <a:off x="1663842" y="4341571"/>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Rectangle 34"/>
            <p:cNvSpPr/>
            <p:nvPr/>
          </p:nvSpPr>
          <p:spPr>
            <a:xfrm>
              <a:off x="1768449" y="4341571"/>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ectangle 35"/>
            <p:cNvSpPr/>
            <p:nvPr/>
          </p:nvSpPr>
          <p:spPr>
            <a:xfrm>
              <a:off x="2186879" y="4341571"/>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Rectangle 36"/>
            <p:cNvSpPr/>
            <p:nvPr/>
          </p:nvSpPr>
          <p:spPr>
            <a:xfrm>
              <a:off x="1873056" y="4446178"/>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ectangle 37"/>
            <p:cNvSpPr/>
            <p:nvPr/>
          </p:nvSpPr>
          <p:spPr>
            <a:xfrm>
              <a:off x="1977664" y="4446178"/>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ectangle 38"/>
            <p:cNvSpPr/>
            <p:nvPr/>
          </p:nvSpPr>
          <p:spPr>
            <a:xfrm>
              <a:off x="2082271" y="4446178"/>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ectangle 39"/>
            <p:cNvSpPr/>
            <p:nvPr/>
          </p:nvSpPr>
          <p:spPr>
            <a:xfrm>
              <a:off x="2396093" y="4446178"/>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Rectangle 40"/>
            <p:cNvSpPr/>
            <p:nvPr/>
          </p:nvSpPr>
          <p:spPr>
            <a:xfrm>
              <a:off x="1873056" y="4550785"/>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Rectangle 41"/>
            <p:cNvSpPr/>
            <p:nvPr/>
          </p:nvSpPr>
          <p:spPr>
            <a:xfrm>
              <a:off x="2082271" y="4550785"/>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Rectangle 42"/>
            <p:cNvSpPr/>
            <p:nvPr/>
          </p:nvSpPr>
          <p:spPr>
            <a:xfrm>
              <a:off x="2186879" y="4550785"/>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Rectangle 43"/>
            <p:cNvSpPr/>
            <p:nvPr/>
          </p:nvSpPr>
          <p:spPr>
            <a:xfrm>
              <a:off x="2291486" y="4550785"/>
              <a:ext cx="96238" cy="96238"/>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Rectangle 44"/>
            <p:cNvSpPr/>
            <p:nvPr/>
          </p:nvSpPr>
          <p:spPr>
            <a:xfrm>
              <a:off x="1559234" y="3818534"/>
              <a:ext cx="313822" cy="313822"/>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Rectangle 45"/>
            <p:cNvSpPr/>
            <p:nvPr/>
          </p:nvSpPr>
          <p:spPr>
            <a:xfrm>
              <a:off x="1621999" y="3881298"/>
              <a:ext cx="188293" cy="18829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Rectangle 46"/>
            <p:cNvSpPr/>
            <p:nvPr/>
          </p:nvSpPr>
          <p:spPr>
            <a:xfrm>
              <a:off x="1679533" y="3938832"/>
              <a:ext cx="73225" cy="73225"/>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Rectangle 47"/>
            <p:cNvSpPr/>
            <p:nvPr/>
          </p:nvSpPr>
          <p:spPr>
            <a:xfrm>
              <a:off x="2186879" y="3818534"/>
              <a:ext cx="313822" cy="313822"/>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9" name="Rectangle 48"/>
            <p:cNvSpPr/>
            <p:nvPr/>
          </p:nvSpPr>
          <p:spPr>
            <a:xfrm>
              <a:off x="2249643" y="3881298"/>
              <a:ext cx="188293" cy="18829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0" name="Rectangle 49"/>
            <p:cNvSpPr/>
            <p:nvPr/>
          </p:nvSpPr>
          <p:spPr>
            <a:xfrm>
              <a:off x="2307177" y="3938832"/>
              <a:ext cx="73225" cy="73225"/>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1" name="Rectangle 50"/>
            <p:cNvSpPr/>
            <p:nvPr/>
          </p:nvSpPr>
          <p:spPr>
            <a:xfrm>
              <a:off x="1559234" y="4446178"/>
              <a:ext cx="313822" cy="313822"/>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2" name="Rectangle 51"/>
            <p:cNvSpPr/>
            <p:nvPr/>
          </p:nvSpPr>
          <p:spPr>
            <a:xfrm>
              <a:off x="1621999" y="4508942"/>
              <a:ext cx="188293" cy="18829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3" name="Rectangle 52"/>
            <p:cNvSpPr/>
            <p:nvPr/>
          </p:nvSpPr>
          <p:spPr>
            <a:xfrm>
              <a:off x="1679533" y="4566477"/>
              <a:ext cx="73225" cy="73225"/>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grpSp>
      <p:sp>
        <p:nvSpPr>
          <p:cNvPr id="54" name="TextBox 53"/>
          <p:cNvSpPr txBox="1"/>
          <p:nvPr/>
        </p:nvSpPr>
        <p:spPr>
          <a:xfrm>
            <a:off x="923544" y="5084064"/>
            <a:ext cx="2286000" cy="731520"/>
          </a:xfrm>
          <a:prstGeom prst="rect">
            <a:avLst/>
          </a:prstGeom>
          <a:noFill/>
        </p:spPr>
        <p:txBody>
          <a:bodyPr wrap="square" lIns="0" rIns="0" tIns="0" bIns="0" anchor="t"/>
          <a:lstStyle/>
          <a:p>
            <a:pPr algn="l">
              <a:lnSpc>
                <a:spcPct val="118000"/>
              </a:lnSpc>
            </a:pPr>
            <a:r>
              <a:rPr sz="860" b="0" i="0">
                <a:solidFill>
                  <a:srgbClr val="557165"/>
                </a:solidFill>
                <a:latin typeface="Segoe UI"/>
                <a:ea typeface="Segoe UI"/>
                <a:cs typeface="Segoe UI"/>
              </a:rPr>
              <a:t>Opaque token only: no name, no wage history, no address encoded in the printed code.</a:t>
            </a:r>
          </a:p>
        </p:txBody>
      </p:sp>
      <p:grpSp>
        <p:nvGrpSpPr>
          <p:cNvPr id="55" name="!!security-1"/>
          <p:cNvGrpSpPr/>
          <p:nvPr/>
        </p:nvGrpSpPr>
        <p:grpSpPr>
          <a:xfrm>
            <a:off x="3291840" y="1792224"/>
            <a:ext cx="4892040" cy="1115568"/>
            <a:chOff x="3291840" y="1792224"/>
            <a:chExt cx="4892040" cy="1115568"/>
          </a:xfrm>
        </p:grpSpPr>
        <p:sp>
          <p:nvSpPr>
            <p:cNvPr id="56" name="Rounded Rectangle 55"/>
            <p:cNvSpPr/>
            <p:nvPr/>
          </p:nvSpPr>
          <p:spPr>
            <a:xfrm>
              <a:off x="3291840" y="1792224"/>
              <a:ext cx="4892040" cy="1115568"/>
            </a:xfrm>
            <a:prstGeom prst="roundRect">
              <a:avLst>
                <a:gd name="adj" fmla="val 9836"/>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7" name="Rounded Rectangle 56"/>
            <p:cNvSpPr/>
            <p:nvPr/>
          </p:nvSpPr>
          <p:spPr>
            <a:xfrm>
              <a:off x="3291840" y="1792224"/>
              <a:ext cx="45720" cy="1115568"/>
            </a:xfrm>
            <a:prstGeom prst="roundRect">
              <a:avLst>
                <a:gd name="adj" fmla="val 40000"/>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8" name="TextBox 57"/>
            <p:cNvSpPr txBox="1"/>
            <p:nvPr/>
          </p:nvSpPr>
          <p:spPr>
            <a:xfrm>
              <a:off x="3493008" y="1938528"/>
              <a:ext cx="1828800" cy="219456"/>
            </a:xfrm>
            <a:prstGeom prst="rect">
              <a:avLst/>
            </a:prstGeom>
            <a:noFill/>
          </p:spPr>
          <p:txBody>
            <a:bodyPr wrap="square" lIns="0" rIns="0" tIns="0" bIns="0" anchor="t"/>
            <a:lstStyle/>
            <a:p>
              <a:pPr algn="l">
                <a:lnSpc>
                  <a:spcPct val="100000"/>
                </a:lnSpc>
              </a:pPr>
              <a:r>
                <a:rPr sz="800" b="1" i="0">
                  <a:solidFill>
                    <a:srgbClr val="1F5941"/>
                  </a:solidFill>
                  <a:latin typeface="Consolas"/>
                  <a:ea typeface="Consolas"/>
                  <a:cs typeface="Consolas"/>
                </a:rPr>
                <a:t>01</a:t>
              </a:r>
            </a:p>
          </p:txBody>
        </p:sp>
        <p:sp>
          <p:nvSpPr>
            <p:cNvPr id="59" name="TextBox 58"/>
            <p:cNvSpPr txBox="1"/>
            <p:nvPr/>
          </p:nvSpPr>
          <p:spPr>
            <a:xfrm>
              <a:off x="3840480" y="1911095"/>
              <a:ext cx="4114800" cy="256032"/>
            </a:xfrm>
            <a:prstGeom prst="rect">
              <a:avLst/>
            </a:prstGeom>
            <a:noFill/>
          </p:spPr>
          <p:txBody>
            <a:bodyPr wrap="square" lIns="0" rIns="0" tIns="0" bIns="0" anchor="t"/>
            <a:lstStyle/>
            <a:p>
              <a:pPr algn="l">
                <a:lnSpc>
                  <a:spcPct val="100000"/>
                </a:lnSpc>
              </a:pPr>
              <a:r>
                <a:rPr sz="1250" b="1" i="0">
                  <a:solidFill>
                    <a:srgbClr val="12211B"/>
                  </a:solidFill>
                  <a:latin typeface="Segoe UI"/>
                  <a:ea typeface="Segoe UI"/>
                  <a:cs typeface="Segoe UI"/>
                </a:rPr>
                <a:t>Identify</a:t>
              </a:r>
            </a:p>
          </p:txBody>
        </p:sp>
        <p:sp>
          <p:nvSpPr>
            <p:cNvPr id="60" name="TextBox 59"/>
            <p:cNvSpPr txBox="1"/>
            <p:nvPr/>
          </p:nvSpPr>
          <p:spPr>
            <a:xfrm>
              <a:off x="3493008" y="2212848"/>
              <a:ext cx="4434840" cy="274320"/>
            </a:xfrm>
            <a:prstGeom prst="rect">
              <a:avLst/>
            </a:prstGeom>
            <a:noFill/>
          </p:spPr>
          <p:txBody>
            <a:bodyPr wrap="square" lIns="0" rIns="0" tIns="0" bIns="0" anchor="t"/>
            <a:lstStyle/>
            <a:p>
              <a:pPr algn="l">
                <a:lnSpc>
                  <a:spcPct val="100000"/>
                </a:lnSpc>
              </a:pPr>
              <a:r>
                <a:rPr sz="940" b="0" i="0">
                  <a:solidFill>
                    <a:srgbClr val="557165"/>
                  </a:solidFill>
                  <a:latin typeface="Segoe UI"/>
                  <a:ea typeface="Segoe UI"/>
                  <a:cs typeface="Segoe UI"/>
                </a:rPr>
                <a:t>The pass names a worker reference — nothing more.</a:t>
              </a:r>
            </a:p>
          </p:txBody>
        </p:sp>
        <p:sp>
          <p:nvSpPr>
            <p:cNvPr id="61" name="TextBox 60"/>
            <p:cNvSpPr txBox="1"/>
            <p:nvPr/>
          </p:nvSpPr>
          <p:spPr>
            <a:xfrm>
              <a:off x="3493008" y="2542032"/>
              <a:ext cx="4434840" cy="256032"/>
            </a:xfrm>
            <a:prstGeom prst="rect">
              <a:avLst/>
            </a:prstGeom>
            <a:noFill/>
          </p:spPr>
          <p:txBody>
            <a:bodyPr wrap="square" lIns="0" rIns="0" tIns="0" bIns="0" anchor="t"/>
            <a:lstStyle/>
            <a:p>
              <a:pPr algn="l">
                <a:lnSpc>
                  <a:spcPct val="100000"/>
                </a:lnSpc>
              </a:pPr>
              <a:r>
                <a:rPr sz="819" b="0" i="0">
                  <a:solidFill>
                    <a:srgbClr val="1F5941"/>
                  </a:solidFill>
                  <a:latin typeface="Consolas"/>
                  <a:ea typeface="Consolas"/>
                  <a:cs typeface="Consolas"/>
                </a:rPr>
                <a:t>QR + opaque token · public verify page</a:t>
              </a:r>
            </a:p>
          </p:txBody>
        </p:sp>
      </p:grpSp>
      <p:grpSp>
        <p:nvGrpSpPr>
          <p:cNvPr id="62" name="!!security-2"/>
          <p:cNvGrpSpPr/>
          <p:nvPr/>
        </p:nvGrpSpPr>
        <p:grpSpPr>
          <a:xfrm>
            <a:off x="3291840" y="3090672"/>
            <a:ext cx="4892040" cy="1115568"/>
            <a:chOff x="3291840" y="3090672"/>
            <a:chExt cx="4892040" cy="1115568"/>
          </a:xfrm>
        </p:grpSpPr>
        <p:sp>
          <p:nvSpPr>
            <p:cNvPr id="63" name="Rounded Rectangle 62"/>
            <p:cNvSpPr/>
            <p:nvPr/>
          </p:nvSpPr>
          <p:spPr>
            <a:xfrm>
              <a:off x="3291840" y="3090672"/>
              <a:ext cx="4892040" cy="1115568"/>
            </a:xfrm>
            <a:prstGeom prst="roundRect">
              <a:avLst>
                <a:gd name="adj" fmla="val 9836"/>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4" name="Rounded Rectangle 63"/>
            <p:cNvSpPr/>
            <p:nvPr/>
          </p:nvSpPr>
          <p:spPr>
            <a:xfrm>
              <a:off x="3291840" y="3090672"/>
              <a:ext cx="45720" cy="1115568"/>
            </a:xfrm>
            <a:prstGeom prst="roundRect">
              <a:avLst>
                <a:gd name="adj" fmla="val 40000"/>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5" name="TextBox 64"/>
            <p:cNvSpPr txBox="1"/>
            <p:nvPr/>
          </p:nvSpPr>
          <p:spPr>
            <a:xfrm>
              <a:off x="3493008" y="3236976"/>
              <a:ext cx="1828800" cy="219456"/>
            </a:xfrm>
            <a:prstGeom prst="rect">
              <a:avLst/>
            </a:prstGeom>
            <a:noFill/>
          </p:spPr>
          <p:txBody>
            <a:bodyPr wrap="square" lIns="0" rIns="0" tIns="0" bIns="0" anchor="t"/>
            <a:lstStyle/>
            <a:p>
              <a:pPr algn="l">
                <a:lnSpc>
                  <a:spcPct val="100000"/>
                </a:lnSpc>
              </a:pPr>
              <a:r>
                <a:rPr sz="800" b="1" i="0">
                  <a:solidFill>
                    <a:srgbClr val="A76F26"/>
                  </a:solidFill>
                  <a:latin typeface="Consolas"/>
                  <a:ea typeface="Consolas"/>
                  <a:cs typeface="Consolas"/>
                </a:rPr>
                <a:t>02</a:t>
              </a:r>
            </a:p>
          </p:txBody>
        </p:sp>
        <p:sp>
          <p:nvSpPr>
            <p:cNvPr id="66" name="TextBox 65"/>
            <p:cNvSpPr txBox="1"/>
            <p:nvPr/>
          </p:nvSpPr>
          <p:spPr>
            <a:xfrm>
              <a:off x="3840480" y="3209544"/>
              <a:ext cx="4114800" cy="256032"/>
            </a:xfrm>
            <a:prstGeom prst="rect">
              <a:avLst/>
            </a:prstGeom>
            <a:noFill/>
          </p:spPr>
          <p:txBody>
            <a:bodyPr wrap="square" lIns="0" rIns="0" tIns="0" bIns="0" anchor="t"/>
            <a:lstStyle/>
            <a:p>
              <a:pPr algn="l">
                <a:lnSpc>
                  <a:spcPct val="100000"/>
                </a:lnSpc>
              </a:pPr>
              <a:r>
                <a:rPr sz="1250" b="1" i="0">
                  <a:solidFill>
                    <a:srgbClr val="12211B"/>
                  </a:solidFill>
                  <a:latin typeface="Segoe UI"/>
                  <a:ea typeface="Segoe UI"/>
                  <a:cs typeface="Segoe UI"/>
                </a:rPr>
                <a:t>Authenticate</a:t>
              </a:r>
            </a:p>
          </p:txBody>
        </p:sp>
        <p:sp>
          <p:nvSpPr>
            <p:cNvPr id="67" name="TextBox 66"/>
            <p:cNvSpPr txBox="1"/>
            <p:nvPr/>
          </p:nvSpPr>
          <p:spPr>
            <a:xfrm>
              <a:off x="3493008" y="3511296"/>
              <a:ext cx="4434840" cy="274320"/>
            </a:xfrm>
            <a:prstGeom prst="rect">
              <a:avLst/>
            </a:prstGeom>
            <a:noFill/>
          </p:spPr>
          <p:txBody>
            <a:bodyPr wrap="square" lIns="0" rIns="0" tIns="0" bIns="0" anchor="t"/>
            <a:lstStyle/>
            <a:p>
              <a:pPr algn="l">
                <a:lnSpc>
                  <a:spcPct val="100000"/>
                </a:lnSpc>
              </a:pPr>
              <a:r>
                <a:rPr sz="940" b="0" i="0">
                  <a:solidFill>
                    <a:srgbClr val="557165"/>
                  </a:solidFill>
                  <a:latin typeface="Segoe UI"/>
                  <a:ea typeface="Segoe UI"/>
                  <a:cs typeface="Segoe UI"/>
                </a:rPr>
                <a:t>Prove the person acting is that worker.</a:t>
              </a:r>
            </a:p>
          </p:txBody>
        </p:sp>
        <p:sp>
          <p:nvSpPr>
            <p:cNvPr id="68" name="TextBox 67"/>
            <p:cNvSpPr txBox="1"/>
            <p:nvPr/>
          </p:nvSpPr>
          <p:spPr>
            <a:xfrm>
              <a:off x="3493008" y="3840480"/>
              <a:ext cx="4434840" cy="256032"/>
            </a:xfrm>
            <a:prstGeom prst="rect">
              <a:avLst/>
            </a:prstGeom>
            <a:noFill/>
          </p:spPr>
          <p:txBody>
            <a:bodyPr wrap="square" lIns="0" rIns="0" tIns="0" bIns="0" anchor="t"/>
            <a:lstStyle/>
            <a:p>
              <a:pPr algn="l">
                <a:lnSpc>
                  <a:spcPct val="100000"/>
                </a:lnSpc>
              </a:pPr>
              <a:r>
                <a:rPr sz="819" b="0" i="0">
                  <a:solidFill>
                    <a:srgbClr val="A76F26"/>
                  </a:solidFill>
                  <a:latin typeface="Consolas"/>
                  <a:ea typeface="Consolas"/>
                  <a:cs typeface="Consolas"/>
                </a:rPr>
                <a:t>Account sign-in (Supabase, planned)</a:t>
              </a:r>
            </a:p>
          </p:txBody>
        </p:sp>
      </p:grpSp>
      <p:grpSp>
        <p:nvGrpSpPr>
          <p:cNvPr id="69" name="!!security-3"/>
          <p:cNvGrpSpPr/>
          <p:nvPr/>
        </p:nvGrpSpPr>
        <p:grpSpPr>
          <a:xfrm>
            <a:off x="3291840" y="4389120"/>
            <a:ext cx="4892040" cy="1115568"/>
            <a:chOff x="3291840" y="4389120"/>
            <a:chExt cx="4892040" cy="1115568"/>
          </a:xfrm>
        </p:grpSpPr>
        <p:sp>
          <p:nvSpPr>
            <p:cNvPr id="70" name="Rounded Rectangle 69"/>
            <p:cNvSpPr/>
            <p:nvPr/>
          </p:nvSpPr>
          <p:spPr>
            <a:xfrm>
              <a:off x="3291840" y="4389120"/>
              <a:ext cx="4892040" cy="1115568"/>
            </a:xfrm>
            <a:prstGeom prst="roundRect">
              <a:avLst>
                <a:gd name="adj" fmla="val 9836"/>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1" name="Rounded Rectangle 70"/>
            <p:cNvSpPr/>
            <p:nvPr/>
          </p:nvSpPr>
          <p:spPr>
            <a:xfrm>
              <a:off x="3291840" y="4389120"/>
              <a:ext cx="45720" cy="1115568"/>
            </a:xfrm>
            <a:prstGeom prst="roundRect">
              <a:avLst>
                <a:gd name="adj" fmla="val 40000"/>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2" name="TextBox 71"/>
            <p:cNvSpPr txBox="1"/>
            <p:nvPr/>
          </p:nvSpPr>
          <p:spPr>
            <a:xfrm>
              <a:off x="3493008" y="4535424"/>
              <a:ext cx="1828800" cy="219456"/>
            </a:xfrm>
            <a:prstGeom prst="rect">
              <a:avLst/>
            </a:prstGeom>
            <a:noFill/>
          </p:spPr>
          <p:txBody>
            <a:bodyPr wrap="square" lIns="0" rIns="0" tIns="0" bIns="0" anchor="t"/>
            <a:lstStyle/>
            <a:p>
              <a:pPr algn="l">
                <a:lnSpc>
                  <a:spcPct val="100000"/>
                </a:lnSpc>
              </a:pPr>
              <a:r>
                <a:rPr sz="800" b="1" i="0">
                  <a:solidFill>
                    <a:srgbClr val="B4482F"/>
                  </a:solidFill>
                  <a:latin typeface="Consolas"/>
                  <a:ea typeface="Consolas"/>
                  <a:cs typeface="Consolas"/>
                </a:rPr>
                <a:t>03</a:t>
              </a:r>
            </a:p>
          </p:txBody>
        </p:sp>
        <p:sp>
          <p:nvSpPr>
            <p:cNvPr id="73" name="TextBox 72"/>
            <p:cNvSpPr txBox="1"/>
            <p:nvPr/>
          </p:nvSpPr>
          <p:spPr>
            <a:xfrm>
              <a:off x="3840480" y="4507992"/>
              <a:ext cx="4114800" cy="256032"/>
            </a:xfrm>
            <a:prstGeom prst="rect">
              <a:avLst/>
            </a:prstGeom>
            <a:noFill/>
          </p:spPr>
          <p:txBody>
            <a:bodyPr wrap="square" lIns="0" rIns="0" tIns="0" bIns="0" anchor="t"/>
            <a:lstStyle/>
            <a:p>
              <a:pPr algn="l">
                <a:lnSpc>
                  <a:spcPct val="100000"/>
                </a:lnSpc>
              </a:pPr>
              <a:r>
                <a:rPr sz="1250" b="1" i="0">
                  <a:solidFill>
                    <a:srgbClr val="12211B"/>
                  </a:solidFill>
                  <a:latin typeface="Segoe UI"/>
                  <a:ea typeface="Segoe UI"/>
                  <a:cs typeface="Segoe UI"/>
                </a:rPr>
                <a:t>Authorise</a:t>
              </a:r>
            </a:p>
          </p:txBody>
        </p:sp>
        <p:sp>
          <p:nvSpPr>
            <p:cNvPr id="74" name="TextBox 73"/>
            <p:cNvSpPr txBox="1"/>
            <p:nvPr/>
          </p:nvSpPr>
          <p:spPr>
            <a:xfrm>
              <a:off x="3493008" y="4809744"/>
              <a:ext cx="4434840" cy="274320"/>
            </a:xfrm>
            <a:prstGeom prst="rect">
              <a:avLst/>
            </a:prstGeom>
            <a:noFill/>
          </p:spPr>
          <p:txBody>
            <a:bodyPr wrap="square" lIns="0" rIns="0" tIns="0" bIns="0" anchor="t"/>
            <a:lstStyle/>
            <a:p>
              <a:pPr algn="l">
                <a:lnSpc>
                  <a:spcPct val="100000"/>
                </a:lnSpc>
              </a:pPr>
              <a:r>
                <a:rPr sz="940" b="0" i="0">
                  <a:solidFill>
                    <a:srgbClr val="557165"/>
                  </a:solidFill>
                  <a:latin typeface="Segoe UI"/>
                  <a:ea typeface="Segoe UI"/>
                  <a:cs typeface="Segoe UI"/>
                </a:rPr>
                <a:t>Decide what that person may read or change.</a:t>
              </a:r>
            </a:p>
          </p:txBody>
        </p:sp>
        <p:sp>
          <p:nvSpPr>
            <p:cNvPr id="75" name="TextBox 74"/>
            <p:cNvSpPr txBox="1"/>
            <p:nvPr/>
          </p:nvSpPr>
          <p:spPr>
            <a:xfrm>
              <a:off x="3493008" y="5138928"/>
              <a:ext cx="4434840" cy="256032"/>
            </a:xfrm>
            <a:prstGeom prst="rect">
              <a:avLst/>
            </a:prstGeom>
            <a:noFill/>
          </p:spPr>
          <p:txBody>
            <a:bodyPr wrap="square" lIns="0" rIns="0" tIns="0" bIns="0" anchor="t"/>
            <a:lstStyle/>
            <a:p>
              <a:pPr algn="l">
                <a:lnSpc>
                  <a:spcPct val="100000"/>
                </a:lnSpc>
              </a:pPr>
              <a:r>
                <a:rPr sz="819" b="0" i="0">
                  <a:solidFill>
                    <a:srgbClr val="B4482F"/>
                  </a:solidFill>
                  <a:latin typeface="Consolas"/>
                  <a:ea typeface="Consolas"/>
                  <a:cs typeface="Consolas"/>
                </a:rPr>
                <a:t>Row-level policies, role-scoped actions</a:t>
              </a:r>
            </a:p>
          </p:txBody>
        </p:sp>
      </p:grpSp>
      <p:sp>
        <p:nvSpPr>
          <p:cNvPr id="76" name="!!limits-panel"/>
          <p:cNvSpPr/>
          <p:nvPr/>
        </p:nvSpPr>
        <p:spPr>
          <a:xfrm>
            <a:off x="8458200" y="1792224"/>
            <a:ext cx="2944368" cy="3913632"/>
          </a:xfrm>
          <a:prstGeom prst="roundRect">
            <a:avLst>
              <a:gd name="adj" fmla="val 3726"/>
            </a:avLst>
          </a:prstGeom>
          <a:solidFill>
            <a:srgbClr val="0A2219"/>
          </a:solidFill>
          <a:ln>
            <a:no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7" name="TextBox 76"/>
          <p:cNvSpPr txBox="1"/>
          <p:nvPr/>
        </p:nvSpPr>
        <p:spPr>
          <a:xfrm>
            <a:off x="8659368" y="1938528"/>
            <a:ext cx="2560320" cy="219456"/>
          </a:xfrm>
          <a:prstGeom prst="rect">
            <a:avLst/>
          </a:prstGeom>
          <a:noFill/>
        </p:spPr>
        <p:txBody>
          <a:bodyPr wrap="square" lIns="0" rIns="0" tIns="0" bIns="0" anchor="t"/>
          <a:lstStyle/>
          <a:p>
            <a:pPr algn="l">
              <a:lnSpc>
                <a:spcPct val="100000"/>
              </a:lnSpc>
            </a:pPr>
            <a:r>
              <a:rPr sz="780" b="1" i="0" spc="140">
                <a:solidFill>
                  <a:srgbClr val="E5C068"/>
                </a:solidFill>
                <a:latin typeface="Segoe UI"/>
                <a:ea typeface="Segoe UI"/>
                <a:cs typeface="Segoe UI"/>
              </a:rPr>
              <a:t>HONEST LIMITS</a:t>
            </a:r>
          </a:p>
        </p:txBody>
      </p:sp>
      <p:sp>
        <p:nvSpPr>
          <p:cNvPr id="78" name="Oval 77"/>
          <p:cNvSpPr/>
          <p:nvPr/>
        </p:nvSpPr>
        <p:spPr>
          <a:xfrm>
            <a:off x="8686800" y="2350008"/>
            <a:ext cx="73152" cy="73152"/>
          </a:xfrm>
          <a:prstGeom prst="ellipse">
            <a:avLst/>
          </a:prstGeom>
          <a:solidFill>
            <a:srgbClr val="F4E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851392" y="2286000"/>
            <a:ext cx="2377440" cy="731520"/>
          </a:xfrm>
          <a:prstGeom prst="rect">
            <a:avLst/>
          </a:prstGeom>
          <a:noFill/>
        </p:spPr>
        <p:txBody>
          <a:bodyPr wrap="square" lIns="0" rIns="0" tIns="0" bIns="0" anchor="t"/>
          <a:lstStyle/>
          <a:p>
            <a:pPr algn="l">
              <a:lnSpc>
                <a:spcPct val="116000"/>
              </a:lnSpc>
            </a:pPr>
            <a:r>
              <a:rPr sz="900" b="0" i="0">
                <a:solidFill>
                  <a:srgbClr val="BADFCA"/>
                </a:solidFill>
                <a:latin typeface="Segoe UI"/>
                <a:ea typeface="Segoe UI"/>
                <a:cs typeface="Segoe UI"/>
              </a:rPr>
              <a:t>A pass can be photographed, copied and reprinted.</a:t>
            </a:r>
          </a:p>
        </p:txBody>
      </p:sp>
      <p:sp>
        <p:nvSpPr>
          <p:cNvPr id="80" name="Oval 79"/>
          <p:cNvSpPr/>
          <p:nvPr/>
        </p:nvSpPr>
        <p:spPr>
          <a:xfrm>
            <a:off x="8686800" y="3154679"/>
            <a:ext cx="73152" cy="73152"/>
          </a:xfrm>
          <a:prstGeom prst="ellipse">
            <a:avLst/>
          </a:prstGeom>
          <a:solidFill>
            <a:srgbClr val="F4E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851392" y="3090672"/>
            <a:ext cx="2377440" cy="731520"/>
          </a:xfrm>
          <a:prstGeom prst="rect">
            <a:avLst/>
          </a:prstGeom>
          <a:noFill/>
        </p:spPr>
        <p:txBody>
          <a:bodyPr wrap="square" lIns="0" rIns="0" tIns="0" bIns="0" anchor="t"/>
          <a:lstStyle/>
          <a:p>
            <a:pPr algn="l">
              <a:lnSpc>
                <a:spcPct val="116000"/>
              </a:lnSpc>
            </a:pPr>
            <a:r>
              <a:rPr sz="900" b="0" i="0">
                <a:solidFill>
                  <a:srgbClr val="BADFCA"/>
                </a:solidFill>
                <a:latin typeface="Segoe UI"/>
                <a:ea typeface="Segoe UI"/>
                <a:cs typeface="Segoe UI"/>
              </a:rPr>
              <a:t>A scan never opens private wage data by itself.</a:t>
            </a:r>
          </a:p>
        </p:txBody>
      </p:sp>
      <p:sp>
        <p:nvSpPr>
          <p:cNvPr id="82" name="Oval 81"/>
          <p:cNvSpPr/>
          <p:nvPr/>
        </p:nvSpPr>
        <p:spPr>
          <a:xfrm>
            <a:off x="8686800" y="3959352"/>
            <a:ext cx="73152" cy="73152"/>
          </a:xfrm>
          <a:prstGeom prst="ellipse">
            <a:avLst/>
          </a:prstGeom>
          <a:solidFill>
            <a:srgbClr val="F4E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851392" y="3895344"/>
            <a:ext cx="2377440" cy="731520"/>
          </a:xfrm>
          <a:prstGeom prst="rect">
            <a:avLst/>
          </a:prstGeom>
          <a:noFill/>
        </p:spPr>
        <p:txBody>
          <a:bodyPr wrap="square" lIns="0" rIns="0" tIns="0" bIns="0" anchor="t"/>
          <a:lstStyle/>
          <a:p>
            <a:pPr algn="l">
              <a:lnSpc>
                <a:spcPct val="116000"/>
              </a:lnSpc>
            </a:pPr>
            <a:r>
              <a:rPr sz="900" b="0" i="0">
                <a:solidFill>
                  <a:srgbClr val="BADFCA"/>
                </a:solidFill>
                <a:latin typeface="Segoe UI"/>
                <a:ea typeface="Segoe UI"/>
                <a:cs typeface="Segoe UI"/>
              </a:rPr>
              <a:t>A scan is not proof that a person was on site.</a:t>
            </a:r>
          </a:p>
        </p:txBody>
      </p:sp>
      <p:sp>
        <p:nvSpPr>
          <p:cNvPr id="84" name="Oval 83"/>
          <p:cNvSpPr/>
          <p:nvPr/>
        </p:nvSpPr>
        <p:spPr>
          <a:xfrm>
            <a:off x="8686800" y="4764024"/>
            <a:ext cx="73152" cy="73152"/>
          </a:xfrm>
          <a:prstGeom prst="ellipse">
            <a:avLst/>
          </a:prstGeom>
          <a:solidFill>
            <a:srgbClr val="F4E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851392" y="4700016"/>
            <a:ext cx="2377440" cy="731520"/>
          </a:xfrm>
          <a:prstGeom prst="rect">
            <a:avLst/>
          </a:prstGeom>
          <a:noFill/>
        </p:spPr>
        <p:txBody>
          <a:bodyPr wrap="square" lIns="0" rIns="0" tIns="0" bIns="0" anchor="t"/>
          <a:lstStyle/>
          <a:p>
            <a:pPr algn="l">
              <a:lnSpc>
                <a:spcPct val="116000"/>
              </a:lnSpc>
            </a:pPr>
            <a:r>
              <a:rPr sz="900" b="0" i="0">
                <a:solidFill>
                  <a:srgbClr val="BADFCA"/>
                </a:solidFill>
                <a:latin typeface="Segoe UI"/>
                <a:ea typeface="Segoe UI"/>
                <a:cs typeface="Segoe UI"/>
              </a:rPr>
              <a:t>Production authentication is not built yet.</a:t>
            </a:r>
          </a:p>
        </p:txBody>
      </p:sp>
      <p:sp>
        <p:nvSpPr>
          <p:cNvPr id="86" name="TextBox 85"/>
          <p:cNvSpPr txBox="1"/>
          <p:nvPr/>
        </p:nvSpPr>
        <p:spPr>
          <a:xfrm>
            <a:off x="3291840" y="5742432"/>
            <a:ext cx="8110727" cy="365760"/>
          </a:xfrm>
          <a:prstGeom prst="rect">
            <a:avLst/>
          </a:prstGeom>
          <a:noFill/>
        </p:spPr>
        <p:txBody>
          <a:bodyPr wrap="square" lIns="0" rIns="0" tIns="0" bIns="0" anchor="t"/>
          <a:lstStyle/>
          <a:p>
            <a:pPr algn="l">
              <a:lnSpc>
                <a:spcPct val="100000"/>
              </a:lnSpc>
            </a:pPr>
            <a:r>
              <a:rPr sz="919" b="0" i="1">
                <a:solidFill>
                  <a:srgbClr val="5F776B"/>
                </a:solidFill>
                <a:latin typeface="Segoe UI"/>
                <a:ea typeface="Segoe UI"/>
                <a:cs typeface="Segoe UI"/>
              </a:rPr>
              <a:t>Planned workflow: contractor scans → a pending request is created → the worker approves it in their own signed-in session on their own device.</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052560" y="-2322576"/>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834640" y="4206240"/>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4029212"/>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4545848"/>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DEMONSTRATION</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03  </a:t>
            </a:r>
            <a:r>
              <a:rPr sz="950" b="1" i="0" spc="140">
                <a:solidFill>
                  <a:srgbClr val="5F776B"/>
                </a:solidFill>
                <a:latin typeface="Segoe UI"/>
                <a:ea typeface="Segoe UI"/>
                <a:cs typeface="Segoe UI"/>
              </a:rPr>
              <a:t>BUILD</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Twelve scenarios a judge can test</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19 / 26</a:t>
            </a:r>
          </a:p>
        </p:txBody>
      </p:sp>
      <p:grpSp>
        <p:nvGrpSpPr>
          <p:cNvPr id="14" name="!!scenario-1"/>
          <p:cNvGrpSpPr/>
          <p:nvPr/>
        </p:nvGrpSpPr>
        <p:grpSpPr>
          <a:xfrm>
            <a:off x="786384" y="1828800"/>
            <a:ext cx="2487168" cy="457200"/>
            <a:chOff x="786384" y="1828800"/>
            <a:chExt cx="2487168" cy="457200"/>
          </a:xfrm>
        </p:grpSpPr>
        <p:sp>
          <p:nvSpPr>
            <p:cNvPr id="15" name="Rounded Rectangle 14"/>
            <p:cNvSpPr/>
            <p:nvPr/>
          </p:nvSpPr>
          <p:spPr>
            <a:xfrm>
              <a:off x="786384" y="1828800"/>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Oval 15"/>
            <p:cNvSpPr/>
            <p:nvPr/>
          </p:nvSpPr>
          <p:spPr>
            <a:xfrm>
              <a:off x="914400" y="2002536"/>
              <a:ext cx="91440" cy="91440"/>
            </a:xfrm>
            <a:prstGeom prst="ellipse">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1938528"/>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Partially paid record</a:t>
              </a:r>
            </a:p>
          </p:txBody>
        </p:sp>
      </p:grpSp>
      <p:grpSp>
        <p:nvGrpSpPr>
          <p:cNvPr id="18" name="!!scenario-2"/>
          <p:cNvGrpSpPr/>
          <p:nvPr/>
        </p:nvGrpSpPr>
        <p:grpSpPr>
          <a:xfrm>
            <a:off x="786384" y="2395728"/>
            <a:ext cx="2487168" cy="457200"/>
            <a:chOff x="786384" y="2395728"/>
            <a:chExt cx="2487168" cy="457200"/>
          </a:xfrm>
        </p:grpSpPr>
        <p:sp>
          <p:nvSpPr>
            <p:cNvPr id="19" name="Rounded Rectangle 18"/>
            <p:cNvSpPr/>
            <p:nvPr/>
          </p:nvSpPr>
          <p:spPr>
            <a:xfrm>
              <a:off x="786384" y="2395728"/>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Oval 19"/>
            <p:cNvSpPr/>
            <p:nvPr/>
          </p:nvSpPr>
          <p:spPr>
            <a:xfrm>
              <a:off x="914400" y="2569464"/>
              <a:ext cx="91440" cy="91440"/>
            </a:xfrm>
            <a:prstGeom prst="ellipse">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2505456"/>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Fully paid and acknowledged</a:t>
              </a:r>
            </a:p>
          </p:txBody>
        </p:sp>
      </p:grpSp>
      <p:grpSp>
        <p:nvGrpSpPr>
          <p:cNvPr id="22" name="!!scenario-3"/>
          <p:cNvGrpSpPr/>
          <p:nvPr/>
        </p:nvGrpSpPr>
        <p:grpSpPr>
          <a:xfrm>
            <a:off x="786384" y="2962656"/>
            <a:ext cx="2487168" cy="457200"/>
            <a:chOff x="786384" y="2962656"/>
            <a:chExt cx="2487168" cy="457200"/>
          </a:xfrm>
        </p:grpSpPr>
        <p:sp>
          <p:nvSpPr>
            <p:cNvPr id="23" name="Rounded Rectangle 22"/>
            <p:cNvSpPr/>
            <p:nvPr/>
          </p:nvSpPr>
          <p:spPr>
            <a:xfrm>
              <a:off x="786384" y="2962656"/>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Oval 23"/>
            <p:cNvSpPr/>
            <p:nvPr/>
          </p:nvSpPr>
          <p:spPr>
            <a:xfrm>
              <a:off x="914400" y="3136392"/>
              <a:ext cx="91440" cy="91440"/>
            </a:xfrm>
            <a:prstGeom prst="ellipse">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3072384"/>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Contractor entry pending worker ack</a:t>
              </a:r>
            </a:p>
          </p:txBody>
        </p:sp>
      </p:grpSp>
      <p:grpSp>
        <p:nvGrpSpPr>
          <p:cNvPr id="26" name="!!scenario-4"/>
          <p:cNvGrpSpPr/>
          <p:nvPr/>
        </p:nvGrpSpPr>
        <p:grpSpPr>
          <a:xfrm>
            <a:off x="786384" y="3529584"/>
            <a:ext cx="2487168" cy="457200"/>
            <a:chOff x="786384" y="3529584"/>
            <a:chExt cx="2487168" cy="457200"/>
          </a:xfrm>
        </p:grpSpPr>
        <p:sp>
          <p:nvSpPr>
            <p:cNvPr id="27" name="Rounded Rectangle 26"/>
            <p:cNvSpPr/>
            <p:nvPr/>
          </p:nvSpPr>
          <p:spPr>
            <a:xfrm>
              <a:off x="786384" y="3529584"/>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Oval 27"/>
            <p:cNvSpPr/>
            <p:nvPr/>
          </p:nvSpPr>
          <p:spPr>
            <a:xfrm>
              <a:off x="914400" y="3703320"/>
              <a:ext cx="91440" cy="91440"/>
            </a:xfrm>
            <a:prstGeom prst="ellipse">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3639312"/>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Unpaid record</a:t>
              </a:r>
            </a:p>
          </p:txBody>
        </p:sp>
      </p:grpSp>
      <p:grpSp>
        <p:nvGrpSpPr>
          <p:cNvPr id="30" name="!!scenario-5"/>
          <p:cNvGrpSpPr/>
          <p:nvPr/>
        </p:nvGrpSpPr>
        <p:grpSpPr>
          <a:xfrm>
            <a:off x="786384" y="4096512"/>
            <a:ext cx="2487168" cy="457200"/>
            <a:chOff x="786384" y="4096512"/>
            <a:chExt cx="2487168" cy="457200"/>
          </a:xfrm>
        </p:grpSpPr>
        <p:sp>
          <p:nvSpPr>
            <p:cNvPr id="31" name="Rounded Rectangle 30"/>
            <p:cNvSpPr/>
            <p:nvPr/>
          </p:nvSpPr>
          <p:spPr>
            <a:xfrm>
              <a:off x="786384" y="4096512"/>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Oval 31"/>
            <p:cNvSpPr/>
            <p:nvPr/>
          </p:nvSpPr>
          <p:spPr>
            <a:xfrm>
              <a:off x="914400" y="4270248"/>
              <a:ext cx="91440" cy="91440"/>
            </a:xfrm>
            <a:prstGeom prst="ellipse">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4206240"/>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Dispute with both statements</a:t>
              </a:r>
            </a:p>
          </p:txBody>
        </p:sp>
      </p:grpSp>
      <p:grpSp>
        <p:nvGrpSpPr>
          <p:cNvPr id="34" name="!!scenario-6"/>
          <p:cNvGrpSpPr/>
          <p:nvPr/>
        </p:nvGrpSpPr>
        <p:grpSpPr>
          <a:xfrm>
            <a:off x="786384" y="4663440"/>
            <a:ext cx="2487168" cy="457200"/>
            <a:chOff x="786384" y="4663440"/>
            <a:chExt cx="2487168" cy="457200"/>
          </a:xfrm>
        </p:grpSpPr>
        <p:sp>
          <p:nvSpPr>
            <p:cNvPr id="35" name="Rounded Rectangle 34"/>
            <p:cNvSpPr/>
            <p:nvPr/>
          </p:nvSpPr>
          <p:spPr>
            <a:xfrm>
              <a:off x="786384" y="4663440"/>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Oval 35"/>
            <p:cNvSpPr/>
            <p:nvPr/>
          </p:nvSpPr>
          <p:spPr>
            <a:xfrm>
              <a:off x="914400" y="4837176"/>
              <a:ext cx="91440" cy="91440"/>
            </a:xfrm>
            <a:prstGeom prst="ellipse">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4773168"/>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Correction with preserved original</a:t>
              </a:r>
            </a:p>
          </p:txBody>
        </p:sp>
      </p:grpSp>
      <p:grpSp>
        <p:nvGrpSpPr>
          <p:cNvPr id="38" name="!!scenario-7"/>
          <p:cNvGrpSpPr/>
          <p:nvPr/>
        </p:nvGrpSpPr>
        <p:grpSpPr>
          <a:xfrm>
            <a:off x="3438144" y="1828800"/>
            <a:ext cx="2487168" cy="457200"/>
            <a:chOff x="3438144" y="1828800"/>
            <a:chExt cx="2487168" cy="457200"/>
          </a:xfrm>
        </p:grpSpPr>
        <p:sp>
          <p:nvSpPr>
            <p:cNvPr id="39" name="Rounded Rectangle 38"/>
            <p:cNvSpPr/>
            <p:nvPr/>
          </p:nvSpPr>
          <p:spPr>
            <a:xfrm>
              <a:off x="3438144" y="1828800"/>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Oval 39"/>
            <p:cNvSpPr/>
            <p:nvPr/>
          </p:nvSpPr>
          <p:spPr>
            <a:xfrm>
              <a:off x="3566160" y="2002536"/>
              <a:ext cx="91440" cy="91440"/>
            </a:xfrm>
            <a:prstGeom prst="ellipse">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40" y="1938528"/>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Legitimate multi-day record</a:t>
              </a:r>
            </a:p>
          </p:txBody>
        </p:sp>
      </p:grpSp>
      <p:grpSp>
        <p:nvGrpSpPr>
          <p:cNvPr id="42" name="!!scenario-8"/>
          <p:cNvGrpSpPr/>
          <p:nvPr/>
        </p:nvGrpSpPr>
        <p:grpSpPr>
          <a:xfrm>
            <a:off x="3438144" y="2395728"/>
            <a:ext cx="2487168" cy="457200"/>
            <a:chOff x="3438144" y="2395728"/>
            <a:chExt cx="2487168" cy="457200"/>
          </a:xfrm>
        </p:grpSpPr>
        <p:sp>
          <p:nvSpPr>
            <p:cNvPr id="43" name="Rounded Rectangle 42"/>
            <p:cNvSpPr/>
            <p:nvPr/>
          </p:nvSpPr>
          <p:spPr>
            <a:xfrm>
              <a:off x="3438144" y="2395728"/>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Oval 43"/>
            <p:cNvSpPr/>
            <p:nvPr/>
          </p:nvSpPr>
          <p:spPr>
            <a:xfrm>
              <a:off x="3566160" y="2569464"/>
              <a:ext cx="91440" cy="91440"/>
            </a:xfrm>
            <a:prstGeom prst="ellipse">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49040" y="2505456"/>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Duplicate shift (RULE-01)</a:t>
              </a:r>
            </a:p>
          </p:txBody>
        </p:sp>
      </p:grpSp>
      <p:grpSp>
        <p:nvGrpSpPr>
          <p:cNvPr id="46" name="!!scenario-9"/>
          <p:cNvGrpSpPr/>
          <p:nvPr/>
        </p:nvGrpSpPr>
        <p:grpSpPr>
          <a:xfrm>
            <a:off x="3438144" y="2962656"/>
            <a:ext cx="2487168" cy="457200"/>
            <a:chOff x="3438144" y="2962656"/>
            <a:chExt cx="2487168" cy="457200"/>
          </a:xfrm>
        </p:grpSpPr>
        <p:sp>
          <p:nvSpPr>
            <p:cNvPr id="47" name="Rounded Rectangle 46"/>
            <p:cNvSpPr/>
            <p:nvPr/>
          </p:nvSpPr>
          <p:spPr>
            <a:xfrm>
              <a:off x="3438144" y="2962656"/>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Oval 47"/>
            <p:cNvSpPr/>
            <p:nvPr/>
          </p:nvSpPr>
          <p:spPr>
            <a:xfrm>
              <a:off x="3566160" y="3136392"/>
              <a:ext cx="91440" cy="91440"/>
            </a:xfrm>
            <a:prstGeom prst="ellipse">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49040" y="3072384"/>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Deduction with no reason (RULE-05)</a:t>
              </a:r>
            </a:p>
          </p:txBody>
        </p:sp>
      </p:grpSp>
      <p:grpSp>
        <p:nvGrpSpPr>
          <p:cNvPr id="50" name="!!scenario-10"/>
          <p:cNvGrpSpPr/>
          <p:nvPr/>
        </p:nvGrpSpPr>
        <p:grpSpPr>
          <a:xfrm>
            <a:off x="3438144" y="3529584"/>
            <a:ext cx="2487168" cy="457200"/>
            <a:chOff x="3438144" y="3529584"/>
            <a:chExt cx="2487168" cy="457200"/>
          </a:xfrm>
        </p:grpSpPr>
        <p:sp>
          <p:nvSpPr>
            <p:cNvPr id="51" name="Rounded Rectangle 50"/>
            <p:cNvSpPr/>
            <p:nvPr/>
          </p:nvSpPr>
          <p:spPr>
            <a:xfrm>
              <a:off x="3438144" y="3529584"/>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2" name="Oval 51"/>
            <p:cNvSpPr/>
            <p:nvPr/>
          </p:nvSpPr>
          <p:spPr>
            <a:xfrm>
              <a:off x="3566160" y="3703320"/>
              <a:ext cx="91440" cy="91440"/>
            </a:xfrm>
            <a:prstGeom prst="ellipse">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49040" y="3639312"/>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Deliberately corrupted hash</a:t>
              </a:r>
            </a:p>
          </p:txBody>
        </p:sp>
      </p:grpSp>
      <p:grpSp>
        <p:nvGrpSpPr>
          <p:cNvPr id="54" name="!!scenario-11"/>
          <p:cNvGrpSpPr/>
          <p:nvPr/>
        </p:nvGrpSpPr>
        <p:grpSpPr>
          <a:xfrm>
            <a:off x="3438144" y="4096512"/>
            <a:ext cx="2487168" cy="457200"/>
            <a:chOff x="3438144" y="4096512"/>
            <a:chExt cx="2487168" cy="457200"/>
          </a:xfrm>
        </p:grpSpPr>
        <p:sp>
          <p:nvSpPr>
            <p:cNvPr id="55" name="Rounded Rectangle 54"/>
            <p:cNvSpPr/>
            <p:nvPr/>
          </p:nvSpPr>
          <p:spPr>
            <a:xfrm>
              <a:off x="3438144" y="4096512"/>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6" name="Oval 55"/>
            <p:cNvSpPr/>
            <p:nvPr/>
          </p:nvSpPr>
          <p:spPr>
            <a:xfrm>
              <a:off x="3566160" y="4270248"/>
              <a:ext cx="91440" cy="91440"/>
            </a:xfrm>
            <a:prstGeom prst="ellipse">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749040" y="4206240"/>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Clean baseline verification</a:t>
              </a:r>
            </a:p>
          </p:txBody>
        </p:sp>
      </p:grpSp>
      <p:grpSp>
        <p:nvGrpSpPr>
          <p:cNvPr id="58" name="!!scenario-12"/>
          <p:cNvGrpSpPr/>
          <p:nvPr/>
        </p:nvGrpSpPr>
        <p:grpSpPr>
          <a:xfrm>
            <a:off x="3438144" y="4663440"/>
            <a:ext cx="2487168" cy="457200"/>
            <a:chOff x="3438144" y="4663440"/>
            <a:chExt cx="2487168" cy="457200"/>
          </a:xfrm>
        </p:grpSpPr>
        <p:sp>
          <p:nvSpPr>
            <p:cNvPr id="59" name="Rounded Rectangle 58"/>
            <p:cNvSpPr/>
            <p:nvPr/>
          </p:nvSpPr>
          <p:spPr>
            <a:xfrm>
              <a:off x="3438144" y="4663440"/>
              <a:ext cx="2487168" cy="457200"/>
            </a:xfrm>
            <a:prstGeom prst="roundRect">
              <a:avLst>
                <a:gd name="adj" fmla="val 16000"/>
              </a:avLst>
            </a:prstGeom>
            <a:solidFill>
              <a:srgbClr val="FFFFFF"/>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0" name="Oval 59"/>
            <p:cNvSpPr/>
            <p:nvPr/>
          </p:nvSpPr>
          <p:spPr>
            <a:xfrm>
              <a:off x="3566160" y="4837176"/>
              <a:ext cx="91440" cy="91440"/>
            </a:xfrm>
            <a:prstGeom prst="ellipse">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749040" y="4773168"/>
              <a:ext cx="2084832" cy="256032"/>
            </a:xfrm>
            <a:prstGeom prst="rect">
              <a:avLst/>
            </a:prstGeom>
            <a:noFill/>
          </p:spPr>
          <p:txBody>
            <a:bodyPr wrap="square" lIns="0" rIns="0" tIns="0" bIns="0" anchor="t"/>
            <a:lstStyle/>
            <a:p>
              <a:pPr algn="l">
                <a:lnSpc>
                  <a:spcPct val="100000"/>
                </a:lnSpc>
              </a:pPr>
              <a:r>
                <a:rPr sz="860" b="0" i="0">
                  <a:solidFill>
                    <a:srgbClr val="33483F"/>
                  </a:solidFill>
                  <a:latin typeface="Segoe UI"/>
                  <a:ea typeface="Segoe UI"/>
                  <a:cs typeface="Segoe UI"/>
                </a:rPr>
                <a:t>Reset to seeded baseline</a:t>
              </a:r>
            </a:p>
          </p:txBody>
        </p:sp>
      </p:grpSp>
      <p:sp>
        <p:nvSpPr>
          <p:cNvPr id="62" name="!!console"/>
          <p:cNvSpPr/>
          <p:nvPr/>
        </p:nvSpPr>
        <p:spPr>
          <a:xfrm>
            <a:off x="6053328" y="1792224"/>
            <a:ext cx="5349240" cy="4041648"/>
          </a:xfrm>
          <a:prstGeom prst="roundRect">
            <a:avLst>
              <a:gd name="adj" fmla="val 2714"/>
            </a:avLst>
          </a:prstGeom>
          <a:solidFill>
            <a:srgbClr val="0A2219"/>
          </a:solidFill>
          <a:ln>
            <a:noFill/>
          </a:ln>
          <a:effectLst>
            <a:outerShdw blurRad="228600" dist="76200" dir="5400000" rotWithShape="0">
              <a:srgbClr val="0A2219">
                <a:alpha val="16000"/>
              </a:srgbClr>
            </a:outerShdw>
          </a:effectLst>
          <a:sp3d>
            <a:bevelT w="15240" h="1524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3" name="Rounded Rectangle 62"/>
          <p:cNvSpPr/>
          <p:nvPr/>
        </p:nvSpPr>
        <p:spPr>
          <a:xfrm>
            <a:off x="6053328" y="1792224"/>
            <a:ext cx="5349240" cy="384048"/>
          </a:xfrm>
          <a:prstGeom prst="roundRect">
            <a:avLst>
              <a:gd name="adj" fmla="val 28571"/>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4" name="Rectangle 63"/>
          <p:cNvSpPr/>
          <p:nvPr/>
        </p:nvSpPr>
        <p:spPr>
          <a:xfrm>
            <a:off x="6053328" y="2048256"/>
            <a:ext cx="5349240" cy="128016"/>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5" name="Oval 64"/>
          <p:cNvSpPr/>
          <p:nvPr/>
        </p:nvSpPr>
        <p:spPr>
          <a:xfrm>
            <a:off x="6254496" y="1938528"/>
            <a:ext cx="91440" cy="91440"/>
          </a:xfrm>
          <a:prstGeom prst="ellipse">
            <a:avLst/>
          </a:prstGeom>
          <a:solidFill>
            <a:srgbClr val="B4482F">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428232" y="1938528"/>
            <a:ext cx="91440" cy="91440"/>
          </a:xfrm>
          <a:prstGeom prst="ellipse">
            <a:avLst/>
          </a:prstGeom>
          <a:solidFill>
            <a:srgbClr val="D9A844">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601968" y="1938528"/>
            <a:ext cx="91440" cy="91440"/>
          </a:xfrm>
          <a:prstGeom prst="ellipse">
            <a:avLst/>
          </a:prstGeom>
          <a:solidFill>
            <a:srgbClr val="57A97E">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876288" y="1892807"/>
            <a:ext cx="4206240" cy="219456"/>
          </a:xfrm>
          <a:prstGeom prst="rect">
            <a:avLst/>
          </a:prstGeom>
          <a:noFill/>
        </p:spPr>
        <p:txBody>
          <a:bodyPr wrap="square" lIns="0" rIns="0" tIns="0" bIns="0" anchor="t"/>
          <a:lstStyle/>
          <a:p>
            <a:pPr algn="l">
              <a:lnSpc>
                <a:spcPct val="100000"/>
              </a:lnSpc>
            </a:pPr>
            <a:r>
              <a:rPr sz="800" b="0" i="0">
                <a:solidFill>
                  <a:srgbClr val="8BC7A6"/>
                </a:solidFill>
                <a:latin typeface="Consolas"/>
                <a:ea typeface="Consolas"/>
                <a:cs typeface="Consolas"/>
              </a:rPr>
              <a:t>audit &amp; tamper test — ledger explorer</a:t>
            </a:r>
          </a:p>
        </p:txBody>
      </p:sp>
      <p:sp>
        <p:nvSpPr>
          <p:cNvPr id="69" name="TextBox 68"/>
          <p:cNvSpPr txBox="1"/>
          <p:nvPr/>
        </p:nvSpPr>
        <p:spPr>
          <a:xfrm>
            <a:off x="6309360" y="2359152"/>
            <a:ext cx="1097280" cy="219456"/>
          </a:xfrm>
          <a:prstGeom prst="rect">
            <a:avLst/>
          </a:prstGeom>
          <a:noFill/>
        </p:spPr>
        <p:txBody>
          <a:bodyPr wrap="square" lIns="0" rIns="0" tIns="0" bIns="0" anchor="t"/>
          <a:lstStyle/>
          <a:p>
            <a:pPr algn="l">
              <a:lnSpc>
                <a:spcPct val="100000"/>
              </a:lnSpc>
            </a:pPr>
            <a:r>
              <a:rPr sz="819" b="1" i="0">
                <a:solidFill>
                  <a:srgbClr val="E5C068"/>
                </a:solidFill>
                <a:latin typeface="Consolas"/>
                <a:ea typeface="Consolas"/>
                <a:cs typeface="Consolas"/>
              </a:rPr>
              <a:t>BLOCK #08</a:t>
            </a:r>
          </a:p>
        </p:txBody>
      </p:sp>
      <p:sp>
        <p:nvSpPr>
          <p:cNvPr id="70" name="TextBox 69"/>
          <p:cNvSpPr txBox="1"/>
          <p:nvPr/>
        </p:nvSpPr>
        <p:spPr>
          <a:xfrm>
            <a:off x="7424928" y="2359152"/>
            <a:ext cx="1371600" cy="219456"/>
          </a:xfrm>
          <a:prstGeom prst="rect">
            <a:avLst/>
          </a:prstGeom>
          <a:noFill/>
        </p:spPr>
        <p:txBody>
          <a:bodyPr wrap="square" lIns="0" rIns="0" tIns="0" bIns="0" anchor="t"/>
          <a:lstStyle/>
          <a:p>
            <a:pPr algn="l">
              <a:lnSpc>
                <a:spcPct val="100000"/>
              </a:lnSpc>
            </a:pPr>
            <a:r>
              <a:rPr sz="819" b="0" i="0">
                <a:solidFill>
                  <a:srgbClr val="E3D8C2"/>
                </a:solidFill>
                <a:latin typeface="Consolas"/>
                <a:ea typeface="Consolas"/>
                <a:cs typeface="Consolas"/>
              </a:rPr>
              <a:t>a91e…7c42</a:t>
            </a:r>
          </a:p>
        </p:txBody>
      </p:sp>
      <p:sp>
        <p:nvSpPr>
          <p:cNvPr id="71" name="Rounded Rectangle 70"/>
          <p:cNvSpPr/>
          <p:nvPr/>
        </p:nvSpPr>
        <p:spPr>
          <a:xfrm>
            <a:off x="8887968" y="2313432"/>
            <a:ext cx="2103120" cy="256032"/>
          </a:xfrm>
          <a:prstGeom prst="roundRect">
            <a:avLst>
              <a:gd name="adj" fmla="val 50000"/>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00" b="1" i="0" spc="100">
                <a:solidFill>
                  <a:srgbClr val="FFFFFF"/>
                </a:solidFill>
                <a:latin typeface="Segoe UI"/>
                <a:ea typeface="Segoe UI"/>
                <a:cs typeface="Segoe UI"/>
              </a:rPr>
              <a:t>VALID SHA-256</a:t>
            </a:r>
          </a:p>
        </p:txBody>
      </p:sp>
      <p:sp>
        <p:nvSpPr>
          <p:cNvPr id="72" name="Rectangle 71"/>
          <p:cNvSpPr/>
          <p:nvPr/>
        </p:nvSpPr>
        <p:spPr>
          <a:xfrm>
            <a:off x="6309360" y="2670048"/>
            <a:ext cx="4837175" cy="7315"/>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3" name="TextBox 72"/>
          <p:cNvSpPr txBox="1"/>
          <p:nvPr/>
        </p:nvSpPr>
        <p:spPr>
          <a:xfrm>
            <a:off x="6309360" y="2871216"/>
            <a:ext cx="1097280" cy="219456"/>
          </a:xfrm>
          <a:prstGeom prst="rect">
            <a:avLst/>
          </a:prstGeom>
          <a:noFill/>
        </p:spPr>
        <p:txBody>
          <a:bodyPr wrap="square" lIns="0" rIns="0" tIns="0" bIns="0" anchor="t"/>
          <a:lstStyle/>
          <a:p>
            <a:pPr algn="l">
              <a:lnSpc>
                <a:spcPct val="100000"/>
              </a:lnSpc>
            </a:pPr>
            <a:r>
              <a:rPr sz="819" b="1" i="0">
                <a:solidFill>
                  <a:srgbClr val="E5C068"/>
                </a:solidFill>
                <a:latin typeface="Consolas"/>
                <a:ea typeface="Consolas"/>
                <a:cs typeface="Consolas"/>
              </a:rPr>
              <a:t>BLOCK #07</a:t>
            </a:r>
          </a:p>
        </p:txBody>
      </p:sp>
      <p:sp>
        <p:nvSpPr>
          <p:cNvPr id="74" name="TextBox 73"/>
          <p:cNvSpPr txBox="1"/>
          <p:nvPr/>
        </p:nvSpPr>
        <p:spPr>
          <a:xfrm>
            <a:off x="7424928" y="2871216"/>
            <a:ext cx="1371600" cy="219456"/>
          </a:xfrm>
          <a:prstGeom prst="rect">
            <a:avLst/>
          </a:prstGeom>
          <a:noFill/>
        </p:spPr>
        <p:txBody>
          <a:bodyPr wrap="square" lIns="0" rIns="0" tIns="0" bIns="0" anchor="t"/>
          <a:lstStyle/>
          <a:p>
            <a:pPr algn="l">
              <a:lnSpc>
                <a:spcPct val="100000"/>
              </a:lnSpc>
            </a:pPr>
            <a:r>
              <a:rPr sz="819" b="0" i="0">
                <a:solidFill>
                  <a:srgbClr val="E3D8C2"/>
                </a:solidFill>
                <a:latin typeface="Consolas"/>
                <a:ea typeface="Consolas"/>
                <a:cs typeface="Consolas"/>
              </a:rPr>
              <a:t>4bd2…aa10</a:t>
            </a:r>
          </a:p>
        </p:txBody>
      </p:sp>
      <p:sp>
        <p:nvSpPr>
          <p:cNvPr id="75" name="Rounded Rectangle 74"/>
          <p:cNvSpPr/>
          <p:nvPr/>
        </p:nvSpPr>
        <p:spPr>
          <a:xfrm>
            <a:off x="8887968" y="2825496"/>
            <a:ext cx="2103120" cy="256032"/>
          </a:xfrm>
          <a:prstGeom prst="roundRect">
            <a:avLst>
              <a:gd name="adj" fmla="val 50000"/>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00" b="1" i="0" spc="100">
                <a:solidFill>
                  <a:srgbClr val="FFFFFF"/>
                </a:solidFill>
                <a:latin typeface="Segoe UI"/>
                <a:ea typeface="Segoe UI"/>
                <a:cs typeface="Segoe UI"/>
              </a:rPr>
              <a:t>VALID SHA-256</a:t>
            </a:r>
          </a:p>
        </p:txBody>
      </p:sp>
      <p:sp>
        <p:nvSpPr>
          <p:cNvPr id="76" name="Rectangle 75"/>
          <p:cNvSpPr/>
          <p:nvPr/>
        </p:nvSpPr>
        <p:spPr>
          <a:xfrm>
            <a:off x="6309360" y="3182112"/>
            <a:ext cx="4837175" cy="7315"/>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7" name="TextBox 76"/>
          <p:cNvSpPr txBox="1"/>
          <p:nvPr/>
        </p:nvSpPr>
        <p:spPr>
          <a:xfrm>
            <a:off x="6309360" y="3383280"/>
            <a:ext cx="1097280" cy="219456"/>
          </a:xfrm>
          <a:prstGeom prst="rect">
            <a:avLst/>
          </a:prstGeom>
          <a:noFill/>
        </p:spPr>
        <p:txBody>
          <a:bodyPr wrap="square" lIns="0" rIns="0" tIns="0" bIns="0" anchor="t"/>
          <a:lstStyle/>
          <a:p>
            <a:pPr algn="l">
              <a:lnSpc>
                <a:spcPct val="100000"/>
              </a:lnSpc>
            </a:pPr>
            <a:r>
              <a:rPr sz="819" b="1" i="0">
                <a:solidFill>
                  <a:srgbClr val="E5C068"/>
                </a:solidFill>
                <a:latin typeface="Consolas"/>
                <a:ea typeface="Consolas"/>
                <a:cs typeface="Consolas"/>
              </a:rPr>
              <a:t>BLOCK #06</a:t>
            </a:r>
          </a:p>
        </p:txBody>
      </p:sp>
      <p:sp>
        <p:nvSpPr>
          <p:cNvPr id="78" name="TextBox 77"/>
          <p:cNvSpPr txBox="1"/>
          <p:nvPr/>
        </p:nvSpPr>
        <p:spPr>
          <a:xfrm>
            <a:off x="7424928" y="3383280"/>
            <a:ext cx="1371600" cy="219456"/>
          </a:xfrm>
          <a:prstGeom prst="rect">
            <a:avLst/>
          </a:prstGeom>
          <a:noFill/>
        </p:spPr>
        <p:txBody>
          <a:bodyPr wrap="square" lIns="0" rIns="0" tIns="0" bIns="0" anchor="t"/>
          <a:lstStyle/>
          <a:p>
            <a:pPr algn="l">
              <a:lnSpc>
                <a:spcPct val="100000"/>
              </a:lnSpc>
            </a:pPr>
            <a:r>
              <a:rPr sz="819" b="0" i="0">
                <a:solidFill>
                  <a:srgbClr val="E3D8C2"/>
                </a:solidFill>
                <a:latin typeface="Consolas"/>
                <a:ea typeface="Consolas"/>
                <a:cs typeface="Consolas"/>
              </a:rPr>
              <a:t>e77f…19b8</a:t>
            </a:r>
          </a:p>
        </p:txBody>
      </p:sp>
      <p:sp>
        <p:nvSpPr>
          <p:cNvPr id="79" name="Rounded Rectangle 78"/>
          <p:cNvSpPr/>
          <p:nvPr/>
        </p:nvSpPr>
        <p:spPr>
          <a:xfrm>
            <a:off x="8887968" y="3337560"/>
            <a:ext cx="2103120" cy="256032"/>
          </a:xfrm>
          <a:prstGeom prst="roundRect">
            <a:avLst>
              <a:gd name="adj" fmla="val 50000"/>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00" b="1" i="0" spc="100">
                <a:solidFill>
                  <a:srgbClr val="FFFFFF"/>
                </a:solidFill>
                <a:latin typeface="Segoe UI"/>
                <a:ea typeface="Segoe UI"/>
                <a:cs typeface="Segoe UI"/>
              </a:rPr>
              <a:t>VALID SHA-256</a:t>
            </a:r>
          </a:p>
        </p:txBody>
      </p:sp>
      <p:sp>
        <p:nvSpPr>
          <p:cNvPr id="80" name="Rectangle 79"/>
          <p:cNvSpPr/>
          <p:nvPr/>
        </p:nvSpPr>
        <p:spPr>
          <a:xfrm>
            <a:off x="6309360" y="3694176"/>
            <a:ext cx="4837175" cy="7315"/>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1" name="TextBox 80"/>
          <p:cNvSpPr txBox="1"/>
          <p:nvPr/>
        </p:nvSpPr>
        <p:spPr>
          <a:xfrm>
            <a:off x="6309360" y="3895344"/>
            <a:ext cx="1097280" cy="219456"/>
          </a:xfrm>
          <a:prstGeom prst="rect">
            <a:avLst/>
          </a:prstGeom>
          <a:noFill/>
        </p:spPr>
        <p:txBody>
          <a:bodyPr wrap="square" lIns="0" rIns="0" tIns="0" bIns="0" anchor="t"/>
          <a:lstStyle/>
          <a:p>
            <a:pPr algn="l">
              <a:lnSpc>
                <a:spcPct val="100000"/>
              </a:lnSpc>
            </a:pPr>
            <a:r>
              <a:rPr sz="819" b="1" i="0">
                <a:solidFill>
                  <a:srgbClr val="E5C068"/>
                </a:solidFill>
                <a:latin typeface="Consolas"/>
                <a:ea typeface="Consolas"/>
                <a:cs typeface="Consolas"/>
              </a:rPr>
              <a:t>BLOCK #05</a:t>
            </a:r>
          </a:p>
        </p:txBody>
      </p:sp>
      <p:sp>
        <p:nvSpPr>
          <p:cNvPr id="82" name="TextBox 81"/>
          <p:cNvSpPr txBox="1"/>
          <p:nvPr/>
        </p:nvSpPr>
        <p:spPr>
          <a:xfrm>
            <a:off x="7424928" y="3895344"/>
            <a:ext cx="1371600" cy="219456"/>
          </a:xfrm>
          <a:prstGeom prst="rect">
            <a:avLst/>
          </a:prstGeom>
          <a:noFill/>
        </p:spPr>
        <p:txBody>
          <a:bodyPr wrap="square" lIns="0" rIns="0" tIns="0" bIns="0" anchor="t"/>
          <a:lstStyle/>
          <a:p>
            <a:pPr algn="l">
              <a:lnSpc>
                <a:spcPct val="100000"/>
              </a:lnSpc>
            </a:pPr>
            <a:r>
              <a:rPr sz="819" b="0" i="0">
                <a:solidFill>
                  <a:srgbClr val="E3D8C2"/>
                </a:solidFill>
                <a:latin typeface="Consolas"/>
                <a:ea typeface="Consolas"/>
                <a:cs typeface="Consolas"/>
              </a:rPr>
              <a:t>0c33…6d41</a:t>
            </a:r>
          </a:p>
        </p:txBody>
      </p:sp>
      <p:sp>
        <p:nvSpPr>
          <p:cNvPr id="83" name="Rounded Rectangle 82"/>
          <p:cNvSpPr/>
          <p:nvPr/>
        </p:nvSpPr>
        <p:spPr>
          <a:xfrm>
            <a:off x="8887968" y="3849624"/>
            <a:ext cx="2103120" cy="256032"/>
          </a:xfrm>
          <a:prstGeom prst="roundRect">
            <a:avLst>
              <a:gd name="adj" fmla="val 50000"/>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00" b="1" i="0" spc="100">
                <a:solidFill>
                  <a:srgbClr val="FFFFFF"/>
                </a:solidFill>
                <a:latin typeface="Segoe UI"/>
                <a:ea typeface="Segoe UI"/>
                <a:cs typeface="Segoe UI"/>
              </a:rPr>
              <a:t>HASH MISMATCH</a:t>
            </a:r>
          </a:p>
        </p:txBody>
      </p:sp>
      <p:sp>
        <p:nvSpPr>
          <p:cNvPr id="84" name="Rectangle 83"/>
          <p:cNvSpPr/>
          <p:nvPr/>
        </p:nvSpPr>
        <p:spPr>
          <a:xfrm>
            <a:off x="6309360" y="4206240"/>
            <a:ext cx="4837175" cy="7315"/>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5" name="TextBox 84"/>
          <p:cNvSpPr txBox="1"/>
          <p:nvPr/>
        </p:nvSpPr>
        <p:spPr>
          <a:xfrm>
            <a:off x="6309360" y="4407408"/>
            <a:ext cx="1097280" cy="219456"/>
          </a:xfrm>
          <a:prstGeom prst="rect">
            <a:avLst/>
          </a:prstGeom>
          <a:noFill/>
        </p:spPr>
        <p:txBody>
          <a:bodyPr wrap="square" lIns="0" rIns="0" tIns="0" bIns="0" anchor="t"/>
          <a:lstStyle/>
          <a:p>
            <a:pPr algn="l">
              <a:lnSpc>
                <a:spcPct val="100000"/>
              </a:lnSpc>
            </a:pPr>
            <a:r>
              <a:rPr sz="819" b="1" i="0">
                <a:solidFill>
                  <a:srgbClr val="E5C068"/>
                </a:solidFill>
                <a:latin typeface="Consolas"/>
                <a:ea typeface="Consolas"/>
                <a:cs typeface="Consolas"/>
              </a:rPr>
              <a:t>BLOCK #04</a:t>
            </a:r>
          </a:p>
        </p:txBody>
      </p:sp>
      <p:sp>
        <p:nvSpPr>
          <p:cNvPr id="86" name="TextBox 85"/>
          <p:cNvSpPr txBox="1"/>
          <p:nvPr/>
        </p:nvSpPr>
        <p:spPr>
          <a:xfrm>
            <a:off x="7424928" y="4407408"/>
            <a:ext cx="1371600" cy="219456"/>
          </a:xfrm>
          <a:prstGeom prst="rect">
            <a:avLst/>
          </a:prstGeom>
          <a:noFill/>
        </p:spPr>
        <p:txBody>
          <a:bodyPr wrap="square" lIns="0" rIns="0" tIns="0" bIns="0" anchor="t"/>
          <a:lstStyle/>
          <a:p>
            <a:pPr algn="l">
              <a:lnSpc>
                <a:spcPct val="100000"/>
              </a:lnSpc>
            </a:pPr>
            <a:r>
              <a:rPr sz="819" b="0" i="0">
                <a:solidFill>
                  <a:srgbClr val="E3D8C2"/>
                </a:solidFill>
                <a:latin typeface="Consolas"/>
                <a:ea typeface="Consolas"/>
                <a:cs typeface="Consolas"/>
              </a:rPr>
              <a:t>9f5b…20ea</a:t>
            </a:r>
          </a:p>
        </p:txBody>
      </p:sp>
      <p:sp>
        <p:nvSpPr>
          <p:cNvPr id="87" name="Rounded Rectangle 86"/>
          <p:cNvSpPr/>
          <p:nvPr/>
        </p:nvSpPr>
        <p:spPr>
          <a:xfrm>
            <a:off x="8887968" y="4361688"/>
            <a:ext cx="2103120" cy="256032"/>
          </a:xfrm>
          <a:prstGeom prst="roundRect">
            <a:avLst>
              <a:gd name="adj" fmla="val 50000"/>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00" b="1" i="0" spc="100">
                <a:solidFill>
                  <a:srgbClr val="FFFFFF"/>
                </a:solidFill>
                <a:latin typeface="Segoe UI"/>
                <a:ea typeface="Segoe UI"/>
                <a:cs typeface="Segoe UI"/>
              </a:rPr>
              <a:t>LINKAGE BROKEN</a:t>
            </a:r>
          </a:p>
        </p:txBody>
      </p:sp>
      <p:sp>
        <p:nvSpPr>
          <p:cNvPr id="88" name="Rectangle 87"/>
          <p:cNvSpPr/>
          <p:nvPr/>
        </p:nvSpPr>
        <p:spPr>
          <a:xfrm>
            <a:off x="6309360" y="4718304"/>
            <a:ext cx="4837175" cy="7315"/>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9" name="TextBox 88"/>
          <p:cNvSpPr txBox="1"/>
          <p:nvPr/>
        </p:nvSpPr>
        <p:spPr>
          <a:xfrm>
            <a:off x="6309360" y="5029200"/>
            <a:ext cx="4837175" cy="640080"/>
          </a:xfrm>
          <a:prstGeom prst="rect">
            <a:avLst/>
          </a:prstGeom>
          <a:noFill/>
        </p:spPr>
        <p:txBody>
          <a:bodyPr wrap="square" lIns="0" rIns="0" tIns="0" bIns="0" anchor="t"/>
          <a:lstStyle/>
          <a:p>
            <a:pPr algn="l">
              <a:lnSpc>
                <a:spcPct val="135000"/>
              </a:lnSpc>
              <a:spcAft>
                <a:spcPts val="0"/>
              </a:spcAft>
            </a:pPr>
            <a:r>
              <a:rPr sz="780" b="0" i="0">
                <a:solidFill>
                  <a:srgbClr val="8BC7A6"/>
                </a:solidFill>
                <a:latin typeface="Consolas"/>
                <a:ea typeface="Consolas"/>
                <a:cs typeface="Consolas"/>
              </a:rPr>
              <a:t>&gt; rate changed 650 → 900 after registration</a:t>
            </a:r>
          </a:p>
          <a:p>
            <a:pPr algn="l">
              <a:lnSpc>
                <a:spcPct val="135000"/>
              </a:lnSpc>
            </a:pPr>
            <a:r>
              <a:rPr sz="780" b="0" i="0">
                <a:solidFill>
                  <a:srgbClr val="8BC7A6"/>
                </a:solidFill>
                <a:latin typeface="Consolas"/>
                <a:ea typeface="Consolas"/>
                <a:cs typeface="Consolas"/>
              </a:rPr>
              <a:t>&gt; recompute → block #05 fails, every link after it fails</a:t>
            </a:r>
          </a:p>
        </p:txBody>
      </p:sp>
      <p:sp>
        <p:nvSpPr>
          <p:cNvPr id="90" name="TextBox 89"/>
          <p:cNvSpPr txBox="1"/>
          <p:nvPr/>
        </p:nvSpPr>
        <p:spPr>
          <a:xfrm>
            <a:off x="6309360" y="5577840"/>
            <a:ext cx="4837175" cy="219456"/>
          </a:xfrm>
          <a:prstGeom prst="rect">
            <a:avLst/>
          </a:prstGeom>
          <a:noFill/>
        </p:spPr>
        <p:txBody>
          <a:bodyPr wrap="square" lIns="0" rIns="0" tIns="0" bIns="0" anchor="t"/>
          <a:lstStyle/>
          <a:p>
            <a:pPr algn="l">
              <a:lnSpc>
                <a:spcPct val="100000"/>
              </a:lnSpc>
            </a:pPr>
            <a:r>
              <a:rPr sz="740" b="0" i="0">
                <a:solidFill>
                  <a:srgbClr val="5F776B"/>
                </a:solidFill>
                <a:latin typeface="Consolas"/>
                <a:ea typeface="Consolas"/>
                <a:cs typeface="Consolas"/>
              </a:rPr>
              <a:t>resetToBaseline() restores the 8 seeded blocks</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555480" y="-2066543"/>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560320" y="4526279"/>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4253057"/>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4769693"/>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OFFLINE &amp; SYNC</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03  </a:t>
            </a:r>
            <a:r>
              <a:rPr sz="950" b="1" i="0" spc="140">
                <a:solidFill>
                  <a:srgbClr val="5F776B"/>
                </a:solidFill>
                <a:latin typeface="Segoe UI"/>
                <a:ea typeface="Segoe UI"/>
                <a:cs typeface="Segoe UI"/>
              </a:rPr>
              <a:t>BUILD</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Local first, shared when connected</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20 / 26</a:t>
            </a:r>
          </a:p>
        </p:txBody>
      </p:sp>
      <p:grpSp>
        <p:nvGrpSpPr>
          <p:cNvPr id="14" name="!!sync-1"/>
          <p:cNvGrpSpPr/>
          <p:nvPr/>
        </p:nvGrpSpPr>
        <p:grpSpPr>
          <a:xfrm>
            <a:off x="786384" y="1828800"/>
            <a:ext cx="2516886" cy="1828800"/>
            <a:chOff x="786384" y="1828800"/>
            <a:chExt cx="2516886" cy="1828800"/>
          </a:xfrm>
        </p:grpSpPr>
        <p:sp>
          <p:nvSpPr>
            <p:cNvPr id="15" name="Rounded Rectangle 14"/>
            <p:cNvSpPr/>
            <p:nvPr/>
          </p:nvSpPr>
          <p:spPr>
            <a:xfrm>
              <a:off x="786384" y="1828800"/>
              <a:ext cx="2516886" cy="1828800"/>
            </a:xfrm>
            <a:prstGeom prst="roundRect">
              <a:avLst>
                <a:gd name="adj" fmla="val 6000"/>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786384" y="1828800"/>
              <a:ext cx="2516886" cy="50292"/>
            </a:xfrm>
            <a:prstGeom prst="roundRect">
              <a:avLst>
                <a:gd name="adj" fmla="val 36363"/>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ounded Rectangle 16"/>
            <p:cNvSpPr/>
            <p:nvPr/>
          </p:nvSpPr>
          <p:spPr>
            <a:xfrm>
              <a:off x="987552" y="1956816"/>
              <a:ext cx="841248" cy="219456"/>
            </a:xfrm>
            <a:prstGeom prst="roundRect">
              <a:avLst>
                <a:gd name="adj" fmla="val 50000"/>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FFFFFF"/>
                  </a:solidFill>
                  <a:latin typeface="Segoe UI"/>
                  <a:ea typeface="Segoe UI"/>
                  <a:cs typeface="Segoe UI"/>
                </a:rPr>
                <a:t>TODAY</a:t>
              </a:r>
            </a:p>
          </p:txBody>
        </p:sp>
        <p:sp>
          <p:nvSpPr>
            <p:cNvPr id="18" name="TextBox 17"/>
            <p:cNvSpPr txBox="1"/>
            <p:nvPr/>
          </p:nvSpPr>
          <p:spPr>
            <a:xfrm>
              <a:off x="987552" y="2286000"/>
              <a:ext cx="2132838" cy="256032"/>
            </a:xfrm>
            <a:prstGeom prst="rect">
              <a:avLst/>
            </a:prstGeom>
            <a:noFill/>
          </p:spPr>
          <p:txBody>
            <a:bodyPr wrap="square" lIns="0" rIns="0" tIns="0" bIns="0" anchor="t"/>
            <a:lstStyle/>
            <a:p>
              <a:pPr algn="l">
                <a:lnSpc>
                  <a:spcPct val="100000"/>
                </a:lnSpc>
              </a:pPr>
              <a:r>
                <a:rPr sz="1160" b="1" i="0">
                  <a:solidFill>
                    <a:srgbClr val="12211B"/>
                  </a:solidFill>
                  <a:latin typeface="Segoe UI"/>
                  <a:ea typeface="Segoe UI"/>
                  <a:cs typeface="Segoe UI"/>
                </a:rPr>
                <a:t>Capture locally</a:t>
              </a:r>
            </a:p>
          </p:txBody>
        </p:sp>
        <p:sp>
          <p:nvSpPr>
            <p:cNvPr id="19" name="TextBox 18"/>
            <p:cNvSpPr txBox="1"/>
            <p:nvPr/>
          </p:nvSpPr>
          <p:spPr>
            <a:xfrm>
              <a:off x="987552" y="2596896"/>
              <a:ext cx="2132838" cy="914400"/>
            </a:xfrm>
            <a:prstGeom prst="rect">
              <a:avLst/>
            </a:prstGeom>
            <a:noFill/>
          </p:spPr>
          <p:txBody>
            <a:bodyPr wrap="square" lIns="0" rIns="0" tIns="0" bIns="0" anchor="t"/>
            <a:lstStyle/>
            <a:p>
              <a:pPr algn="l">
                <a:lnSpc>
                  <a:spcPct val="118000"/>
                </a:lnSpc>
              </a:pPr>
              <a:r>
                <a:rPr sz="880" b="0" i="0">
                  <a:solidFill>
                    <a:srgbClr val="557165"/>
                  </a:solidFill>
                  <a:latin typeface="Segoe UI"/>
                  <a:ea typeface="Segoe UI"/>
                  <a:cs typeface="Segoe UI"/>
                </a:rPr>
                <a:t>Attendance, rates and payments are written to IndexedDB before anything else. A site without signal keeps recording.</a:t>
              </a:r>
            </a:p>
          </p:txBody>
        </p:sp>
      </p:grpSp>
      <p:cxnSp>
        <p:nvCxnSpPr>
          <p:cNvPr id="20" name="Connector 19"/>
          <p:cNvCxnSpPr/>
          <p:nvPr/>
        </p:nvCxnSpPr>
        <p:spPr>
          <a:xfrm>
            <a:off x="3316986" y="2743200"/>
            <a:ext cx="155448" cy="0"/>
          </a:xfrm>
          <a:prstGeom prst="line">
            <a:avLst/>
          </a:prstGeom>
          <a:ln w="1270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21" name="!!sync-2"/>
          <p:cNvGrpSpPr/>
          <p:nvPr/>
        </p:nvGrpSpPr>
        <p:grpSpPr>
          <a:xfrm>
            <a:off x="3486150" y="1828800"/>
            <a:ext cx="2516886" cy="1828800"/>
            <a:chOff x="3486150" y="1828800"/>
            <a:chExt cx="2516886" cy="1828800"/>
          </a:xfrm>
        </p:grpSpPr>
        <p:sp>
          <p:nvSpPr>
            <p:cNvPr id="22" name="Rounded Rectangle 21"/>
            <p:cNvSpPr/>
            <p:nvPr/>
          </p:nvSpPr>
          <p:spPr>
            <a:xfrm>
              <a:off x="3486150" y="1828800"/>
              <a:ext cx="2516886" cy="1828800"/>
            </a:xfrm>
            <a:prstGeom prst="roundRect">
              <a:avLst>
                <a:gd name="adj" fmla="val 6000"/>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Rounded Rectangle 22"/>
            <p:cNvSpPr/>
            <p:nvPr/>
          </p:nvSpPr>
          <p:spPr>
            <a:xfrm>
              <a:off x="3486150" y="1828800"/>
              <a:ext cx="2516886" cy="50292"/>
            </a:xfrm>
            <a:prstGeom prst="roundRect">
              <a:avLst>
                <a:gd name="adj" fmla="val 36363"/>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ounded Rectangle 23"/>
            <p:cNvSpPr/>
            <p:nvPr/>
          </p:nvSpPr>
          <p:spPr>
            <a:xfrm>
              <a:off x="3687318" y="1956816"/>
              <a:ext cx="841248" cy="219456"/>
            </a:xfrm>
            <a:prstGeom prst="roundRect">
              <a:avLst>
                <a:gd name="adj" fmla="val 50000"/>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557165"/>
                  </a:solidFill>
                  <a:latin typeface="Segoe UI"/>
                  <a:ea typeface="Segoe UI"/>
                  <a:cs typeface="Segoe UI"/>
                </a:rPr>
                <a:t>PLANNED</a:t>
              </a:r>
            </a:p>
          </p:txBody>
        </p:sp>
        <p:sp>
          <p:nvSpPr>
            <p:cNvPr id="25" name="TextBox 24"/>
            <p:cNvSpPr txBox="1"/>
            <p:nvPr/>
          </p:nvSpPr>
          <p:spPr>
            <a:xfrm>
              <a:off x="3687318" y="2286000"/>
              <a:ext cx="2132838" cy="256032"/>
            </a:xfrm>
            <a:prstGeom prst="rect">
              <a:avLst/>
            </a:prstGeom>
            <a:noFill/>
          </p:spPr>
          <p:txBody>
            <a:bodyPr wrap="square" lIns="0" rIns="0" tIns="0" bIns="0" anchor="t"/>
            <a:lstStyle/>
            <a:p>
              <a:pPr algn="l">
                <a:lnSpc>
                  <a:spcPct val="100000"/>
                </a:lnSpc>
              </a:pPr>
              <a:r>
                <a:rPr sz="1160" b="1" i="0">
                  <a:solidFill>
                    <a:srgbClr val="12211B"/>
                  </a:solidFill>
                  <a:latin typeface="Segoe UI"/>
                  <a:ea typeface="Segoe UI"/>
                  <a:cs typeface="Segoe UI"/>
                </a:rPr>
                <a:t>Queue the change</a:t>
              </a:r>
            </a:p>
          </p:txBody>
        </p:sp>
        <p:sp>
          <p:nvSpPr>
            <p:cNvPr id="26" name="TextBox 25"/>
            <p:cNvSpPr txBox="1"/>
            <p:nvPr/>
          </p:nvSpPr>
          <p:spPr>
            <a:xfrm>
              <a:off x="3687318" y="2596896"/>
              <a:ext cx="2132838" cy="914400"/>
            </a:xfrm>
            <a:prstGeom prst="rect">
              <a:avLst/>
            </a:prstGeom>
            <a:noFill/>
          </p:spPr>
          <p:txBody>
            <a:bodyPr wrap="square" lIns="0" rIns="0" tIns="0" bIns="0" anchor="t"/>
            <a:lstStyle/>
            <a:p>
              <a:pPr algn="l">
                <a:lnSpc>
                  <a:spcPct val="118000"/>
                </a:lnSpc>
              </a:pPr>
              <a:r>
                <a:rPr sz="880" b="0" i="0">
                  <a:solidFill>
                    <a:srgbClr val="557165"/>
                  </a:solidFill>
                  <a:latin typeface="Segoe UI"/>
                  <a:ea typeface="Segoe UI"/>
                  <a:cs typeface="Segoe UI"/>
                </a:rPr>
                <a:t>Every write becomes an outbox operation with an idempotency key, so a retry cannot post the same payment twice.</a:t>
              </a:r>
            </a:p>
          </p:txBody>
        </p:sp>
      </p:grpSp>
      <p:cxnSp>
        <p:nvCxnSpPr>
          <p:cNvPr id="27" name="Connector 26"/>
          <p:cNvCxnSpPr/>
          <p:nvPr/>
        </p:nvCxnSpPr>
        <p:spPr>
          <a:xfrm>
            <a:off x="6016752" y="2743200"/>
            <a:ext cx="155448" cy="0"/>
          </a:xfrm>
          <a:prstGeom prst="line">
            <a:avLst/>
          </a:prstGeom>
          <a:ln w="1270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28" name="!!sync-3"/>
          <p:cNvGrpSpPr/>
          <p:nvPr/>
        </p:nvGrpSpPr>
        <p:grpSpPr>
          <a:xfrm>
            <a:off x="6185916" y="1828800"/>
            <a:ext cx="2516886" cy="1828800"/>
            <a:chOff x="6185916" y="1828800"/>
            <a:chExt cx="2516886" cy="1828800"/>
          </a:xfrm>
        </p:grpSpPr>
        <p:sp>
          <p:nvSpPr>
            <p:cNvPr id="29" name="Rounded Rectangle 28"/>
            <p:cNvSpPr/>
            <p:nvPr/>
          </p:nvSpPr>
          <p:spPr>
            <a:xfrm>
              <a:off x="6185916" y="1828800"/>
              <a:ext cx="2516886" cy="1828800"/>
            </a:xfrm>
            <a:prstGeom prst="roundRect">
              <a:avLst>
                <a:gd name="adj" fmla="val 6000"/>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Rounded Rectangle 29"/>
            <p:cNvSpPr/>
            <p:nvPr/>
          </p:nvSpPr>
          <p:spPr>
            <a:xfrm>
              <a:off x="6185916" y="1828800"/>
              <a:ext cx="2516886" cy="50292"/>
            </a:xfrm>
            <a:prstGeom prst="roundRect">
              <a:avLst>
                <a:gd name="adj" fmla="val 36363"/>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Rounded Rectangle 30"/>
            <p:cNvSpPr/>
            <p:nvPr/>
          </p:nvSpPr>
          <p:spPr>
            <a:xfrm>
              <a:off x="6387084" y="1956816"/>
              <a:ext cx="841248" cy="219456"/>
            </a:xfrm>
            <a:prstGeom prst="roundRect">
              <a:avLst>
                <a:gd name="adj" fmla="val 50000"/>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557165"/>
                  </a:solidFill>
                  <a:latin typeface="Segoe UI"/>
                  <a:ea typeface="Segoe UI"/>
                  <a:cs typeface="Segoe UI"/>
                </a:rPr>
                <a:t>PLANNED</a:t>
              </a:r>
            </a:p>
          </p:txBody>
        </p:sp>
        <p:sp>
          <p:nvSpPr>
            <p:cNvPr id="32" name="TextBox 31"/>
            <p:cNvSpPr txBox="1"/>
            <p:nvPr/>
          </p:nvSpPr>
          <p:spPr>
            <a:xfrm>
              <a:off x="6387084" y="2286000"/>
              <a:ext cx="2132838" cy="256032"/>
            </a:xfrm>
            <a:prstGeom prst="rect">
              <a:avLst/>
            </a:prstGeom>
            <a:noFill/>
          </p:spPr>
          <p:txBody>
            <a:bodyPr wrap="square" lIns="0" rIns="0" tIns="0" bIns="0" anchor="t"/>
            <a:lstStyle/>
            <a:p>
              <a:pPr algn="l">
                <a:lnSpc>
                  <a:spcPct val="100000"/>
                </a:lnSpc>
              </a:pPr>
              <a:r>
                <a:rPr sz="1160" b="1" i="0">
                  <a:solidFill>
                    <a:srgbClr val="12211B"/>
                  </a:solidFill>
                  <a:latin typeface="Segoe UI"/>
                  <a:ea typeface="Segoe UI"/>
                  <a:cs typeface="Segoe UI"/>
                </a:rPr>
                <a:t>Sync when online</a:t>
              </a:r>
            </a:p>
          </p:txBody>
        </p:sp>
        <p:sp>
          <p:nvSpPr>
            <p:cNvPr id="33" name="TextBox 32"/>
            <p:cNvSpPr txBox="1"/>
            <p:nvPr/>
          </p:nvSpPr>
          <p:spPr>
            <a:xfrm>
              <a:off x="6387084" y="2596896"/>
              <a:ext cx="2132838" cy="914400"/>
            </a:xfrm>
            <a:prstGeom prst="rect">
              <a:avLst/>
            </a:prstGeom>
            <a:noFill/>
          </p:spPr>
          <p:txBody>
            <a:bodyPr wrap="square" lIns="0" rIns="0" tIns="0" bIns="0" anchor="t"/>
            <a:lstStyle/>
            <a:p>
              <a:pPr algn="l">
                <a:lnSpc>
                  <a:spcPct val="118000"/>
                </a:lnSpc>
              </a:pPr>
              <a:r>
                <a:rPr sz="880" b="0" i="0">
                  <a:solidFill>
                    <a:srgbClr val="557165"/>
                  </a:solidFill>
                  <a:latin typeface="Segoe UI"/>
                  <a:ea typeface="Segoe UI"/>
                  <a:cs typeface="Segoe UI"/>
                </a:rPr>
                <a:t>Supabase Auth, PostgreSQL and row-level security accept the operation and return the server timestamp.</a:t>
              </a:r>
            </a:p>
          </p:txBody>
        </p:sp>
      </p:grpSp>
      <p:cxnSp>
        <p:nvCxnSpPr>
          <p:cNvPr id="34" name="Connector 33"/>
          <p:cNvCxnSpPr/>
          <p:nvPr/>
        </p:nvCxnSpPr>
        <p:spPr>
          <a:xfrm>
            <a:off x="8716518" y="2743200"/>
            <a:ext cx="155448" cy="0"/>
          </a:xfrm>
          <a:prstGeom prst="line">
            <a:avLst/>
          </a:prstGeom>
          <a:ln w="12700">
            <a:solidFill>
              <a:srgbClr val="CDBD9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5" name="!!sync-4"/>
          <p:cNvGrpSpPr/>
          <p:nvPr/>
        </p:nvGrpSpPr>
        <p:grpSpPr>
          <a:xfrm>
            <a:off x="8885682" y="1828800"/>
            <a:ext cx="2516886" cy="1828800"/>
            <a:chOff x="8885682" y="1828800"/>
            <a:chExt cx="2516886" cy="1828800"/>
          </a:xfrm>
        </p:grpSpPr>
        <p:sp>
          <p:nvSpPr>
            <p:cNvPr id="36" name="Rounded Rectangle 35"/>
            <p:cNvSpPr/>
            <p:nvPr/>
          </p:nvSpPr>
          <p:spPr>
            <a:xfrm>
              <a:off x="8885682" y="1828800"/>
              <a:ext cx="2516886" cy="1828800"/>
            </a:xfrm>
            <a:prstGeom prst="roundRect">
              <a:avLst>
                <a:gd name="adj" fmla="val 6000"/>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Rounded Rectangle 36"/>
            <p:cNvSpPr/>
            <p:nvPr/>
          </p:nvSpPr>
          <p:spPr>
            <a:xfrm>
              <a:off x="8885682" y="1828800"/>
              <a:ext cx="2516886" cy="50292"/>
            </a:xfrm>
            <a:prstGeom prst="roundRect">
              <a:avLst>
                <a:gd name="adj" fmla="val 36363"/>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ounded Rectangle 37"/>
            <p:cNvSpPr/>
            <p:nvPr/>
          </p:nvSpPr>
          <p:spPr>
            <a:xfrm>
              <a:off x="9086850" y="1956816"/>
              <a:ext cx="841248" cy="219456"/>
            </a:xfrm>
            <a:prstGeom prst="roundRect">
              <a:avLst>
                <a:gd name="adj" fmla="val 50000"/>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557165"/>
                  </a:solidFill>
                  <a:latin typeface="Segoe UI"/>
                  <a:ea typeface="Segoe UI"/>
                  <a:cs typeface="Segoe UI"/>
                </a:rPr>
                <a:t>PLANNED</a:t>
              </a:r>
            </a:p>
          </p:txBody>
        </p:sp>
        <p:sp>
          <p:nvSpPr>
            <p:cNvPr id="39" name="TextBox 38"/>
            <p:cNvSpPr txBox="1"/>
            <p:nvPr/>
          </p:nvSpPr>
          <p:spPr>
            <a:xfrm>
              <a:off x="9086850" y="2286000"/>
              <a:ext cx="2132838" cy="256032"/>
            </a:xfrm>
            <a:prstGeom prst="rect">
              <a:avLst/>
            </a:prstGeom>
            <a:noFill/>
          </p:spPr>
          <p:txBody>
            <a:bodyPr wrap="square" lIns="0" rIns="0" tIns="0" bIns="0" anchor="t"/>
            <a:lstStyle/>
            <a:p>
              <a:pPr algn="l">
                <a:lnSpc>
                  <a:spcPct val="100000"/>
                </a:lnSpc>
              </a:pPr>
              <a:r>
                <a:rPr sz="1160" b="1" i="0">
                  <a:solidFill>
                    <a:srgbClr val="12211B"/>
                  </a:solidFill>
                  <a:latin typeface="Segoe UI"/>
                  <a:ea typeface="Segoe UI"/>
                  <a:cs typeface="Segoe UI"/>
                </a:rPr>
                <a:t>Preserve conflict</a:t>
              </a:r>
            </a:p>
          </p:txBody>
        </p:sp>
        <p:sp>
          <p:nvSpPr>
            <p:cNvPr id="40" name="TextBox 39"/>
            <p:cNvSpPr txBox="1"/>
            <p:nvPr/>
          </p:nvSpPr>
          <p:spPr>
            <a:xfrm>
              <a:off x="9086850" y="2596896"/>
              <a:ext cx="2132838" cy="914400"/>
            </a:xfrm>
            <a:prstGeom prst="rect">
              <a:avLst/>
            </a:prstGeom>
            <a:noFill/>
          </p:spPr>
          <p:txBody>
            <a:bodyPr wrap="square" lIns="0" rIns="0" tIns="0" bIns="0" anchor="t"/>
            <a:lstStyle/>
            <a:p>
              <a:pPr algn="l">
                <a:lnSpc>
                  <a:spcPct val="118000"/>
                </a:lnSpc>
              </a:pPr>
              <a:r>
                <a:rPr sz="880" b="0" i="0">
                  <a:solidFill>
                    <a:srgbClr val="557165"/>
                  </a:solidFill>
                  <a:latin typeface="Segoe UI"/>
                  <a:ea typeface="Segoe UI"/>
                  <a:cs typeface="Segoe UI"/>
                </a:rPr>
                <a:t>If two versions disagree, both are kept for review. A wage is never silently overwritten by a sync.</a:t>
              </a:r>
            </a:p>
          </p:txBody>
        </p:sp>
      </p:grpSp>
      <p:sp>
        <p:nvSpPr>
          <p:cNvPr id="41" name="!!why-band"/>
          <p:cNvSpPr/>
          <p:nvPr/>
        </p:nvSpPr>
        <p:spPr>
          <a:xfrm>
            <a:off x="786384" y="3931920"/>
            <a:ext cx="10616184" cy="987552"/>
          </a:xfrm>
          <a:prstGeom prst="roundRect">
            <a:avLst>
              <a:gd name="adj" fmla="val 9259"/>
            </a:avLst>
          </a:prstGeom>
          <a:solidFill>
            <a:srgbClr val="0A2219"/>
          </a:solidFill>
          <a:ln>
            <a:no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TextBox 41"/>
          <p:cNvSpPr txBox="1"/>
          <p:nvPr/>
        </p:nvSpPr>
        <p:spPr>
          <a:xfrm>
            <a:off x="1097280" y="4059936"/>
            <a:ext cx="9976104" cy="731520"/>
          </a:xfrm>
          <a:prstGeom prst="rect">
            <a:avLst/>
          </a:prstGeom>
          <a:noFill/>
        </p:spPr>
        <p:txBody>
          <a:bodyPr wrap="square" lIns="0" rIns="0" tIns="0" bIns="0" anchor="t"/>
          <a:lstStyle/>
          <a:p>
            <a:pPr algn="l">
              <a:lnSpc>
                <a:spcPct val="120000"/>
              </a:lnSpc>
              <a:spcAft>
                <a:spcPts val="0"/>
              </a:spcAft>
            </a:pPr>
            <a:r>
              <a:rPr sz="800" b="1" i="0" spc="140">
                <a:solidFill>
                  <a:srgbClr val="E5C068"/>
                </a:solidFill>
                <a:latin typeface="Segoe UI"/>
                <a:ea typeface="Segoe UI"/>
                <a:cs typeface="Segoe UI"/>
              </a:rPr>
              <a:t>WHY A LOCAL DATABASE IS NOT A BACKEND   </a:t>
            </a:r>
          </a:p>
          <a:p>
            <a:pPr algn="l">
              <a:lnSpc>
                <a:spcPct val="120000"/>
              </a:lnSpc>
            </a:pPr>
            <a:r>
              <a:rPr sz="960" b="0" i="0">
                <a:solidFill>
                  <a:srgbClr val="F0E9DA"/>
                </a:solidFill>
                <a:latin typeface="Segoe UI"/>
                <a:ea typeface="Segoe UI"/>
                <a:cs typeface="Segoe UI"/>
              </a:rPr>
              <a:t>IndexedDB belongs to one browser on one device. It can be cleared, inspected or edited by whoever holds that device — so sharing a record between a worker's phone and a contractor's laptop needs real authentication and a server. That layer is designed, not shipped.</a:t>
            </a:r>
          </a:p>
        </p:txBody>
      </p:sp>
      <p:sp>
        <p:nvSpPr>
          <p:cNvPr id="43" name="TextBox 42"/>
          <p:cNvSpPr txBox="1"/>
          <p:nvPr/>
        </p:nvSpPr>
        <p:spPr>
          <a:xfrm>
            <a:off x="786384" y="5138928"/>
            <a:ext cx="3383280" cy="219456"/>
          </a:xfrm>
          <a:prstGeom prst="rect">
            <a:avLst/>
          </a:prstGeom>
          <a:noFill/>
        </p:spPr>
        <p:txBody>
          <a:bodyPr wrap="square" lIns="0" rIns="0" tIns="0" bIns="0" anchor="t"/>
          <a:lstStyle/>
          <a:p>
            <a:pPr algn="l">
              <a:lnSpc>
                <a:spcPct val="100000"/>
              </a:lnSpc>
            </a:pPr>
            <a:r>
              <a:rPr sz="860" b="1" i="0">
                <a:solidFill>
                  <a:srgbClr val="1F5941"/>
                </a:solidFill>
                <a:latin typeface="Consolas"/>
                <a:ea typeface="Consolas"/>
                <a:cs typeface="Consolas"/>
              </a:rPr>
              <a:t>isLocalDemoMode : true</a:t>
            </a:r>
          </a:p>
        </p:txBody>
      </p:sp>
      <p:sp>
        <p:nvSpPr>
          <p:cNvPr id="44" name="TextBox 43"/>
          <p:cNvSpPr txBox="1"/>
          <p:nvPr/>
        </p:nvSpPr>
        <p:spPr>
          <a:xfrm>
            <a:off x="4352544" y="5138928"/>
            <a:ext cx="3383280" cy="219456"/>
          </a:xfrm>
          <a:prstGeom prst="rect">
            <a:avLst/>
          </a:prstGeom>
          <a:noFill/>
        </p:spPr>
        <p:txBody>
          <a:bodyPr wrap="square" lIns="0" rIns="0" tIns="0" bIns="0" anchor="t"/>
          <a:lstStyle/>
          <a:p>
            <a:pPr algn="l">
              <a:lnSpc>
                <a:spcPct val="100000"/>
              </a:lnSpc>
            </a:pPr>
            <a:r>
              <a:rPr sz="860" b="1" i="0">
                <a:solidFill>
                  <a:srgbClr val="1F5941"/>
                </a:solidFill>
                <a:latin typeface="Consolas"/>
                <a:ea typeface="Consolas"/>
                <a:cs typeface="Consolas"/>
              </a:rPr>
              <a:t>isSupabaseConnected : false</a:t>
            </a:r>
          </a:p>
        </p:txBody>
      </p:sp>
      <p:sp>
        <p:nvSpPr>
          <p:cNvPr id="45" name="TextBox 44"/>
          <p:cNvSpPr txBox="1"/>
          <p:nvPr/>
        </p:nvSpPr>
        <p:spPr>
          <a:xfrm>
            <a:off x="7918704" y="5138928"/>
            <a:ext cx="3383280" cy="219456"/>
          </a:xfrm>
          <a:prstGeom prst="rect">
            <a:avLst/>
          </a:prstGeom>
          <a:noFill/>
        </p:spPr>
        <p:txBody>
          <a:bodyPr wrap="square" lIns="0" rIns="0" tIns="0" bIns="0" anchor="t"/>
          <a:lstStyle/>
          <a:p>
            <a:pPr algn="l">
              <a:lnSpc>
                <a:spcPct val="100000"/>
              </a:lnSpc>
            </a:pPr>
            <a:r>
              <a:rPr sz="860" b="1" i="0">
                <a:solidFill>
                  <a:srgbClr val="1F5941"/>
                </a:solidFill>
                <a:latin typeface="Consolas"/>
                <a:ea typeface="Consolas"/>
                <a:cs typeface="Consolas"/>
              </a:rPr>
              <a:t>storage engine : IndexedDB v1</a:t>
            </a:r>
          </a:p>
        </p:txBody>
      </p:sp>
      <p:sp>
        <p:nvSpPr>
          <p:cNvPr id="46" name="Rectangle 45"/>
          <p:cNvSpPr/>
          <p:nvPr/>
        </p:nvSpPr>
        <p:spPr>
          <a:xfrm>
            <a:off x="786384" y="5449824"/>
            <a:ext cx="10616184" cy="10972"/>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TextBox 46"/>
          <p:cNvSpPr txBox="1"/>
          <p:nvPr/>
        </p:nvSpPr>
        <p:spPr>
          <a:xfrm>
            <a:off x="786384" y="5559552"/>
            <a:ext cx="10616184" cy="548640"/>
          </a:xfrm>
          <a:prstGeom prst="rect">
            <a:avLst/>
          </a:prstGeom>
          <a:noFill/>
        </p:spPr>
        <p:txBody>
          <a:bodyPr wrap="square" lIns="0" rIns="0" tIns="0" bIns="0" anchor="t"/>
          <a:lstStyle/>
          <a:p>
            <a:pPr algn="l">
              <a:lnSpc>
                <a:spcPct val="116000"/>
              </a:lnSpc>
            </a:pPr>
            <a:r>
              <a:rPr sz="940" b="0" i="1">
                <a:solidFill>
                  <a:srgbClr val="5F776B"/>
                </a:solidFill>
                <a:latin typeface="Segoe UI"/>
                <a:ea typeface="Segoe UI"/>
                <a:cs typeface="Segoe UI"/>
              </a:rPr>
              <a:t>The repository interface is what makes this a plan rather than a rewrite: business rules already call IDataRepository, not a storage engine.</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10058400" y="-2834640"/>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286000" y="4206240"/>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4476902"/>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4993538"/>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SECURITY &amp; PRIVACY</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03  </a:t>
            </a:r>
            <a:r>
              <a:rPr sz="950" b="1" i="0" spc="140">
                <a:solidFill>
                  <a:srgbClr val="5F776B"/>
                </a:solidFill>
                <a:latin typeface="Segoe UI"/>
                <a:ea typeface="Segoe UI"/>
                <a:cs typeface="Segoe UI"/>
              </a:rPr>
              <a:t>BUILD</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Privacy by separation, not by promise</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21 / 26</a:t>
            </a:r>
          </a:p>
        </p:txBody>
      </p:sp>
      <p:grpSp>
        <p:nvGrpSpPr>
          <p:cNvPr id="14" name="!!privacy-1"/>
          <p:cNvGrpSpPr/>
          <p:nvPr/>
        </p:nvGrpSpPr>
        <p:grpSpPr>
          <a:xfrm>
            <a:off x="786384" y="1810512"/>
            <a:ext cx="5207508" cy="1536192"/>
            <a:chOff x="786384" y="1810512"/>
            <a:chExt cx="5207508" cy="1536192"/>
          </a:xfrm>
        </p:grpSpPr>
        <p:sp>
          <p:nvSpPr>
            <p:cNvPr id="15" name="Rounded Rectangle 14"/>
            <p:cNvSpPr/>
            <p:nvPr/>
          </p:nvSpPr>
          <p:spPr>
            <a:xfrm>
              <a:off x="786384" y="1810512"/>
              <a:ext cx="5207508" cy="1536192"/>
            </a:xfrm>
            <a:prstGeom prst="roundRect">
              <a:avLst>
                <a:gd name="adj" fmla="val 7142"/>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786384" y="1810512"/>
              <a:ext cx="45720" cy="1536192"/>
            </a:xfrm>
            <a:prstGeom prst="roundRect">
              <a:avLst>
                <a:gd name="adj" fmla="val 40000"/>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1042416" y="1993392"/>
              <a:ext cx="4750308" cy="274320"/>
            </a:xfrm>
            <a:prstGeom prst="rect">
              <a:avLst/>
            </a:prstGeom>
            <a:noFill/>
          </p:spPr>
          <p:txBody>
            <a:bodyPr wrap="square" lIns="0" rIns="0" tIns="0" bIns="0" anchor="t"/>
            <a:lstStyle/>
            <a:p>
              <a:pPr algn="l">
                <a:lnSpc>
                  <a:spcPct val="100000"/>
                </a:lnSpc>
              </a:pPr>
              <a:r>
                <a:rPr sz="1250" b="1" i="0">
                  <a:solidFill>
                    <a:srgbClr val="12211B"/>
                  </a:solidFill>
                  <a:latin typeface="Segoe UI"/>
                  <a:ea typeface="Segoe UI"/>
                  <a:cs typeface="Segoe UI"/>
                </a:rPr>
                <a:t>Minimum data</a:t>
              </a:r>
            </a:p>
          </p:txBody>
        </p:sp>
        <p:sp>
          <p:nvSpPr>
            <p:cNvPr id="18" name="TextBox 17"/>
            <p:cNvSpPr txBox="1"/>
            <p:nvPr/>
          </p:nvSpPr>
          <p:spPr>
            <a:xfrm>
              <a:off x="1042416" y="2322576"/>
              <a:ext cx="4750308" cy="868680"/>
            </a:xfrm>
            <a:prstGeom prst="rect">
              <a:avLst/>
            </a:prstGeom>
            <a:noFill/>
          </p:spPr>
          <p:txBody>
            <a:bodyPr wrap="square" lIns="0" rIns="0" tIns="0" bIns="0" anchor="t"/>
            <a:lstStyle/>
            <a:p>
              <a:pPr algn="l">
                <a:lnSpc>
                  <a:spcPct val="120000"/>
                </a:lnSpc>
              </a:pPr>
              <a:r>
                <a:rPr sz="960" b="0" i="0">
                  <a:solidFill>
                    <a:srgbClr val="557165"/>
                  </a:solidFill>
                  <a:latin typeface="Segoe UI"/>
                  <a:ea typeface="Segoe UI"/>
                  <a:cs typeface="Segoe UI"/>
                </a:rPr>
                <a:t>Name, trade and a token. No Aadhaar number, no bank details, no caste or address fields in the prototype at all.</a:t>
              </a:r>
            </a:p>
          </p:txBody>
        </p:sp>
      </p:grpSp>
      <p:grpSp>
        <p:nvGrpSpPr>
          <p:cNvPr id="19" name="!!privacy-2"/>
          <p:cNvGrpSpPr/>
          <p:nvPr/>
        </p:nvGrpSpPr>
        <p:grpSpPr>
          <a:xfrm>
            <a:off x="6195060" y="1810512"/>
            <a:ext cx="5207508" cy="1536192"/>
            <a:chOff x="6195060" y="1810512"/>
            <a:chExt cx="5207508" cy="1536192"/>
          </a:xfrm>
        </p:grpSpPr>
        <p:sp>
          <p:nvSpPr>
            <p:cNvPr id="20" name="Rounded Rectangle 19"/>
            <p:cNvSpPr/>
            <p:nvPr/>
          </p:nvSpPr>
          <p:spPr>
            <a:xfrm>
              <a:off x="6195060" y="1810512"/>
              <a:ext cx="5207508" cy="1536192"/>
            </a:xfrm>
            <a:prstGeom prst="roundRect">
              <a:avLst>
                <a:gd name="adj" fmla="val 7142"/>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ounded Rectangle 20"/>
            <p:cNvSpPr/>
            <p:nvPr/>
          </p:nvSpPr>
          <p:spPr>
            <a:xfrm>
              <a:off x="6195060" y="1810512"/>
              <a:ext cx="45720" cy="1536192"/>
            </a:xfrm>
            <a:prstGeom prst="roundRect">
              <a:avLst>
                <a:gd name="adj" fmla="val 40000"/>
              </a:avLst>
            </a:prstGeom>
            <a:solidFill>
              <a:srgbClr val="358B6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451092" y="1993392"/>
              <a:ext cx="4750308" cy="274320"/>
            </a:xfrm>
            <a:prstGeom prst="rect">
              <a:avLst/>
            </a:prstGeom>
            <a:noFill/>
          </p:spPr>
          <p:txBody>
            <a:bodyPr wrap="square" lIns="0" rIns="0" tIns="0" bIns="0" anchor="t"/>
            <a:lstStyle/>
            <a:p>
              <a:pPr algn="l">
                <a:lnSpc>
                  <a:spcPct val="100000"/>
                </a:lnSpc>
              </a:pPr>
              <a:r>
                <a:rPr sz="1250" b="1" i="0">
                  <a:solidFill>
                    <a:srgbClr val="12211B"/>
                  </a:solidFill>
                  <a:latin typeface="Segoe UI"/>
                  <a:ea typeface="Segoe UI"/>
                  <a:cs typeface="Segoe UI"/>
                </a:rPr>
                <a:t>Opaque token</a:t>
              </a:r>
            </a:p>
          </p:txBody>
        </p:sp>
        <p:sp>
          <p:nvSpPr>
            <p:cNvPr id="23" name="TextBox 22"/>
            <p:cNvSpPr txBox="1"/>
            <p:nvPr/>
          </p:nvSpPr>
          <p:spPr>
            <a:xfrm>
              <a:off x="6451092" y="2322576"/>
              <a:ext cx="4750308" cy="868680"/>
            </a:xfrm>
            <a:prstGeom prst="rect">
              <a:avLst/>
            </a:prstGeom>
            <a:noFill/>
          </p:spPr>
          <p:txBody>
            <a:bodyPr wrap="square" lIns="0" rIns="0" tIns="0" bIns="0" anchor="t"/>
            <a:lstStyle/>
            <a:p>
              <a:pPr algn="l">
                <a:lnSpc>
                  <a:spcPct val="120000"/>
                </a:lnSpc>
              </a:pPr>
              <a:r>
                <a:rPr sz="960" b="0" i="0">
                  <a:solidFill>
                    <a:srgbClr val="557165"/>
                  </a:solidFill>
                  <a:latin typeface="Segoe UI"/>
                  <a:ea typeface="Segoe UI"/>
                  <a:cs typeface="Segoe UI"/>
                </a:rPr>
                <a:t>The printed QR carries a reference that resolves to a record — not the worker's name or wage history.</a:t>
              </a:r>
            </a:p>
          </p:txBody>
        </p:sp>
      </p:grpSp>
      <p:grpSp>
        <p:nvGrpSpPr>
          <p:cNvPr id="24" name="!!privacy-3"/>
          <p:cNvGrpSpPr/>
          <p:nvPr/>
        </p:nvGrpSpPr>
        <p:grpSpPr>
          <a:xfrm>
            <a:off x="786384" y="3511296"/>
            <a:ext cx="5207508" cy="1536192"/>
            <a:chOff x="786384" y="3511296"/>
            <a:chExt cx="5207508" cy="1536192"/>
          </a:xfrm>
        </p:grpSpPr>
        <p:sp>
          <p:nvSpPr>
            <p:cNvPr id="25" name="Rounded Rectangle 24"/>
            <p:cNvSpPr/>
            <p:nvPr/>
          </p:nvSpPr>
          <p:spPr>
            <a:xfrm>
              <a:off x="786384" y="3511296"/>
              <a:ext cx="5207508" cy="1536192"/>
            </a:xfrm>
            <a:prstGeom prst="roundRect">
              <a:avLst>
                <a:gd name="adj" fmla="val 7142"/>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ounded Rectangle 25"/>
            <p:cNvSpPr/>
            <p:nvPr/>
          </p:nvSpPr>
          <p:spPr>
            <a:xfrm>
              <a:off x="786384" y="3511296"/>
              <a:ext cx="45720" cy="1536192"/>
            </a:xfrm>
            <a:prstGeom prst="roundRect">
              <a:avLst>
                <a:gd name="adj" fmla="val 40000"/>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6"/>
            <p:cNvSpPr txBox="1"/>
            <p:nvPr/>
          </p:nvSpPr>
          <p:spPr>
            <a:xfrm>
              <a:off x="1042416" y="3694176"/>
              <a:ext cx="4750308" cy="274320"/>
            </a:xfrm>
            <a:prstGeom prst="rect">
              <a:avLst/>
            </a:prstGeom>
            <a:noFill/>
          </p:spPr>
          <p:txBody>
            <a:bodyPr wrap="square" lIns="0" rIns="0" tIns="0" bIns="0" anchor="t"/>
            <a:lstStyle/>
            <a:p>
              <a:pPr algn="l">
                <a:lnSpc>
                  <a:spcPct val="100000"/>
                </a:lnSpc>
              </a:pPr>
              <a:r>
                <a:rPr sz="1250" b="1" i="0">
                  <a:solidFill>
                    <a:srgbClr val="12211B"/>
                  </a:solidFill>
                  <a:latin typeface="Segoe UI"/>
                  <a:ea typeface="Segoe UI"/>
                  <a:cs typeface="Segoe UI"/>
                </a:rPr>
                <a:t>Public and private split</a:t>
              </a:r>
            </a:p>
          </p:txBody>
        </p:sp>
        <p:sp>
          <p:nvSpPr>
            <p:cNvPr id="28" name="TextBox 27"/>
            <p:cNvSpPr txBox="1"/>
            <p:nvPr/>
          </p:nvSpPr>
          <p:spPr>
            <a:xfrm>
              <a:off x="1042416" y="4023360"/>
              <a:ext cx="4750308" cy="868680"/>
            </a:xfrm>
            <a:prstGeom prst="rect">
              <a:avLst/>
            </a:prstGeom>
            <a:noFill/>
          </p:spPr>
          <p:txBody>
            <a:bodyPr wrap="square" lIns="0" rIns="0" tIns="0" bIns="0" anchor="t"/>
            <a:lstStyle/>
            <a:p>
              <a:pPr algn="l">
                <a:lnSpc>
                  <a:spcPct val="120000"/>
                </a:lnSpc>
              </a:pPr>
              <a:r>
                <a:rPr sz="960" b="0" i="0">
                  <a:solidFill>
                    <a:srgbClr val="557165"/>
                  </a:solidFill>
                  <a:latin typeface="Segoe UI"/>
                  <a:ea typeface="Segoe UI"/>
                  <a:cs typeface="Segoe UI"/>
                </a:rPr>
                <a:t>The public verify page confirms a pass exists. Wage data needs an authenticated, authorised session.</a:t>
              </a:r>
            </a:p>
          </p:txBody>
        </p:sp>
      </p:grpSp>
      <p:grpSp>
        <p:nvGrpSpPr>
          <p:cNvPr id="29" name="!!privacy-4"/>
          <p:cNvGrpSpPr/>
          <p:nvPr/>
        </p:nvGrpSpPr>
        <p:grpSpPr>
          <a:xfrm>
            <a:off x="6195060" y="3511296"/>
            <a:ext cx="5207508" cy="1536192"/>
            <a:chOff x="6195060" y="3511296"/>
            <a:chExt cx="5207508" cy="1536192"/>
          </a:xfrm>
        </p:grpSpPr>
        <p:sp>
          <p:nvSpPr>
            <p:cNvPr id="30" name="Rounded Rectangle 29"/>
            <p:cNvSpPr/>
            <p:nvPr/>
          </p:nvSpPr>
          <p:spPr>
            <a:xfrm>
              <a:off x="6195060" y="3511296"/>
              <a:ext cx="5207508" cy="1536192"/>
            </a:xfrm>
            <a:prstGeom prst="roundRect">
              <a:avLst>
                <a:gd name="adj" fmla="val 7142"/>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Rounded Rectangle 30"/>
            <p:cNvSpPr/>
            <p:nvPr/>
          </p:nvSpPr>
          <p:spPr>
            <a:xfrm>
              <a:off x="6195060" y="3511296"/>
              <a:ext cx="45720" cy="1536192"/>
            </a:xfrm>
            <a:prstGeom prst="roundRect">
              <a:avLst>
                <a:gd name="adj" fmla="val 40000"/>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TextBox 31"/>
            <p:cNvSpPr txBox="1"/>
            <p:nvPr/>
          </p:nvSpPr>
          <p:spPr>
            <a:xfrm>
              <a:off x="6451092" y="3694176"/>
              <a:ext cx="4750308" cy="274320"/>
            </a:xfrm>
            <a:prstGeom prst="rect">
              <a:avLst/>
            </a:prstGeom>
            <a:noFill/>
          </p:spPr>
          <p:txBody>
            <a:bodyPr wrap="square" lIns="0" rIns="0" tIns="0" bIns="0" anchor="t"/>
            <a:lstStyle/>
            <a:p>
              <a:pPr algn="l">
                <a:lnSpc>
                  <a:spcPct val="100000"/>
                </a:lnSpc>
              </a:pPr>
              <a:r>
                <a:rPr sz="1250" b="1" i="0">
                  <a:solidFill>
                    <a:srgbClr val="12211B"/>
                  </a:solidFill>
                  <a:latin typeface="Segoe UI"/>
                  <a:ea typeface="Segoe UI"/>
                  <a:cs typeface="Segoe UI"/>
                </a:rPr>
                <a:t>Device trust is the ceiling</a:t>
              </a:r>
            </a:p>
          </p:txBody>
        </p:sp>
        <p:sp>
          <p:nvSpPr>
            <p:cNvPr id="33" name="TextBox 32"/>
            <p:cNvSpPr txBox="1"/>
            <p:nvPr/>
          </p:nvSpPr>
          <p:spPr>
            <a:xfrm>
              <a:off x="6451092" y="4023360"/>
              <a:ext cx="4750308" cy="868680"/>
            </a:xfrm>
            <a:prstGeom prst="rect">
              <a:avLst/>
            </a:prstGeom>
            <a:noFill/>
          </p:spPr>
          <p:txBody>
            <a:bodyPr wrap="square" lIns="0" rIns="0" tIns="0" bIns="0" anchor="t"/>
            <a:lstStyle/>
            <a:p>
              <a:pPr algn="l">
                <a:lnSpc>
                  <a:spcPct val="120000"/>
                </a:lnSpc>
              </a:pPr>
              <a:r>
                <a:rPr sz="960" b="0" i="0">
                  <a:solidFill>
                    <a:srgbClr val="557165"/>
                  </a:solidFill>
                  <a:latin typeface="Segoe UI"/>
                  <a:ea typeface="Segoe UI"/>
                  <a:cs typeface="Segoe UI"/>
                </a:rPr>
                <a:t>Anyone holding the device can read or edit browser storage. That limit is documented, not disguised.</a:t>
              </a:r>
            </a:p>
          </p:txBody>
        </p:sp>
      </p:grpSp>
      <p:sp>
        <p:nvSpPr>
          <p:cNvPr id="34" name="!!governance-band"/>
          <p:cNvSpPr/>
          <p:nvPr/>
        </p:nvSpPr>
        <p:spPr>
          <a:xfrm>
            <a:off x="786384" y="5230368"/>
            <a:ext cx="10616184" cy="822960"/>
          </a:xfrm>
          <a:prstGeom prst="roundRect">
            <a:avLst>
              <a:gd name="adj" fmla="val 11111"/>
            </a:avLst>
          </a:prstGeom>
          <a:solidFill>
            <a:srgbClr val="F8F4EA"/>
          </a:solidFill>
          <a:ln w="7620">
            <a:solidFill>
              <a:srgbClr val="E3D8C2"/>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TextBox 34"/>
          <p:cNvSpPr txBox="1"/>
          <p:nvPr/>
        </p:nvSpPr>
        <p:spPr>
          <a:xfrm>
            <a:off x="1042416" y="5340096"/>
            <a:ext cx="10104120" cy="640080"/>
          </a:xfrm>
          <a:prstGeom prst="rect">
            <a:avLst/>
          </a:prstGeom>
          <a:noFill/>
        </p:spPr>
        <p:txBody>
          <a:bodyPr wrap="square" lIns="0" rIns="0" tIns="0" bIns="0" anchor="t"/>
          <a:lstStyle/>
          <a:p>
            <a:pPr algn="l">
              <a:lnSpc>
                <a:spcPct val="118000"/>
              </a:lnSpc>
            </a:pPr>
            <a:r>
              <a:rPr sz="800" b="1" i="0" spc="140">
                <a:solidFill>
                  <a:srgbClr val="845321"/>
                </a:solidFill>
                <a:latin typeface="Segoe UI"/>
                <a:ea typeface="Segoe UI"/>
                <a:cs typeface="Segoe UI"/>
              </a:rPr>
              <a:t>DATA GOVERNANCE, STILL OPEN   </a:t>
            </a:r>
            <a:r>
              <a:rPr sz="919" b="0" i="0">
                <a:solidFill>
                  <a:srgbClr val="33483F"/>
                </a:solidFill>
                <a:latin typeface="Segoe UI"/>
                <a:ea typeface="Segoe UI"/>
                <a:cs typeface="Segoe UI"/>
              </a:rPr>
              <a:t>Versioned export and import, retention policy and recovery procedure are specified as future work. The project makes no compliance claim under any data-protection statute — that needs legal review of a real deployment.</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052560" y="-2578608"/>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834640" y="4526279"/>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4700747"/>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5217383"/>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VERIFICATION</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03  </a:t>
            </a:r>
            <a:r>
              <a:rPr sz="950" b="1" i="0" spc="140">
                <a:solidFill>
                  <a:srgbClr val="5F776B"/>
                </a:solidFill>
                <a:latin typeface="Segoe UI"/>
                <a:ea typeface="Segoe UI"/>
                <a:cs typeface="Segoe UI"/>
              </a:rPr>
              <a:t>BUILD</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Thirty-nine assertions, honestly reported</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22 / 26</a:t>
            </a:r>
          </a:p>
        </p:txBody>
      </p:sp>
      <p:sp>
        <p:nvSpPr>
          <p:cNvPr id="14" name="!!test-stat"/>
          <p:cNvSpPr/>
          <p:nvPr/>
        </p:nvSpPr>
        <p:spPr>
          <a:xfrm>
            <a:off x="786384" y="1792224"/>
            <a:ext cx="3127248" cy="3877056"/>
          </a:xfrm>
          <a:prstGeom prst="roundRect">
            <a:avLst>
              <a:gd name="adj" fmla="val 4093"/>
            </a:avLst>
          </a:prstGeom>
          <a:solidFill>
            <a:srgbClr val="0A2219"/>
          </a:solidFill>
          <a:ln>
            <a:noFill/>
          </a:ln>
          <a:effectLst>
            <a:outerShdw blurRad="228600" dist="76200" dir="5400000" rotWithShape="0">
              <a:srgbClr val="0A2219">
                <a:alpha val="16000"/>
              </a:srgbClr>
            </a:outerShdw>
          </a:effectLst>
          <a:sp3d>
            <a:bevelT w="20320" h="2032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1060704" y="1956816"/>
            <a:ext cx="2651760" cy="219456"/>
          </a:xfrm>
          <a:prstGeom prst="rect">
            <a:avLst/>
          </a:prstGeom>
          <a:noFill/>
        </p:spPr>
        <p:txBody>
          <a:bodyPr wrap="square" lIns="0" rIns="0" tIns="0" bIns="0" anchor="t"/>
          <a:lstStyle/>
          <a:p>
            <a:pPr algn="l">
              <a:lnSpc>
                <a:spcPct val="100000"/>
              </a:lnSpc>
            </a:pPr>
            <a:r>
              <a:rPr sz="760" b="1" i="0" spc="140">
                <a:solidFill>
                  <a:srgbClr val="E5C068"/>
                </a:solidFill>
                <a:latin typeface="Segoe UI"/>
                <a:ea typeface="Segoe UI"/>
                <a:cs typeface="Segoe UI"/>
              </a:rPr>
              <a:t>REPORTED RESULT</a:t>
            </a:r>
          </a:p>
        </p:txBody>
      </p:sp>
      <p:sp>
        <p:nvSpPr>
          <p:cNvPr id="16" name="TextBox 15"/>
          <p:cNvSpPr txBox="1"/>
          <p:nvPr/>
        </p:nvSpPr>
        <p:spPr>
          <a:xfrm>
            <a:off x="1060704" y="2231136"/>
            <a:ext cx="2651760" cy="914400"/>
          </a:xfrm>
          <a:prstGeom prst="rect">
            <a:avLst/>
          </a:prstGeom>
          <a:noFill/>
        </p:spPr>
        <p:txBody>
          <a:bodyPr wrap="square" lIns="0" rIns="0" tIns="0" bIns="0" anchor="t"/>
          <a:lstStyle/>
          <a:p>
            <a:pPr algn="l">
              <a:lnSpc>
                <a:spcPct val="90000"/>
              </a:lnSpc>
            </a:pPr>
            <a:r>
              <a:rPr sz="6400" b="1" i="0">
                <a:solidFill>
                  <a:srgbClr val="FFFFFF"/>
                </a:solidFill>
                <a:latin typeface="Georgia"/>
                <a:ea typeface="Georgia"/>
                <a:cs typeface="Georgia"/>
              </a:rPr>
              <a:t>39</a:t>
            </a:r>
          </a:p>
        </p:txBody>
      </p:sp>
      <p:sp>
        <p:nvSpPr>
          <p:cNvPr id="17" name="TextBox 16"/>
          <p:cNvSpPr txBox="1"/>
          <p:nvPr/>
        </p:nvSpPr>
        <p:spPr>
          <a:xfrm>
            <a:off x="1060704" y="3200400"/>
            <a:ext cx="2651760" cy="457200"/>
          </a:xfrm>
          <a:prstGeom prst="rect">
            <a:avLst/>
          </a:prstGeom>
          <a:noFill/>
        </p:spPr>
        <p:txBody>
          <a:bodyPr wrap="square" lIns="0" rIns="0" tIns="0" bIns="0" anchor="t"/>
          <a:lstStyle/>
          <a:p>
            <a:pPr algn="l">
              <a:lnSpc>
                <a:spcPct val="120000"/>
              </a:lnSpc>
              <a:spcAft>
                <a:spcPts val="0"/>
              </a:spcAft>
            </a:pPr>
            <a:r>
              <a:rPr sz="1050" b="0" i="0">
                <a:solidFill>
                  <a:srgbClr val="BADFCA"/>
                </a:solidFill>
                <a:latin typeface="Segoe UI"/>
                <a:ea typeface="Segoe UI"/>
                <a:cs typeface="Segoe UI"/>
              </a:rPr>
              <a:t>assertions across</a:t>
            </a:r>
          </a:p>
          <a:p>
            <a:pPr algn="l">
              <a:lnSpc>
                <a:spcPct val="120000"/>
              </a:lnSpc>
            </a:pPr>
            <a:r>
              <a:rPr sz="1050" b="0" i="0">
                <a:solidFill>
                  <a:srgbClr val="BADFCA"/>
                </a:solidFill>
                <a:latin typeface="Segoe UI"/>
                <a:ea typeface="Segoe UI"/>
                <a:cs typeface="Segoe UI"/>
              </a:rPr>
              <a:t>four automated suites</a:t>
            </a:r>
          </a:p>
        </p:txBody>
      </p:sp>
      <p:sp>
        <p:nvSpPr>
          <p:cNvPr id="18" name="Rectangle 17"/>
          <p:cNvSpPr/>
          <p:nvPr/>
        </p:nvSpPr>
        <p:spPr>
          <a:xfrm>
            <a:off x="1060704" y="3767328"/>
            <a:ext cx="2578608" cy="10972"/>
          </a:xfrm>
          <a:prstGeom prst="rect">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1060704" y="3913632"/>
            <a:ext cx="1783080" cy="219456"/>
          </a:xfrm>
          <a:prstGeom prst="rect">
            <a:avLst/>
          </a:prstGeom>
          <a:noFill/>
        </p:spPr>
        <p:txBody>
          <a:bodyPr wrap="square" lIns="0" rIns="0" tIns="0" bIns="0" anchor="t"/>
          <a:lstStyle/>
          <a:p>
            <a:pPr algn="l">
              <a:lnSpc>
                <a:spcPct val="100000"/>
              </a:lnSpc>
            </a:pPr>
            <a:r>
              <a:rPr sz="860" b="0" i="0">
                <a:solidFill>
                  <a:srgbClr val="8BC7A6"/>
                </a:solidFill>
                <a:latin typeface="Segoe UI"/>
                <a:ea typeface="Segoe UI"/>
                <a:cs typeface="Segoe UI"/>
              </a:rPr>
              <a:t>TypeScript errors</a:t>
            </a:r>
          </a:p>
        </p:txBody>
      </p:sp>
      <p:sp>
        <p:nvSpPr>
          <p:cNvPr id="20" name="TextBox 19"/>
          <p:cNvSpPr txBox="1"/>
          <p:nvPr/>
        </p:nvSpPr>
        <p:spPr>
          <a:xfrm>
            <a:off x="2660903" y="3913632"/>
            <a:ext cx="960120" cy="219456"/>
          </a:xfrm>
          <a:prstGeom prst="rect">
            <a:avLst/>
          </a:prstGeom>
          <a:noFill/>
        </p:spPr>
        <p:txBody>
          <a:bodyPr wrap="square" lIns="0" rIns="0" tIns="0" bIns="0" anchor="t"/>
          <a:lstStyle/>
          <a:p>
            <a:pPr algn="r">
              <a:lnSpc>
                <a:spcPct val="100000"/>
              </a:lnSpc>
            </a:pPr>
            <a:r>
              <a:rPr sz="900" b="1" i="0">
                <a:solidFill>
                  <a:srgbClr val="F0D99B"/>
                </a:solidFill>
                <a:latin typeface="Consolas"/>
                <a:ea typeface="Consolas"/>
                <a:cs typeface="Consolas"/>
              </a:rPr>
              <a:t>0</a:t>
            </a:r>
          </a:p>
        </p:txBody>
      </p:sp>
      <p:sp>
        <p:nvSpPr>
          <p:cNvPr id="21" name="TextBox 20"/>
          <p:cNvSpPr txBox="1"/>
          <p:nvPr/>
        </p:nvSpPr>
        <p:spPr>
          <a:xfrm>
            <a:off x="1060704" y="4315968"/>
            <a:ext cx="1783080" cy="219456"/>
          </a:xfrm>
          <a:prstGeom prst="rect">
            <a:avLst/>
          </a:prstGeom>
          <a:noFill/>
        </p:spPr>
        <p:txBody>
          <a:bodyPr wrap="square" lIns="0" rIns="0" tIns="0" bIns="0" anchor="t"/>
          <a:lstStyle/>
          <a:p>
            <a:pPr algn="l">
              <a:lnSpc>
                <a:spcPct val="100000"/>
              </a:lnSpc>
            </a:pPr>
            <a:r>
              <a:rPr sz="860" b="0" i="0">
                <a:solidFill>
                  <a:srgbClr val="8BC7A6"/>
                </a:solidFill>
                <a:latin typeface="Segoe UI"/>
                <a:ea typeface="Segoe UI"/>
                <a:cs typeface="Segoe UI"/>
              </a:rPr>
              <a:t>Production build</a:t>
            </a:r>
          </a:p>
        </p:txBody>
      </p:sp>
      <p:sp>
        <p:nvSpPr>
          <p:cNvPr id="22" name="TextBox 21"/>
          <p:cNvSpPr txBox="1"/>
          <p:nvPr/>
        </p:nvSpPr>
        <p:spPr>
          <a:xfrm>
            <a:off x="2660903" y="4315968"/>
            <a:ext cx="960120" cy="219456"/>
          </a:xfrm>
          <a:prstGeom prst="rect">
            <a:avLst/>
          </a:prstGeom>
          <a:noFill/>
        </p:spPr>
        <p:txBody>
          <a:bodyPr wrap="square" lIns="0" rIns="0" tIns="0" bIns="0" anchor="t"/>
          <a:lstStyle/>
          <a:p>
            <a:pPr algn="r">
              <a:lnSpc>
                <a:spcPct val="100000"/>
              </a:lnSpc>
            </a:pPr>
            <a:r>
              <a:rPr sz="900" b="1" i="0">
                <a:solidFill>
                  <a:srgbClr val="F0D99B"/>
                </a:solidFill>
                <a:latin typeface="Consolas"/>
                <a:ea typeface="Consolas"/>
                <a:cs typeface="Consolas"/>
              </a:rPr>
              <a:t>clean</a:t>
            </a:r>
          </a:p>
        </p:txBody>
      </p:sp>
      <p:sp>
        <p:nvSpPr>
          <p:cNvPr id="23" name="TextBox 22"/>
          <p:cNvSpPr txBox="1"/>
          <p:nvPr/>
        </p:nvSpPr>
        <p:spPr>
          <a:xfrm>
            <a:off x="1060704" y="4718304"/>
            <a:ext cx="1783080" cy="219456"/>
          </a:xfrm>
          <a:prstGeom prst="rect">
            <a:avLst/>
          </a:prstGeom>
          <a:noFill/>
        </p:spPr>
        <p:txBody>
          <a:bodyPr wrap="square" lIns="0" rIns="0" tIns="0" bIns="0" anchor="t"/>
          <a:lstStyle/>
          <a:p>
            <a:pPr algn="l">
              <a:lnSpc>
                <a:spcPct val="100000"/>
              </a:lnSpc>
            </a:pPr>
            <a:r>
              <a:rPr sz="860" b="0" i="0">
                <a:solidFill>
                  <a:srgbClr val="8BC7A6"/>
                </a:solidFill>
                <a:latin typeface="Segoe UI"/>
                <a:ea typeface="Segoe UI"/>
                <a:cs typeface="Segoe UI"/>
              </a:rPr>
              <a:t>Seeded ledger blocks</a:t>
            </a:r>
          </a:p>
        </p:txBody>
      </p:sp>
      <p:sp>
        <p:nvSpPr>
          <p:cNvPr id="24" name="TextBox 23"/>
          <p:cNvSpPr txBox="1"/>
          <p:nvPr/>
        </p:nvSpPr>
        <p:spPr>
          <a:xfrm>
            <a:off x="2660903" y="4718304"/>
            <a:ext cx="960120" cy="219456"/>
          </a:xfrm>
          <a:prstGeom prst="rect">
            <a:avLst/>
          </a:prstGeom>
          <a:noFill/>
        </p:spPr>
        <p:txBody>
          <a:bodyPr wrap="square" lIns="0" rIns="0" tIns="0" bIns="0" anchor="t"/>
          <a:lstStyle/>
          <a:p>
            <a:pPr algn="r">
              <a:lnSpc>
                <a:spcPct val="100000"/>
              </a:lnSpc>
            </a:pPr>
            <a:r>
              <a:rPr sz="900" b="1" i="0">
                <a:solidFill>
                  <a:srgbClr val="F0D99B"/>
                </a:solidFill>
                <a:latin typeface="Consolas"/>
                <a:ea typeface="Consolas"/>
                <a:cs typeface="Consolas"/>
              </a:rPr>
              <a:t>8</a:t>
            </a:r>
          </a:p>
        </p:txBody>
      </p:sp>
      <p:sp>
        <p:nvSpPr>
          <p:cNvPr id="25" name="TextBox 24"/>
          <p:cNvSpPr txBox="1"/>
          <p:nvPr/>
        </p:nvSpPr>
        <p:spPr>
          <a:xfrm>
            <a:off x="1060704" y="5120640"/>
            <a:ext cx="1783080" cy="219456"/>
          </a:xfrm>
          <a:prstGeom prst="rect">
            <a:avLst/>
          </a:prstGeom>
          <a:noFill/>
        </p:spPr>
        <p:txBody>
          <a:bodyPr wrap="square" lIns="0" rIns="0" tIns="0" bIns="0" anchor="t"/>
          <a:lstStyle/>
          <a:p>
            <a:pPr algn="l">
              <a:lnSpc>
                <a:spcPct val="100000"/>
              </a:lnSpc>
            </a:pPr>
            <a:r>
              <a:rPr sz="860" b="0" i="0">
                <a:solidFill>
                  <a:srgbClr val="8BC7A6"/>
                </a:solidFill>
                <a:latin typeface="Segoe UI"/>
                <a:ea typeface="Segoe UI"/>
                <a:cs typeface="Segoe UI"/>
              </a:rPr>
              <a:t>Synthetic workers</a:t>
            </a:r>
          </a:p>
        </p:txBody>
      </p:sp>
      <p:sp>
        <p:nvSpPr>
          <p:cNvPr id="26" name="TextBox 25"/>
          <p:cNvSpPr txBox="1"/>
          <p:nvPr/>
        </p:nvSpPr>
        <p:spPr>
          <a:xfrm>
            <a:off x="2660903" y="5120640"/>
            <a:ext cx="960120" cy="219456"/>
          </a:xfrm>
          <a:prstGeom prst="rect">
            <a:avLst/>
          </a:prstGeom>
          <a:noFill/>
        </p:spPr>
        <p:txBody>
          <a:bodyPr wrap="square" lIns="0" rIns="0" tIns="0" bIns="0" anchor="t"/>
          <a:lstStyle/>
          <a:p>
            <a:pPr algn="r">
              <a:lnSpc>
                <a:spcPct val="100000"/>
              </a:lnSpc>
            </a:pPr>
            <a:r>
              <a:rPr sz="900" b="1" i="0">
                <a:solidFill>
                  <a:srgbClr val="F0D99B"/>
                </a:solidFill>
                <a:latin typeface="Consolas"/>
                <a:ea typeface="Consolas"/>
                <a:cs typeface="Consolas"/>
              </a:rPr>
              <a:t>4</a:t>
            </a:r>
          </a:p>
        </p:txBody>
      </p:sp>
      <p:grpSp>
        <p:nvGrpSpPr>
          <p:cNvPr id="27" name="!!testrow-1"/>
          <p:cNvGrpSpPr/>
          <p:nvPr/>
        </p:nvGrpSpPr>
        <p:grpSpPr>
          <a:xfrm>
            <a:off x="4160520" y="1792224"/>
            <a:ext cx="7242048" cy="530352"/>
            <a:chOff x="4160520" y="1792224"/>
            <a:chExt cx="7242048" cy="530352"/>
          </a:xfrm>
        </p:grpSpPr>
        <p:sp>
          <p:nvSpPr>
            <p:cNvPr id="28" name="Rounded Rectangle 27"/>
            <p:cNvSpPr/>
            <p:nvPr/>
          </p:nvSpPr>
          <p:spPr>
            <a:xfrm>
              <a:off x="4160520" y="1792224"/>
              <a:ext cx="7242048" cy="530352"/>
            </a:xfrm>
            <a:prstGeom prst="roundRect">
              <a:avLst>
                <a:gd name="adj" fmla="val 10344"/>
              </a:avLst>
            </a:prstGeom>
            <a:solidFill>
              <a:srgbClr val="FFFFFF"/>
            </a:solidFill>
            <a:ln w="6350">
              <a:solidFill>
                <a:srgbClr val="F0E9D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Rounded Rectangle 28"/>
            <p:cNvSpPr/>
            <p:nvPr/>
          </p:nvSpPr>
          <p:spPr>
            <a:xfrm>
              <a:off x="4288536" y="1947672"/>
              <a:ext cx="658368" cy="219456"/>
            </a:xfrm>
            <a:prstGeom prst="roundRect">
              <a:avLst>
                <a:gd name="adj" fmla="val 50000"/>
              </a:avLst>
            </a:prstGeom>
            <a:solidFill>
              <a:srgbClr val="DCEFE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1B4936"/>
                  </a:solidFill>
                  <a:latin typeface="Segoe UI"/>
                  <a:ea typeface="Segoe UI"/>
                  <a:cs typeface="Segoe UI"/>
                </a:rPr>
                <a:t>PASS</a:t>
              </a:r>
            </a:p>
          </p:txBody>
        </p:sp>
        <p:sp>
          <p:nvSpPr>
            <p:cNvPr id="30" name="TextBox 29"/>
            <p:cNvSpPr txBox="1"/>
            <p:nvPr/>
          </p:nvSpPr>
          <p:spPr>
            <a:xfrm>
              <a:off x="5074920" y="1938528"/>
              <a:ext cx="3108960" cy="237744"/>
            </a:xfrm>
            <a:prstGeom prst="rect">
              <a:avLst/>
            </a:prstGeom>
            <a:noFill/>
          </p:spPr>
          <p:txBody>
            <a:bodyPr wrap="square" lIns="0" rIns="0" tIns="0" bIns="0" anchor="t"/>
            <a:lstStyle/>
            <a:p>
              <a:pPr algn="l">
                <a:lnSpc>
                  <a:spcPct val="100000"/>
                </a:lnSpc>
              </a:pPr>
              <a:r>
                <a:rPr sz="980" b="1" i="0">
                  <a:solidFill>
                    <a:srgbClr val="12211B"/>
                  </a:solidFill>
                  <a:latin typeface="Segoe UI"/>
                  <a:ea typeface="Segoe UI"/>
                  <a:cs typeface="Segoe UI"/>
                </a:rPr>
                <a:t>Audit &amp; ledger integrity</a:t>
              </a:r>
            </a:p>
          </p:txBody>
        </p:sp>
        <p:sp>
          <p:nvSpPr>
            <p:cNvPr id="31" name="TextBox 30"/>
            <p:cNvSpPr txBox="1"/>
            <p:nvPr/>
          </p:nvSpPr>
          <p:spPr>
            <a:xfrm>
              <a:off x="8183879" y="1938528"/>
              <a:ext cx="3108960" cy="237744"/>
            </a:xfrm>
            <a:prstGeom prst="rect">
              <a:avLst/>
            </a:prstGeom>
            <a:noFill/>
          </p:spPr>
          <p:txBody>
            <a:bodyPr wrap="square" lIns="0" rIns="0" tIns="0" bIns="0" anchor="t"/>
            <a:lstStyle/>
            <a:p>
              <a:pPr algn="l">
                <a:lnSpc>
                  <a:spcPct val="100000"/>
                </a:lnSpc>
              </a:pPr>
              <a:r>
                <a:rPr sz="780" b="0" i="0">
                  <a:solidFill>
                    <a:srgbClr val="5F776B"/>
                  </a:solidFill>
                  <a:latin typeface="Consolas"/>
                  <a:ea typeface="Consolas"/>
                  <a:cs typeface="Consolas"/>
                </a:rPr>
                <a:t>test-audit-ledger</a:t>
              </a:r>
            </a:p>
          </p:txBody>
        </p:sp>
        <p:sp>
          <p:nvSpPr>
            <p:cNvPr id="32" name="TextBox 31"/>
            <p:cNvSpPr txBox="1"/>
            <p:nvPr/>
          </p:nvSpPr>
          <p:spPr>
            <a:xfrm>
              <a:off x="10332720" y="1920240"/>
              <a:ext cx="914400" cy="256032"/>
            </a:xfrm>
            <a:prstGeom prst="rect">
              <a:avLst/>
            </a:prstGeom>
            <a:noFill/>
          </p:spPr>
          <p:txBody>
            <a:bodyPr wrap="square" lIns="0" rIns="0" tIns="0" bIns="0" anchor="t"/>
            <a:lstStyle/>
            <a:p>
              <a:pPr algn="r">
                <a:lnSpc>
                  <a:spcPct val="100000"/>
                </a:lnSpc>
              </a:pPr>
              <a:r>
                <a:rPr sz="960" b="1" i="0">
                  <a:solidFill>
                    <a:srgbClr val="1F5941"/>
                  </a:solidFill>
                  <a:latin typeface="Consolas"/>
                  <a:ea typeface="Consolas"/>
                  <a:cs typeface="Consolas"/>
                </a:rPr>
                <a:t>23 / 23</a:t>
              </a:r>
            </a:p>
          </p:txBody>
        </p:sp>
      </p:grpSp>
      <p:grpSp>
        <p:nvGrpSpPr>
          <p:cNvPr id="33" name="!!testrow-2"/>
          <p:cNvGrpSpPr/>
          <p:nvPr/>
        </p:nvGrpSpPr>
        <p:grpSpPr>
          <a:xfrm>
            <a:off x="4160520" y="2395728"/>
            <a:ext cx="7242048" cy="530352"/>
            <a:chOff x="4160520" y="2395728"/>
            <a:chExt cx="7242048" cy="530352"/>
          </a:xfrm>
        </p:grpSpPr>
        <p:sp>
          <p:nvSpPr>
            <p:cNvPr id="34" name="Rounded Rectangle 33"/>
            <p:cNvSpPr/>
            <p:nvPr/>
          </p:nvSpPr>
          <p:spPr>
            <a:xfrm>
              <a:off x="4160520" y="2395728"/>
              <a:ext cx="7242048" cy="530352"/>
            </a:xfrm>
            <a:prstGeom prst="roundRect">
              <a:avLst>
                <a:gd name="adj" fmla="val 10344"/>
              </a:avLst>
            </a:prstGeom>
            <a:noFill/>
            <a:ln w="6350">
              <a:solidFill>
                <a:srgbClr val="F0E9D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Rounded Rectangle 34"/>
            <p:cNvSpPr/>
            <p:nvPr/>
          </p:nvSpPr>
          <p:spPr>
            <a:xfrm>
              <a:off x="4288536" y="2551176"/>
              <a:ext cx="658368" cy="219456"/>
            </a:xfrm>
            <a:prstGeom prst="roundRect">
              <a:avLst>
                <a:gd name="adj" fmla="val 50000"/>
              </a:avLst>
            </a:prstGeom>
            <a:solidFill>
              <a:srgbClr val="DCEFE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1B4936"/>
                  </a:solidFill>
                  <a:latin typeface="Segoe UI"/>
                  <a:ea typeface="Segoe UI"/>
                  <a:cs typeface="Segoe UI"/>
                </a:rPr>
                <a:t>PASS</a:t>
              </a:r>
            </a:p>
          </p:txBody>
        </p:sp>
        <p:sp>
          <p:nvSpPr>
            <p:cNvPr id="36" name="TextBox 35"/>
            <p:cNvSpPr txBox="1"/>
            <p:nvPr/>
          </p:nvSpPr>
          <p:spPr>
            <a:xfrm>
              <a:off x="5074920" y="2542032"/>
              <a:ext cx="3108960" cy="237744"/>
            </a:xfrm>
            <a:prstGeom prst="rect">
              <a:avLst/>
            </a:prstGeom>
            <a:noFill/>
          </p:spPr>
          <p:txBody>
            <a:bodyPr wrap="square" lIns="0" rIns="0" tIns="0" bIns="0" anchor="t"/>
            <a:lstStyle/>
            <a:p>
              <a:pPr algn="l">
                <a:lnSpc>
                  <a:spcPct val="100000"/>
                </a:lnSpc>
              </a:pPr>
              <a:r>
                <a:rPr sz="980" b="1" i="0">
                  <a:solidFill>
                    <a:srgbClr val="12211B"/>
                  </a:solidFill>
                  <a:latin typeface="Segoe UI"/>
                  <a:ea typeface="Segoe UI"/>
                  <a:cs typeface="Segoe UI"/>
                </a:rPr>
                <a:t>IndexedDB &amp; repository</a:t>
              </a:r>
            </a:p>
          </p:txBody>
        </p:sp>
        <p:sp>
          <p:nvSpPr>
            <p:cNvPr id="37" name="TextBox 36"/>
            <p:cNvSpPr txBox="1"/>
            <p:nvPr/>
          </p:nvSpPr>
          <p:spPr>
            <a:xfrm>
              <a:off x="8183879" y="2542032"/>
              <a:ext cx="3108960" cy="237744"/>
            </a:xfrm>
            <a:prstGeom prst="rect">
              <a:avLst/>
            </a:prstGeom>
            <a:noFill/>
          </p:spPr>
          <p:txBody>
            <a:bodyPr wrap="square" lIns="0" rIns="0" tIns="0" bIns="0" anchor="t"/>
            <a:lstStyle/>
            <a:p>
              <a:pPr algn="l">
                <a:lnSpc>
                  <a:spcPct val="100000"/>
                </a:lnSpc>
              </a:pPr>
              <a:r>
                <a:rPr sz="780" b="0" i="0">
                  <a:solidFill>
                    <a:srgbClr val="5F776B"/>
                  </a:solidFill>
                  <a:latin typeface="Consolas"/>
                  <a:ea typeface="Consolas"/>
                  <a:cs typeface="Consolas"/>
                </a:rPr>
                <a:t>test-indexeddb-repository</a:t>
              </a:r>
            </a:p>
          </p:txBody>
        </p:sp>
        <p:sp>
          <p:nvSpPr>
            <p:cNvPr id="38" name="TextBox 37"/>
            <p:cNvSpPr txBox="1"/>
            <p:nvPr/>
          </p:nvSpPr>
          <p:spPr>
            <a:xfrm>
              <a:off x="10332720" y="2523744"/>
              <a:ext cx="914400" cy="256032"/>
            </a:xfrm>
            <a:prstGeom prst="rect">
              <a:avLst/>
            </a:prstGeom>
            <a:noFill/>
          </p:spPr>
          <p:txBody>
            <a:bodyPr wrap="square" lIns="0" rIns="0" tIns="0" bIns="0" anchor="t"/>
            <a:lstStyle/>
            <a:p>
              <a:pPr algn="r">
                <a:lnSpc>
                  <a:spcPct val="100000"/>
                </a:lnSpc>
              </a:pPr>
              <a:r>
                <a:rPr sz="960" b="1" i="0">
                  <a:solidFill>
                    <a:srgbClr val="1F5941"/>
                  </a:solidFill>
                  <a:latin typeface="Consolas"/>
                  <a:ea typeface="Consolas"/>
                  <a:cs typeface="Consolas"/>
                </a:rPr>
                <a:t>6 / 6</a:t>
              </a:r>
            </a:p>
          </p:txBody>
        </p:sp>
      </p:grpSp>
      <p:grpSp>
        <p:nvGrpSpPr>
          <p:cNvPr id="39" name="!!testrow-3"/>
          <p:cNvGrpSpPr/>
          <p:nvPr/>
        </p:nvGrpSpPr>
        <p:grpSpPr>
          <a:xfrm>
            <a:off x="4160520" y="2999232"/>
            <a:ext cx="7242048" cy="530352"/>
            <a:chOff x="4160520" y="2999232"/>
            <a:chExt cx="7242048" cy="530352"/>
          </a:xfrm>
        </p:grpSpPr>
        <p:sp>
          <p:nvSpPr>
            <p:cNvPr id="40" name="Rounded Rectangle 39"/>
            <p:cNvSpPr/>
            <p:nvPr/>
          </p:nvSpPr>
          <p:spPr>
            <a:xfrm>
              <a:off x="4160520" y="2999232"/>
              <a:ext cx="7242048" cy="530352"/>
            </a:xfrm>
            <a:prstGeom prst="roundRect">
              <a:avLst>
                <a:gd name="adj" fmla="val 10344"/>
              </a:avLst>
            </a:prstGeom>
            <a:solidFill>
              <a:srgbClr val="FFFFFF"/>
            </a:solidFill>
            <a:ln w="6350">
              <a:solidFill>
                <a:srgbClr val="F0E9D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Rounded Rectangle 40"/>
            <p:cNvSpPr/>
            <p:nvPr/>
          </p:nvSpPr>
          <p:spPr>
            <a:xfrm>
              <a:off x="4288536" y="3154680"/>
              <a:ext cx="658368" cy="219456"/>
            </a:xfrm>
            <a:prstGeom prst="roundRect">
              <a:avLst>
                <a:gd name="adj" fmla="val 50000"/>
              </a:avLst>
            </a:prstGeom>
            <a:solidFill>
              <a:srgbClr val="DCEFE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1B4936"/>
                  </a:solidFill>
                  <a:latin typeface="Segoe UI"/>
                  <a:ea typeface="Segoe UI"/>
                  <a:cs typeface="Segoe UI"/>
                </a:rPr>
                <a:t>PASS</a:t>
              </a:r>
            </a:p>
          </p:txBody>
        </p:sp>
        <p:sp>
          <p:nvSpPr>
            <p:cNvPr id="42" name="TextBox 41"/>
            <p:cNvSpPr txBox="1"/>
            <p:nvPr/>
          </p:nvSpPr>
          <p:spPr>
            <a:xfrm>
              <a:off x="5074920" y="3145536"/>
              <a:ext cx="3108960" cy="237744"/>
            </a:xfrm>
            <a:prstGeom prst="rect">
              <a:avLst/>
            </a:prstGeom>
            <a:noFill/>
          </p:spPr>
          <p:txBody>
            <a:bodyPr wrap="square" lIns="0" rIns="0" tIns="0" bIns="0" anchor="t"/>
            <a:lstStyle/>
            <a:p>
              <a:pPr algn="l">
                <a:lnSpc>
                  <a:spcPct val="100000"/>
                </a:lnSpc>
              </a:pPr>
              <a:r>
                <a:rPr sz="980" b="1" i="0">
                  <a:solidFill>
                    <a:srgbClr val="12211B"/>
                  </a:solidFill>
                  <a:latin typeface="Segoe UI"/>
                  <a:ea typeface="Segoe UI"/>
                  <a:cs typeface="Segoe UI"/>
                </a:rPr>
                <a:t>Supabase adapter &amp; migrations</a:t>
              </a:r>
            </a:p>
          </p:txBody>
        </p:sp>
        <p:sp>
          <p:nvSpPr>
            <p:cNvPr id="43" name="TextBox 42"/>
            <p:cNvSpPr txBox="1"/>
            <p:nvPr/>
          </p:nvSpPr>
          <p:spPr>
            <a:xfrm>
              <a:off x="8183879" y="3145536"/>
              <a:ext cx="3108960" cy="237744"/>
            </a:xfrm>
            <a:prstGeom prst="rect">
              <a:avLst/>
            </a:prstGeom>
            <a:noFill/>
          </p:spPr>
          <p:txBody>
            <a:bodyPr wrap="square" lIns="0" rIns="0" tIns="0" bIns="0" anchor="t"/>
            <a:lstStyle/>
            <a:p>
              <a:pPr algn="l">
                <a:lnSpc>
                  <a:spcPct val="100000"/>
                </a:lnSpc>
              </a:pPr>
              <a:r>
                <a:rPr sz="780" b="0" i="0">
                  <a:solidFill>
                    <a:srgbClr val="5F776B"/>
                  </a:solidFill>
                  <a:latin typeface="Consolas"/>
                  <a:ea typeface="Consolas"/>
                  <a:cs typeface="Consolas"/>
                </a:rPr>
                <a:t>test-supabase-adapter</a:t>
              </a:r>
            </a:p>
          </p:txBody>
        </p:sp>
        <p:sp>
          <p:nvSpPr>
            <p:cNvPr id="44" name="TextBox 43"/>
            <p:cNvSpPr txBox="1"/>
            <p:nvPr/>
          </p:nvSpPr>
          <p:spPr>
            <a:xfrm>
              <a:off x="10332720" y="3127248"/>
              <a:ext cx="914400" cy="256032"/>
            </a:xfrm>
            <a:prstGeom prst="rect">
              <a:avLst/>
            </a:prstGeom>
            <a:noFill/>
          </p:spPr>
          <p:txBody>
            <a:bodyPr wrap="square" lIns="0" rIns="0" tIns="0" bIns="0" anchor="t"/>
            <a:lstStyle/>
            <a:p>
              <a:pPr algn="r">
                <a:lnSpc>
                  <a:spcPct val="100000"/>
                </a:lnSpc>
              </a:pPr>
              <a:r>
                <a:rPr sz="960" b="1" i="0">
                  <a:solidFill>
                    <a:srgbClr val="1F5941"/>
                  </a:solidFill>
                  <a:latin typeface="Consolas"/>
                  <a:ea typeface="Consolas"/>
                  <a:cs typeface="Consolas"/>
                </a:rPr>
                <a:t>5 / 5</a:t>
              </a:r>
            </a:p>
          </p:txBody>
        </p:sp>
      </p:grpSp>
      <p:grpSp>
        <p:nvGrpSpPr>
          <p:cNvPr id="45" name="!!testrow-4"/>
          <p:cNvGrpSpPr/>
          <p:nvPr/>
        </p:nvGrpSpPr>
        <p:grpSpPr>
          <a:xfrm>
            <a:off x="4160520" y="3602736"/>
            <a:ext cx="7242048" cy="530352"/>
            <a:chOff x="4160520" y="3602736"/>
            <a:chExt cx="7242048" cy="530352"/>
          </a:xfrm>
        </p:grpSpPr>
        <p:sp>
          <p:nvSpPr>
            <p:cNvPr id="46" name="Rounded Rectangle 45"/>
            <p:cNvSpPr/>
            <p:nvPr/>
          </p:nvSpPr>
          <p:spPr>
            <a:xfrm>
              <a:off x="4160520" y="3602736"/>
              <a:ext cx="7242048" cy="530352"/>
            </a:xfrm>
            <a:prstGeom prst="roundRect">
              <a:avLst>
                <a:gd name="adj" fmla="val 10344"/>
              </a:avLst>
            </a:prstGeom>
            <a:noFill/>
            <a:ln w="6350">
              <a:solidFill>
                <a:srgbClr val="F0E9D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Rounded Rectangle 46"/>
            <p:cNvSpPr/>
            <p:nvPr/>
          </p:nvSpPr>
          <p:spPr>
            <a:xfrm>
              <a:off x="4288536" y="3758184"/>
              <a:ext cx="658368" cy="219456"/>
            </a:xfrm>
            <a:prstGeom prst="roundRect">
              <a:avLst>
                <a:gd name="adj" fmla="val 50000"/>
              </a:avLst>
            </a:prstGeom>
            <a:solidFill>
              <a:srgbClr val="DCEFE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1B4936"/>
                  </a:solidFill>
                  <a:latin typeface="Segoe UI"/>
                  <a:ea typeface="Segoe UI"/>
                  <a:cs typeface="Segoe UI"/>
                </a:rPr>
                <a:t>PASS</a:t>
              </a:r>
            </a:p>
          </p:txBody>
        </p:sp>
        <p:sp>
          <p:nvSpPr>
            <p:cNvPr id="48" name="TextBox 47"/>
            <p:cNvSpPr txBox="1"/>
            <p:nvPr/>
          </p:nvSpPr>
          <p:spPr>
            <a:xfrm>
              <a:off x="5074920" y="3749039"/>
              <a:ext cx="3108960" cy="237744"/>
            </a:xfrm>
            <a:prstGeom prst="rect">
              <a:avLst/>
            </a:prstGeom>
            <a:noFill/>
          </p:spPr>
          <p:txBody>
            <a:bodyPr wrap="square" lIns="0" rIns="0" tIns="0" bIns="0" anchor="t"/>
            <a:lstStyle/>
            <a:p>
              <a:pPr algn="l">
                <a:lnSpc>
                  <a:spcPct val="100000"/>
                </a:lnSpc>
              </a:pPr>
              <a:r>
                <a:rPr sz="980" b="1" i="0">
                  <a:solidFill>
                    <a:srgbClr val="12211B"/>
                  </a:solidFill>
                  <a:latin typeface="Segoe UI"/>
                  <a:ea typeface="Segoe UI"/>
                  <a:cs typeface="Segoe UI"/>
                </a:rPr>
                <a:t>Simulated approvals</a:t>
              </a:r>
            </a:p>
          </p:txBody>
        </p:sp>
        <p:sp>
          <p:nvSpPr>
            <p:cNvPr id="49" name="TextBox 48"/>
            <p:cNvSpPr txBox="1"/>
            <p:nvPr/>
          </p:nvSpPr>
          <p:spPr>
            <a:xfrm>
              <a:off x="8183879" y="3749039"/>
              <a:ext cx="3108960" cy="237744"/>
            </a:xfrm>
            <a:prstGeom prst="rect">
              <a:avLst/>
            </a:prstGeom>
            <a:noFill/>
          </p:spPr>
          <p:txBody>
            <a:bodyPr wrap="square" lIns="0" rIns="0" tIns="0" bIns="0" anchor="t"/>
            <a:lstStyle/>
            <a:p>
              <a:pPr algn="l">
                <a:lnSpc>
                  <a:spcPct val="100000"/>
                </a:lnSpc>
              </a:pPr>
              <a:r>
                <a:rPr sz="780" b="0" i="0">
                  <a:solidFill>
                    <a:srgbClr val="5F776B"/>
                  </a:solidFill>
                  <a:latin typeface="Consolas"/>
                  <a:ea typeface="Consolas"/>
                  <a:cs typeface="Consolas"/>
                </a:rPr>
                <a:t>test-approvals-simulation</a:t>
              </a:r>
            </a:p>
          </p:txBody>
        </p:sp>
        <p:sp>
          <p:nvSpPr>
            <p:cNvPr id="50" name="TextBox 49"/>
            <p:cNvSpPr txBox="1"/>
            <p:nvPr/>
          </p:nvSpPr>
          <p:spPr>
            <a:xfrm>
              <a:off x="10332720" y="3730752"/>
              <a:ext cx="914400" cy="256032"/>
            </a:xfrm>
            <a:prstGeom prst="rect">
              <a:avLst/>
            </a:prstGeom>
            <a:noFill/>
          </p:spPr>
          <p:txBody>
            <a:bodyPr wrap="square" lIns="0" rIns="0" tIns="0" bIns="0" anchor="t"/>
            <a:lstStyle/>
            <a:p>
              <a:pPr algn="r">
                <a:lnSpc>
                  <a:spcPct val="100000"/>
                </a:lnSpc>
              </a:pPr>
              <a:r>
                <a:rPr sz="960" b="1" i="0">
                  <a:solidFill>
                    <a:srgbClr val="1F5941"/>
                  </a:solidFill>
                  <a:latin typeface="Consolas"/>
                  <a:ea typeface="Consolas"/>
                  <a:cs typeface="Consolas"/>
                </a:rPr>
                <a:t>5 / 5</a:t>
              </a:r>
            </a:p>
          </p:txBody>
        </p:sp>
      </p:grpSp>
      <p:grpSp>
        <p:nvGrpSpPr>
          <p:cNvPr id="51" name="!!testrow-5"/>
          <p:cNvGrpSpPr/>
          <p:nvPr/>
        </p:nvGrpSpPr>
        <p:grpSpPr>
          <a:xfrm>
            <a:off x="4160520" y="4206240"/>
            <a:ext cx="7242048" cy="530352"/>
            <a:chOff x="4160520" y="4206240"/>
            <a:chExt cx="7242048" cy="530352"/>
          </a:xfrm>
        </p:grpSpPr>
        <p:sp>
          <p:nvSpPr>
            <p:cNvPr id="52" name="Rounded Rectangle 51"/>
            <p:cNvSpPr/>
            <p:nvPr/>
          </p:nvSpPr>
          <p:spPr>
            <a:xfrm>
              <a:off x="4160520" y="4206240"/>
              <a:ext cx="7242048" cy="530352"/>
            </a:xfrm>
            <a:prstGeom prst="roundRect">
              <a:avLst>
                <a:gd name="adj" fmla="val 10344"/>
              </a:avLst>
            </a:prstGeom>
            <a:solidFill>
              <a:srgbClr val="FFFFFF"/>
            </a:solidFill>
            <a:ln w="6350">
              <a:solidFill>
                <a:srgbClr val="F0E9D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3" name="Rounded Rectangle 52"/>
            <p:cNvSpPr/>
            <p:nvPr/>
          </p:nvSpPr>
          <p:spPr>
            <a:xfrm>
              <a:off x="4288536" y="4361688"/>
              <a:ext cx="658368" cy="219456"/>
            </a:xfrm>
            <a:prstGeom prst="roundRect">
              <a:avLst>
                <a:gd name="adj" fmla="val 50000"/>
              </a:avLst>
            </a:prstGeom>
            <a:solidFill>
              <a:srgbClr val="DCEFE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1B4936"/>
                  </a:solidFill>
                  <a:latin typeface="Segoe UI"/>
                  <a:ea typeface="Segoe UI"/>
                  <a:cs typeface="Segoe UI"/>
                </a:rPr>
                <a:t>PASS</a:t>
              </a:r>
            </a:p>
          </p:txBody>
        </p:sp>
        <p:sp>
          <p:nvSpPr>
            <p:cNvPr id="54" name="TextBox 53"/>
            <p:cNvSpPr txBox="1"/>
            <p:nvPr/>
          </p:nvSpPr>
          <p:spPr>
            <a:xfrm>
              <a:off x="5074920" y="4352544"/>
              <a:ext cx="3108960" cy="237744"/>
            </a:xfrm>
            <a:prstGeom prst="rect">
              <a:avLst/>
            </a:prstGeom>
            <a:noFill/>
          </p:spPr>
          <p:txBody>
            <a:bodyPr wrap="square" lIns="0" rIns="0" tIns="0" bIns="0" anchor="t"/>
            <a:lstStyle/>
            <a:p>
              <a:pPr algn="l">
                <a:lnSpc>
                  <a:spcPct val="100000"/>
                </a:lnSpc>
              </a:pPr>
              <a:r>
                <a:rPr sz="980" b="1" i="0">
                  <a:solidFill>
                    <a:srgbClr val="12211B"/>
                  </a:solidFill>
                  <a:latin typeface="Segoe UI"/>
                  <a:ea typeface="Segoe UI"/>
                  <a:cs typeface="Segoe UI"/>
                </a:rPr>
                <a:t>Type checking</a:t>
              </a:r>
            </a:p>
          </p:txBody>
        </p:sp>
        <p:sp>
          <p:nvSpPr>
            <p:cNvPr id="55" name="TextBox 54"/>
            <p:cNvSpPr txBox="1"/>
            <p:nvPr/>
          </p:nvSpPr>
          <p:spPr>
            <a:xfrm>
              <a:off x="8183879" y="4352544"/>
              <a:ext cx="3108960" cy="237744"/>
            </a:xfrm>
            <a:prstGeom prst="rect">
              <a:avLst/>
            </a:prstGeom>
            <a:noFill/>
          </p:spPr>
          <p:txBody>
            <a:bodyPr wrap="square" lIns="0" rIns="0" tIns="0" bIns="0" anchor="t"/>
            <a:lstStyle/>
            <a:p>
              <a:pPr algn="l">
                <a:lnSpc>
                  <a:spcPct val="100000"/>
                </a:lnSpc>
              </a:pPr>
              <a:r>
                <a:rPr sz="780" b="0" i="0">
                  <a:solidFill>
                    <a:srgbClr val="5F776B"/>
                  </a:solidFill>
                  <a:latin typeface="Consolas"/>
                  <a:ea typeface="Consolas"/>
                  <a:cs typeface="Consolas"/>
                </a:rPr>
                <a:t>npm run lint</a:t>
              </a:r>
            </a:p>
          </p:txBody>
        </p:sp>
        <p:sp>
          <p:nvSpPr>
            <p:cNvPr id="56" name="TextBox 55"/>
            <p:cNvSpPr txBox="1"/>
            <p:nvPr/>
          </p:nvSpPr>
          <p:spPr>
            <a:xfrm>
              <a:off x="10332720" y="4334255"/>
              <a:ext cx="914400" cy="256032"/>
            </a:xfrm>
            <a:prstGeom prst="rect">
              <a:avLst/>
            </a:prstGeom>
            <a:noFill/>
          </p:spPr>
          <p:txBody>
            <a:bodyPr wrap="square" lIns="0" rIns="0" tIns="0" bIns="0" anchor="t"/>
            <a:lstStyle/>
            <a:p>
              <a:pPr algn="r">
                <a:lnSpc>
                  <a:spcPct val="100000"/>
                </a:lnSpc>
              </a:pPr>
              <a:r>
                <a:rPr sz="960" b="1" i="0">
                  <a:solidFill>
                    <a:srgbClr val="1F5941"/>
                  </a:solidFill>
                  <a:latin typeface="Consolas"/>
                  <a:ea typeface="Consolas"/>
                  <a:cs typeface="Consolas"/>
                </a:rPr>
                <a:t>0 errors</a:t>
              </a:r>
            </a:p>
          </p:txBody>
        </p:sp>
      </p:grpSp>
      <p:grpSp>
        <p:nvGrpSpPr>
          <p:cNvPr id="57" name="!!testrow-6"/>
          <p:cNvGrpSpPr/>
          <p:nvPr/>
        </p:nvGrpSpPr>
        <p:grpSpPr>
          <a:xfrm>
            <a:off x="4160520" y="4809744"/>
            <a:ext cx="7242048" cy="530352"/>
            <a:chOff x="4160520" y="4809744"/>
            <a:chExt cx="7242048" cy="530352"/>
          </a:xfrm>
        </p:grpSpPr>
        <p:sp>
          <p:nvSpPr>
            <p:cNvPr id="58" name="Rounded Rectangle 57"/>
            <p:cNvSpPr/>
            <p:nvPr/>
          </p:nvSpPr>
          <p:spPr>
            <a:xfrm>
              <a:off x="4160520" y="4809744"/>
              <a:ext cx="7242048" cy="530352"/>
            </a:xfrm>
            <a:prstGeom prst="roundRect">
              <a:avLst>
                <a:gd name="adj" fmla="val 10344"/>
              </a:avLst>
            </a:prstGeom>
            <a:noFill/>
            <a:ln w="6350">
              <a:solidFill>
                <a:srgbClr val="F0E9D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9" name="Rounded Rectangle 58"/>
            <p:cNvSpPr/>
            <p:nvPr/>
          </p:nvSpPr>
          <p:spPr>
            <a:xfrm>
              <a:off x="4288536" y="4965192"/>
              <a:ext cx="658368" cy="219456"/>
            </a:xfrm>
            <a:prstGeom prst="roundRect">
              <a:avLst>
                <a:gd name="adj" fmla="val 50000"/>
              </a:avLst>
            </a:prstGeom>
            <a:solidFill>
              <a:srgbClr val="DCEFE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660" b="1" i="0" spc="100">
                  <a:solidFill>
                    <a:srgbClr val="1B4936"/>
                  </a:solidFill>
                  <a:latin typeface="Segoe UI"/>
                  <a:ea typeface="Segoe UI"/>
                  <a:cs typeface="Segoe UI"/>
                </a:rPr>
                <a:t>PASS</a:t>
              </a:r>
            </a:p>
          </p:txBody>
        </p:sp>
        <p:sp>
          <p:nvSpPr>
            <p:cNvPr id="60" name="TextBox 59"/>
            <p:cNvSpPr txBox="1"/>
            <p:nvPr/>
          </p:nvSpPr>
          <p:spPr>
            <a:xfrm>
              <a:off x="5074920" y="4956048"/>
              <a:ext cx="3108960" cy="237744"/>
            </a:xfrm>
            <a:prstGeom prst="rect">
              <a:avLst/>
            </a:prstGeom>
            <a:noFill/>
          </p:spPr>
          <p:txBody>
            <a:bodyPr wrap="square" lIns="0" rIns="0" tIns="0" bIns="0" anchor="t"/>
            <a:lstStyle/>
            <a:p>
              <a:pPr algn="l">
                <a:lnSpc>
                  <a:spcPct val="100000"/>
                </a:lnSpc>
              </a:pPr>
              <a:r>
                <a:rPr sz="980" b="1" i="0">
                  <a:solidFill>
                    <a:srgbClr val="12211B"/>
                  </a:solidFill>
                  <a:latin typeface="Segoe UI"/>
                  <a:ea typeface="Segoe UI"/>
                  <a:cs typeface="Segoe UI"/>
                </a:rPr>
                <a:t>Production build</a:t>
              </a:r>
            </a:p>
          </p:txBody>
        </p:sp>
        <p:sp>
          <p:nvSpPr>
            <p:cNvPr id="61" name="TextBox 60"/>
            <p:cNvSpPr txBox="1"/>
            <p:nvPr/>
          </p:nvSpPr>
          <p:spPr>
            <a:xfrm>
              <a:off x="8183879" y="4956048"/>
              <a:ext cx="3108960" cy="237744"/>
            </a:xfrm>
            <a:prstGeom prst="rect">
              <a:avLst/>
            </a:prstGeom>
            <a:noFill/>
          </p:spPr>
          <p:txBody>
            <a:bodyPr wrap="square" lIns="0" rIns="0" tIns="0" bIns="0" anchor="t"/>
            <a:lstStyle/>
            <a:p>
              <a:pPr algn="l">
                <a:lnSpc>
                  <a:spcPct val="100000"/>
                </a:lnSpc>
              </a:pPr>
              <a:r>
                <a:rPr sz="780" b="0" i="0">
                  <a:solidFill>
                    <a:srgbClr val="5F776B"/>
                  </a:solidFill>
                  <a:latin typeface="Consolas"/>
                  <a:ea typeface="Consolas"/>
                  <a:cs typeface="Consolas"/>
                </a:rPr>
                <a:t>npm run build</a:t>
              </a:r>
            </a:p>
          </p:txBody>
        </p:sp>
        <p:sp>
          <p:nvSpPr>
            <p:cNvPr id="62" name="TextBox 61"/>
            <p:cNvSpPr txBox="1"/>
            <p:nvPr/>
          </p:nvSpPr>
          <p:spPr>
            <a:xfrm>
              <a:off x="10332720" y="4937759"/>
              <a:ext cx="914400" cy="256032"/>
            </a:xfrm>
            <a:prstGeom prst="rect">
              <a:avLst/>
            </a:prstGeom>
            <a:noFill/>
          </p:spPr>
          <p:txBody>
            <a:bodyPr wrap="square" lIns="0" rIns="0" tIns="0" bIns="0" anchor="t"/>
            <a:lstStyle/>
            <a:p>
              <a:pPr algn="r">
                <a:lnSpc>
                  <a:spcPct val="100000"/>
                </a:lnSpc>
              </a:pPr>
              <a:r>
                <a:rPr sz="960" b="1" i="0">
                  <a:solidFill>
                    <a:srgbClr val="1F5941"/>
                  </a:solidFill>
                  <a:latin typeface="Consolas"/>
                  <a:ea typeface="Consolas"/>
                  <a:cs typeface="Consolas"/>
                </a:rPr>
                <a:t>clean</a:t>
              </a:r>
            </a:p>
          </p:txBody>
        </p:sp>
      </p:grpSp>
      <p:sp>
        <p:nvSpPr>
          <p:cNvPr id="63" name="!!honesty-band"/>
          <p:cNvSpPr/>
          <p:nvPr/>
        </p:nvSpPr>
        <p:spPr>
          <a:xfrm>
            <a:off x="786384" y="5797296"/>
            <a:ext cx="10616184" cy="384048"/>
          </a:xfrm>
          <a:prstGeom prst="roundRect">
            <a:avLst>
              <a:gd name="adj" fmla="val 14285"/>
            </a:avLst>
          </a:prstGeom>
          <a:solidFill>
            <a:srgbClr val="FAF0EC"/>
          </a:solidFill>
          <a:ln w="7620">
            <a:solidFill>
              <a:srgbClr val="F4E2D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4" name="TextBox 63"/>
          <p:cNvSpPr txBox="1"/>
          <p:nvPr/>
        </p:nvSpPr>
        <p:spPr>
          <a:xfrm>
            <a:off x="969264" y="5852160"/>
            <a:ext cx="10250424" cy="274320"/>
          </a:xfrm>
          <a:prstGeom prst="rect">
            <a:avLst/>
          </a:prstGeom>
          <a:noFill/>
        </p:spPr>
        <p:txBody>
          <a:bodyPr wrap="square" lIns="0" rIns="0" tIns="0" bIns="0" anchor="t"/>
          <a:lstStyle/>
          <a:p>
            <a:pPr algn="l">
              <a:lnSpc>
                <a:spcPct val="100000"/>
              </a:lnSpc>
            </a:pPr>
            <a:r>
              <a:rPr sz="760" b="1" i="0" spc="120">
                <a:solidFill>
                  <a:srgbClr val="B4482F"/>
                </a:solidFill>
                <a:latin typeface="Segoe UI"/>
                <a:ea typeface="Segoe UI"/>
                <a:cs typeface="Segoe UI"/>
              </a:rPr>
              <a:t>HONEST LINE  </a:t>
            </a:r>
            <a:r>
              <a:rPr sz="860" b="0" i="0">
                <a:solidFill>
                  <a:srgbClr val="33483F"/>
                </a:solidFill>
                <a:latin typeface="Segoe UI"/>
                <a:ea typeface="Segoe UI"/>
                <a:cs typeface="Segoe UI"/>
              </a:rPr>
              <a:t>These results are reported by the implementation team on synthetic data. They were not independently reproduced for the written report.</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9555480" y="-2322576"/>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560320" y="4206240"/>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4924592"/>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5441228"/>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COST</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03  </a:t>
            </a:r>
            <a:r>
              <a:rPr sz="950" b="1" i="0" spc="140">
                <a:solidFill>
                  <a:srgbClr val="5F776B"/>
                </a:solidFill>
                <a:latin typeface="Segoe UI"/>
                <a:ea typeface="Segoe UI"/>
                <a:cs typeface="Segoe UI"/>
              </a:rPr>
              <a:t>BUILD</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Zero hardware, near-zero marginal cost</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23 / 26</a:t>
            </a:r>
          </a:p>
        </p:txBody>
      </p:sp>
      <p:grpSp>
        <p:nvGrpSpPr>
          <p:cNvPr id="14" name="!!cost-1"/>
          <p:cNvGrpSpPr/>
          <p:nvPr/>
        </p:nvGrpSpPr>
        <p:grpSpPr>
          <a:xfrm>
            <a:off x="786384" y="1810512"/>
            <a:ext cx="3404616" cy="3703320"/>
            <a:chOff x="786384" y="1810512"/>
            <a:chExt cx="3404616" cy="3703320"/>
          </a:xfrm>
        </p:grpSpPr>
        <p:sp>
          <p:nvSpPr>
            <p:cNvPr id="15" name="Rounded Rectangle 14"/>
            <p:cNvSpPr/>
            <p:nvPr/>
          </p:nvSpPr>
          <p:spPr>
            <a:xfrm>
              <a:off x="786384" y="1810512"/>
              <a:ext cx="3404616" cy="3703320"/>
            </a:xfrm>
            <a:prstGeom prst="roundRect">
              <a:avLst>
                <a:gd name="adj" fmla="val 3760"/>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786384" y="1810512"/>
              <a:ext cx="3404616" cy="54864"/>
            </a:xfrm>
            <a:prstGeom prst="roundRect">
              <a:avLst>
                <a:gd name="adj" fmla="val 33333"/>
              </a:avLst>
            </a:prstGeom>
            <a:solidFill>
              <a:srgbClr val="1F594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1024128" y="2011680"/>
              <a:ext cx="2947416" cy="201168"/>
            </a:xfrm>
            <a:prstGeom prst="rect">
              <a:avLst/>
            </a:prstGeom>
            <a:noFill/>
          </p:spPr>
          <p:txBody>
            <a:bodyPr wrap="square" lIns="0" rIns="0" tIns="0" bIns="0" anchor="t"/>
            <a:lstStyle/>
            <a:p>
              <a:pPr algn="l">
                <a:lnSpc>
                  <a:spcPct val="100000"/>
                </a:lnSpc>
              </a:pPr>
              <a:r>
                <a:rPr sz="760" b="1" i="0" spc="160">
                  <a:solidFill>
                    <a:srgbClr val="5F776B"/>
                  </a:solidFill>
                  <a:latin typeface="Segoe UI"/>
                  <a:ea typeface="Segoe UI"/>
                  <a:cs typeface="Segoe UI"/>
                </a:rPr>
                <a:t>PROTOTYPE TODAY</a:t>
              </a:r>
            </a:p>
          </p:txBody>
        </p:sp>
        <p:sp>
          <p:nvSpPr>
            <p:cNvPr id="18" name="TextBox 17"/>
            <p:cNvSpPr txBox="1"/>
            <p:nvPr/>
          </p:nvSpPr>
          <p:spPr>
            <a:xfrm>
              <a:off x="1024128" y="2231136"/>
              <a:ext cx="2947416" cy="566928"/>
            </a:xfrm>
            <a:prstGeom prst="rect">
              <a:avLst/>
            </a:prstGeom>
            <a:noFill/>
          </p:spPr>
          <p:txBody>
            <a:bodyPr wrap="square" lIns="0" rIns="0" tIns="0" bIns="0" anchor="t"/>
            <a:lstStyle/>
            <a:p>
              <a:pPr algn="l">
                <a:lnSpc>
                  <a:spcPct val="100000"/>
                </a:lnSpc>
              </a:pPr>
              <a:r>
                <a:rPr sz="3000" b="1" i="0">
                  <a:solidFill>
                    <a:srgbClr val="1F5941"/>
                  </a:solidFill>
                  <a:latin typeface="Georgia"/>
                  <a:ea typeface="Georgia"/>
                  <a:cs typeface="Georgia"/>
                </a:rPr>
                <a:t>₹0</a:t>
              </a:r>
            </a:p>
          </p:txBody>
        </p:sp>
        <p:sp>
          <p:nvSpPr>
            <p:cNvPr id="19" name="TextBox 18"/>
            <p:cNvSpPr txBox="1"/>
            <p:nvPr/>
          </p:nvSpPr>
          <p:spPr>
            <a:xfrm>
              <a:off x="1024128" y="2852928"/>
              <a:ext cx="2947416" cy="1234440"/>
            </a:xfrm>
            <a:prstGeom prst="rect">
              <a:avLst/>
            </a:prstGeom>
            <a:noFill/>
          </p:spPr>
          <p:txBody>
            <a:bodyPr wrap="square" lIns="0" rIns="0" tIns="0" bIns="0" anchor="t"/>
            <a:lstStyle/>
            <a:p>
              <a:pPr algn="l">
                <a:lnSpc>
                  <a:spcPct val="120000"/>
                </a:lnSpc>
              </a:pPr>
              <a:r>
                <a:rPr sz="919" b="0" i="0">
                  <a:solidFill>
                    <a:srgbClr val="557165"/>
                  </a:solidFill>
                  <a:latin typeface="Segoe UI"/>
                  <a:ea typeface="Segoe UI"/>
                  <a:cs typeface="Segoe UI"/>
                </a:rPr>
                <a:t>No hardware at all: NFC tags and readers were removed from the design. React, Vite, TypeScript and browser APIs are free and open source.</a:t>
              </a:r>
            </a:p>
          </p:txBody>
        </p:sp>
        <p:sp>
          <p:nvSpPr>
            <p:cNvPr id="20" name="Rectangle 19"/>
            <p:cNvSpPr/>
            <p:nvPr/>
          </p:nvSpPr>
          <p:spPr>
            <a:xfrm>
              <a:off x="1024128" y="4114800"/>
              <a:ext cx="2929128"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1024128" y="4224528"/>
              <a:ext cx="2947416" cy="274320"/>
            </a:xfrm>
            <a:prstGeom prst="rect">
              <a:avLst/>
            </a:prstGeom>
            <a:noFill/>
          </p:spPr>
          <p:txBody>
            <a:bodyPr wrap="square" lIns="0" rIns="0" tIns="0" bIns="0" anchor="t"/>
            <a:lstStyle/>
            <a:p>
              <a:pPr algn="l">
                <a:lnSpc>
                  <a:spcPct val="100000"/>
                </a:lnSpc>
              </a:pPr>
              <a:r>
                <a:rPr sz="880" b="0" i="0">
                  <a:solidFill>
                    <a:srgbClr val="1F5941"/>
                  </a:solidFill>
                  <a:latin typeface="Segoe UI"/>
                  <a:ea typeface="Segoe UI"/>
                  <a:cs typeface="Segoe UI"/>
                </a:rPr>
                <a:t>·  </a:t>
              </a:r>
              <a:r>
                <a:rPr sz="880" b="0" i="0">
                  <a:solidFill>
                    <a:srgbClr val="33483F"/>
                  </a:solidFill>
                  <a:latin typeface="Segoe UI"/>
                  <a:ea typeface="Segoe UI"/>
                  <a:cs typeface="Segoe UI"/>
                </a:rPr>
                <a:t>Per-site capital cost: nil</a:t>
              </a:r>
            </a:p>
          </p:txBody>
        </p:sp>
        <p:sp>
          <p:nvSpPr>
            <p:cNvPr id="22" name="TextBox 21"/>
            <p:cNvSpPr txBox="1"/>
            <p:nvPr/>
          </p:nvSpPr>
          <p:spPr>
            <a:xfrm>
              <a:off x="1024128" y="4553712"/>
              <a:ext cx="2947416" cy="274320"/>
            </a:xfrm>
            <a:prstGeom prst="rect">
              <a:avLst/>
            </a:prstGeom>
            <a:noFill/>
          </p:spPr>
          <p:txBody>
            <a:bodyPr wrap="square" lIns="0" rIns="0" tIns="0" bIns="0" anchor="t"/>
            <a:lstStyle/>
            <a:p>
              <a:pPr algn="l">
                <a:lnSpc>
                  <a:spcPct val="100000"/>
                </a:lnSpc>
              </a:pPr>
              <a:r>
                <a:rPr sz="880" b="0" i="0">
                  <a:solidFill>
                    <a:srgbClr val="1F5941"/>
                  </a:solidFill>
                  <a:latin typeface="Segoe UI"/>
                  <a:ea typeface="Segoe UI"/>
                  <a:cs typeface="Segoe UI"/>
                </a:rPr>
                <a:t>·  </a:t>
              </a:r>
              <a:r>
                <a:rPr sz="880" b="0" i="0">
                  <a:solidFill>
                    <a:srgbClr val="33483F"/>
                  </a:solidFill>
                  <a:latin typeface="Segoe UI"/>
                  <a:ea typeface="Segoe UI"/>
                  <a:cs typeface="Segoe UI"/>
                </a:rPr>
                <a:t>Per-worker sign-up cost: nil</a:t>
              </a:r>
            </a:p>
          </p:txBody>
        </p:sp>
        <p:sp>
          <p:nvSpPr>
            <p:cNvPr id="23" name="TextBox 22"/>
            <p:cNvSpPr txBox="1"/>
            <p:nvPr/>
          </p:nvSpPr>
          <p:spPr>
            <a:xfrm>
              <a:off x="1024128" y="4882896"/>
              <a:ext cx="2947416" cy="274320"/>
            </a:xfrm>
            <a:prstGeom prst="rect">
              <a:avLst/>
            </a:prstGeom>
            <a:noFill/>
          </p:spPr>
          <p:txBody>
            <a:bodyPr wrap="square" lIns="0" rIns="0" tIns="0" bIns="0" anchor="t"/>
            <a:lstStyle/>
            <a:p>
              <a:pPr algn="l">
                <a:lnSpc>
                  <a:spcPct val="100000"/>
                </a:lnSpc>
              </a:pPr>
              <a:r>
                <a:rPr sz="880" b="0" i="0">
                  <a:solidFill>
                    <a:srgbClr val="1F5941"/>
                  </a:solidFill>
                  <a:latin typeface="Segoe UI"/>
                  <a:ea typeface="Segoe UI"/>
                  <a:cs typeface="Segoe UI"/>
                </a:rPr>
                <a:t>·  </a:t>
              </a:r>
              <a:r>
                <a:rPr sz="880" b="0" i="0">
                  <a:solidFill>
                    <a:srgbClr val="33483F"/>
                  </a:solidFill>
                  <a:latin typeface="Segoe UI"/>
                  <a:ea typeface="Segoe UI"/>
                  <a:cs typeface="Segoe UI"/>
                </a:rPr>
                <a:t>Demo runs from one HTML file</a:t>
              </a:r>
            </a:p>
          </p:txBody>
        </p:sp>
      </p:grpSp>
      <p:grpSp>
        <p:nvGrpSpPr>
          <p:cNvPr id="24" name="!!cost-2"/>
          <p:cNvGrpSpPr/>
          <p:nvPr/>
        </p:nvGrpSpPr>
        <p:grpSpPr>
          <a:xfrm>
            <a:off x="4392168" y="1810512"/>
            <a:ext cx="3404616" cy="3703320"/>
            <a:chOff x="4392168" y="1810512"/>
            <a:chExt cx="3404616" cy="3703320"/>
          </a:xfrm>
        </p:grpSpPr>
        <p:sp>
          <p:nvSpPr>
            <p:cNvPr id="25" name="Rounded Rectangle 24"/>
            <p:cNvSpPr/>
            <p:nvPr/>
          </p:nvSpPr>
          <p:spPr>
            <a:xfrm>
              <a:off x="4392168" y="1810512"/>
              <a:ext cx="3404616" cy="3703320"/>
            </a:xfrm>
            <a:prstGeom prst="roundRect">
              <a:avLst>
                <a:gd name="adj" fmla="val 3760"/>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ounded Rectangle 25"/>
            <p:cNvSpPr/>
            <p:nvPr/>
          </p:nvSpPr>
          <p:spPr>
            <a:xfrm>
              <a:off x="4392168" y="1810512"/>
              <a:ext cx="3404616" cy="54864"/>
            </a:xfrm>
            <a:prstGeom prst="roundRect">
              <a:avLst>
                <a:gd name="adj" fmla="val 33333"/>
              </a:avLst>
            </a:prstGeom>
            <a:solidFill>
              <a:srgbClr val="A76F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6"/>
            <p:cNvSpPr txBox="1"/>
            <p:nvPr/>
          </p:nvSpPr>
          <p:spPr>
            <a:xfrm>
              <a:off x="4629912" y="2011680"/>
              <a:ext cx="2947416" cy="201168"/>
            </a:xfrm>
            <a:prstGeom prst="rect">
              <a:avLst/>
            </a:prstGeom>
            <a:noFill/>
          </p:spPr>
          <p:txBody>
            <a:bodyPr wrap="square" lIns="0" rIns="0" tIns="0" bIns="0" anchor="t"/>
            <a:lstStyle/>
            <a:p>
              <a:pPr algn="l">
                <a:lnSpc>
                  <a:spcPct val="100000"/>
                </a:lnSpc>
              </a:pPr>
              <a:r>
                <a:rPr sz="760" b="1" i="0" spc="160">
                  <a:solidFill>
                    <a:srgbClr val="5F776B"/>
                  </a:solidFill>
                  <a:latin typeface="Segoe UI"/>
                  <a:ea typeface="Segoe UI"/>
                  <a:cs typeface="Segoe UI"/>
                </a:rPr>
                <a:t>PRINTED PASS</a:t>
              </a:r>
            </a:p>
          </p:txBody>
        </p:sp>
        <p:sp>
          <p:nvSpPr>
            <p:cNvPr id="28" name="TextBox 27"/>
            <p:cNvSpPr txBox="1"/>
            <p:nvPr/>
          </p:nvSpPr>
          <p:spPr>
            <a:xfrm>
              <a:off x="4629912" y="2231136"/>
              <a:ext cx="2947416" cy="566928"/>
            </a:xfrm>
            <a:prstGeom prst="rect">
              <a:avLst/>
            </a:prstGeom>
            <a:noFill/>
          </p:spPr>
          <p:txBody>
            <a:bodyPr wrap="square" lIns="0" rIns="0" tIns="0" bIns="0" anchor="t"/>
            <a:lstStyle/>
            <a:p>
              <a:pPr algn="l">
                <a:lnSpc>
                  <a:spcPct val="100000"/>
                </a:lnSpc>
              </a:pPr>
              <a:r>
                <a:rPr sz="3000" b="1" i="0">
                  <a:solidFill>
                    <a:srgbClr val="A76F26"/>
                  </a:solidFill>
                  <a:latin typeface="Georgia"/>
                  <a:ea typeface="Georgia"/>
                  <a:cs typeface="Georgia"/>
                </a:rPr>
                <a:t>≈ ₹5</a:t>
              </a:r>
            </a:p>
          </p:txBody>
        </p:sp>
        <p:sp>
          <p:nvSpPr>
            <p:cNvPr id="29" name="TextBox 28"/>
            <p:cNvSpPr txBox="1"/>
            <p:nvPr/>
          </p:nvSpPr>
          <p:spPr>
            <a:xfrm>
              <a:off x="4629912" y="2852928"/>
              <a:ext cx="2947416" cy="1234440"/>
            </a:xfrm>
            <a:prstGeom prst="rect">
              <a:avLst/>
            </a:prstGeom>
            <a:noFill/>
          </p:spPr>
          <p:txBody>
            <a:bodyPr wrap="square" lIns="0" rIns="0" tIns="0" bIns="0" anchor="t"/>
            <a:lstStyle/>
            <a:p>
              <a:pPr algn="l">
                <a:lnSpc>
                  <a:spcPct val="120000"/>
                </a:lnSpc>
              </a:pPr>
              <a:r>
                <a:rPr sz="919" b="0" i="0">
                  <a:solidFill>
                    <a:srgbClr val="557165"/>
                  </a:solidFill>
                  <a:latin typeface="Segoe UI"/>
                  <a:ea typeface="Segoe UI"/>
                  <a:cs typeface="Segoe UI"/>
                </a:rPr>
                <a:t>An estimate for a laminated pass on ordinary card stock. Reprinting a lost pass costs less than finding the old one.</a:t>
              </a:r>
            </a:p>
          </p:txBody>
        </p:sp>
        <p:sp>
          <p:nvSpPr>
            <p:cNvPr id="30" name="Rectangle 29"/>
            <p:cNvSpPr/>
            <p:nvPr/>
          </p:nvSpPr>
          <p:spPr>
            <a:xfrm>
              <a:off x="4629912" y="4114800"/>
              <a:ext cx="2929128"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4629912" y="4224528"/>
              <a:ext cx="2947416" cy="274320"/>
            </a:xfrm>
            <a:prstGeom prst="rect">
              <a:avLst/>
            </a:prstGeom>
            <a:noFill/>
          </p:spPr>
          <p:txBody>
            <a:bodyPr wrap="square" lIns="0" rIns="0" tIns="0" bIns="0" anchor="t"/>
            <a:lstStyle/>
            <a:p>
              <a:pPr algn="l">
                <a:lnSpc>
                  <a:spcPct val="100000"/>
                </a:lnSpc>
              </a:pPr>
              <a:r>
                <a:rPr sz="880" b="0" i="0">
                  <a:solidFill>
                    <a:srgbClr val="A76F26"/>
                  </a:solidFill>
                  <a:latin typeface="Segoe UI"/>
                  <a:ea typeface="Segoe UI"/>
                  <a:cs typeface="Segoe UI"/>
                </a:rPr>
                <a:t>·  </a:t>
              </a:r>
              <a:r>
                <a:rPr sz="880" b="0" i="0">
                  <a:solidFill>
                    <a:srgbClr val="33483F"/>
                  </a:solidFill>
                  <a:latin typeface="Segoe UI"/>
                  <a:ea typeface="Segoe UI"/>
                  <a:cs typeface="Segoe UI"/>
                </a:rPr>
                <a:t>No reader hardware</a:t>
              </a:r>
            </a:p>
          </p:txBody>
        </p:sp>
        <p:sp>
          <p:nvSpPr>
            <p:cNvPr id="32" name="TextBox 31"/>
            <p:cNvSpPr txBox="1"/>
            <p:nvPr/>
          </p:nvSpPr>
          <p:spPr>
            <a:xfrm>
              <a:off x="4629912" y="4553712"/>
              <a:ext cx="2947416" cy="274320"/>
            </a:xfrm>
            <a:prstGeom prst="rect">
              <a:avLst/>
            </a:prstGeom>
            <a:noFill/>
          </p:spPr>
          <p:txBody>
            <a:bodyPr wrap="square" lIns="0" rIns="0" tIns="0" bIns="0" anchor="t"/>
            <a:lstStyle/>
            <a:p>
              <a:pPr algn="l">
                <a:lnSpc>
                  <a:spcPct val="100000"/>
                </a:lnSpc>
              </a:pPr>
              <a:r>
                <a:rPr sz="880" b="0" i="0">
                  <a:solidFill>
                    <a:srgbClr val="A76F26"/>
                  </a:solidFill>
                  <a:latin typeface="Segoe UI"/>
                  <a:ea typeface="Segoe UI"/>
                  <a:cs typeface="Segoe UI"/>
                </a:rPr>
                <a:t>·  </a:t>
              </a:r>
              <a:r>
                <a:rPr sz="880" b="0" i="0">
                  <a:solidFill>
                    <a:srgbClr val="33483F"/>
                  </a:solidFill>
                  <a:latin typeface="Segoe UI"/>
                  <a:ea typeface="Segoe UI"/>
                  <a:cs typeface="Segoe UI"/>
                </a:rPr>
                <a:t>Any phone camera works</a:t>
              </a:r>
            </a:p>
          </p:txBody>
        </p:sp>
        <p:sp>
          <p:nvSpPr>
            <p:cNvPr id="33" name="TextBox 32"/>
            <p:cNvSpPr txBox="1"/>
            <p:nvPr/>
          </p:nvSpPr>
          <p:spPr>
            <a:xfrm>
              <a:off x="4629912" y="4882896"/>
              <a:ext cx="2947416" cy="274320"/>
            </a:xfrm>
            <a:prstGeom prst="rect">
              <a:avLst/>
            </a:prstGeom>
            <a:noFill/>
          </p:spPr>
          <p:txBody>
            <a:bodyPr wrap="square" lIns="0" rIns="0" tIns="0" bIns="0" anchor="t"/>
            <a:lstStyle/>
            <a:p>
              <a:pPr algn="l">
                <a:lnSpc>
                  <a:spcPct val="100000"/>
                </a:lnSpc>
              </a:pPr>
              <a:r>
                <a:rPr sz="880" b="0" i="0">
                  <a:solidFill>
                    <a:srgbClr val="A76F26"/>
                  </a:solidFill>
                  <a:latin typeface="Segoe UI"/>
                  <a:ea typeface="Segoe UI"/>
                  <a:cs typeface="Segoe UI"/>
                </a:rPr>
                <a:t>·  </a:t>
              </a:r>
              <a:r>
                <a:rPr sz="880" b="0" i="0">
                  <a:solidFill>
                    <a:srgbClr val="33483F"/>
                  </a:solidFill>
                  <a:latin typeface="Segoe UI"/>
                  <a:ea typeface="Segoe UI"/>
                  <a:cs typeface="Segoe UI"/>
                </a:rPr>
                <a:t>Reissue in under a minute</a:t>
              </a:r>
            </a:p>
          </p:txBody>
        </p:sp>
      </p:grpSp>
      <p:grpSp>
        <p:nvGrpSpPr>
          <p:cNvPr id="34" name="!!cost-3"/>
          <p:cNvGrpSpPr/>
          <p:nvPr/>
        </p:nvGrpSpPr>
        <p:grpSpPr>
          <a:xfrm>
            <a:off x="7997952" y="1810512"/>
            <a:ext cx="3404616" cy="3703320"/>
            <a:chOff x="7997952" y="1810512"/>
            <a:chExt cx="3404616" cy="3703320"/>
          </a:xfrm>
        </p:grpSpPr>
        <p:sp>
          <p:nvSpPr>
            <p:cNvPr id="35" name="Rounded Rectangle 34"/>
            <p:cNvSpPr/>
            <p:nvPr/>
          </p:nvSpPr>
          <p:spPr>
            <a:xfrm>
              <a:off x="7997952" y="1810512"/>
              <a:ext cx="3404616" cy="3703320"/>
            </a:xfrm>
            <a:prstGeom prst="roundRect">
              <a:avLst>
                <a:gd name="adj" fmla="val 3760"/>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ounded Rectangle 35"/>
            <p:cNvSpPr/>
            <p:nvPr/>
          </p:nvSpPr>
          <p:spPr>
            <a:xfrm>
              <a:off x="7997952" y="1810512"/>
              <a:ext cx="3404616" cy="54864"/>
            </a:xfrm>
            <a:prstGeom prst="roundRect">
              <a:avLst>
                <a:gd name="adj" fmla="val 33333"/>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TextBox 36"/>
            <p:cNvSpPr txBox="1"/>
            <p:nvPr/>
          </p:nvSpPr>
          <p:spPr>
            <a:xfrm>
              <a:off x="8235696" y="2011680"/>
              <a:ext cx="2947416" cy="201168"/>
            </a:xfrm>
            <a:prstGeom prst="rect">
              <a:avLst/>
            </a:prstGeom>
            <a:noFill/>
          </p:spPr>
          <p:txBody>
            <a:bodyPr wrap="square" lIns="0" rIns="0" tIns="0" bIns="0" anchor="t"/>
            <a:lstStyle/>
            <a:p>
              <a:pPr algn="l">
                <a:lnSpc>
                  <a:spcPct val="100000"/>
                </a:lnSpc>
              </a:pPr>
              <a:r>
                <a:rPr sz="760" b="1" i="0" spc="160">
                  <a:solidFill>
                    <a:srgbClr val="5F776B"/>
                  </a:solidFill>
                  <a:latin typeface="Segoe UI"/>
                  <a:ea typeface="Segoe UI"/>
                  <a:cs typeface="Segoe UI"/>
                </a:rPr>
                <a:t>BACKEND, IF DEPLOYED</a:t>
              </a:r>
            </a:p>
          </p:txBody>
        </p:sp>
        <p:sp>
          <p:nvSpPr>
            <p:cNvPr id="38" name="TextBox 37"/>
            <p:cNvSpPr txBox="1"/>
            <p:nvPr/>
          </p:nvSpPr>
          <p:spPr>
            <a:xfrm>
              <a:off x="8235696" y="2231136"/>
              <a:ext cx="2947416" cy="566928"/>
            </a:xfrm>
            <a:prstGeom prst="rect">
              <a:avLst/>
            </a:prstGeom>
            <a:noFill/>
          </p:spPr>
          <p:txBody>
            <a:bodyPr wrap="square" lIns="0" rIns="0" tIns="0" bIns="0" anchor="t"/>
            <a:lstStyle/>
            <a:p>
              <a:pPr algn="l">
                <a:lnSpc>
                  <a:spcPct val="100000"/>
                </a:lnSpc>
              </a:pPr>
              <a:r>
                <a:rPr sz="3000" b="1" i="0">
                  <a:solidFill>
                    <a:srgbClr val="B4482F"/>
                  </a:solidFill>
                  <a:latin typeface="Georgia"/>
                  <a:ea typeface="Georgia"/>
                  <a:cs typeface="Georgia"/>
                </a:rPr>
                <a:t>Free tier</a:t>
              </a:r>
            </a:p>
          </p:txBody>
        </p:sp>
        <p:sp>
          <p:nvSpPr>
            <p:cNvPr id="39" name="TextBox 38"/>
            <p:cNvSpPr txBox="1"/>
            <p:nvPr/>
          </p:nvSpPr>
          <p:spPr>
            <a:xfrm>
              <a:off x="8235696" y="2852928"/>
              <a:ext cx="2947416" cy="1234440"/>
            </a:xfrm>
            <a:prstGeom prst="rect">
              <a:avLst/>
            </a:prstGeom>
            <a:noFill/>
          </p:spPr>
          <p:txBody>
            <a:bodyPr wrap="square" lIns="0" rIns="0" tIns="0" bIns="0" anchor="t"/>
            <a:lstStyle/>
            <a:p>
              <a:pPr algn="l">
                <a:lnSpc>
                  <a:spcPct val="120000"/>
                </a:lnSpc>
              </a:pPr>
              <a:r>
                <a:rPr sz="919" b="0" i="0">
                  <a:solidFill>
                    <a:srgbClr val="557165"/>
                  </a:solidFill>
                  <a:latin typeface="Segoe UI"/>
                  <a:ea typeface="Segoe UI"/>
                  <a:cs typeface="Segoe UI"/>
                </a:rPr>
                <a:t>Supabase free plan: 500 MB database, 5 GB egress, 50,000 monthly active users, 1 GB storage. Paid compute from about $10 a month.</a:t>
              </a:r>
            </a:p>
          </p:txBody>
        </p:sp>
        <p:sp>
          <p:nvSpPr>
            <p:cNvPr id="40" name="Rectangle 39"/>
            <p:cNvSpPr/>
            <p:nvPr/>
          </p:nvSpPr>
          <p:spPr>
            <a:xfrm>
              <a:off x="8235696" y="4114800"/>
              <a:ext cx="2929128" cy="7315"/>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TextBox 40"/>
            <p:cNvSpPr txBox="1"/>
            <p:nvPr/>
          </p:nvSpPr>
          <p:spPr>
            <a:xfrm>
              <a:off x="8235696" y="4224528"/>
              <a:ext cx="2947416" cy="274320"/>
            </a:xfrm>
            <a:prstGeom prst="rect">
              <a:avLst/>
            </a:prstGeom>
            <a:noFill/>
          </p:spPr>
          <p:txBody>
            <a:bodyPr wrap="square" lIns="0" rIns="0" tIns="0" bIns="0" anchor="t"/>
            <a:lstStyle/>
            <a:p>
              <a:pPr algn="l">
                <a:lnSpc>
                  <a:spcPct val="100000"/>
                </a:lnSpc>
              </a:pPr>
              <a:r>
                <a:rPr sz="880" b="0" i="0">
                  <a:solidFill>
                    <a:srgbClr val="B4482F"/>
                  </a:solidFill>
                  <a:latin typeface="Segoe UI"/>
                  <a:ea typeface="Segoe UI"/>
                  <a:cs typeface="Segoe UI"/>
                </a:rPr>
                <a:t>·  </a:t>
              </a:r>
              <a:r>
                <a:rPr sz="880" b="0" i="0">
                  <a:solidFill>
                    <a:srgbClr val="33483F"/>
                  </a:solidFill>
                  <a:latin typeface="Segoe UI"/>
                  <a:ea typeface="Segoe UI"/>
                  <a:cs typeface="Segoe UI"/>
                </a:rPr>
                <a:t>Idle projects may pause</a:t>
              </a:r>
            </a:p>
          </p:txBody>
        </p:sp>
        <p:sp>
          <p:nvSpPr>
            <p:cNvPr id="42" name="TextBox 41"/>
            <p:cNvSpPr txBox="1"/>
            <p:nvPr/>
          </p:nvSpPr>
          <p:spPr>
            <a:xfrm>
              <a:off x="8235696" y="4553712"/>
              <a:ext cx="2947416" cy="274320"/>
            </a:xfrm>
            <a:prstGeom prst="rect">
              <a:avLst/>
            </a:prstGeom>
            <a:noFill/>
          </p:spPr>
          <p:txBody>
            <a:bodyPr wrap="square" lIns="0" rIns="0" tIns="0" bIns="0" anchor="t"/>
            <a:lstStyle/>
            <a:p>
              <a:pPr algn="l">
                <a:lnSpc>
                  <a:spcPct val="100000"/>
                </a:lnSpc>
              </a:pPr>
              <a:r>
                <a:rPr sz="880" b="0" i="0">
                  <a:solidFill>
                    <a:srgbClr val="B4482F"/>
                  </a:solidFill>
                  <a:latin typeface="Segoe UI"/>
                  <a:ea typeface="Segoe UI"/>
                  <a:cs typeface="Segoe UI"/>
                </a:rPr>
                <a:t>·  </a:t>
              </a:r>
              <a:r>
                <a:rPr sz="880" b="0" i="0">
                  <a:solidFill>
                    <a:srgbClr val="33483F"/>
                  </a:solidFill>
                  <a:latin typeface="Segoe UI"/>
                  <a:ea typeface="Segoe UI"/>
                  <a:cs typeface="Segoe UI"/>
                </a:rPr>
                <a:t>Quotas limit real use</a:t>
              </a:r>
            </a:p>
          </p:txBody>
        </p:sp>
        <p:sp>
          <p:nvSpPr>
            <p:cNvPr id="43" name="TextBox 42"/>
            <p:cNvSpPr txBox="1"/>
            <p:nvPr/>
          </p:nvSpPr>
          <p:spPr>
            <a:xfrm>
              <a:off x="8235696" y="4882896"/>
              <a:ext cx="2947416" cy="274320"/>
            </a:xfrm>
            <a:prstGeom prst="rect">
              <a:avLst/>
            </a:prstGeom>
            <a:noFill/>
          </p:spPr>
          <p:txBody>
            <a:bodyPr wrap="square" lIns="0" rIns="0" tIns="0" bIns="0" anchor="t"/>
            <a:lstStyle/>
            <a:p>
              <a:pPr algn="l">
                <a:lnSpc>
                  <a:spcPct val="100000"/>
                </a:lnSpc>
              </a:pPr>
              <a:r>
                <a:rPr sz="880" b="0" i="0">
                  <a:solidFill>
                    <a:srgbClr val="B4482F"/>
                  </a:solidFill>
                  <a:latin typeface="Segoe UI"/>
                  <a:ea typeface="Segoe UI"/>
                  <a:cs typeface="Segoe UI"/>
                </a:rPr>
                <a:t>·  </a:t>
              </a:r>
              <a:r>
                <a:rPr sz="880" b="0" i="0">
                  <a:solidFill>
                    <a:srgbClr val="33483F"/>
                  </a:solidFill>
                  <a:latin typeface="Segoe UI"/>
                  <a:ea typeface="Segoe UI"/>
                  <a:cs typeface="Segoe UI"/>
                </a:rPr>
                <a:t>Real deployment costs not estimated</a:t>
              </a:r>
            </a:p>
          </p:txBody>
        </p:sp>
      </p:grpSp>
      <p:sp>
        <p:nvSpPr>
          <p:cNvPr id="44" name="TextBox 43"/>
          <p:cNvSpPr txBox="1"/>
          <p:nvPr/>
        </p:nvSpPr>
        <p:spPr>
          <a:xfrm>
            <a:off x="786384" y="5669280"/>
            <a:ext cx="10616184" cy="502920"/>
          </a:xfrm>
          <a:prstGeom prst="rect">
            <a:avLst/>
          </a:prstGeom>
          <a:noFill/>
        </p:spPr>
        <p:txBody>
          <a:bodyPr wrap="square" lIns="0" rIns="0" tIns="0" bIns="0" anchor="t"/>
          <a:lstStyle/>
          <a:p>
            <a:pPr algn="l">
              <a:lnSpc>
                <a:spcPct val="120000"/>
              </a:lnSpc>
            </a:pPr>
            <a:r>
              <a:rPr sz="960" b="0" i="1">
                <a:solidFill>
                  <a:srgbClr val="5F776B"/>
                </a:solidFill>
                <a:latin typeface="Segoe UI"/>
                <a:ea typeface="Segoe UI"/>
                <a:cs typeface="Segoe UI"/>
              </a:rPr>
              <a:t>The cheapest part of this project is the software. The expensive part would be running it honestly — backups, authentication and support — and that cost is not estimated here, because it depends on volume.</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FBF6"/>
        </a:solidFill>
        <a:effectLst/>
      </p:bgPr>
    </p:bg>
    <p:spTree>
      <p:nvGrpSpPr>
        <p:cNvPr id="1" name=""/>
        <p:cNvGrpSpPr/>
        <p:nvPr/>
      </p:nvGrpSpPr>
      <p:grpSpPr/>
      <p:sp>
        <p:nvSpPr>
          <p:cNvPr id="2" name="!!glow-a"/>
          <p:cNvSpPr/>
          <p:nvPr/>
        </p:nvSpPr>
        <p:spPr>
          <a:xfrm>
            <a:off x="10058400" y="-2066543"/>
            <a:ext cx="6035040" cy="6035040"/>
          </a:xfrm>
          <a:prstGeom prst="ellipse">
            <a:avLst/>
          </a:prstGeom>
          <a:gradFill rotWithShape="1">
            <a:gsLst>
              <a:gs pos="0">
                <a:srgbClr val="8BC7A6">
                  <a:alpha val="16000"/>
                </a:srgbClr>
              </a:gs>
              <a:gs pos="60000">
                <a:srgbClr val="8BC7A6">
                  <a:alpha val="72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286000" y="4526279"/>
            <a:ext cx="4937760" cy="4937760"/>
          </a:xfrm>
          <a:prstGeom prst="ellipse">
            <a:avLst/>
          </a:prstGeom>
          <a:gradFill rotWithShape="1">
            <a:gsLst>
              <a:gs pos="0">
                <a:srgbClr val="D9A844">
                  <a:alpha val="15000"/>
                </a:srgbClr>
              </a:gs>
              <a:gs pos="60000">
                <a:srgbClr val="D9A844">
                  <a:alpha val="675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5148437"/>
          </a:xfrm>
          <a:prstGeom prst="rect">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5665073"/>
            <a:ext cx="118872" cy="118872"/>
          </a:xfrm>
          <a:prstGeom prst="ellipse">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25704F"/>
                </a:solidFill>
                <a:latin typeface="Segoe UI"/>
                <a:ea typeface="Segoe UI"/>
                <a:cs typeface="Segoe UI"/>
              </a:rPr>
              <a:t>LIMITATIONS</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C68D2F"/>
                </a:solidFill>
                <a:latin typeface="Segoe UI"/>
                <a:ea typeface="Segoe UI"/>
                <a:cs typeface="Segoe UI"/>
              </a:rPr>
              <a:t>04  </a:t>
            </a:r>
            <a:r>
              <a:rPr sz="950" b="1" i="0" spc="140">
                <a:solidFill>
                  <a:srgbClr val="5F776B"/>
                </a:solidFill>
                <a:latin typeface="Segoe UI"/>
                <a:ea typeface="Segoe UI"/>
                <a:cs typeface="Segoe UI"/>
              </a:rPr>
              <a:t>CLOSE</a:t>
            </a:r>
          </a:p>
        </p:txBody>
      </p:sp>
      <p:sp>
        <p:nvSpPr>
          <p:cNvPr id="10" name="!!title"/>
          <p:cNvSpPr txBox="1"/>
          <p:nvPr/>
        </p:nvSpPr>
        <p:spPr>
          <a:xfrm>
            <a:off x="786384" y="786384"/>
            <a:ext cx="10241280" cy="658368"/>
          </a:xfrm>
          <a:prstGeom prst="rect">
            <a:avLst/>
          </a:prstGeom>
          <a:noFill/>
        </p:spPr>
        <p:txBody>
          <a:bodyPr wrap="square" lIns="0" rIns="0" tIns="0" bIns="0" anchor="t"/>
          <a:lstStyle/>
          <a:p>
            <a:pPr algn="l">
              <a:lnSpc>
                <a:spcPct val="100000"/>
              </a:lnSpc>
            </a:pPr>
            <a:r>
              <a:rPr sz="3300" b="1" i="0">
                <a:solidFill>
                  <a:srgbClr val="12211B"/>
                </a:solidFill>
                <a:latin typeface="Georgia"/>
                <a:ea typeface="Georgia"/>
                <a:cs typeface="Georgia"/>
              </a:rPr>
              <a:t>What this prototype cannot do yet</a:t>
            </a:r>
          </a:p>
        </p:txBody>
      </p:sp>
      <p:sp>
        <p:nvSpPr>
          <p:cNvPr id="11" name="!!rule"/>
          <p:cNvSpPr/>
          <p:nvPr/>
        </p:nvSpPr>
        <p:spPr>
          <a:xfrm>
            <a:off x="786384" y="1591056"/>
            <a:ext cx="1325880" cy="41148"/>
          </a:xfrm>
          <a:prstGeom prst="rect">
            <a:avLst/>
          </a:prstGeom>
          <a:solidFill>
            <a:srgbClr val="C68D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F776B"/>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5F776B"/>
                </a:solidFill>
                <a:latin typeface="Consolas"/>
                <a:ea typeface="Consolas"/>
                <a:cs typeface="Consolas"/>
              </a:rPr>
              <a:t>24 / 26</a:t>
            </a:r>
          </a:p>
        </p:txBody>
      </p:sp>
      <p:grpSp>
        <p:nvGrpSpPr>
          <p:cNvPr id="14" name="!!limitgroup-1"/>
          <p:cNvGrpSpPr/>
          <p:nvPr/>
        </p:nvGrpSpPr>
        <p:grpSpPr>
          <a:xfrm>
            <a:off x="786384" y="1810512"/>
            <a:ext cx="5180076" cy="3931920"/>
            <a:chOff x="786384" y="1810512"/>
            <a:chExt cx="5180076" cy="3931920"/>
          </a:xfrm>
        </p:grpSpPr>
        <p:sp>
          <p:nvSpPr>
            <p:cNvPr id="15" name="Rounded Rectangle 14"/>
            <p:cNvSpPr/>
            <p:nvPr/>
          </p:nvSpPr>
          <p:spPr>
            <a:xfrm>
              <a:off x="786384" y="1810512"/>
              <a:ext cx="5180076" cy="3931920"/>
            </a:xfrm>
            <a:prstGeom prst="roundRect">
              <a:avLst>
                <a:gd name="adj" fmla="val 325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786384" y="1810512"/>
              <a:ext cx="5180076" cy="54864"/>
            </a:xfrm>
            <a:prstGeom prst="roundRect">
              <a:avLst>
                <a:gd name="adj" fmla="val 33333"/>
              </a:avLst>
            </a:prstGeom>
            <a:solidFill>
              <a:srgbClr val="B4482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1060704" y="2121408"/>
              <a:ext cx="4677156" cy="274320"/>
            </a:xfrm>
            <a:prstGeom prst="rect">
              <a:avLst/>
            </a:prstGeom>
            <a:noFill/>
          </p:spPr>
          <p:txBody>
            <a:bodyPr wrap="square" lIns="0" rIns="0" tIns="0" bIns="0" anchor="t"/>
            <a:lstStyle/>
            <a:p>
              <a:pPr algn="l">
                <a:lnSpc>
                  <a:spcPct val="100000"/>
                </a:lnSpc>
              </a:pPr>
              <a:r>
                <a:rPr sz="1400" b="1" i="0" spc="60">
                  <a:solidFill>
                    <a:srgbClr val="B4482F"/>
                  </a:solidFill>
                  <a:latin typeface="Georgia"/>
                  <a:ea typeface="Georgia"/>
                  <a:cs typeface="Georgia"/>
                </a:rPr>
                <a:t>Cannot</a:t>
              </a:r>
            </a:p>
          </p:txBody>
        </p:sp>
        <p:sp>
          <p:nvSpPr>
            <p:cNvPr id="18" name="Oval 17"/>
            <p:cNvSpPr/>
            <p:nvPr/>
          </p:nvSpPr>
          <p:spPr>
            <a:xfrm>
              <a:off x="1078992" y="2706624"/>
              <a:ext cx="82296" cy="82296"/>
            </a:xfrm>
            <a:prstGeom prst="ellipse">
              <a:avLst/>
            </a:prstGeom>
            <a:solidFill>
              <a:srgbClr val="B4482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9304" y="2615184"/>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Prove that a worker was physically present.</a:t>
              </a:r>
            </a:p>
          </p:txBody>
        </p:sp>
        <p:sp>
          <p:nvSpPr>
            <p:cNvPr id="20" name="Rectangle 19"/>
            <p:cNvSpPr/>
            <p:nvPr/>
          </p:nvSpPr>
          <p:spPr>
            <a:xfrm>
              <a:off x="1078992" y="3035808"/>
              <a:ext cx="4594860" cy="6400"/>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Oval 20"/>
            <p:cNvSpPr/>
            <p:nvPr/>
          </p:nvSpPr>
          <p:spPr>
            <a:xfrm>
              <a:off x="1078992" y="3200400"/>
              <a:ext cx="82296" cy="82296"/>
            </a:xfrm>
            <a:prstGeom prst="ellipse">
              <a:avLst/>
            </a:prstGeom>
            <a:solidFill>
              <a:srgbClr val="B4482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9304" y="3108960"/>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Guarantee that a recorded payment reached anyone.</a:t>
              </a:r>
            </a:p>
          </p:txBody>
        </p:sp>
        <p:sp>
          <p:nvSpPr>
            <p:cNvPr id="23" name="Rectangle 22"/>
            <p:cNvSpPr/>
            <p:nvPr/>
          </p:nvSpPr>
          <p:spPr>
            <a:xfrm>
              <a:off x="1078992" y="3529584"/>
              <a:ext cx="4594860" cy="6400"/>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Oval 23"/>
            <p:cNvSpPr/>
            <p:nvPr/>
          </p:nvSpPr>
          <p:spPr>
            <a:xfrm>
              <a:off x="1078992" y="3694176"/>
              <a:ext cx="82296" cy="82296"/>
            </a:xfrm>
            <a:prstGeom prst="ellipse">
              <a:avLst/>
            </a:prstGeom>
            <a:solidFill>
              <a:srgbClr val="B4482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9304" y="3602736"/>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Resist an attacker who controls the device and recomputes hashes.</a:t>
              </a:r>
            </a:p>
          </p:txBody>
        </p:sp>
        <p:sp>
          <p:nvSpPr>
            <p:cNvPr id="26" name="Rectangle 25"/>
            <p:cNvSpPr/>
            <p:nvPr/>
          </p:nvSpPr>
          <p:spPr>
            <a:xfrm>
              <a:off x="1078992" y="4023360"/>
              <a:ext cx="4594860" cy="6400"/>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Oval 26"/>
            <p:cNvSpPr/>
            <p:nvPr/>
          </p:nvSpPr>
          <p:spPr>
            <a:xfrm>
              <a:off x="1078992" y="4187952"/>
              <a:ext cx="82296" cy="82296"/>
            </a:xfrm>
            <a:prstGeom prst="ellipse">
              <a:avLst/>
            </a:prstGeom>
            <a:solidFill>
              <a:srgbClr val="B4482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9304" y="4096512"/>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Authenticate production users or enforce real permissions.</a:t>
              </a:r>
            </a:p>
          </p:txBody>
        </p:sp>
        <p:sp>
          <p:nvSpPr>
            <p:cNvPr id="29" name="Rectangle 28"/>
            <p:cNvSpPr/>
            <p:nvPr/>
          </p:nvSpPr>
          <p:spPr>
            <a:xfrm>
              <a:off x="1078992" y="4517136"/>
              <a:ext cx="4594860" cy="6400"/>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Oval 29"/>
            <p:cNvSpPr/>
            <p:nvPr/>
          </p:nvSpPr>
          <p:spPr>
            <a:xfrm>
              <a:off x="1078992" y="4681727"/>
              <a:ext cx="82296" cy="82296"/>
            </a:xfrm>
            <a:prstGeom prst="ellipse">
              <a:avLst/>
            </a:prstGeom>
            <a:solidFill>
              <a:srgbClr val="B4482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89304" y="4590288"/>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Confirm the minimum-wage benchmarks it compares against.</a:t>
              </a:r>
            </a:p>
          </p:txBody>
        </p:sp>
        <p:sp>
          <p:nvSpPr>
            <p:cNvPr id="32" name="Rectangle 31"/>
            <p:cNvSpPr/>
            <p:nvPr/>
          </p:nvSpPr>
          <p:spPr>
            <a:xfrm>
              <a:off x="1078992" y="5010912"/>
              <a:ext cx="4594860" cy="6400"/>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Oval 32"/>
            <p:cNvSpPr/>
            <p:nvPr/>
          </p:nvSpPr>
          <p:spPr>
            <a:xfrm>
              <a:off x="1078992" y="5175504"/>
              <a:ext cx="82296" cy="82296"/>
            </a:xfrm>
            <a:prstGeom prst="ellipse">
              <a:avLst/>
            </a:prstGeom>
            <a:solidFill>
              <a:srgbClr val="B4482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89304" y="5084064"/>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Survive a browser storage wipe, or leave the one device it lives on.</a:t>
              </a:r>
            </a:p>
          </p:txBody>
        </p:sp>
      </p:grpSp>
      <p:grpSp>
        <p:nvGrpSpPr>
          <p:cNvPr id="35" name="!!limitgroup-2"/>
          <p:cNvGrpSpPr/>
          <p:nvPr/>
        </p:nvGrpSpPr>
        <p:grpSpPr>
          <a:xfrm>
            <a:off x="6222492" y="1810512"/>
            <a:ext cx="5180076" cy="3931920"/>
            <a:chOff x="6222492" y="1810512"/>
            <a:chExt cx="5180076" cy="3931920"/>
          </a:xfrm>
        </p:grpSpPr>
        <p:sp>
          <p:nvSpPr>
            <p:cNvPr id="36" name="Rounded Rectangle 35"/>
            <p:cNvSpPr/>
            <p:nvPr/>
          </p:nvSpPr>
          <p:spPr>
            <a:xfrm>
              <a:off x="6222492" y="1810512"/>
              <a:ext cx="5180076" cy="3931920"/>
            </a:xfrm>
            <a:prstGeom prst="roundRect">
              <a:avLst>
                <a:gd name="adj" fmla="val 3255"/>
              </a:avLst>
            </a:prstGeom>
            <a:solidFill>
              <a:srgbClr val="FFFFFF"/>
            </a:solidFill>
            <a:ln w="9525">
              <a:solidFill>
                <a:srgbClr val="E3D8C2"/>
              </a:solidFill>
            </a:ln>
            <a:effectLst>
              <a:outerShdw blurRad="228600" dist="76200" dir="5400000" rotWithShape="0">
                <a:srgbClr val="0A221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Rounded Rectangle 36"/>
            <p:cNvSpPr/>
            <p:nvPr/>
          </p:nvSpPr>
          <p:spPr>
            <a:xfrm>
              <a:off x="6222492" y="1810512"/>
              <a:ext cx="5180076" cy="54864"/>
            </a:xfrm>
            <a:prstGeom prst="roundRect">
              <a:avLst>
                <a:gd name="adj" fmla="val 33333"/>
              </a:avLst>
            </a:prstGeom>
            <a:solidFill>
              <a:srgbClr val="25704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TextBox 37"/>
            <p:cNvSpPr txBox="1"/>
            <p:nvPr/>
          </p:nvSpPr>
          <p:spPr>
            <a:xfrm>
              <a:off x="6496812" y="2121408"/>
              <a:ext cx="4677156" cy="274320"/>
            </a:xfrm>
            <a:prstGeom prst="rect">
              <a:avLst/>
            </a:prstGeom>
            <a:noFill/>
          </p:spPr>
          <p:txBody>
            <a:bodyPr wrap="square" lIns="0" rIns="0" tIns="0" bIns="0" anchor="t"/>
            <a:lstStyle/>
            <a:p>
              <a:pPr algn="l">
                <a:lnSpc>
                  <a:spcPct val="100000"/>
                </a:lnSpc>
              </a:pPr>
              <a:r>
                <a:rPr sz="1400" b="1" i="0" spc="60">
                  <a:solidFill>
                    <a:srgbClr val="25704F"/>
                  </a:solidFill>
                  <a:latin typeface="Georgia"/>
                  <a:ea typeface="Georgia"/>
                  <a:cs typeface="Georgia"/>
                </a:rPr>
                <a:t>Next</a:t>
              </a:r>
            </a:p>
          </p:txBody>
        </p:sp>
        <p:sp>
          <p:nvSpPr>
            <p:cNvPr id="39" name="Oval 38"/>
            <p:cNvSpPr/>
            <p:nvPr/>
          </p:nvSpPr>
          <p:spPr>
            <a:xfrm>
              <a:off x="6515100" y="2706624"/>
              <a:ext cx="82296" cy="82296"/>
            </a:xfrm>
            <a:prstGeom prst="ellipse">
              <a:avLst/>
            </a:prstGeom>
            <a:solidFill>
              <a:srgbClr val="25704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25412" y="2615184"/>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Supabase auth, PostgreSQL and row-level security.</a:t>
              </a:r>
            </a:p>
          </p:txBody>
        </p:sp>
        <p:sp>
          <p:nvSpPr>
            <p:cNvPr id="41" name="Rectangle 40"/>
            <p:cNvSpPr/>
            <p:nvPr/>
          </p:nvSpPr>
          <p:spPr>
            <a:xfrm>
              <a:off x="6515100" y="3035808"/>
              <a:ext cx="4594860" cy="6400"/>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Oval 41"/>
            <p:cNvSpPr/>
            <p:nvPr/>
          </p:nvSpPr>
          <p:spPr>
            <a:xfrm>
              <a:off x="6515100" y="3200400"/>
              <a:ext cx="82296" cy="82296"/>
            </a:xfrm>
            <a:prstGeom prst="ellipse">
              <a:avLst/>
            </a:prstGeom>
            <a:solidFill>
              <a:srgbClr val="25704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25412" y="3108960"/>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Authenticated cross-device approval requests.</a:t>
              </a:r>
            </a:p>
          </p:txBody>
        </p:sp>
        <p:sp>
          <p:nvSpPr>
            <p:cNvPr id="44" name="Rectangle 43"/>
            <p:cNvSpPr/>
            <p:nvPr/>
          </p:nvSpPr>
          <p:spPr>
            <a:xfrm>
              <a:off x="6515100" y="3529584"/>
              <a:ext cx="4594860" cy="6400"/>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Oval 44"/>
            <p:cNvSpPr/>
            <p:nvPr/>
          </p:nvSpPr>
          <p:spPr>
            <a:xfrm>
              <a:off x="6515100" y="3694176"/>
              <a:ext cx="82296" cy="82296"/>
            </a:xfrm>
            <a:prstGeom prst="ellipse">
              <a:avLst/>
            </a:prstGeom>
            <a:solidFill>
              <a:srgbClr val="25704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25412" y="3602736"/>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Service-worker PWA shell for true offline loading.</a:t>
              </a:r>
            </a:p>
          </p:txBody>
        </p:sp>
        <p:sp>
          <p:nvSpPr>
            <p:cNvPr id="47" name="Rectangle 46"/>
            <p:cNvSpPr/>
            <p:nvPr/>
          </p:nvSpPr>
          <p:spPr>
            <a:xfrm>
              <a:off x="6515100" y="4023360"/>
              <a:ext cx="4594860" cy="6400"/>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Oval 47"/>
            <p:cNvSpPr/>
            <p:nvPr/>
          </p:nvSpPr>
          <p:spPr>
            <a:xfrm>
              <a:off x="6515100" y="4187952"/>
              <a:ext cx="82296" cy="82296"/>
            </a:xfrm>
            <a:prstGeom prst="ellipse">
              <a:avLst/>
            </a:prstGeom>
            <a:solidFill>
              <a:srgbClr val="25704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25412" y="4096512"/>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Outbox synchronisation that preserves conflicts.</a:t>
              </a:r>
            </a:p>
          </p:txBody>
        </p:sp>
        <p:sp>
          <p:nvSpPr>
            <p:cNvPr id="50" name="Rectangle 49"/>
            <p:cNvSpPr/>
            <p:nvPr/>
          </p:nvSpPr>
          <p:spPr>
            <a:xfrm>
              <a:off x="6515100" y="4517136"/>
              <a:ext cx="4594860" cy="6400"/>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1" name="Oval 50"/>
            <p:cNvSpPr/>
            <p:nvPr/>
          </p:nvSpPr>
          <p:spPr>
            <a:xfrm>
              <a:off x="6515100" y="4681727"/>
              <a:ext cx="82296" cy="82296"/>
            </a:xfrm>
            <a:prstGeom prst="ellipse">
              <a:avLst/>
            </a:prstGeom>
            <a:solidFill>
              <a:srgbClr val="25704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25412" y="4590288"/>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Versioned, authenticated export and restore.</a:t>
              </a:r>
            </a:p>
          </p:txBody>
        </p:sp>
        <p:sp>
          <p:nvSpPr>
            <p:cNvPr id="53" name="Rectangle 52"/>
            <p:cNvSpPr/>
            <p:nvPr/>
          </p:nvSpPr>
          <p:spPr>
            <a:xfrm>
              <a:off x="6515100" y="5010912"/>
              <a:ext cx="4594860" cy="6400"/>
            </a:xfrm>
            <a:prstGeom prst="rect">
              <a:avLst/>
            </a:prstGeom>
            <a:solidFill>
              <a:srgbClr val="F0E9D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4" name="Oval 53"/>
            <p:cNvSpPr/>
            <p:nvPr/>
          </p:nvSpPr>
          <p:spPr>
            <a:xfrm>
              <a:off x="6515100" y="5175504"/>
              <a:ext cx="82296" cy="82296"/>
            </a:xfrm>
            <a:prstGeom prst="ellipse">
              <a:avLst/>
            </a:prstGeom>
            <a:solidFill>
              <a:srgbClr val="25704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25412" y="5084064"/>
              <a:ext cx="4357116" cy="457200"/>
            </a:xfrm>
            <a:prstGeom prst="rect">
              <a:avLst/>
            </a:prstGeom>
            <a:noFill/>
          </p:spPr>
          <p:txBody>
            <a:bodyPr wrap="square" lIns="0" rIns="0" tIns="0" bIns="0" anchor="t"/>
            <a:lstStyle/>
            <a:p>
              <a:pPr algn="l">
                <a:lnSpc>
                  <a:spcPct val="114000"/>
                </a:lnSpc>
              </a:pPr>
              <a:r>
                <a:rPr sz="940" b="0" i="0">
                  <a:solidFill>
                    <a:srgbClr val="33483F"/>
                  </a:solidFill>
                  <a:latin typeface="Segoe UI"/>
                  <a:ea typeface="Segoe UI"/>
                  <a:cs typeface="Segoe UI"/>
                </a:rPr>
                <a:t>Usability testing with workers and contractors on site.</a:t>
              </a:r>
            </a:p>
          </p:txBody>
        </p:sp>
      </p:grpSp>
      <p:sp>
        <p:nvSpPr>
          <p:cNvPr id="56" name="TextBox 55"/>
          <p:cNvSpPr txBox="1"/>
          <p:nvPr/>
        </p:nvSpPr>
        <p:spPr>
          <a:xfrm>
            <a:off x="786384" y="5870448"/>
            <a:ext cx="10616184" cy="274320"/>
          </a:xfrm>
          <a:prstGeom prst="rect">
            <a:avLst/>
          </a:prstGeom>
          <a:noFill/>
        </p:spPr>
        <p:txBody>
          <a:bodyPr wrap="square" lIns="0" rIns="0" tIns="0" bIns="0" anchor="t"/>
          <a:lstStyle/>
          <a:p>
            <a:pPr algn="l">
              <a:lnSpc>
                <a:spcPct val="100000"/>
              </a:lnSpc>
            </a:pPr>
            <a:r>
              <a:rPr sz="940" b="0" i="1">
                <a:solidFill>
                  <a:srgbClr val="5F776B"/>
                </a:solidFill>
                <a:latin typeface="Segoe UI"/>
                <a:ea typeface="Segoe UI"/>
                <a:cs typeface="Segoe UI"/>
              </a:rPr>
              <a:t>Every item on the left appears in the report's limitations section. None of it is glossed over.</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2219"/>
        </a:solidFill>
        <a:effectLst/>
      </p:bgPr>
    </p:bg>
    <p:spTree>
      <p:nvGrpSpPr>
        <p:cNvPr id="1" name=""/>
        <p:cNvGrpSpPr/>
        <p:nvPr/>
      </p:nvGrpSpPr>
      <p:grpSpPr/>
      <p:sp>
        <p:nvSpPr>
          <p:cNvPr id="2" name="!!glow-a"/>
          <p:cNvSpPr/>
          <p:nvPr/>
        </p:nvSpPr>
        <p:spPr>
          <a:xfrm>
            <a:off x="9052560" y="-2834640"/>
            <a:ext cx="6035040" cy="6035040"/>
          </a:xfrm>
          <a:prstGeom prst="ellipse">
            <a:avLst/>
          </a:prstGeom>
          <a:gradFill rotWithShape="1">
            <a:gsLst>
              <a:gs pos="0">
                <a:srgbClr val="57A97E">
                  <a:alpha val="26000"/>
                </a:srgbClr>
              </a:gs>
              <a:gs pos="60000">
                <a:srgbClr val="57A97E">
                  <a:alpha val="11700"/>
                </a:srgbClr>
              </a:gs>
              <a:gs pos="100000">
                <a:srgbClr val="57A97E">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low-b"/>
          <p:cNvSpPr/>
          <p:nvPr/>
        </p:nvSpPr>
        <p:spPr>
          <a:xfrm>
            <a:off x="-2834640" y="4206240"/>
            <a:ext cx="4937760" cy="4937760"/>
          </a:xfrm>
          <a:prstGeom prst="ellipse">
            <a:avLst/>
          </a:prstGeom>
          <a:gradFill rotWithShape="1">
            <a:gsLst>
              <a:gs pos="0">
                <a:srgbClr val="D9A844">
                  <a:alpha val="20000"/>
                </a:srgbClr>
              </a:gs>
              <a:gs pos="60000">
                <a:srgbClr val="D9A844">
                  <a:alpha val="900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ail"/>
          <p:cNvSpPr/>
          <p:nvPr/>
        </p:nvSpPr>
        <p:spPr>
          <a:xfrm>
            <a:off x="402336" y="566928"/>
            <a:ext cx="16459" cy="5596128"/>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ail-fill"/>
          <p:cNvSpPr/>
          <p:nvPr/>
        </p:nvSpPr>
        <p:spPr>
          <a:xfrm>
            <a:off x="402336" y="566928"/>
            <a:ext cx="16459" cy="5372282"/>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ail-dot"/>
          <p:cNvSpPr/>
          <p:nvPr/>
        </p:nvSpPr>
        <p:spPr>
          <a:xfrm>
            <a:off x="352044" y="5888918"/>
            <a:ext cx="118872" cy="118872"/>
          </a:xfrm>
          <a:prstGeom prst="ellipse">
            <a:avLst/>
          </a:prstGeom>
          <a:solidFill>
            <a:srgbClr val="E5C0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yebrow-mark"/>
          <p:cNvSpPr/>
          <p:nvPr/>
        </p:nvSpPr>
        <p:spPr>
          <a:xfrm>
            <a:off x="786384" y="530352"/>
            <a:ext cx="118872" cy="118872"/>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eyebrow"/>
          <p:cNvSpPr txBox="1"/>
          <p:nvPr/>
        </p:nvSpPr>
        <p:spPr>
          <a:xfrm>
            <a:off x="996696" y="457200"/>
            <a:ext cx="7498079" cy="256032"/>
          </a:xfrm>
          <a:prstGeom prst="rect">
            <a:avLst/>
          </a:prstGeom>
          <a:noFill/>
        </p:spPr>
        <p:txBody>
          <a:bodyPr wrap="square" lIns="0" rIns="0" tIns="0" bIns="0" anchor="t"/>
          <a:lstStyle/>
          <a:p>
            <a:pPr algn="l">
              <a:lnSpc>
                <a:spcPct val="100000"/>
              </a:lnSpc>
            </a:pPr>
            <a:r>
              <a:rPr sz="1000" b="1" i="0" spc="180">
                <a:solidFill>
                  <a:srgbClr val="E5C068"/>
                </a:solidFill>
                <a:latin typeface="Segoe UI"/>
                <a:ea typeface="Segoe UI"/>
                <a:cs typeface="Segoe UI"/>
              </a:rPr>
              <a:t>CONCLUSION</a:t>
            </a:r>
          </a:p>
        </p:txBody>
      </p:sp>
      <p:sp>
        <p:nvSpPr>
          <p:cNvPr id="9" name="!!chapter-tag"/>
          <p:cNvSpPr txBox="1"/>
          <p:nvPr/>
        </p:nvSpPr>
        <p:spPr>
          <a:xfrm>
            <a:off x="8869680" y="457200"/>
            <a:ext cx="2532888" cy="237744"/>
          </a:xfrm>
          <a:prstGeom prst="rect">
            <a:avLst/>
          </a:prstGeom>
          <a:noFill/>
        </p:spPr>
        <p:txBody>
          <a:bodyPr wrap="square" lIns="0" rIns="0" tIns="0" bIns="0" anchor="t"/>
          <a:lstStyle/>
          <a:p>
            <a:pPr algn="r">
              <a:lnSpc>
                <a:spcPct val="100000"/>
              </a:lnSpc>
            </a:pPr>
            <a:r>
              <a:rPr sz="950" b="1" i="0" spc="140">
                <a:solidFill>
                  <a:srgbClr val="D9A844"/>
                </a:solidFill>
                <a:latin typeface="Segoe UI"/>
                <a:ea typeface="Segoe UI"/>
                <a:cs typeface="Segoe UI"/>
              </a:rPr>
              <a:t>04  </a:t>
            </a:r>
            <a:r>
              <a:rPr sz="950" b="1" i="0" spc="140">
                <a:solidFill>
                  <a:srgbClr val="57A97E"/>
                </a:solidFill>
                <a:latin typeface="Segoe UI"/>
                <a:ea typeface="Segoe UI"/>
                <a:cs typeface="Segoe UI"/>
              </a:rPr>
              <a:t>CLOSE</a:t>
            </a:r>
          </a:p>
        </p:txBody>
      </p:sp>
      <p:sp>
        <p:nvSpPr>
          <p:cNvPr id="10" name="!!title"/>
          <p:cNvSpPr txBox="1"/>
          <p:nvPr/>
        </p:nvSpPr>
        <p:spPr>
          <a:xfrm>
            <a:off x="786384" y="786384"/>
            <a:ext cx="10241280" cy="731520"/>
          </a:xfrm>
          <a:prstGeom prst="rect">
            <a:avLst/>
          </a:prstGeom>
          <a:noFill/>
        </p:spPr>
        <p:txBody>
          <a:bodyPr wrap="square" lIns="0" rIns="0" tIns="0" bIns="0" anchor="t"/>
          <a:lstStyle/>
          <a:p>
            <a:pPr algn="l">
              <a:lnSpc>
                <a:spcPct val="100000"/>
              </a:lnSpc>
            </a:pPr>
            <a:r>
              <a:rPr sz="3300" b="1" i="0">
                <a:solidFill>
                  <a:srgbClr val="FDFBF6"/>
                </a:solidFill>
                <a:latin typeface="Georgia"/>
                <a:ea typeface="Georgia"/>
                <a:cs typeface="Georgia"/>
              </a:rPr>
              <a:t>The contribution is inspectability</a:t>
            </a:r>
          </a:p>
        </p:txBody>
      </p:sp>
      <p:sp>
        <p:nvSpPr>
          <p:cNvPr id="11" name="!!rule"/>
          <p:cNvSpPr/>
          <p:nvPr/>
        </p:nvSpPr>
        <p:spPr>
          <a:xfrm>
            <a:off x="786384" y="1572768"/>
            <a:ext cx="1325880" cy="41148"/>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footer"/>
          <p:cNvSpPr txBox="1"/>
          <p:nvPr/>
        </p:nvSpPr>
        <p:spPr>
          <a:xfrm>
            <a:off x="786384" y="6419088"/>
            <a:ext cx="7315200" cy="201168"/>
          </a:xfrm>
          <a:prstGeom prst="rect">
            <a:avLst/>
          </a:prstGeom>
          <a:noFill/>
        </p:spPr>
        <p:txBody>
          <a:bodyPr wrap="square" lIns="0" rIns="0" tIns="0" bIns="0" anchor="t"/>
          <a:lstStyle/>
          <a:p>
            <a:pPr algn="l">
              <a:lnSpc>
                <a:spcPct val="100000"/>
              </a:lnSpc>
            </a:pPr>
            <a:r>
              <a:rPr sz="850" b="0" i="0" spc="60">
                <a:solidFill>
                  <a:srgbClr val="57A97E"/>
                </a:solidFill>
                <a:latin typeface="Segoe UI"/>
                <a:ea typeface="Segoe UI"/>
                <a:cs typeface="Segoe UI"/>
              </a:rPr>
              <a:t>Shram Setu 2.0   ·   Indore Sahodaya Computer Science   ·   2026</a:t>
            </a:r>
          </a:p>
        </p:txBody>
      </p:sp>
      <p:sp>
        <p:nvSpPr>
          <p:cNvPr id="13" name="!!pageno"/>
          <p:cNvSpPr txBox="1"/>
          <p:nvPr/>
        </p:nvSpPr>
        <p:spPr>
          <a:xfrm>
            <a:off x="10698480" y="6400800"/>
            <a:ext cx="704088" cy="219456"/>
          </a:xfrm>
          <a:prstGeom prst="rect">
            <a:avLst/>
          </a:prstGeom>
          <a:noFill/>
        </p:spPr>
        <p:txBody>
          <a:bodyPr wrap="square" lIns="0" rIns="0" tIns="0" bIns="0" anchor="t"/>
          <a:lstStyle/>
          <a:p>
            <a:pPr algn="r">
              <a:lnSpc>
                <a:spcPct val="100000"/>
              </a:lnSpc>
            </a:pPr>
            <a:r>
              <a:rPr sz="900" b="0" i="0">
                <a:solidFill>
                  <a:srgbClr val="8BC7A6"/>
                </a:solidFill>
                <a:latin typeface="Consolas"/>
                <a:ea typeface="Consolas"/>
                <a:cs typeface="Consolas"/>
              </a:rPr>
              <a:t>25 / 26</a:t>
            </a:r>
          </a:p>
        </p:txBody>
      </p:sp>
      <p:sp>
        <p:nvSpPr>
          <p:cNvPr id="14" name="TextBox 13"/>
          <p:cNvSpPr txBox="1"/>
          <p:nvPr/>
        </p:nvSpPr>
        <p:spPr>
          <a:xfrm>
            <a:off x="786384" y="1828800"/>
            <a:ext cx="6675120" cy="1371600"/>
          </a:xfrm>
          <a:prstGeom prst="rect">
            <a:avLst/>
          </a:prstGeom>
          <a:noFill/>
        </p:spPr>
        <p:txBody>
          <a:bodyPr wrap="square" lIns="0" rIns="0" tIns="0" bIns="0" anchor="t"/>
          <a:lstStyle/>
          <a:p>
            <a:pPr algn="l">
              <a:lnSpc>
                <a:spcPct val="132000"/>
              </a:lnSpc>
            </a:pPr>
            <a:r>
              <a:rPr sz="1250" b="0" i="0">
                <a:solidFill>
                  <a:srgbClr val="BADFCA"/>
                </a:solidFill>
                <a:latin typeface="Segoe UI"/>
                <a:ea typeface="Segoe UI"/>
                <a:cs typeface="Segoe UI"/>
              </a:rPr>
              <a:t>Shram Setu 2.0 does not claim to prove attendance, guarantee payment or settle disputes. It makes the record of what was agreed, what was calculated, what was entered as paid and what remains contested inspectable — and durable within the honest limits of a browser.</a:t>
            </a:r>
          </a:p>
        </p:txBody>
      </p:sp>
      <p:grpSp>
        <p:nvGrpSpPr>
          <p:cNvPr id="15" name="!!takeaway-1"/>
          <p:cNvGrpSpPr/>
          <p:nvPr/>
        </p:nvGrpSpPr>
        <p:grpSpPr>
          <a:xfrm>
            <a:off x="786384" y="3310128"/>
            <a:ext cx="6675120" cy="713232"/>
            <a:chOff x="786384" y="3310128"/>
            <a:chExt cx="6675120" cy="713232"/>
          </a:xfrm>
        </p:grpSpPr>
        <p:sp>
          <p:nvSpPr>
            <p:cNvPr id="16" name="Rounded Rectangle 15"/>
            <p:cNvSpPr/>
            <p:nvPr/>
          </p:nvSpPr>
          <p:spPr>
            <a:xfrm>
              <a:off x="786384" y="3310128"/>
              <a:ext cx="6675120" cy="713232"/>
            </a:xfrm>
            <a:prstGeom prst="roundRect">
              <a:avLst>
                <a:gd name="adj" fmla="val 10256"/>
              </a:avLst>
            </a:prstGeom>
            <a:solidFill>
              <a:srgbClr val="163A2B"/>
            </a:solidFill>
            <a:ln w="7620">
              <a:solidFill>
                <a:srgbClr val="1F5941"/>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1005840" y="3529584"/>
              <a:ext cx="457200" cy="237744"/>
            </a:xfrm>
            <a:prstGeom prst="rect">
              <a:avLst/>
            </a:prstGeom>
            <a:noFill/>
          </p:spPr>
          <p:txBody>
            <a:bodyPr wrap="square" lIns="0" rIns="0" tIns="0" bIns="0" anchor="t"/>
            <a:lstStyle/>
            <a:p>
              <a:pPr algn="l">
                <a:lnSpc>
                  <a:spcPct val="100000"/>
                </a:lnSpc>
              </a:pPr>
              <a:r>
                <a:rPr sz="850" b="1" i="0">
                  <a:solidFill>
                    <a:srgbClr val="E5C068"/>
                  </a:solidFill>
                  <a:latin typeface="Consolas"/>
                  <a:ea typeface="Consolas"/>
                  <a:cs typeface="Consolas"/>
                </a:rPr>
                <a:t>01</a:t>
              </a:r>
            </a:p>
          </p:txBody>
        </p:sp>
        <p:sp>
          <p:nvSpPr>
            <p:cNvPr id="18" name="TextBox 17"/>
            <p:cNvSpPr txBox="1"/>
            <p:nvPr/>
          </p:nvSpPr>
          <p:spPr>
            <a:xfrm>
              <a:off x="1499616" y="3419856"/>
              <a:ext cx="2377440" cy="237744"/>
            </a:xfrm>
            <a:prstGeom prst="rect">
              <a:avLst/>
            </a:prstGeom>
            <a:noFill/>
          </p:spPr>
          <p:txBody>
            <a:bodyPr wrap="square" lIns="0" rIns="0" tIns="0" bIns="0" anchor="t"/>
            <a:lstStyle/>
            <a:p>
              <a:pPr algn="l">
                <a:lnSpc>
                  <a:spcPct val="100000"/>
                </a:lnSpc>
              </a:pPr>
              <a:r>
                <a:rPr sz="1060" b="1" i="0">
                  <a:solidFill>
                    <a:srgbClr val="FDFBF6"/>
                  </a:solidFill>
                  <a:latin typeface="Segoe UI"/>
                  <a:ea typeface="Segoe UI"/>
                  <a:cs typeface="Segoe UI"/>
                </a:rPr>
                <a:t>Transparency by mechanism</a:t>
              </a:r>
            </a:p>
          </p:txBody>
        </p:sp>
        <p:sp>
          <p:nvSpPr>
            <p:cNvPr id="19" name="TextBox 18"/>
            <p:cNvSpPr txBox="1"/>
            <p:nvPr/>
          </p:nvSpPr>
          <p:spPr>
            <a:xfrm>
              <a:off x="1499616" y="3694176"/>
              <a:ext cx="5760720" cy="237744"/>
            </a:xfrm>
            <a:prstGeom prst="rect">
              <a:avLst/>
            </a:prstGeom>
            <a:noFill/>
          </p:spPr>
          <p:txBody>
            <a:bodyPr wrap="square" lIns="0" rIns="0" tIns="0" bIns="0" anchor="t"/>
            <a:lstStyle/>
            <a:p>
              <a:pPr algn="l">
                <a:lnSpc>
                  <a:spcPct val="100000"/>
                </a:lnSpc>
              </a:pPr>
              <a:r>
                <a:rPr sz="880" b="0" i="0">
                  <a:solidFill>
                    <a:srgbClr val="8BC7A6"/>
                  </a:solidFill>
                  <a:latin typeface="Segoe UI"/>
                  <a:ea typeface="Segoe UI"/>
                  <a:cs typeface="Segoe UI"/>
                </a:rPr>
                <a:t>A shared muster, a shown calculation, a preserved history.</a:t>
              </a:r>
            </a:p>
          </p:txBody>
        </p:sp>
      </p:grpSp>
      <p:grpSp>
        <p:nvGrpSpPr>
          <p:cNvPr id="20" name="!!takeaway-2"/>
          <p:cNvGrpSpPr/>
          <p:nvPr/>
        </p:nvGrpSpPr>
        <p:grpSpPr>
          <a:xfrm>
            <a:off x="786384" y="4151376"/>
            <a:ext cx="6675120" cy="713232"/>
            <a:chOff x="786384" y="4151376"/>
            <a:chExt cx="6675120" cy="713232"/>
          </a:xfrm>
        </p:grpSpPr>
        <p:sp>
          <p:nvSpPr>
            <p:cNvPr id="21" name="Rounded Rectangle 20"/>
            <p:cNvSpPr/>
            <p:nvPr/>
          </p:nvSpPr>
          <p:spPr>
            <a:xfrm>
              <a:off x="786384" y="4151376"/>
              <a:ext cx="6675120" cy="713232"/>
            </a:xfrm>
            <a:prstGeom prst="roundRect">
              <a:avLst>
                <a:gd name="adj" fmla="val 10256"/>
              </a:avLst>
            </a:prstGeom>
            <a:solidFill>
              <a:srgbClr val="163A2B"/>
            </a:solidFill>
            <a:ln w="7620">
              <a:solidFill>
                <a:srgbClr val="1F5941"/>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1005840" y="4370832"/>
              <a:ext cx="457200" cy="237744"/>
            </a:xfrm>
            <a:prstGeom prst="rect">
              <a:avLst/>
            </a:prstGeom>
            <a:noFill/>
          </p:spPr>
          <p:txBody>
            <a:bodyPr wrap="square" lIns="0" rIns="0" tIns="0" bIns="0" anchor="t"/>
            <a:lstStyle/>
            <a:p>
              <a:pPr algn="l">
                <a:lnSpc>
                  <a:spcPct val="100000"/>
                </a:lnSpc>
              </a:pPr>
              <a:r>
                <a:rPr sz="850" b="1" i="0">
                  <a:solidFill>
                    <a:srgbClr val="E5C068"/>
                  </a:solidFill>
                  <a:latin typeface="Consolas"/>
                  <a:ea typeface="Consolas"/>
                  <a:cs typeface="Consolas"/>
                </a:rPr>
                <a:t>02</a:t>
              </a:r>
            </a:p>
          </p:txBody>
        </p:sp>
        <p:sp>
          <p:nvSpPr>
            <p:cNvPr id="23" name="TextBox 22"/>
            <p:cNvSpPr txBox="1"/>
            <p:nvPr/>
          </p:nvSpPr>
          <p:spPr>
            <a:xfrm>
              <a:off x="1499616" y="4261104"/>
              <a:ext cx="2377440" cy="237744"/>
            </a:xfrm>
            <a:prstGeom prst="rect">
              <a:avLst/>
            </a:prstGeom>
            <a:noFill/>
          </p:spPr>
          <p:txBody>
            <a:bodyPr wrap="square" lIns="0" rIns="0" tIns="0" bIns="0" anchor="t"/>
            <a:lstStyle/>
            <a:p>
              <a:pPr algn="l">
                <a:lnSpc>
                  <a:spcPct val="100000"/>
                </a:lnSpc>
              </a:pPr>
              <a:r>
                <a:rPr sz="1060" b="1" i="0">
                  <a:solidFill>
                    <a:srgbClr val="FDFBF6"/>
                  </a:solidFill>
                  <a:latin typeface="Segoe UI"/>
                  <a:ea typeface="Segoe UI"/>
                  <a:cs typeface="Segoe UI"/>
                </a:rPr>
                <a:t>Payment is not receipt</a:t>
              </a:r>
            </a:p>
          </p:txBody>
        </p:sp>
        <p:sp>
          <p:nvSpPr>
            <p:cNvPr id="24" name="TextBox 23"/>
            <p:cNvSpPr txBox="1"/>
            <p:nvPr/>
          </p:nvSpPr>
          <p:spPr>
            <a:xfrm>
              <a:off x="1499616" y="4535424"/>
              <a:ext cx="5760720" cy="237744"/>
            </a:xfrm>
            <a:prstGeom prst="rect">
              <a:avLst/>
            </a:prstGeom>
            <a:noFill/>
          </p:spPr>
          <p:txBody>
            <a:bodyPr wrap="square" lIns="0" rIns="0" tIns="0" bIns="0" anchor="t"/>
            <a:lstStyle/>
            <a:p>
              <a:pPr algn="l">
                <a:lnSpc>
                  <a:spcPct val="100000"/>
                </a:lnSpc>
              </a:pPr>
              <a:r>
                <a:rPr sz="880" b="0" i="0">
                  <a:solidFill>
                    <a:srgbClr val="8BC7A6"/>
                  </a:solidFill>
                  <a:latin typeface="Segoe UI"/>
                  <a:ea typeface="Segoe UI"/>
                  <a:cs typeface="Segoe UI"/>
                </a:rPr>
                <a:t>Two actors, two timestamps, both visible.</a:t>
              </a:r>
            </a:p>
          </p:txBody>
        </p:sp>
      </p:grpSp>
      <p:grpSp>
        <p:nvGrpSpPr>
          <p:cNvPr id="25" name="!!takeaway-3"/>
          <p:cNvGrpSpPr/>
          <p:nvPr/>
        </p:nvGrpSpPr>
        <p:grpSpPr>
          <a:xfrm>
            <a:off x="786384" y="4992624"/>
            <a:ext cx="6675120" cy="713232"/>
            <a:chOff x="786384" y="4992624"/>
            <a:chExt cx="6675120" cy="713232"/>
          </a:xfrm>
        </p:grpSpPr>
        <p:sp>
          <p:nvSpPr>
            <p:cNvPr id="26" name="Rounded Rectangle 25"/>
            <p:cNvSpPr/>
            <p:nvPr/>
          </p:nvSpPr>
          <p:spPr>
            <a:xfrm>
              <a:off x="786384" y="4992624"/>
              <a:ext cx="6675120" cy="713232"/>
            </a:xfrm>
            <a:prstGeom prst="roundRect">
              <a:avLst>
                <a:gd name="adj" fmla="val 10256"/>
              </a:avLst>
            </a:prstGeom>
            <a:solidFill>
              <a:srgbClr val="163A2B"/>
            </a:solidFill>
            <a:ln w="7620">
              <a:solidFill>
                <a:srgbClr val="1F5941"/>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6"/>
            <p:cNvSpPr txBox="1"/>
            <p:nvPr/>
          </p:nvSpPr>
          <p:spPr>
            <a:xfrm>
              <a:off x="1005840" y="5212080"/>
              <a:ext cx="457200" cy="237744"/>
            </a:xfrm>
            <a:prstGeom prst="rect">
              <a:avLst/>
            </a:prstGeom>
            <a:noFill/>
          </p:spPr>
          <p:txBody>
            <a:bodyPr wrap="square" lIns="0" rIns="0" tIns="0" bIns="0" anchor="t"/>
            <a:lstStyle/>
            <a:p>
              <a:pPr algn="l">
                <a:lnSpc>
                  <a:spcPct val="100000"/>
                </a:lnSpc>
              </a:pPr>
              <a:r>
                <a:rPr sz="850" b="1" i="0">
                  <a:solidFill>
                    <a:srgbClr val="E5C068"/>
                  </a:solidFill>
                  <a:latin typeface="Consolas"/>
                  <a:ea typeface="Consolas"/>
                  <a:cs typeface="Consolas"/>
                </a:rPr>
                <a:t>03</a:t>
              </a:r>
            </a:p>
          </p:txBody>
        </p:sp>
        <p:sp>
          <p:nvSpPr>
            <p:cNvPr id="28" name="TextBox 27"/>
            <p:cNvSpPr txBox="1"/>
            <p:nvPr/>
          </p:nvSpPr>
          <p:spPr>
            <a:xfrm>
              <a:off x="1499616" y="5102352"/>
              <a:ext cx="2377440" cy="237744"/>
            </a:xfrm>
            <a:prstGeom prst="rect">
              <a:avLst/>
            </a:prstGeom>
            <a:noFill/>
          </p:spPr>
          <p:txBody>
            <a:bodyPr wrap="square" lIns="0" rIns="0" tIns="0" bIns="0" anchor="t"/>
            <a:lstStyle/>
            <a:p>
              <a:pPr algn="l">
                <a:lnSpc>
                  <a:spcPct val="100000"/>
                </a:lnSpc>
              </a:pPr>
              <a:r>
                <a:rPr sz="1060" b="1" i="0">
                  <a:solidFill>
                    <a:srgbClr val="FDFBF6"/>
                  </a:solidFill>
                  <a:latin typeface="Segoe UI"/>
                  <a:ea typeface="Segoe UI"/>
                  <a:cs typeface="Segoe UI"/>
                </a:rPr>
                <a:t>Integrity with limits</a:t>
              </a:r>
            </a:p>
          </p:txBody>
        </p:sp>
        <p:sp>
          <p:nvSpPr>
            <p:cNvPr id="29" name="TextBox 28"/>
            <p:cNvSpPr txBox="1"/>
            <p:nvPr/>
          </p:nvSpPr>
          <p:spPr>
            <a:xfrm>
              <a:off x="1499616" y="5376672"/>
              <a:ext cx="5760720" cy="237744"/>
            </a:xfrm>
            <a:prstGeom prst="rect">
              <a:avLst/>
            </a:prstGeom>
            <a:noFill/>
          </p:spPr>
          <p:txBody>
            <a:bodyPr wrap="square" lIns="0" rIns="0" tIns="0" bIns="0" anchor="t"/>
            <a:lstStyle/>
            <a:p>
              <a:pPr algn="l">
                <a:lnSpc>
                  <a:spcPct val="100000"/>
                </a:lnSpc>
              </a:pPr>
              <a:r>
                <a:rPr sz="880" b="0" i="0">
                  <a:solidFill>
                    <a:srgbClr val="8BC7A6"/>
                  </a:solidFill>
                  <a:latin typeface="Segoe UI"/>
                  <a:ea typeface="Segoe UI"/>
                  <a:cs typeface="Segoe UI"/>
                </a:rPr>
                <a:t>SHA-256 chaining that says what it can and cannot prove.</a:t>
              </a:r>
            </a:p>
          </p:txBody>
        </p:sp>
      </p:grpSp>
      <p:sp>
        <p:nvSpPr>
          <p:cNvPr id="30" name="!!closing-card"/>
          <p:cNvSpPr/>
          <p:nvPr/>
        </p:nvSpPr>
        <p:spPr>
          <a:xfrm>
            <a:off x="8001000" y="1792224"/>
            <a:ext cx="3401568" cy="4160520"/>
          </a:xfrm>
          <a:prstGeom prst="roundRect">
            <a:avLst>
              <a:gd name="adj" fmla="val 3763"/>
            </a:avLst>
          </a:prstGeom>
          <a:solidFill>
            <a:srgbClr val="163A2B"/>
          </a:solidFill>
          <a:ln w="11430">
            <a:solidFill>
              <a:srgbClr val="845321"/>
            </a:solidFill>
          </a:ln>
          <a:effectLst>
            <a:outerShdw blurRad="228600" dist="76200" dir="5400000" rotWithShape="0">
              <a:srgbClr val="0A2219">
                <a:alpha val="16000"/>
              </a:srgbClr>
            </a:outerShdw>
          </a:effectLst>
          <a:scene3d>
            <a:camera prst="perspectiveFront" fov="3600000" zoom="100000">
              <a:rot lat="0" lon="240000" rev="0"/>
            </a:camera>
            <a:lightRig rig="threePt" dir="t">
              <a:rot lat="0" lon="0" rev="0"/>
            </a:lightRig>
          </a:scene3d>
          <a:sp3d>
            <a:bevelT w="22860" h="2286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8275320" y="2011680"/>
            <a:ext cx="2834640" cy="219456"/>
          </a:xfrm>
          <a:prstGeom prst="rect">
            <a:avLst/>
          </a:prstGeom>
          <a:noFill/>
        </p:spPr>
        <p:txBody>
          <a:bodyPr wrap="square" lIns="0" rIns="0" tIns="0" bIns="0" anchor="t"/>
          <a:lstStyle/>
          <a:p>
            <a:pPr algn="l">
              <a:lnSpc>
                <a:spcPct val="100000"/>
              </a:lnSpc>
            </a:pPr>
            <a:r>
              <a:rPr sz="740" b="1" i="0" spc="140">
                <a:solidFill>
                  <a:srgbClr val="E5C068"/>
                </a:solidFill>
                <a:latin typeface="Segoe UI"/>
                <a:ea typeface="Segoe UI"/>
                <a:cs typeface="Segoe UI"/>
              </a:rPr>
              <a:t>THE LINE TO REMEMBER</a:t>
            </a:r>
          </a:p>
        </p:txBody>
      </p:sp>
      <p:sp>
        <p:nvSpPr>
          <p:cNvPr id="32" name="TextBox 31"/>
          <p:cNvSpPr txBox="1"/>
          <p:nvPr/>
        </p:nvSpPr>
        <p:spPr>
          <a:xfrm>
            <a:off x="8275320" y="2304288"/>
            <a:ext cx="2880360" cy="2194560"/>
          </a:xfrm>
          <a:prstGeom prst="rect">
            <a:avLst/>
          </a:prstGeom>
          <a:noFill/>
        </p:spPr>
        <p:txBody>
          <a:bodyPr wrap="square" lIns="0" rIns="0" tIns="0" bIns="0" anchor="t"/>
          <a:lstStyle/>
          <a:p>
            <a:pPr algn="l">
              <a:lnSpc>
                <a:spcPct val="150000"/>
              </a:lnSpc>
              <a:spcAft>
                <a:spcPts val="0"/>
              </a:spcAft>
            </a:pPr>
            <a:r>
              <a:rPr sz="1500" b="1" i="0">
                <a:solidFill>
                  <a:srgbClr val="FDFBF6"/>
                </a:solidFill>
                <a:latin typeface="Georgia"/>
                <a:ea typeface="Georgia"/>
                <a:cs typeface="Georgia"/>
              </a:rPr>
              <a:t>Every shift recorded.</a:t>
            </a:r>
          </a:p>
          <a:p>
            <a:pPr algn="l">
              <a:lnSpc>
                <a:spcPct val="150000"/>
              </a:lnSpc>
              <a:spcAft>
                <a:spcPts val="0"/>
              </a:spcAft>
            </a:pPr>
            <a:r>
              <a:rPr sz="1500" b="1" i="0">
                <a:solidFill>
                  <a:srgbClr val="FDFBF6"/>
                </a:solidFill>
                <a:latin typeface="Georgia"/>
                <a:ea typeface="Georgia"/>
                <a:cs typeface="Georgia"/>
              </a:rPr>
              <a:t>Every wage explained.</a:t>
            </a:r>
          </a:p>
          <a:p>
            <a:pPr algn="l">
              <a:lnSpc>
                <a:spcPct val="150000"/>
              </a:lnSpc>
            </a:pPr>
            <a:r>
              <a:rPr sz="1500" b="1" i="0">
                <a:solidFill>
                  <a:srgbClr val="FDFBF6"/>
                </a:solidFill>
                <a:latin typeface="Georgia"/>
                <a:ea typeface="Georgia"/>
                <a:cs typeface="Georgia"/>
              </a:rPr>
              <a:t>Every change traceable.</a:t>
            </a:r>
          </a:p>
        </p:txBody>
      </p:sp>
      <p:sp>
        <p:nvSpPr>
          <p:cNvPr id="33" name="Rectangle 32"/>
          <p:cNvSpPr/>
          <p:nvPr/>
        </p:nvSpPr>
        <p:spPr>
          <a:xfrm>
            <a:off x="8275320" y="4498848"/>
            <a:ext cx="1097280" cy="27432"/>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3"/>
          <p:cNvSpPr txBox="1"/>
          <p:nvPr/>
        </p:nvSpPr>
        <p:spPr>
          <a:xfrm>
            <a:off x="8275320" y="4663440"/>
            <a:ext cx="2880360" cy="777240"/>
          </a:xfrm>
          <a:prstGeom prst="rect">
            <a:avLst/>
          </a:prstGeom>
          <a:noFill/>
        </p:spPr>
        <p:txBody>
          <a:bodyPr wrap="square" lIns="0" rIns="0" tIns="0" bIns="0" anchor="t"/>
          <a:lstStyle/>
          <a:p>
            <a:pPr algn="l">
              <a:lnSpc>
                <a:spcPct val="124000"/>
              </a:lnSpc>
            </a:pPr>
            <a:r>
              <a:rPr sz="940" b="0" i="0">
                <a:solidFill>
                  <a:srgbClr val="BADFCA"/>
                </a:solidFill>
                <a:latin typeface="Segoe UI"/>
                <a:ea typeface="Segoe UI"/>
                <a:cs typeface="Segoe UI"/>
              </a:rPr>
              <a:t>An academic prototype, honestly scoped — and a foundation that a real deployment could stand on.</a:t>
            </a:r>
          </a:p>
        </p:txBody>
      </p:sp>
      <p:sp>
        <p:nvSpPr>
          <p:cNvPr id="35" name="TextBox 34"/>
          <p:cNvSpPr txBox="1"/>
          <p:nvPr/>
        </p:nvSpPr>
        <p:spPr>
          <a:xfrm>
            <a:off x="8275320" y="5504688"/>
            <a:ext cx="2880360" cy="219456"/>
          </a:xfrm>
          <a:prstGeom prst="rect">
            <a:avLst/>
          </a:prstGeom>
          <a:noFill/>
        </p:spPr>
        <p:txBody>
          <a:bodyPr wrap="square" lIns="0" rIns="0" tIns="0" bIns="0" anchor="t"/>
          <a:lstStyle/>
          <a:p>
            <a:pPr algn="l">
              <a:lnSpc>
                <a:spcPct val="100000"/>
              </a:lnSpc>
            </a:pPr>
            <a:r>
              <a:rPr sz="740" b="0" i="0">
                <a:solidFill>
                  <a:srgbClr val="57A97E"/>
                </a:solidFill>
                <a:latin typeface="Consolas"/>
                <a:ea typeface="Consolas"/>
                <a:cs typeface="Consolas"/>
              </a:rPr>
              <a:t>8 blocks · 39 assertions · ₹0 hardware</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2219"/>
        </a:solidFill>
        <a:effectLst/>
      </p:bgPr>
    </p:bg>
    <p:spTree>
      <p:nvGrpSpPr>
        <p:cNvPr id="1" name=""/>
        <p:cNvGrpSpPr/>
        <p:nvPr/>
      </p:nvGrpSpPr>
      <p:grpSpPr/>
      <p:pic>
        <p:nvPicPr>
          <p:cNvPr id="2" name="!!closing-photo" descr="construction_site_muster_1792385014214.jpg"/>
          <p:cNvPicPr>
            <a:picLocks noChangeAspect="1"/>
          </p:cNvPicPr>
          <p:nvPr/>
        </p:nvPicPr>
        <p:blipFill>
          <a:blip r:embed="rId2"/>
          <a:stretch>
            <a:fillRect/>
          </a:stretch>
        </p:blipFill>
        <p:spPr>
          <a:xfrm>
            <a:off x="-822960" y="-1234440"/>
            <a:ext cx="13898880" cy="10377830"/>
          </a:xfrm>
          <a:prstGeom prst="rect">
            <a:avLst/>
          </a:prstGeom>
        </p:spPr>
      </p:pic>
      <p:sp>
        <p:nvSpPr>
          <p:cNvPr id="3" name="Rectangle 2"/>
          <p:cNvSpPr/>
          <p:nvPr/>
        </p:nvSpPr>
        <p:spPr>
          <a:xfrm>
            <a:off x="0" y="0"/>
            <a:ext cx="12191695" cy="6858000"/>
          </a:xfrm>
          <a:prstGeom prst="rect">
            <a:avLst/>
          </a:prstGeom>
          <a:gradFill rotWithShape="1">
            <a:gsLst>
              <a:gs pos="0">
                <a:srgbClr val="0A2219"/>
              </a:gs>
              <a:gs pos="28000">
                <a:srgbClr val="0A2219">
                  <a:alpha val="98500"/>
                </a:srgbClr>
              </a:gs>
              <a:gs pos="55000">
                <a:srgbClr val="0A2219">
                  <a:alpha val="90000"/>
                </a:srgbClr>
              </a:gs>
              <a:gs pos="78000">
                <a:srgbClr val="0A2219">
                  <a:alpha val="74000"/>
                </a:srgbClr>
              </a:gs>
              <a:gs pos="100000">
                <a:srgbClr val="0A2219">
                  <a:alpha val="60000"/>
                </a:srgbClr>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ectangle 3"/>
          <p:cNvSpPr/>
          <p:nvPr/>
        </p:nvSpPr>
        <p:spPr>
          <a:xfrm>
            <a:off x="0" y="0"/>
            <a:ext cx="12191695" cy="6858000"/>
          </a:xfrm>
          <a:prstGeom prst="rect">
            <a:avLst/>
          </a:prstGeom>
          <a:solidFill>
            <a:srgbClr val="0A2219">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glow-a"/>
          <p:cNvSpPr/>
          <p:nvPr/>
        </p:nvSpPr>
        <p:spPr>
          <a:xfrm>
            <a:off x="7680960" y="-2743200"/>
            <a:ext cx="6583680" cy="6583680"/>
          </a:xfrm>
          <a:prstGeom prst="ellipse">
            <a:avLst/>
          </a:prstGeom>
          <a:gradFill rotWithShape="1">
            <a:gsLst>
              <a:gs pos="0">
                <a:srgbClr val="8BC7A6">
                  <a:alpha val="30000"/>
                </a:srgbClr>
              </a:gs>
              <a:gs pos="60000">
                <a:srgbClr val="8BC7A6">
                  <a:alpha val="13500"/>
                </a:srgbClr>
              </a:gs>
              <a:gs pos="100000">
                <a:srgbClr val="8BC7A6">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low-b"/>
          <p:cNvSpPr/>
          <p:nvPr/>
        </p:nvSpPr>
        <p:spPr>
          <a:xfrm>
            <a:off x="-2377440" y="3108960"/>
            <a:ext cx="5486400" cy="5486400"/>
          </a:xfrm>
          <a:prstGeom prst="ellipse">
            <a:avLst/>
          </a:prstGeom>
          <a:gradFill rotWithShape="1">
            <a:gsLst>
              <a:gs pos="0">
                <a:srgbClr val="D9A844">
                  <a:alpha val="24000"/>
                </a:srgbClr>
              </a:gs>
              <a:gs pos="60000">
                <a:srgbClr val="D9A844">
                  <a:alpha val="10800"/>
                </a:srgbClr>
              </a:gs>
              <a:gs pos="100000">
                <a:srgbClr val="D9A844">
                  <a:alpha val="0"/>
                </a:srgbClr>
              </a:gs>
            </a:gsLst>
            <a:path path="circle">
              <a:fillToRect l="50000" t="50000" r="50000" b="50000"/>
            </a:path>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
          <p:cNvSpPr/>
          <p:nvPr/>
        </p:nvSpPr>
        <p:spPr>
          <a:xfrm>
            <a:off x="402336" y="566928"/>
            <a:ext cx="16459" cy="5596128"/>
          </a:xfrm>
          <a:prstGeom prst="rect">
            <a:avLst/>
          </a:prstGeom>
          <a:solidFill>
            <a:srgbClr val="1B493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ail-fill"/>
          <p:cNvSpPr/>
          <p:nvPr/>
        </p:nvSpPr>
        <p:spPr>
          <a:xfrm>
            <a:off x="402336" y="566928"/>
            <a:ext cx="16459" cy="5596128"/>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ail-dot"/>
          <p:cNvSpPr/>
          <p:nvPr/>
        </p:nvSpPr>
        <p:spPr>
          <a:xfrm>
            <a:off x="352044" y="516635"/>
            <a:ext cx="118872" cy="118872"/>
          </a:xfrm>
          <a:prstGeom prst="ellipse">
            <a:avLst/>
          </a:prstGeom>
          <a:solidFill>
            <a:srgbClr val="E5C0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yebrow-mark"/>
          <p:cNvSpPr/>
          <p:nvPr/>
        </p:nvSpPr>
        <p:spPr>
          <a:xfrm>
            <a:off x="1060704" y="1207008"/>
            <a:ext cx="118872" cy="118872"/>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eyebrow"/>
          <p:cNvSpPr txBox="1"/>
          <p:nvPr/>
        </p:nvSpPr>
        <p:spPr>
          <a:xfrm>
            <a:off x="1271016" y="1133856"/>
            <a:ext cx="7315200" cy="256032"/>
          </a:xfrm>
          <a:prstGeom prst="rect">
            <a:avLst/>
          </a:prstGeom>
          <a:noFill/>
        </p:spPr>
        <p:txBody>
          <a:bodyPr wrap="square" lIns="0" rIns="0" tIns="0" bIns="0" anchor="t"/>
          <a:lstStyle/>
          <a:p>
            <a:pPr algn="l">
              <a:lnSpc>
                <a:spcPct val="100000"/>
              </a:lnSpc>
            </a:pPr>
            <a:r>
              <a:rPr sz="1000" b="1" i="0" spc="200">
                <a:solidFill>
                  <a:srgbClr val="E5C068"/>
                </a:solidFill>
                <a:latin typeface="Segoe UI"/>
                <a:ea typeface="Segoe UI"/>
                <a:cs typeface="Segoe UI"/>
              </a:rPr>
              <a:t>INDORE SAHODAYA   ·   COMPUTER SCIENCE   ·   2026</a:t>
            </a:r>
          </a:p>
        </p:txBody>
      </p:sp>
      <p:sp>
        <p:nvSpPr>
          <p:cNvPr id="12" name="!!title"/>
          <p:cNvSpPr txBox="1"/>
          <p:nvPr/>
        </p:nvSpPr>
        <p:spPr>
          <a:xfrm>
            <a:off x="1060704" y="1572768"/>
            <a:ext cx="7498079" cy="1188720"/>
          </a:xfrm>
          <a:prstGeom prst="rect">
            <a:avLst/>
          </a:prstGeom>
          <a:noFill/>
        </p:spPr>
        <p:txBody>
          <a:bodyPr wrap="square" lIns="0" rIns="0" tIns="0" bIns="0" anchor="t"/>
          <a:lstStyle/>
          <a:p>
            <a:pPr algn="l">
              <a:lnSpc>
                <a:spcPct val="95000"/>
              </a:lnSpc>
            </a:pPr>
            <a:r>
              <a:rPr sz="5600" b="1" i="0">
                <a:solidFill>
                  <a:srgbClr val="FFFFFF"/>
                </a:solidFill>
                <a:latin typeface="Georgia"/>
                <a:ea typeface="Georgia"/>
                <a:cs typeface="Georgia"/>
              </a:rPr>
              <a:t>Thank you</a:t>
            </a:r>
          </a:p>
        </p:txBody>
      </p:sp>
      <p:sp>
        <p:nvSpPr>
          <p:cNvPr id="13" name="!!rule"/>
          <p:cNvSpPr/>
          <p:nvPr/>
        </p:nvSpPr>
        <p:spPr>
          <a:xfrm>
            <a:off x="1060704" y="2798064"/>
            <a:ext cx="1325880" cy="41148"/>
          </a:xfrm>
          <a:prstGeom prst="rect">
            <a:avLst/>
          </a:prstGeom>
          <a:solidFill>
            <a:srgbClr val="D9A84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dek"/>
          <p:cNvSpPr txBox="1"/>
          <p:nvPr/>
        </p:nvSpPr>
        <p:spPr>
          <a:xfrm>
            <a:off x="1060704" y="2962656"/>
            <a:ext cx="6949440" cy="731520"/>
          </a:xfrm>
          <a:prstGeom prst="rect">
            <a:avLst/>
          </a:prstGeom>
          <a:noFill/>
        </p:spPr>
        <p:txBody>
          <a:bodyPr wrap="square" lIns="0" rIns="0" tIns="0" bIns="0" anchor="t"/>
          <a:lstStyle/>
          <a:p>
            <a:pPr algn="l">
              <a:lnSpc>
                <a:spcPct val="124000"/>
              </a:lnSpc>
            </a:pPr>
            <a:r>
              <a:rPr sz="1400" b="0" i="0">
                <a:solidFill>
                  <a:srgbClr val="F0E9DA"/>
                </a:solidFill>
                <a:latin typeface="Segoe UI"/>
                <a:ea typeface="Segoe UI"/>
                <a:cs typeface="Segoe UI"/>
              </a:rPr>
              <a:t>Questions, critique and field-test invitations are welcome — the next step is a site trial, not a bigger feature list.</a:t>
            </a:r>
          </a:p>
        </p:txBody>
      </p:sp>
      <p:sp>
        <p:nvSpPr>
          <p:cNvPr id="15" name="TextBox 14"/>
          <p:cNvSpPr txBox="1"/>
          <p:nvPr/>
        </p:nvSpPr>
        <p:spPr>
          <a:xfrm>
            <a:off x="1060704" y="4160520"/>
            <a:ext cx="1554480" cy="201168"/>
          </a:xfrm>
          <a:prstGeom prst="rect">
            <a:avLst/>
          </a:prstGeom>
          <a:noFill/>
        </p:spPr>
        <p:txBody>
          <a:bodyPr wrap="square" lIns="0" rIns="0" tIns="0" bIns="0" anchor="t"/>
          <a:lstStyle/>
          <a:p>
            <a:pPr algn="l">
              <a:lnSpc>
                <a:spcPct val="100000"/>
              </a:lnSpc>
            </a:pPr>
            <a:r>
              <a:rPr sz="750" b="1" i="0" spc="140">
                <a:solidFill>
                  <a:srgbClr val="D9A844"/>
                </a:solidFill>
                <a:latin typeface="Segoe UI"/>
                <a:ea typeface="Segoe UI"/>
                <a:cs typeface="Segoe UI"/>
              </a:rPr>
              <a:t>PRESENTED BY</a:t>
            </a:r>
          </a:p>
        </p:txBody>
      </p:sp>
      <p:sp>
        <p:nvSpPr>
          <p:cNvPr id="16" name="TextBox 15"/>
          <p:cNvSpPr txBox="1"/>
          <p:nvPr/>
        </p:nvSpPr>
        <p:spPr>
          <a:xfrm>
            <a:off x="2670048" y="4128515"/>
            <a:ext cx="5486400" cy="237744"/>
          </a:xfrm>
          <a:prstGeom prst="rect">
            <a:avLst/>
          </a:prstGeom>
          <a:noFill/>
        </p:spPr>
        <p:txBody>
          <a:bodyPr wrap="square" lIns="0" rIns="0" tIns="0" bIns="0" anchor="t"/>
          <a:lstStyle/>
          <a:p>
            <a:pPr algn="l">
              <a:lnSpc>
                <a:spcPct val="100000"/>
              </a:lnSpc>
            </a:pPr>
            <a:r>
              <a:rPr sz="1050" b="0" i="0">
                <a:solidFill>
                  <a:srgbClr val="E3D8C2"/>
                </a:solidFill>
                <a:latin typeface="Segoe UI"/>
                <a:ea typeface="Segoe UI"/>
                <a:cs typeface="Segoe UI"/>
              </a:rPr>
              <a:t>[Student name] · Class [ ]</a:t>
            </a:r>
          </a:p>
        </p:txBody>
      </p:sp>
      <p:sp>
        <p:nvSpPr>
          <p:cNvPr id="17" name="TextBox 16"/>
          <p:cNvSpPr txBox="1"/>
          <p:nvPr/>
        </p:nvSpPr>
        <p:spPr>
          <a:xfrm>
            <a:off x="1060704" y="4562856"/>
            <a:ext cx="1554480" cy="201168"/>
          </a:xfrm>
          <a:prstGeom prst="rect">
            <a:avLst/>
          </a:prstGeom>
          <a:noFill/>
        </p:spPr>
        <p:txBody>
          <a:bodyPr wrap="square" lIns="0" rIns="0" tIns="0" bIns="0" anchor="t"/>
          <a:lstStyle/>
          <a:p>
            <a:pPr algn="l">
              <a:lnSpc>
                <a:spcPct val="100000"/>
              </a:lnSpc>
            </a:pPr>
            <a:r>
              <a:rPr sz="750" b="1" i="0" spc="140">
                <a:solidFill>
                  <a:srgbClr val="D9A844"/>
                </a:solidFill>
                <a:latin typeface="Segoe UI"/>
                <a:ea typeface="Segoe UI"/>
                <a:cs typeface="Segoe UI"/>
              </a:rPr>
              <a:t>GUIDE</a:t>
            </a:r>
          </a:p>
        </p:txBody>
      </p:sp>
      <p:sp>
        <p:nvSpPr>
          <p:cNvPr id="18" name="TextBox 17"/>
          <p:cNvSpPr txBox="1"/>
          <p:nvPr/>
        </p:nvSpPr>
        <p:spPr>
          <a:xfrm>
            <a:off x="2670048" y="4530852"/>
            <a:ext cx="5486400" cy="237744"/>
          </a:xfrm>
          <a:prstGeom prst="rect">
            <a:avLst/>
          </a:prstGeom>
          <a:noFill/>
        </p:spPr>
        <p:txBody>
          <a:bodyPr wrap="square" lIns="0" rIns="0" tIns="0" bIns="0" anchor="t"/>
          <a:lstStyle/>
          <a:p>
            <a:pPr algn="l">
              <a:lnSpc>
                <a:spcPct val="100000"/>
              </a:lnSpc>
            </a:pPr>
            <a:r>
              <a:rPr sz="1050" b="0" i="0">
                <a:solidFill>
                  <a:srgbClr val="E3D8C2"/>
                </a:solidFill>
                <a:latin typeface="Segoe UI"/>
                <a:ea typeface="Segoe UI"/>
                <a:cs typeface="Segoe UI"/>
              </a:rPr>
              <a:t>[Guide / Supervisor name]</a:t>
            </a:r>
          </a:p>
        </p:txBody>
      </p:sp>
      <p:sp>
        <p:nvSpPr>
          <p:cNvPr id="19" name="TextBox 18"/>
          <p:cNvSpPr txBox="1"/>
          <p:nvPr/>
        </p:nvSpPr>
        <p:spPr>
          <a:xfrm>
            <a:off x="1060704" y="4965192"/>
            <a:ext cx="1554480" cy="201168"/>
          </a:xfrm>
          <a:prstGeom prst="rect">
            <a:avLst/>
          </a:prstGeom>
          <a:noFill/>
        </p:spPr>
        <p:txBody>
          <a:bodyPr wrap="square" lIns="0" rIns="0" tIns="0" bIns="0" anchor="t"/>
          <a:lstStyle/>
          <a:p>
            <a:pPr algn="l">
              <a:lnSpc>
                <a:spcPct val="100000"/>
              </a:lnSpc>
            </a:pPr>
            <a:r>
              <a:rPr sz="750" b="1" i="0" spc="140">
                <a:solidFill>
                  <a:srgbClr val="D9A844"/>
                </a:solidFill>
                <a:latin typeface="Segoe UI"/>
                <a:ea typeface="Segoe UI"/>
                <a:cs typeface="Segoe UI"/>
              </a:rPr>
              <a:t>INSTITUTION</a:t>
            </a:r>
          </a:p>
        </p:txBody>
      </p:sp>
      <p:sp>
        <p:nvSpPr>
          <p:cNvPr id="20" name="TextBox 19"/>
          <p:cNvSpPr txBox="1"/>
          <p:nvPr/>
        </p:nvSpPr>
        <p:spPr>
          <a:xfrm>
            <a:off x="2670048" y="4933188"/>
            <a:ext cx="5486400" cy="237744"/>
          </a:xfrm>
          <a:prstGeom prst="rect">
            <a:avLst/>
          </a:prstGeom>
          <a:noFill/>
        </p:spPr>
        <p:txBody>
          <a:bodyPr wrap="square" lIns="0" rIns="0" tIns="0" bIns="0" anchor="t"/>
          <a:lstStyle/>
          <a:p>
            <a:pPr algn="l">
              <a:lnSpc>
                <a:spcPct val="100000"/>
              </a:lnSpc>
            </a:pPr>
            <a:r>
              <a:rPr sz="1050" b="0" i="0">
                <a:solidFill>
                  <a:srgbClr val="E3D8C2"/>
                </a:solidFill>
                <a:latin typeface="Segoe UI"/>
                <a:ea typeface="Segoe UI"/>
                <a:cs typeface="Segoe UI"/>
              </a:rPr>
              <a:t>[School name] · Indore, Madhya Pradesh</a:t>
            </a:r>
          </a:p>
        </p:txBody>
      </p:sp>
      <p:sp>
        <p:nvSpPr>
          <p:cNvPr id="21" name="!!closing-qr-card"/>
          <p:cNvSpPr/>
          <p:nvPr/>
        </p:nvSpPr>
        <p:spPr>
          <a:xfrm>
            <a:off x="9646920" y="3840480"/>
            <a:ext cx="1737360" cy="2331720"/>
          </a:xfrm>
          <a:prstGeom prst="roundRect">
            <a:avLst>
              <a:gd name="adj" fmla="val 5263"/>
            </a:avLst>
          </a:prstGeom>
          <a:solidFill>
            <a:srgbClr val="FDFBF6"/>
          </a:solidFill>
          <a:ln>
            <a:noFill/>
          </a:ln>
          <a:effectLst>
            <a:outerShdw blurRad="228600" dist="76200" dir="5400000" rotWithShape="0">
              <a:srgbClr val="0A2219">
                <a:alpha val="16000"/>
              </a:srgbClr>
            </a:outerShdw>
          </a:effectLst>
          <a:sp3d>
            <a:bevelT w="17780" h="17780" prst="circle"/>
          </a:sp3d>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grpSp>
        <p:nvGrpSpPr>
          <p:cNvPr id="22" name="!!closing-qr"/>
          <p:cNvGrpSpPr/>
          <p:nvPr/>
        </p:nvGrpSpPr>
        <p:grpSpPr>
          <a:xfrm>
            <a:off x="10014342" y="4134750"/>
            <a:ext cx="1002514" cy="1002514"/>
            <a:chOff x="10014342" y="4134750"/>
            <a:chExt cx="1002514" cy="1002514"/>
          </a:xfrm>
        </p:grpSpPr>
        <p:sp>
          <p:nvSpPr>
            <p:cNvPr id="23" name="Rectangle 22"/>
            <p:cNvSpPr/>
            <p:nvPr/>
          </p:nvSpPr>
          <p:spPr>
            <a:xfrm>
              <a:off x="10459904" y="4134750"/>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ectangle 23"/>
            <p:cNvSpPr/>
            <p:nvPr/>
          </p:nvSpPr>
          <p:spPr>
            <a:xfrm>
              <a:off x="10348514" y="4246141"/>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Rectangle 24"/>
            <p:cNvSpPr/>
            <p:nvPr/>
          </p:nvSpPr>
          <p:spPr>
            <a:xfrm>
              <a:off x="10237123" y="4468922"/>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ectangle 25"/>
            <p:cNvSpPr/>
            <p:nvPr/>
          </p:nvSpPr>
          <p:spPr>
            <a:xfrm>
              <a:off x="10459904" y="4468922"/>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Rectangle 26"/>
            <p:cNvSpPr/>
            <p:nvPr/>
          </p:nvSpPr>
          <p:spPr>
            <a:xfrm>
              <a:off x="10571295" y="4468922"/>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Rectangle 27"/>
            <p:cNvSpPr/>
            <p:nvPr/>
          </p:nvSpPr>
          <p:spPr>
            <a:xfrm>
              <a:off x="10125733" y="4580312"/>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Rectangle 28"/>
            <p:cNvSpPr/>
            <p:nvPr/>
          </p:nvSpPr>
          <p:spPr>
            <a:xfrm>
              <a:off x="10237123" y="4580312"/>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Rectangle 29"/>
            <p:cNvSpPr/>
            <p:nvPr/>
          </p:nvSpPr>
          <p:spPr>
            <a:xfrm>
              <a:off x="10348514" y="4580312"/>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Rectangle 30"/>
            <p:cNvSpPr/>
            <p:nvPr/>
          </p:nvSpPr>
          <p:spPr>
            <a:xfrm>
              <a:off x="10682685" y="4580312"/>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Rectangle 31"/>
            <p:cNvSpPr/>
            <p:nvPr/>
          </p:nvSpPr>
          <p:spPr>
            <a:xfrm>
              <a:off x="10905466" y="4580312"/>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Rectangle 32"/>
            <p:cNvSpPr/>
            <p:nvPr/>
          </p:nvSpPr>
          <p:spPr>
            <a:xfrm>
              <a:off x="10014342" y="4691703"/>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Rectangle 33"/>
            <p:cNvSpPr/>
            <p:nvPr/>
          </p:nvSpPr>
          <p:spPr>
            <a:xfrm>
              <a:off x="10125733" y="4691703"/>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Rectangle 34"/>
            <p:cNvSpPr/>
            <p:nvPr/>
          </p:nvSpPr>
          <p:spPr>
            <a:xfrm>
              <a:off x="10237123" y="4691703"/>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ectangle 35"/>
            <p:cNvSpPr/>
            <p:nvPr/>
          </p:nvSpPr>
          <p:spPr>
            <a:xfrm>
              <a:off x="10682685" y="4691703"/>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Rectangle 36"/>
            <p:cNvSpPr/>
            <p:nvPr/>
          </p:nvSpPr>
          <p:spPr>
            <a:xfrm>
              <a:off x="10348514" y="4803093"/>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ectangle 37"/>
            <p:cNvSpPr/>
            <p:nvPr/>
          </p:nvSpPr>
          <p:spPr>
            <a:xfrm>
              <a:off x="10459904" y="4803093"/>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ectangle 38"/>
            <p:cNvSpPr/>
            <p:nvPr/>
          </p:nvSpPr>
          <p:spPr>
            <a:xfrm>
              <a:off x="10571295" y="4803093"/>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ectangle 39"/>
            <p:cNvSpPr/>
            <p:nvPr/>
          </p:nvSpPr>
          <p:spPr>
            <a:xfrm>
              <a:off x="10905466" y="4803093"/>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Rectangle 40"/>
            <p:cNvSpPr/>
            <p:nvPr/>
          </p:nvSpPr>
          <p:spPr>
            <a:xfrm>
              <a:off x="10348514" y="4914484"/>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Rectangle 41"/>
            <p:cNvSpPr/>
            <p:nvPr/>
          </p:nvSpPr>
          <p:spPr>
            <a:xfrm>
              <a:off x="10571295" y="4914484"/>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Rectangle 42"/>
            <p:cNvSpPr/>
            <p:nvPr/>
          </p:nvSpPr>
          <p:spPr>
            <a:xfrm>
              <a:off x="10682685" y="4914484"/>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Rectangle 43"/>
            <p:cNvSpPr/>
            <p:nvPr/>
          </p:nvSpPr>
          <p:spPr>
            <a:xfrm>
              <a:off x="10794076" y="4914484"/>
              <a:ext cx="102479" cy="102479"/>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Rectangle 44"/>
            <p:cNvSpPr/>
            <p:nvPr/>
          </p:nvSpPr>
          <p:spPr>
            <a:xfrm>
              <a:off x="10014342" y="4134750"/>
              <a:ext cx="334171" cy="334171"/>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Rectangle 45"/>
            <p:cNvSpPr/>
            <p:nvPr/>
          </p:nvSpPr>
          <p:spPr>
            <a:xfrm>
              <a:off x="10081176" y="4201584"/>
              <a:ext cx="200502" cy="2005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Rectangle 46"/>
            <p:cNvSpPr/>
            <p:nvPr/>
          </p:nvSpPr>
          <p:spPr>
            <a:xfrm>
              <a:off x="10142441" y="4262849"/>
              <a:ext cx="77973" cy="77973"/>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Rectangle 47"/>
            <p:cNvSpPr/>
            <p:nvPr/>
          </p:nvSpPr>
          <p:spPr>
            <a:xfrm>
              <a:off x="10682685" y="4134750"/>
              <a:ext cx="334171" cy="334171"/>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9" name="Rectangle 48"/>
            <p:cNvSpPr/>
            <p:nvPr/>
          </p:nvSpPr>
          <p:spPr>
            <a:xfrm>
              <a:off x="10749520" y="4201584"/>
              <a:ext cx="200502" cy="2005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0" name="Rectangle 49"/>
            <p:cNvSpPr/>
            <p:nvPr/>
          </p:nvSpPr>
          <p:spPr>
            <a:xfrm>
              <a:off x="10810784" y="4262849"/>
              <a:ext cx="77973" cy="77973"/>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1" name="Rectangle 50"/>
            <p:cNvSpPr/>
            <p:nvPr/>
          </p:nvSpPr>
          <p:spPr>
            <a:xfrm>
              <a:off x="10014342" y="4803093"/>
              <a:ext cx="334171" cy="334171"/>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2" name="Rectangle 51"/>
            <p:cNvSpPr/>
            <p:nvPr/>
          </p:nvSpPr>
          <p:spPr>
            <a:xfrm>
              <a:off x="10081176" y="4869928"/>
              <a:ext cx="200502" cy="2005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3" name="Rectangle 52"/>
            <p:cNvSpPr/>
            <p:nvPr/>
          </p:nvSpPr>
          <p:spPr>
            <a:xfrm>
              <a:off x="10142441" y="4931192"/>
              <a:ext cx="77973" cy="77973"/>
            </a:xfrm>
            <a:prstGeom prst="rect">
              <a:avLst/>
            </a:prstGeom>
            <a:solidFill>
              <a:srgbClr val="0A221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grpSp>
      <p:sp>
        <p:nvSpPr>
          <p:cNvPr id="54" name="Rectangle 53"/>
          <p:cNvSpPr/>
          <p:nvPr/>
        </p:nvSpPr>
        <p:spPr>
          <a:xfrm>
            <a:off x="9902952" y="5394960"/>
            <a:ext cx="1225296" cy="10972"/>
          </a:xfrm>
          <a:prstGeom prst="rect">
            <a:avLst/>
          </a:prstGeom>
          <a:solidFill>
            <a:srgbClr val="E3D8C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5" name="TextBox 54"/>
          <p:cNvSpPr txBox="1"/>
          <p:nvPr/>
        </p:nvSpPr>
        <p:spPr>
          <a:xfrm>
            <a:off x="9646920" y="5486400"/>
            <a:ext cx="1737360" cy="182880"/>
          </a:xfrm>
          <a:prstGeom prst="rect">
            <a:avLst/>
          </a:prstGeom>
          <a:noFill/>
        </p:spPr>
        <p:txBody>
          <a:bodyPr wrap="square" lIns="0" rIns="0" tIns="0" bIns="0" anchor="t"/>
          <a:lstStyle/>
          <a:p>
            <a:pPr algn="ctr">
              <a:lnSpc>
                <a:spcPct val="100000"/>
              </a:lnSpc>
            </a:pPr>
            <a:r>
              <a:rPr sz="640" b="1" i="0" spc="90">
                <a:solidFill>
                  <a:srgbClr val="1F5941"/>
                </a:solidFill>
                <a:latin typeface="Segoe UI"/>
                <a:ea typeface="Segoe UI"/>
                <a:cs typeface="Segoe UI"/>
              </a:rPr>
              <a:t>SCAN TO VERIFY</a:t>
            </a:r>
          </a:p>
        </p:txBody>
      </p:sp>
      <p:sp>
        <p:nvSpPr>
          <p:cNvPr id="56" name="TextBox 55"/>
          <p:cNvSpPr txBox="1"/>
          <p:nvPr/>
        </p:nvSpPr>
        <p:spPr>
          <a:xfrm>
            <a:off x="9646920" y="5687568"/>
            <a:ext cx="1737360" cy="365760"/>
          </a:xfrm>
          <a:prstGeom prst="rect">
            <a:avLst/>
          </a:prstGeom>
          <a:noFill/>
        </p:spPr>
        <p:txBody>
          <a:bodyPr wrap="square" lIns="0" rIns="0" tIns="0" bIns="0" anchor="t"/>
          <a:lstStyle/>
          <a:p>
            <a:pPr algn="ctr">
              <a:lnSpc>
                <a:spcPct val="100000"/>
              </a:lnSpc>
            </a:pPr>
            <a:r>
              <a:rPr sz="620" b="0" i="0">
                <a:solidFill>
                  <a:srgbClr val="557165"/>
                </a:solidFill>
                <a:latin typeface="Segoe UI"/>
                <a:ea typeface="Segoe UI"/>
                <a:cs typeface="Segoe UI"/>
              </a:rPr>
              <a:t>public pass verification</a:t>
            </a:r>
          </a:p>
        </p:txBody>
      </p:sp>
      <p:sp>
        <p:nvSpPr>
          <p:cNvPr id="57" name="!!footer"/>
          <p:cNvSpPr txBox="1"/>
          <p:nvPr/>
        </p:nvSpPr>
        <p:spPr>
          <a:xfrm>
            <a:off x="786384" y="6528816"/>
            <a:ext cx="7315200" cy="201168"/>
          </a:xfrm>
          <a:prstGeom prst="rect">
            <a:avLst/>
          </a:prstGeom>
          <a:noFill/>
        </p:spPr>
        <p:txBody>
          <a:bodyPr wrap="square" lIns="0" rIns="0" tIns="0" bIns="0" anchor="t"/>
          <a:lstStyle/>
          <a:p>
            <a:pPr algn="l">
              <a:lnSpc>
                <a:spcPct val="100000"/>
              </a:lnSpc>
            </a:pPr>
            <a:r>
              <a:rPr sz="850" b="0" i="0" spc="60">
                <a:solidFill>
                  <a:srgbClr val="57A97E"/>
                </a:solidFill>
                <a:latin typeface="Segoe UI"/>
                <a:ea typeface="Segoe UI"/>
                <a:cs typeface="Segoe UI"/>
              </a:rPr>
              <a:t>Shram Setu 2.0   ·   Indore Sahodaya Computer Science   ·   2026</a:t>
            </a:r>
          </a:p>
        </p:txBody>
      </p:sp>
      <p:sp>
        <p:nvSpPr>
          <p:cNvPr id="58" name="!!pageno"/>
          <p:cNvSpPr txBox="1"/>
          <p:nvPr/>
        </p:nvSpPr>
        <p:spPr>
          <a:xfrm>
            <a:off x="10698480" y="6510528"/>
            <a:ext cx="704088" cy="219456"/>
          </a:xfrm>
          <a:prstGeom prst="rect">
            <a:avLst/>
          </a:prstGeom>
          <a:noFill/>
        </p:spPr>
        <p:txBody>
          <a:bodyPr wrap="square" lIns="0" rIns="0" tIns="0" bIns="0" anchor="t"/>
          <a:lstStyle/>
          <a:p>
            <a:pPr algn="r">
              <a:lnSpc>
                <a:spcPct val="100000"/>
              </a:lnSpc>
            </a:pPr>
            <a:r>
              <a:rPr sz="900" b="0" i="0">
                <a:solidFill>
                  <a:srgbClr val="8BC7A6"/>
                </a:solidFill>
                <a:latin typeface="Consolas"/>
                <a:ea typeface="Consolas"/>
                <a:cs typeface="Consolas"/>
              </a:rPr>
              <a:t>26 / 26</a:t>
            </a:r>
          </a:p>
        </p:txBody>
      </p:sp>
    </p:spTree>
  </p:cSld>
  <p:clrMapOvr>
    <a:masterClrMapping/>
  </p:clrMapOvr>
  <mc:AlternateContent xmlns:mc="http://schemas.openxmlformats.org/markup-compatibility/2006">
    <mc:Choice xmlns:p14="http://schemas.microsoft.com/office/powerpoint/2010/main" Requires="p14">
      <p:transition spd="slow" p14:dur="1400">
        <p14: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Shram Setu 2.0 — Verified digital work &amp; wage records</dc:title>
  <dc:subject>Indore Sahodaya Computer Science presentation</dc:subject>
  <dc:creator>Shram Setu 2.0 project team</dc:creator>
  <cp:keywords>wage transparency, offline-first, SHA-256, IndexedDB, React, TypeScript, India, Indore Sahodaya</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