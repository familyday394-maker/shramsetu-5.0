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this is not an attendance app — it is a shared record of what was agreed, what was calculated, what was paid, and what is still disputed. Mention that the build shown is a working React prototype in local demo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thesis. Everything that follows either explains, implements or honestly bounds one of these three claims: explainable arithmetic, durable history, verifiable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map. Each section is one colour: emerald for the problem space, brass for design decisions, clay for risk and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room: which of these six could you prove in front of a labour officer today? Each card is a mechanism the rest of the deck will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to stress: (1) the amounts are administrative findings, not our claims; (2) the court case is about liability under existing law — it shows why contemporaneous, inspectable records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objectives, one question. Objectives 1–4 are about transparency; 5–6 about affordability and architecture; 7 about honest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careful and fair here: e-Shram and MGNREGS are not trying to do what we do. The point is that nobody in this row gives a private contractor–worker pair a shared, inspectable, offline-capable wage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engineering judgement: we removed a feature because it created a false sense of security rather than real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map one-to-one to the four questions in a dispute: what was the rate, what was recorded, was it changed, and can we trust the copy in front of 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contract layer: this is why adding Supabase later does not mean rewriting the wage engine or the hash chain. The planned row is dashed because it is honestly not connected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 is deliberately boring. Nothing here needs a paid service, and every piece is inspectable by a teacher or a judge without installing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important design decision: nothing is mutated in place. A correction is data, not a UI action that hides the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rows out loud. The last row is the one that matters: the balance is derived, not typed. Then say the paise line, which is the engineering detail that stops rounding drift. If asked about the status word: the report's inspector shows this record as unpaid until the worker acknowledges; we label it partly paid so the recorded ₹1,300 is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judge asks one technical question, hope it is this one. One function, integer paise, explicit rounding, payments treated as credits against the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answers 'so what?'. Two people can look at the same ledger and still see different states, because the states are honestly distinguished.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the word preserved. A payroll app would show ₹650 and move on; the dispute turns on the fact that it was once ₹550.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the hash covers the predecessor. That single design choice is what turns a list of rows into a chain that notices its own 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both columns out loud. Judges reward a team that can state the limits of its own mechanism without being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rule-based and not ML: a wage dispute needs a reason a worker can read, and a deterministic check can always print the exact values it compared.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replica of the real panel. Point out that the reason text is kept verbatim — the system stores the human explanation, not a category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'isn't a QR insecure?': yes, and we say so. The QR only resolves an opaque reference; the security boundary is authentication and row-level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this is the one workflow we could not complete without a backend, so we simulated it and labelled the simulation inside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most school projects overclaim. Say plainly: offline works within one browser; cross-device needs a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Explicitly refuse the compliance claim. It is the single easiest way to lose credibility with a judging panel that knows the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a laptop, this is where you switch to the live app. The bench exists so a judge can deliberately corrupt a record and watch the badge flip.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'reported' every time. This is an honesty cue: the numbers come from our verification report, and the report itself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slide exists because a school project must be affordable. Zero hardware is the headline; the honest caveat is that real operations are not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rush this slide. It is the one that distinguishes an engineering project from a demo reel.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sequence matters: durability, then sharing, then usability research. Adding features before fixing storage would just make the demo prettier.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argument: we did not build a dashboard, we built evidence — and we stated its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in reserve — it is usually only needed if a judge asks where a figure came from. The CAG and ILO sources support the context; nothing here supports a claim about the prototype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 judge to break it. The tamper bench is the most persuasive thirty seconds in the whole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58000">
                <a:srgbClr val="0C241B"/>
              </a:gs>
              <a:gs pos="100000">
                <a:srgbClr val="07160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3500" r="23500"/>
          <a:stretch>
            <a:fillRect/>
          </a:stretch>
        </p:blipFill>
        <p:spPr>
          <a:xfrm>
            <a:off x="6967728" y="-54864"/>
            <a:ext cx="5303520" cy="6967728"/>
          </a:xfrm>
          <a:prstGeom prst="roundRect">
            <a:avLst>
              <a:gd name="adj" fmla="val 0"/>
            </a:avLst>
          </a:prstGeom>
          <a:ln>
            <a:noFill/>
          </a:ln>
        </p:spPr>
      </p:pic>
      <p:sp>
        <p:nvSpPr>
          <p:cNvPr id="4" name="veil"/>
          <p:cNvSpPr/>
          <p:nvPr/>
        </p:nvSpPr>
        <p:spPr>
          <a:xfrm>
            <a:off x="6967728" y="0"/>
            <a:ext cx="1417320" cy="6858000"/>
          </a:xfrm>
          <a:prstGeom prst="rect">
            <a:avLst/>
          </a:prstGeom>
          <a:gradFill rotWithShape="1">
            <a:gsLst>
              <a:gs pos="0">
                <a:srgbClr val="0E2A20">
                  <a:alpha val="98000"/>
                </a:srgbClr>
              </a:gs>
              <a:gs pos="100000">
                <a:srgbClr val="0E2A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mark"/>
          <p:cNvSpPr/>
          <p:nvPr/>
        </p:nvSpPr>
        <p:spPr>
          <a:xfrm>
            <a:off x="804672" y="566928"/>
            <a:ext cx="356616" cy="356616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0"/>
          <p:cNvSpPr/>
          <p:nvPr/>
        </p:nvSpPr>
        <p:spPr>
          <a:xfrm>
            <a:off x="893826" y="667969"/>
            <a:ext cx="178308" cy="26151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bar1"/>
          <p:cNvSpPr/>
          <p:nvPr/>
        </p:nvSpPr>
        <p:spPr>
          <a:xfrm>
            <a:off x="893826" y="727405"/>
            <a:ext cx="178308" cy="26151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wm/bar2"/>
          <p:cNvSpPr/>
          <p:nvPr/>
        </p:nvSpPr>
        <p:spPr>
          <a:xfrm>
            <a:off x="893826" y="786841"/>
            <a:ext cx="178308" cy="26151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wm/text"/>
          <p:cNvSpPr txBox="1"/>
          <p:nvPr/>
        </p:nvSpPr>
        <p:spPr>
          <a:xfrm>
            <a:off x="1280160" y="549097"/>
            <a:ext cx="2555748" cy="3566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5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1235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11" name="eyebrow"/>
          <p:cNvSpPr txBox="1"/>
          <p:nvPr/>
        </p:nvSpPr>
        <p:spPr>
          <a:xfrm>
            <a:off x="822960" y="1389888"/>
            <a:ext cx="57607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spc="250">
                <a:solidFill>
                  <a:srgbClr val="E3B04B"/>
                </a:solidFill>
                <a:latin typeface="Calibri"/>
              </a:rPr>
              <a:t>INDORE SAHODAYA  ·  COMPUTER SCIENCE  ·  OCTOBER 2026</a:t>
            </a:r>
          </a:p>
        </p:txBody>
      </p:sp>
      <p:sp>
        <p:nvSpPr>
          <p:cNvPr id="12" name="rule"/>
          <p:cNvSpPr/>
          <p:nvPr/>
        </p:nvSpPr>
        <p:spPr>
          <a:xfrm>
            <a:off x="822960" y="1755648"/>
            <a:ext cx="1143000" cy="45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itle"/>
          <p:cNvSpPr txBox="1"/>
          <p:nvPr/>
        </p:nvSpPr>
        <p:spPr>
          <a:xfrm>
            <a:off x="786384" y="1975104"/>
            <a:ext cx="598932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Shram Setu 2.0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822960" y="2926080"/>
            <a:ext cx="562356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BC7A6"/>
                </a:solidFill>
                <a:latin typeface="Calibri"/>
              </a:rPr>
              <a:t>An offline-first, transparency-centred digital work-record system for India's daily-wage workers.</a:t>
            </a:r>
          </a:p>
        </p:txBody>
      </p:sp>
      <p:sp>
        <p:nvSpPr>
          <p:cNvPr id="15" name="tagbox"/>
          <p:cNvSpPr/>
          <p:nvPr/>
        </p:nvSpPr>
        <p:spPr>
          <a:xfrm>
            <a:off x="822960" y="4005072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17493A"/>
          </a:solidFill>
          <a:ln w="11430">
            <a:solidFill>
              <a:srgbClr val="B9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agbar"/>
          <p:cNvSpPr/>
          <p:nvPr/>
        </p:nvSpPr>
        <p:spPr>
          <a:xfrm>
            <a:off x="822960" y="4005072"/>
            <a:ext cx="50292" cy="566928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ag"/>
          <p:cNvSpPr txBox="1"/>
          <p:nvPr/>
        </p:nvSpPr>
        <p:spPr>
          <a:xfrm>
            <a:off x="969264" y="4041648"/>
            <a:ext cx="5303520" cy="4937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1">
                <a:solidFill>
                  <a:srgbClr val="F2D79B"/>
                </a:solidFill>
                <a:latin typeface="Georgia"/>
              </a:rPr>
              <a:t>Every shift recorded. Every wage explained. Every change traceable.</a:t>
            </a:r>
          </a:p>
        </p:txBody>
      </p:sp>
      <p:grpSp>
        <p:nvGrpSpPr>
          <p:cNvPr id="18" name="!!Card"/>
          <p:cNvGrpSpPr/>
          <p:nvPr/>
        </p:nvGrpSpPr>
        <p:grpSpPr>
          <a:xfrm>
            <a:off x="804672" y="4919472"/>
            <a:ext cx="2249424" cy="1316736"/>
            <a:chOff x="804672" y="4919472"/>
            <a:chExt cx="2249424" cy="1316736"/>
          </a:xfrm>
          <a:scene3d>
            <a:camera prst="perspectiveRelaxed" fov="42000" zoom="100000">
              <a:rot lat="-114000" lon="-414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9" name="card/base"/>
            <p:cNvSpPr/>
            <p:nvPr/>
          </p:nvSpPr>
          <p:spPr>
            <a:xfrm>
              <a:off x="804672" y="4919472"/>
              <a:ext cx="2249424" cy="1316736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20" name="card/head"/>
            <p:cNvSpPr/>
            <p:nvPr/>
          </p:nvSpPr>
          <p:spPr>
            <a:xfrm>
              <a:off x="822960" y="4937759"/>
              <a:ext cx="2212848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21" name="card/hl"/>
            <p:cNvSpPr txBox="1"/>
            <p:nvPr/>
          </p:nvSpPr>
          <p:spPr>
            <a:xfrm>
              <a:off x="923544" y="4960620"/>
              <a:ext cx="2011680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22" name="card/amt"/>
            <p:cNvSpPr txBox="1"/>
            <p:nvPr/>
          </p:nvSpPr>
          <p:spPr>
            <a:xfrm>
              <a:off x="923544" y="5230368"/>
              <a:ext cx="2011680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23" name="card/sub"/>
            <p:cNvSpPr txBox="1"/>
            <p:nvPr/>
          </p:nvSpPr>
          <p:spPr>
            <a:xfrm>
              <a:off x="923544" y="5614416"/>
              <a:ext cx="2011680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24" name="card/rule"/>
            <p:cNvSpPr/>
            <p:nvPr/>
          </p:nvSpPr>
          <p:spPr>
            <a:xfrm>
              <a:off x="923544" y="5815583"/>
              <a:ext cx="2011680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25" name="card/paid"/>
            <p:cNvSpPr txBox="1"/>
            <p:nvPr/>
          </p:nvSpPr>
          <p:spPr>
            <a:xfrm>
              <a:off x="923544" y="5870448"/>
              <a:ext cx="1005840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26" name="card/bal"/>
            <p:cNvSpPr txBox="1"/>
            <p:nvPr/>
          </p:nvSpPr>
          <p:spPr>
            <a:xfrm>
              <a:off x="1947672" y="5870448"/>
              <a:ext cx="1005840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sp>
        <p:nvSpPr>
          <p:cNvPr id="27" name="meta"/>
          <p:cNvSpPr txBox="1"/>
          <p:nvPr/>
        </p:nvSpPr>
        <p:spPr>
          <a:xfrm>
            <a:off x="3310128" y="4937760"/>
            <a:ext cx="342900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220">
                <a:solidFill>
                  <a:srgbClr val="8BC7A6"/>
                </a:solidFill>
                <a:latin typeface="Calibri"/>
              </a:rPr>
              <a:t>PRESENTED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Calibri"/>
              </a:rPr>
              <a:t>Student name  ·  Class ___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2211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220">
                <a:solidFill>
                  <a:srgbClr val="8BC7A6"/>
                </a:solidFill>
                <a:latin typeface="Calibri"/>
              </a:rPr>
              <a:t>GUIDE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Calibri"/>
              </a:rPr>
              <a:t>Teacher name</a:t>
            </a:r>
          </a:p>
        </p:txBody>
      </p:sp>
      <p:sp>
        <p:nvSpPr>
          <p:cNvPr id="28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!!RailFill"/>
          <p:cNvSpPr/>
          <p:nvPr/>
        </p:nvSpPr>
        <p:spPr>
          <a:xfrm>
            <a:off x="0" y="6675120"/>
            <a:ext cx="380990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!!Dot"/>
          <p:cNvSpPr/>
          <p:nvPr/>
        </p:nvSpPr>
        <p:spPr>
          <a:xfrm>
            <a:off x="330698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!!PageNo"/>
          <p:cNvSpPr txBox="1"/>
          <p:nvPr/>
        </p:nvSpPr>
        <p:spPr>
          <a:xfrm>
            <a:off x="580644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B04B"/>
                </a:solidFill>
                <a:latin typeface="Calibri"/>
              </a:rPr>
              <a:t>01</a:t>
            </a:r>
            <a:r>
              <a:rPr sz="850" b="0" i="0">
                <a:solidFill>
                  <a:srgbClr val="8BC7A6"/>
                </a:solidFill>
                <a:latin typeface="Calibri"/>
              </a:rPr>
              <a:t> / 32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52000">
                <a:srgbClr val="113528"/>
              </a:gs>
              <a:gs pos="100000">
                <a:srgbClr val="07160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!!Edge"/>
          <p:cNvSpPr/>
          <p:nvPr/>
        </p:nvSpPr>
        <p:spPr>
          <a:xfrm>
            <a:off x="0" y="0"/>
            <a:ext cx="12700" cy="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mark"/>
          <p:cNvSpPr/>
          <p:nvPr/>
        </p:nvSpPr>
        <p:spPr>
          <a:xfrm>
            <a:off x="804672" y="548640"/>
            <a:ext cx="351129" cy="351129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0"/>
          <p:cNvSpPr/>
          <p:nvPr/>
        </p:nvSpPr>
        <p:spPr>
          <a:xfrm>
            <a:off x="892454" y="648126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1"/>
          <p:cNvSpPr/>
          <p:nvPr/>
        </p:nvSpPr>
        <p:spPr>
          <a:xfrm>
            <a:off x="892454" y="706648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bar2"/>
          <p:cNvSpPr/>
          <p:nvPr/>
        </p:nvSpPr>
        <p:spPr>
          <a:xfrm>
            <a:off x="892454" y="765169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wm/text"/>
          <p:cNvSpPr txBox="1"/>
          <p:nvPr/>
        </p:nvSpPr>
        <p:spPr>
          <a:xfrm>
            <a:off x="1272844" y="531083"/>
            <a:ext cx="2516428" cy="351129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1216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822960" y="969264"/>
            <a:ext cx="54864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40">
                <a:solidFill>
                  <a:srgbClr val="E3B04B"/>
                </a:solidFill>
                <a:latin typeface="Calibri"/>
              </a:rPr>
              <a:t>SECTION 01  ·  CONTEXT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9528048" y="4828032"/>
            <a:ext cx="2121408" cy="1298448"/>
            <a:chOff x="9528048" y="4828032"/>
            <a:chExt cx="2121408" cy="1298448"/>
          </a:xfrm>
          <a:scene3d>
            <a:camera prst="perspectiveRelaxed" fov="42000" zoom="100000">
              <a:rot lat="-66000" lon="-558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9528048" y="4828032"/>
              <a:ext cx="2121408" cy="1280160"/>
            </a:xfrm>
            <a:prstGeom prst="roundRect">
              <a:avLst>
                <a:gd name="adj" fmla="val 6428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9546336" y="4846320"/>
              <a:ext cx="2084831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9646920" y="4869180"/>
              <a:ext cx="1883663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9646920" y="5138928"/>
              <a:ext cx="1883663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9646920" y="5522976"/>
              <a:ext cx="1883663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9646920" y="5724144"/>
              <a:ext cx="1883663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964692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060704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9528048" y="3127248"/>
            <a:ext cx="2121408" cy="1170432"/>
          </a:xfrm>
          <a:prstGeom prst="roundRect">
            <a:avLst>
              <a:gd name="adj" fmla="val 7031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!!RailFill"/>
          <p:cNvSpPr/>
          <p:nvPr/>
        </p:nvSpPr>
        <p:spPr>
          <a:xfrm>
            <a:off x="0" y="6675120"/>
            <a:ext cx="761980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Dot"/>
          <p:cNvSpPr/>
          <p:nvPr/>
        </p:nvSpPr>
        <p:spPr>
          <a:xfrm>
            <a:off x="711688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!!PageNo"/>
          <p:cNvSpPr txBox="1"/>
          <p:nvPr/>
        </p:nvSpPr>
        <p:spPr>
          <a:xfrm>
            <a:off x="100126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B04B"/>
                </a:solidFill>
                <a:latin typeface="Calibri"/>
              </a:rPr>
              <a:t>02</a:t>
            </a:r>
            <a:r>
              <a:rPr sz="850" b="0" i="0">
                <a:solidFill>
                  <a:srgbClr val="8BC7A6"/>
                </a:solidFill>
                <a:latin typeface="Calibri"/>
              </a:rPr>
              <a:t> / 32</a:t>
            </a:r>
          </a:p>
        </p:txBody>
      </p:sp>
      <p:sp>
        <p:nvSpPr>
          <p:cNvPr id="25" name="eyebrow"/>
          <p:cNvSpPr txBox="1"/>
          <p:nvPr/>
        </p:nvSpPr>
        <p:spPr>
          <a:xfrm>
            <a:off x="822960" y="1481328"/>
            <a:ext cx="5486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260">
                <a:solidFill>
                  <a:srgbClr val="E3B04B"/>
                </a:solidFill>
                <a:latin typeface="Calibri"/>
              </a:rPr>
              <a:t>THE CORE IDEA</a:t>
            </a:r>
          </a:p>
        </p:txBody>
      </p:sp>
      <p:sp>
        <p:nvSpPr>
          <p:cNvPr id="26" name="quote"/>
          <p:cNvSpPr txBox="1"/>
          <p:nvPr/>
        </p:nvSpPr>
        <p:spPr>
          <a:xfrm>
            <a:off x="786384" y="1783080"/>
            <a:ext cx="8321040" cy="1417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A wage you cannot inspect
is a wage you cannot defend.</a:t>
            </a:r>
          </a:p>
        </p:txBody>
      </p:sp>
      <p:sp>
        <p:nvSpPr>
          <p:cNvPr id="27" name="sub"/>
          <p:cNvSpPr txBox="1"/>
          <p:nvPr/>
        </p:nvSpPr>
        <p:spPr>
          <a:xfrm>
            <a:off x="822960" y="3310128"/>
            <a:ext cx="7772400" cy="6583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BC7A6"/>
                </a:solidFill>
                <a:latin typeface="Calibri"/>
              </a:rPr>
              <a:t>Shram Setu is a shared, durable record of what was agreed, what was calculated, what was paid — and what is still in dispute.</a:t>
            </a:r>
          </a:p>
        </p:txBody>
      </p:sp>
      <p:sp>
        <p:nvSpPr>
          <p:cNvPr id="28" name="pill0"/>
          <p:cNvSpPr/>
          <p:nvPr/>
        </p:nvSpPr>
        <p:spPr>
          <a:xfrm>
            <a:off x="822960" y="4315968"/>
            <a:ext cx="2688336" cy="1170432"/>
          </a:xfrm>
          <a:prstGeom prst="roundRect">
            <a:avLst>
              <a:gd name="adj" fmla="val 7812"/>
            </a:avLst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pillbar0"/>
          <p:cNvSpPr/>
          <p:nvPr/>
        </p:nvSpPr>
        <p:spPr>
          <a:xfrm>
            <a:off x="822960" y="4315968"/>
            <a:ext cx="2688336" cy="45720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pnum0"/>
          <p:cNvSpPr txBox="1"/>
          <p:nvPr/>
        </p:nvSpPr>
        <p:spPr>
          <a:xfrm>
            <a:off x="1042416" y="4443984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A574"/>
                </a:solidFill>
                <a:latin typeface="Georgia"/>
              </a:rPr>
              <a:t>01</a:t>
            </a:r>
          </a:p>
        </p:txBody>
      </p:sp>
      <p:sp>
        <p:nvSpPr>
          <p:cNvPr id="31" name="pt0"/>
          <p:cNvSpPr txBox="1"/>
          <p:nvPr/>
        </p:nvSpPr>
        <p:spPr>
          <a:xfrm>
            <a:off x="1042416" y="4663440"/>
            <a:ext cx="228600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FFFFFF"/>
                </a:solidFill>
                <a:latin typeface="Calibri"/>
              </a:rPr>
              <a:t>Explainable arithmetic</a:t>
            </a:r>
          </a:p>
        </p:txBody>
      </p:sp>
      <p:sp>
        <p:nvSpPr>
          <p:cNvPr id="32" name="pd0"/>
          <p:cNvSpPr txBox="1"/>
          <p:nvPr/>
        </p:nvSpPr>
        <p:spPr>
          <a:xfrm>
            <a:off x="1042416" y="4919472"/>
            <a:ext cx="224028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BC7A6"/>
                </a:solidFill>
                <a:latin typeface="Calibri"/>
              </a:rPr>
              <a:t>One engine prints the same step-by-step breakdown to every side.</a:t>
            </a:r>
          </a:p>
        </p:txBody>
      </p:sp>
      <p:sp>
        <p:nvSpPr>
          <p:cNvPr id="33" name="pill1"/>
          <p:cNvSpPr/>
          <p:nvPr/>
        </p:nvSpPr>
        <p:spPr>
          <a:xfrm>
            <a:off x="3675888" y="4315968"/>
            <a:ext cx="2688336" cy="1170432"/>
          </a:xfrm>
          <a:prstGeom prst="roundRect">
            <a:avLst>
              <a:gd name="adj" fmla="val 7812"/>
            </a:avLst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pillbar1"/>
          <p:cNvSpPr/>
          <p:nvPr/>
        </p:nvSpPr>
        <p:spPr>
          <a:xfrm>
            <a:off x="3675888" y="4315968"/>
            <a:ext cx="2688336" cy="45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pnum1"/>
          <p:cNvSpPr txBox="1"/>
          <p:nvPr/>
        </p:nvSpPr>
        <p:spPr>
          <a:xfrm>
            <a:off x="3895344" y="4443984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3B04B"/>
                </a:solidFill>
                <a:latin typeface="Georgia"/>
              </a:rPr>
              <a:t>02</a:t>
            </a:r>
          </a:p>
        </p:txBody>
      </p:sp>
      <p:sp>
        <p:nvSpPr>
          <p:cNvPr id="36" name="pt1"/>
          <p:cNvSpPr txBox="1"/>
          <p:nvPr/>
        </p:nvSpPr>
        <p:spPr>
          <a:xfrm>
            <a:off x="3895344" y="4663440"/>
            <a:ext cx="228600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FFFFFF"/>
                </a:solidFill>
                <a:latin typeface="Calibri"/>
              </a:rPr>
              <a:t>Durable history</a:t>
            </a:r>
          </a:p>
        </p:txBody>
      </p:sp>
      <p:sp>
        <p:nvSpPr>
          <p:cNvPr id="37" name="pd1"/>
          <p:cNvSpPr txBox="1"/>
          <p:nvPr/>
        </p:nvSpPr>
        <p:spPr>
          <a:xfrm>
            <a:off x="3895344" y="4919472"/>
            <a:ext cx="224028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BC7A6"/>
                </a:solidFill>
                <a:latin typeface="Calibri"/>
              </a:rPr>
              <a:t>Corrections keep the prior value, reason, actor and time.</a:t>
            </a:r>
          </a:p>
        </p:txBody>
      </p:sp>
      <p:sp>
        <p:nvSpPr>
          <p:cNvPr id="38" name="pill2"/>
          <p:cNvSpPr/>
          <p:nvPr/>
        </p:nvSpPr>
        <p:spPr>
          <a:xfrm>
            <a:off x="6528816" y="4315968"/>
            <a:ext cx="2688336" cy="1170432"/>
          </a:xfrm>
          <a:prstGeom prst="roundRect">
            <a:avLst>
              <a:gd name="adj" fmla="val 7812"/>
            </a:avLst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pillbar2"/>
          <p:cNvSpPr/>
          <p:nvPr/>
        </p:nvSpPr>
        <p:spPr>
          <a:xfrm>
            <a:off x="6528816" y="4315968"/>
            <a:ext cx="2688336" cy="45720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pnum2"/>
          <p:cNvSpPr txBox="1"/>
          <p:nvPr/>
        </p:nvSpPr>
        <p:spPr>
          <a:xfrm>
            <a:off x="6748272" y="4443984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2542D"/>
                </a:solidFill>
                <a:latin typeface="Georgia"/>
              </a:rPr>
              <a:t>03</a:t>
            </a:r>
          </a:p>
        </p:txBody>
      </p:sp>
      <p:sp>
        <p:nvSpPr>
          <p:cNvPr id="41" name="pt2"/>
          <p:cNvSpPr txBox="1"/>
          <p:nvPr/>
        </p:nvSpPr>
        <p:spPr>
          <a:xfrm>
            <a:off x="6748272" y="4663440"/>
            <a:ext cx="228600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FFFFFF"/>
                </a:solidFill>
                <a:latin typeface="Calibri"/>
              </a:rPr>
              <a:t>Verifiable record</a:t>
            </a:r>
          </a:p>
        </p:txBody>
      </p:sp>
      <p:sp>
        <p:nvSpPr>
          <p:cNvPr id="42" name="pd2"/>
          <p:cNvSpPr txBox="1"/>
          <p:nvPr/>
        </p:nvSpPr>
        <p:spPr>
          <a:xfrm>
            <a:off x="6748272" y="4919472"/>
            <a:ext cx="224028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BC7A6"/>
                </a:solidFill>
                <a:latin typeface="Calibri"/>
              </a:rPr>
              <a:t>Each record carries a SHA-256 link to the one before it.</a:t>
            </a:r>
          </a:p>
        </p:txBody>
      </p:sp>
      <p:sp>
        <p:nvSpPr>
          <p:cNvPr id="43" name="kicker"/>
          <p:cNvSpPr txBox="1"/>
          <p:nvPr/>
        </p:nvSpPr>
        <p:spPr>
          <a:xfrm>
            <a:off x="822960" y="583387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 spc="40">
                <a:solidFill>
                  <a:srgbClr val="F2D79B"/>
                </a:solidFill>
                <a:latin typeface="Calibri"/>
              </a:rPr>
              <a:t>One demo record: 4 days × ₹650 = ₹2,600 due  ·  ₹1,300 paid  ·  ₹1,300 outstanding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01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Context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198000" lon="-750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What this deck covers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What this deck covers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Six movements: the problem, the design response, the engineering, the integrity model, the evidence, and the honest boundary.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1142971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1092679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03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ag0"/>
          <p:cNvSpPr/>
          <p:nvPr/>
        </p:nvSpPr>
        <p:spPr>
          <a:xfrm>
            <a:off x="3803904" y="243230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agn0"/>
          <p:cNvSpPr txBox="1"/>
          <p:nvPr/>
        </p:nvSpPr>
        <p:spPr>
          <a:xfrm>
            <a:off x="4023360" y="2615184"/>
            <a:ext cx="5486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574"/>
                </a:solidFill>
                <a:latin typeface="Georgia"/>
              </a:rPr>
              <a:t>01</a:t>
            </a:r>
          </a:p>
        </p:txBody>
      </p:sp>
      <p:sp>
        <p:nvSpPr>
          <p:cNvPr id="31" name="agt0"/>
          <p:cNvSpPr txBox="1"/>
          <p:nvPr/>
        </p:nvSpPr>
        <p:spPr>
          <a:xfrm>
            <a:off x="4645152" y="2633472"/>
            <a:ext cx="2651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11B"/>
                </a:solidFill>
                <a:latin typeface="Calibri"/>
              </a:rPr>
              <a:t>Context</a:t>
            </a:r>
          </a:p>
        </p:txBody>
      </p:sp>
      <p:sp>
        <p:nvSpPr>
          <p:cNvPr id="32" name="agd0"/>
          <p:cNvSpPr txBox="1"/>
          <p:nvPr/>
        </p:nvSpPr>
        <p:spPr>
          <a:xfrm>
            <a:off x="4645152" y="2944368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E6459"/>
                </a:solidFill>
                <a:latin typeface="Calibri"/>
              </a:rPr>
              <a:t>The problem, the evidence, the research question</a:t>
            </a:r>
          </a:p>
        </p:txBody>
      </p:sp>
      <p:sp>
        <p:nvSpPr>
          <p:cNvPr id="33" name="agr0"/>
          <p:cNvSpPr/>
          <p:nvPr/>
        </p:nvSpPr>
        <p:spPr>
          <a:xfrm>
            <a:off x="4023360" y="3438144"/>
            <a:ext cx="457200" cy="27432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ag1"/>
          <p:cNvSpPr/>
          <p:nvPr/>
        </p:nvSpPr>
        <p:spPr>
          <a:xfrm>
            <a:off x="7818120" y="243230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agn1"/>
          <p:cNvSpPr txBox="1"/>
          <p:nvPr/>
        </p:nvSpPr>
        <p:spPr>
          <a:xfrm>
            <a:off x="8037576" y="2615184"/>
            <a:ext cx="5486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3B04B"/>
                </a:solidFill>
                <a:latin typeface="Georgia"/>
              </a:rPr>
              <a:t>02</a:t>
            </a:r>
          </a:p>
        </p:txBody>
      </p:sp>
      <p:sp>
        <p:nvSpPr>
          <p:cNvPr id="36" name="agt1"/>
          <p:cNvSpPr txBox="1"/>
          <p:nvPr/>
        </p:nvSpPr>
        <p:spPr>
          <a:xfrm>
            <a:off x="8659368" y="2633472"/>
            <a:ext cx="2651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11B"/>
                </a:solidFill>
                <a:latin typeface="Calibri"/>
              </a:rPr>
              <a:t>Design</a:t>
            </a:r>
          </a:p>
        </p:txBody>
      </p:sp>
      <p:sp>
        <p:nvSpPr>
          <p:cNvPr id="37" name="agd1"/>
          <p:cNvSpPr txBox="1"/>
          <p:nvPr/>
        </p:nvSpPr>
        <p:spPr>
          <a:xfrm>
            <a:off x="8659368" y="2944368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E6459"/>
                </a:solidFill>
                <a:latin typeface="Calibri"/>
              </a:rPr>
              <a:t>Why NFC became QR · scope · the four mechanisms</a:t>
            </a:r>
          </a:p>
        </p:txBody>
      </p:sp>
      <p:sp>
        <p:nvSpPr>
          <p:cNvPr id="38" name="agr1"/>
          <p:cNvSpPr/>
          <p:nvPr/>
        </p:nvSpPr>
        <p:spPr>
          <a:xfrm>
            <a:off x="8037576" y="3438144"/>
            <a:ext cx="457200" cy="27432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ag2"/>
          <p:cNvSpPr/>
          <p:nvPr/>
        </p:nvSpPr>
        <p:spPr>
          <a:xfrm>
            <a:off x="3803904" y="371246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agn2"/>
          <p:cNvSpPr txBox="1"/>
          <p:nvPr/>
        </p:nvSpPr>
        <p:spPr>
          <a:xfrm>
            <a:off x="4023360" y="3895344"/>
            <a:ext cx="5486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7A55"/>
                </a:solidFill>
                <a:latin typeface="Georgia"/>
              </a:rPr>
              <a:t>03</a:t>
            </a:r>
          </a:p>
        </p:txBody>
      </p:sp>
      <p:sp>
        <p:nvSpPr>
          <p:cNvPr id="41" name="agt2"/>
          <p:cNvSpPr txBox="1"/>
          <p:nvPr/>
        </p:nvSpPr>
        <p:spPr>
          <a:xfrm>
            <a:off x="4645152" y="3913632"/>
            <a:ext cx="2651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11B"/>
                </a:solidFill>
                <a:latin typeface="Calibri"/>
              </a:rPr>
              <a:t>Engineering</a:t>
            </a:r>
          </a:p>
        </p:txBody>
      </p:sp>
      <p:sp>
        <p:nvSpPr>
          <p:cNvPr id="42" name="agd2"/>
          <p:cNvSpPr txBox="1"/>
          <p:nvPr/>
        </p:nvSpPr>
        <p:spPr>
          <a:xfrm>
            <a:off x="4645152" y="4224528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E6459"/>
                </a:solidFill>
                <a:latin typeface="Calibri"/>
              </a:rPr>
              <a:t>Architecture · data model · wage engine · payment states</a:t>
            </a:r>
          </a:p>
        </p:txBody>
      </p:sp>
      <p:sp>
        <p:nvSpPr>
          <p:cNvPr id="43" name="agr2"/>
          <p:cNvSpPr/>
          <p:nvPr/>
        </p:nvSpPr>
        <p:spPr>
          <a:xfrm>
            <a:off x="4023360" y="4718304"/>
            <a:ext cx="457200" cy="27432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ag3"/>
          <p:cNvSpPr/>
          <p:nvPr/>
        </p:nvSpPr>
        <p:spPr>
          <a:xfrm>
            <a:off x="7818120" y="371246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agn3"/>
          <p:cNvSpPr txBox="1"/>
          <p:nvPr/>
        </p:nvSpPr>
        <p:spPr>
          <a:xfrm>
            <a:off x="8037576" y="3895344"/>
            <a:ext cx="5486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2542D"/>
                </a:solidFill>
                <a:latin typeface="Georgia"/>
              </a:rPr>
              <a:t>04</a:t>
            </a:r>
          </a:p>
        </p:txBody>
      </p:sp>
      <p:sp>
        <p:nvSpPr>
          <p:cNvPr id="46" name="agt3"/>
          <p:cNvSpPr txBox="1"/>
          <p:nvPr/>
        </p:nvSpPr>
        <p:spPr>
          <a:xfrm>
            <a:off x="8659368" y="3913632"/>
            <a:ext cx="2651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11B"/>
                </a:solidFill>
                <a:latin typeface="Calibri"/>
              </a:rPr>
              <a:t>Integrity</a:t>
            </a:r>
          </a:p>
        </p:txBody>
      </p:sp>
      <p:sp>
        <p:nvSpPr>
          <p:cNvPr id="47" name="agd3"/>
          <p:cNvSpPr txBox="1"/>
          <p:nvPr/>
        </p:nvSpPr>
        <p:spPr>
          <a:xfrm>
            <a:off x="8659368" y="4224528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E6459"/>
                </a:solidFill>
                <a:latin typeface="Calibri"/>
              </a:rPr>
              <a:t>Hash chain · seven rules · corrections · QR security</a:t>
            </a:r>
          </a:p>
        </p:txBody>
      </p:sp>
      <p:sp>
        <p:nvSpPr>
          <p:cNvPr id="48" name="agr3"/>
          <p:cNvSpPr/>
          <p:nvPr/>
        </p:nvSpPr>
        <p:spPr>
          <a:xfrm>
            <a:off x="8037576" y="4718304"/>
            <a:ext cx="457200" cy="27432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ag4"/>
          <p:cNvSpPr/>
          <p:nvPr/>
        </p:nvSpPr>
        <p:spPr>
          <a:xfrm>
            <a:off x="3803904" y="499262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agn4"/>
          <p:cNvSpPr txBox="1"/>
          <p:nvPr/>
        </p:nvSpPr>
        <p:spPr>
          <a:xfrm>
            <a:off x="4023360" y="5175504"/>
            <a:ext cx="5486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B9812C"/>
                </a:solidFill>
                <a:latin typeface="Georgia"/>
              </a:rPr>
              <a:t>05</a:t>
            </a:r>
          </a:p>
        </p:txBody>
      </p:sp>
      <p:sp>
        <p:nvSpPr>
          <p:cNvPr id="51" name="agt4"/>
          <p:cNvSpPr txBox="1"/>
          <p:nvPr/>
        </p:nvSpPr>
        <p:spPr>
          <a:xfrm>
            <a:off x="4645152" y="5193792"/>
            <a:ext cx="2651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11B"/>
                </a:solidFill>
                <a:latin typeface="Calibri"/>
              </a:rPr>
              <a:t>Evidence</a:t>
            </a:r>
          </a:p>
        </p:txBody>
      </p:sp>
      <p:sp>
        <p:nvSpPr>
          <p:cNvPr id="52" name="agd4"/>
          <p:cNvSpPr txBox="1"/>
          <p:nvPr/>
        </p:nvSpPr>
        <p:spPr>
          <a:xfrm>
            <a:off x="4645152" y="5504688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E6459"/>
                </a:solidFill>
                <a:latin typeface="Calibri"/>
              </a:rPr>
              <a:t>Demo bench · 39 assertions · cost</a:t>
            </a:r>
          </a:p>
        </p:txBody>
      </p:sp>
      <p:sp>
        <p:nvSpPr>
          <p:cNvPr id="53" name="agr4"/>
          <p:cNvSpPr/>
          <p:nvPr/>
        </p:nvSpPr>
        <p:spPr>
          <a:xfrm>
            <a:off x="4023360" y="5998464"/>
            <a:ext cx="457200" cy="27432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ag5"/>
          <p:cNvSpPr/>
          <p:nvPr/>
        </p:nvSpPr>
        <p:spPr>
          <a:xfrm>
            <a:off x="7818120" y="499262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agn5"/>
          <p:cNvSpPr txBox="1"/>
          <p:nvPr/>
        </p:nvSpPr>
        <p:spPr>
          <a:xfrm>
            <a:off x="8037576" y="5175504"/>
            <a:ext cx="5486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7493A"/>
                </a:solidFill>
                <a:latin typeface="Georgia"/>
              </a:rPr>
              <a:t>06</a:t>
            </a:r>
          </a:p>
        </p:txBody>
      </p:sp>
      <p:sp>
        <p:nvSpPr>
          <p:cNvPr id="56" name="agt5"/>
          <p:cNvSpPr txBox="1"/>
          <p:nvPr/>
        </p:nvSpPr>
        <p:spPr>
          <a:xfrm>
            <a:off x="8659368" y="5193792"/>
            <a:ext cx="2651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2211B"/>
                </a:solidFill>
                <a:latin typeface="Calibri"/>
              </a:rPr>
              <a:t>Outlook</a:t>
            </a:r>
          </a:p>
        </p:txBody>
      </p:sp>
      <p:sp>
        <p:nvSpPr>
          <p:cNvPr id="57" name="agd5"/>
          <p:cNvSpPr txBox="1"/>
          <p:nvPr/>
        </p:nvSpPr>
        <p:spPr>
          <a:xfrm>
            <a:off x="8659368" y="5504688"/>
            <a:ext cx="27889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E6459"/>
                </a:solidFill>
                <a:latin typeface="Calibri"/>
              </a:rPr>
              <a:t>Limitations · roadmap · conclusion</a:t>
            </a:r>
          </a:p>
        </p:txBody>
      </p:sp>
      <p:sp>
        <p:nvSpPr>
          <p:cNvPr id="58" name="agr5"/>
          <p:cNvSpPr/>
          <p:nvPr/>
        </p:nvSpPr>
        <p:spPr>
          <a:xfrm>
            <a:off x="8037576" y="5998464"/>
            <a:ext cx="457200" cy="27432"/>
          </a:xfrm>
          <a:prstGeom prst="rect">
            <a:avLst/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01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Context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408000" lon="-930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Six ways a wage becomes an argument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2211B"/>
                </a:solidFill>
                <a:latin typeface="Georgia"/>
              </a:rPr>
              <a:t>Six ways a wage becomes an argument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None of them is a database problem. All of them are evidence problems.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1523961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1473669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04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pb0"/>
          <p:cNvSpPr/>
          <p:nvPr/>
        </p:nvSpPr>
        <p:spPr>
          <a:xfrm>
            <a:off x="3803904" y="243230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pb0/bar"/>
          <p:cNvSpPr/>
          <p:nvPr/>
        </p:nvSpPr>
        <p:spPr>
          <a:xfrm>
            <a:off x="3803904" y="2615184"/>
            <a:ext cx="50292" cy="76809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pb0/num"/>
          <p:cNvSpPr txBox="1"/>
          <p:nvPr/>
        </p:nvSpPr>
        <p:spPr>
          <a:xfrm>
            <a:off x="6976872" y="2596896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542D"/>
                </a:solidFill>
                <a:latin typeface="Georgia"/>
              </a:rPr>
              <a:t>01</a:t>
            </a:r>
          </a:p>
        </p:txBody>
      </p:sp>
      <p:sp>
        <p:nvSpPr>
          <p:cNvPr id="32" name="pb0/t"/>
          <p:cNvSpPr txBox="1"/>
          <p:nvPr/>
        </p:nvSpPr>
        <p:spPr>
          <a:xfrm>
            <a:off x="4023360" y="2569464"/>
            <a:ext cx="2843783" cy="255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211B"/>
                </a:solidFill>
                <a:latin typeface="Georgia"/>
              </a:rPr>
              <a:t>The rate changes after the shift</a:t>
            </a:r>
          </a:p>
        </p:txBody>
      </p:sp>
      <p:sp>
        <p:nvSpPr>
          <p:cNvPr id="33" name="pb0/b"/>
          <p:cNvSpPr txBox="1"/>
          <p:nvPr/>
        </p:nvSpPr>
        <p:spPr>
          <a:xfrm>
            <a:off x="4023360" y="2842984"/>
            <a:ext cx="2843783" cy="61344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E6459"/>
                </a:solidFill>
                <a:latin typeface="Calibri"/>
              </a:rPr>
              <a:t>₹550 agreed at the gate, ₹500 at settlement — and no version history either way.</a:t>
            </a:r>
          </a:p>
        </p:txBody>
      </p:sp>
      <p:sp>
        <p:nvSpPr>
          <p:cNvPr id="34" name="pb1"/>
          <p:cNvSpPr/>
          <p:nvPr/>
        </p:nvSpPr>
        <p:spPr>
          <a:xfrm>
            <a:off x="7818120" y="243230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pb1/bar"/>
          <p:cNvSpPr/>
          <p:nvPr/>
        </p:nvSpPr>
        <p:spPr>
          <a:xfrm>
            <a:off x="7818120" y="2615184"/>
            <a:ext cx="50292" cy="76809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pb1/num"/>
          <p:cNvSpPr txBox="1"/>
          <p:nvPr/>
        </p:nvSpPr>
        <p:spPr>
          <a:xfrm>
            <a:off x="10991088" y="2596896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542D"/>
                </a:solidFill>
                <a:latin typeface="Georgia"/>
              </a:rPr>
              <a:t>02</a:t>
            </a:r>
          </a:p>
        </p:txBody>
      </p:sp>
      <p:sp>
        <p:nvSpPr>
          <p:cNvPr id="37" name="pb1/t"/>
          <p:cNvSpPr txBox="1"/>
          <p:nvPr/>
        </p:nvSpPr>
        <p:spPr>
          <a:xfrm>
            <a:off x="8037576" y="2569464"/>
            <a:ext cx="2843783" cy="255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211B"/>
                </a:solidFill>
                <a:latin typeface="Georgia"/>
              </a:rPr>
              <a:t>Attendance is contested</a:t>
            </a:r>
          </a:p>
        </p:txBody>
      </p:sp>
      <p:sp>
        <p:nvSpPr>
          <p:cNvPr id="38" name="pb1/b"/>
          <p:cNvSpPr txBox="1"/>
          <p:nvPr/>
        </p:nvSpPr>
        <p:spPr>
          <a:xfrm>
            <a:off x="8037576" y="2842984"/>
            <a:ext cx="2843783" cy="61344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E6459"/>
                </a:solidFill>
                <a:latin typeface="Calibri"/>
              </a:rPr>
              <a:t>Four days in one book, three in another, and no shared copy to compare.</a:t>
            </a:r>
          </a:p>
        </p:txBody>
      </p:sp>
      <p:sp>
        <p:nvSpPr>
          <p:cNvPr id="39" name="pb2"/>
          <p:cNvSpPr/>
          <p:nvPr/>
        </p:nvSpPr>
        <p:spPr>
          <a:xfrm>
            <a:off x="3803904" y="371246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pb2/bar"/>
          <p:cNvSpPr/>
          <p:nvPr/>
        </p:nvSpPr>
        <p:spPr>
          <a:xfrm>
            <a:off x="3803904" y="3895344"/>
            <a:ext cx="50292" cy="768096"/>
          </a:xfrm>
          <a:prstGeom prst="roundRect">
            <a:avLst>
              <a:gd name="adj" fmla="val 50000"/>
            </a:avLst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pb2/num"/>
          <p:cNvSpPr txBox="1"/>
          <p:nvPr/>
        </p:nvSpPr>
        <p:spPr>
          <a:xfrm>
            <a:off x="6976872" y="3877056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812C"/>
                </a:solidFill>
                <a:latin typeface="Georgia"/>
              </a:rPr>
              <a:t>03</a:t>
            </a:r>
          </a:p>
        </p:txBody>
      </p:sp>
      <p:sp>
        <p:nvSpPr>
          <p:cNvPr id="42" name="pb2/t"/>
          <p:cNvSpPr txBox="1"/>
          <p:nvPr/>
        </p:nvSpPr>
        <p:spPr>
          <a:xfrm>
            <a:off x="4023360" y="3849624"/>
            <a:ext cx="2843783" cy="255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211B"/>
                </a:solidFill>
                <a:latin typeface="Georgia"/>
              </a:rPr>
              <a:t>Deductions with no reason</a:t>
            </a:r>
          </a:p>
        </p:txBody>
      </p:sp>
      <p:sp>
        <p:nvSpPr>
          <p:cNvPr id="43" name="pb2/b"/>
          <p:cNvSpPr txBox="1"/>
          <p:nvPr/>
        </p:nvSpPr>
        <p:spPr>
          <a:xfrm>
            <a:off x="4023360" y="4123144"/>
            <a:ext cx="2843783" cy="61344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E6459"/>
                </a:solidFill>
                <a:latin typeface="Calibri"/>
              </a:rPr>
              <a:t>A number is cut from the wage slip with no line saying who decided or why.</a:t>
            </a:r>
          </a:p>
        </p:txBody>
      </p:sp>
      <p:sp>
        <p:nvSpPr>
          <p:cNvPr id="44" name="pb3"/>
          <p:cNvSpPr/>
          <p:nvPr/>
        </p:nvSpPr>
        <p:spPr>
          <a:xfrm>
            <a:off x="7818120" y="371246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pb3/bar"/>
          <p:cNvSpPr/>
          <p:nvPr/>
        </p:nvSpPr>
        <p:spPr>
          <a:xfrm>
            <a:off x="7818120" y="3895344"/>
            <a:ext cx="50292" cy="768096"/>
          </a:xfrm>
          <a:prstGeom prst="roundRect">
            <a:avLst>
              <a:gd name="adj" fmla="val 50000"/>
            </a:avLst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pb3/num"/>
          <p:cNvSpPr txBox="1"/>
          <p:nvPr/>
        </p:nvSpPr>
        <p:spPr>
          <a:xfrm>
            <a:off x="10991088" y="3877056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812C"/>
                </a:solidFill>
                <a:latin typeface="Georgia"/>
              </a:rPr>
              <a:t>04</a:t>
            </a:r>
          </a:p>
        </p:txBody>
      </p:sp>
      <p:sp>
        <p:nvSpPr>
          <p:cNvPr id="47" name="pb3/t"/>
          <p:cNvSpPr txBox="1"/>
          <p:nvPr/>
        </p:nvSpPr>
        <p:spPr>
          <a:xfrm>
            <a:off x="8037576" y="3849624"/>
            <a:ext cx="2843783" cy="255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211B"/>
                </a:solidFill>
                <a:latin typeface="Georgia"/>
              </a:rPr>
              <a:t>Recorded ≠ received</a:t>
            </a:r>
          </a:p>
        </p:txBody>
      </p:sp>
      <p:sp>
        <p:nvSpPr>
          <p:cNvPr id="48" name="pb3/b"/>
          <p:cNvSpPr txBox="1"/>
          <p:nvPr/>
        </p:nvSpPr>
        <p:spPr>
          <a:xfrm>
            <a:off x="8037576" y="4123144"/>
            <a:ext cx="2843783" cy="61344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E6459"/>
                </a:solidFill>
                <a:latin typeface="Calibri"/>
              </a:rPr>
              <a:t>The ledger says paid because the contractor typed it. The worker is still waiting.</a:t>
            </a:r>
          </a:p>
        </p:txBody>
      </p:sp>
      <p:sp>
        <p:nvSpPr>
          <p:cNvPr id="49" name="pb4"/>
          <p:cNvSpPr/>
          <p:nvPr/>
        </p:nvSpPr>
        <p:spPr>
          <a:xfrm>
            <a:off x="3803904" y="499262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pb4/bar"/>
          <p:cNvSpPr/>
          <p:nvPr/>
        </p:nvSpPr>
        <p:spPr>
          <a:xfrm>
            <a:off x="3803904" y="5175504"/>
            <a:ext cx="50292" cy="76809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pb4/num"/>
          <p:cNvSpPr txBox="1"/>
          <p:nvPr/>
        </p:nvSpPr>
        <p:spPr>
          <a:xfrm>
            <a:off x="6976872" y="5157216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542D"/>
                </a:solidFill>
                <a:latin typeface="Georgia"/>
              </a:rPr>
              <a:t>05</a:t>
            </a:r>
          </a:p>
        </p:txBody>
      </p:sp>
      <p:sp>
        <p:nvSpPr>
          <p:cNvPr id="52" name="pb4/t"/>
          <p:cNvSpPr txBox="1"/>
          <p:nvPr/>
        </p:nvSpPr>
        <p:spPr>
          <a:xfrm>
            <a:off x="4023360" y="5129784"/>
            <a:ext cx="2843783" cy="255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2211B"/>
                </a:solidFill>
                <a:latin typeface="Georgia"/>
              </a:rPr>
              <a:t>Corrections erase the evidence</a:t>
            </a:r>
          </a:p>
        </p:txBody>
      </p:sp>
      <p:sp>
        <p:nvSpPr>
          <p:cNvPr id="53" name="pb4/b"/>
          <p:cNvSpPr txBox="1"/>
          <p:nvPr/>
        </p:nvSpPr>
        <p:spPr>
          <a:xfrm>
            <a:off x="4023360" y="5403304"/>
            <a:ext cx="2843783" cy="613447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E6459"/>
                </a:solidFill>
                <a:latin typeface="Calibri"/>
              </a:rPr>
              <a:t>Overwriting a cell destroys exactly the value a dispute would depend on.</a:t>
            </a:r>
          </a:p>
        </p:txBody>
      </p:sp>
      <p:sp>
        <p:nvSpPr>
          <p:cNvPr id="54" name="pb5"/>
          <p:cNvSpPr/>
          <p:nvPr/>
        </p:nvSpPr>
        <p:spPr>
          <a:xfrm>
            <a:off x="7818120" y="4992624"/>
            <a:ext cx="3813048" cy="1133856"/>
          </a:xfrm>
          <a:prstGeom prst="roundRect">
            <a:avLst>
              <a:gd name="adj" fmla="val 806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pb5/bar"/>
          <p:cNvSpPr/>
          <p:nvPr/>
        </p:nvSpPr>
        <p:spPr>
          <a:xfrm>
            <a:off x="7818120" y="5175504"/>
            <a:ext cx="50292" cy="76809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pb5/num"/>
          <p:cNvSpPr txBox="1"/>
          <p:nvPr/>
        </p:nvSpPr>
        <p:spPr>
          <a:xfrm>
            <a:off x="10991088" y="5157216"/>
            <a:ext cx="548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542D"/>
                </a:solidFill>
                <a:latin typeface="Georgia"/>
              </a:rPr>
              <a:t>06</a:t>
            </a:r>
          </a:p>
        </p:txBody>
      </p:sp>
      <p:sp>
        <p:nvSpPr>
          <p:cNvPr id="57" name="pb5/t"/>
          <p:cNvSpPr txBox="1"/>
          <p:nvPr/>
        </p:nvSpPr>
        <p:spPr>
          <a:xfrm>
            <a:off x="8037576" y="5129784"/>
            <a:ext cx="2843783" cy="2388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Georgia"/>
              </a:rPr>
              <a:t>No shared record, no shared truth</a:t>
            </a:r>
          </a:p>
        </p:txBody>
      </p:sp>
      <p:sp>
        <p:nvSpPr>
          <p:cNvPr id="58" name="pb5/b"/>
          <p:cNvSpPr txBox="1"/>
          <p:nvPr/>
        </p:nvSpPr>
        <p:spPr>
          <a:xfrm>
            <a:off x="8037576" y="5386880"/>
            <a:ext cx="2843783" cy="62987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E6459"/>
                </a:solidFill>
                <a:latin typeface="Calibri"/>
              </a:rPr>
              <a:t>Two private versions of the same week, and nothing to appeal to.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01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Context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534000" lon="-1050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The gap is documented, not imagined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2211B"/>
                </a:solidFill>
                <a:latin typeface="Georgia"/>
              </a:rPr>
              <a:t>The gap is documented, not imagined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Audit reports, court orders and ILO research describe the same failure: the record of what was agreed does not survive the dispute.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1904952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1854660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05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st0"/>
          <p:cNvSpPr/>
          <p:nvPr/>
        </p:nvSpPr>
        <p:spPr>
          <a:xfrm>
            <a:off x="3803904" y="2432304"/>
            <a:ext cx="1833372" cy="1627632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st0/dot"/>
          <p:cNvSpPr/>
          <p:nvPr/>
        </p:nvSpPr>
        <p:spPr>
          <a:xfrm>
            <a:off x="3968496" y="2606040"/>
            <a:ext cx="82296" cy="82296"/>
          </a:xfrm>
          <a:prstGeom prst="roundRect">
            <a:avLst>
              <a:gd name="adj" fmla="val 22222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st0/u"/>
          <p:cNvSpPr txBox="1"/>
          <p:nvPr/>
        </p:nvSpPr>
        <p:spPr>
          <a:xfrm>
            <a:off x="4978908" y="2569464"/>
            <a:ext cx="51206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40">
                <a:solidFill>
                  <a:srgbClr val="C2542D"/>
                </a:solidFill>
                <a:latin typeface="Calibri"/>
              </a:rPr>
              <a:t>CR</a:t>
            </a:r>
          </a:p>
        </p:txBody>
      </p:sp>
      <p:sp>
        <p:nvSpPr>
          <p:cNvPr id="32" name="st0/v"/>
          <p:cNvSpPr txBox="1"/>
          <p:nvPr/>
        </p:nvSpPr>
        <p:spPr>
          <a:xfrm>
            <a:off x="3968496" y="2761488"/>
            <a:ext cx="1595628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2211B"/>
                </a:solidFill>
                <a:latin typeface="Georgia"/>
              </a:rPr>
              <a:t>₹269.27</a:t>
            </a:r>
          </a:p>
        </p:txBody>
      </p:sp>
      <p:sp>
        <p:nvSpPr>
          <p:cNvPr id="33" name="st0/l"/>
          <p:cNvSpPr txBox="1"/>
          <p:nvPr/>
        </p:nvSpPr>
        <p:spPr>
          <a:xfrm>
            <a:off x="3968496" y="3310128"/>
            <a:ext cx="1540763" cy="6766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C8F85"/>
                </a:solidFill>
                <a:latin typeface="Calibri"/>
              </a:rPr>
              <a:t>MGNREGS wages paid 16–90 days after muster closure · CAG Kerala, Report 9 of 2025</a:t>
            </a:r>
          </a:p>
        </p:txBody>
      </p:sp>
      <p:sp>
        <p:nvSpPr>
          <p:cNvPr id="34" name="st1"/>
          <p:cNvSpPr/>
          <p:nvPr/>
        </p:nvSpPr>
        <p:spPr>
          <a:xfrm>
            <a:off x="5801868" y="2432304"/>
            <a:ext cx="1833372" cy="1627632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st1/dot"/>
          <p:cNvSpPr/>
          <p:nvPr/>
        </p:nvSpPr>
        <p:spPr>
          <a:xfrm>
            <a:off x="5966460" y="2606040"/>
            <a:ext cx="82296" cy="82296"/>
          </a:xfrm>
          <a:prstGeom prst="roundRect">
            <a:avLst>
              <a:gd name="adj" fmla="val 22222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st1/u"/>
          <p:cNvSpPr txBox="1"/>
          <p:nvPr/>
        </p:nvSpPr>
        <p:spPr>
          <a:xfrm>
            <a:off x="6976872" y="2569464"/>
            <a:ext cx="51206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40">
                <a:solidFill>
                  <a:srgbClr val="C2542D"/>
                </a:solidFill>
                <a:latin typeface="Calibri"/>
              </a:rPr>
              <a:t>CR</a:t>
            </a:r>
          </a:p>
        </p:txBody>
      </p:sp>
      <p:sp>
        <p:nvSpPr>
          <p:cNvPr id="37" name="st1/v"/>
          <p:cNvSpPr txBox="1"/>
          <p:nvPr/>
        </p:nvSpPr>
        <p:spPr>
          <a:xfrm>
            <a:off x="5966460" y="2761488"/>
            <a:ext cx="1595628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2211B"/>
                </a:solidFill>
                <a:latin typeface="Georgia"/>
              </a:rPr>
              <a:t>₹704.39</a:t>
            </a:r>
          </a:p>
        </p:txBody>
      </p:sp>
      <p:sp>
        <p:nvSpPr>
          <p:cNvPr id="38" name="st1/l"/>
          <p:cNvSpPr txBox="1"/>
          <p:nvPr/>
        </p:nvSpPr>
        <p:spPr>
          <a:xfrm>
            <a:off x="5966460" y="3310128"/>
            <a:ext cx="1540763" cy="6766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C8F85"/>
                </a:solidFill>
                <a:latin typeface="Calibri"/>
              </a:rPr>
              <a:t>Still unpaid in Jammu &amp; Kashmir as of March 2024 · CAG audit</a:t>
            </a:r>
          </a:p>
        </p:txBody>
      </p:sp>
      <p:sp>
        <p:nvSpPr>
          <p:cNvPr id="39" name="st2"/>
          <p:cNvSpPr/>
          <p:nvPr/>
        </p:nvSpPr>
        <p:spPr>
          <a:xfrm>
            <a:off x="7799832" y="2432304"/>
            <a:ext cx="1833372" cy="1627632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st2/dot"/>
          <p:cNvSpPr/>
          <p:nvPr/>
        </p:nvSpPr>
        <p:spPr>
          <a:xfrm>
            <a:off x="7964424" y="2606040"/>
            <a:ext cx="82296" cy="82296"/>
          </a:xfrm>
          <a:prstGeom prst="roundRect">
            <a:avLst>
              <a:gd name="adj" fmla="val 22222"/>
            </a:avLst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st2/u"/>
          <p:cNvSpPr txBox="1"/>
          <p:nvPr/>
        </p:nvSpPr>
        <p:spPr>
          <a:xfrm>
            <a:off x="8974836" y="2569464"/>
            <a:ext cx="51206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40">
                <a:solidFill>
                  <a:srgbClr val="B9812C"/>
                </a:solidFill>
                <a:latin typeface="Calibri"/>
              </a:rPr>
              <a:t>%</a:t>
            </a:r>
          </a:p>
        </p:txBody>
      </p:sp>
      <p:sp>
        <p:nvSpPr>
          <p:cNvPr id="42" name="st2/v"/>
          <p:cNvSpPr txBox="1"/>
          <p:nvPr/>
        </p:nvSpPr>
        <p:spPr>
          <a:xfrm>
            <a:off x="7964424" y="2761488"/>
            <a:ext cx="1595628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211B"/>
                </a:solidFill>
                <a:latin typeface="Georgia"/>
              </a:rPr>
              <a:t>90</a:t>
            </a:r>
          </a:p>
        </p:txBody>
      </p:sp>
      <p:sp>
        <p:nvSpPr>
          <p:cNvPr id="43" name="st2/l"/>
          <p:cNvSpPr txBox="1"/>
          <p:nvPr/>
        </p:nvSpPr>
        <p:spPr>
          <a:xfrm>
            <a:off x="7964424" y="3310128"/>
            <a:ext cx="1540763" cy="6766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C8F85"/>
                </a:solidFill>
                <a:latin typeface="Calibri"/>
              </a:rPr>
              <a:t>of 3,16,178 rejected MGNREGS transactions were unskilled wages · CAG</a:t>
            </a:r>
          </a:p>
        </p:txBody>
      </p:sp>
      <p:sp>
        <p:nvSpPr>
          <p:cNvPr id="44" name="st3"/>
          <p:cNvSpPr/>
          <p:nvPr/>
        </p:nvSpPr>
        <p:spPr>
          <a:xfrm>
            <a:off x="9797796" y="2432304"/>
            <a:ext cx="1833372" cy="1627632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st3/dot"/>
          <p:cNvSpPr/>
          <p:nvPr/>
        </p:nvSpPr>
        <p:spPr>
          <a:xfrm>
            <a:off x="9962388" y="2606040"/>
            <a:ext cx="82296" cy="82296"/>
          </a:xfrm>
          <a:prstGeom prst="roundRect">
            <a:avLst>
              <a:gd name="adj" fmla="val 22222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st3/u"/>
          <p:cNvSpPr txBox="1"/>
          <p:nvPr/>
        </p:nvSpPr>
        <p:spPr>
          <a:xfrm>
            <a:off x="10972799" y="2569464"/>
            <a:ext cx="51206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40">
                <a:solidFill>
                  <a:srgbClr val="16A574"/>
                </a:solidFill>
                <a:latin typeface="Calibri"/>
              </a:rPr>
              <a:t>%</a:t>
            </a:r>
          </a:p>
        </p:txBody>
      </p:sp>
      <p:sp>
        <p:nvSpPr>
          <p:cNvPr id="47" name="st3/v"/>
          <p:cNvSpPr txBox="1"/>
          <p:nvPr/>
        </p:nvSpPr>
        <p:spPr>
          <a:xfrm>
            <a:off x="9962388" y="2761488"/>
            <a:ext cx="1595628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2211B"/>
                </a:solidFill>
                <a:latin typeface="Georgia"/>
              </a:rPr>
              <a:t>79→43</a:t>
            </a:r>
          </a:p>
        </p:txBody>
      </p:sp>
      <p:sp>
        <p:nvSpPr>
          <p:cNvPr id="48" name="st3/l"/>
          <p:cNvSpPr txBox="1"/>
          <p:nvPr/>
        </p:nvSpPr>
        <p:spPr>
          <a:xfrm>
            <a:off x="9962388" y="3310128"/>
            <a:ext cx="1540763" cy="6766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C8F85"/>
                </a:solidFill>
                <a:latin typeface="Calibri"/>
              </a:rPr>
              <a:t>Cash wages in India, 2014 → 2021, as digital payment scaled · ILO 2024</a:t>
            </a:r>
          </a:p>
        </p:txBody>
      </p:sp>
      <p:sp>
        <p:nvSpPr>
          <p:cNvPr id="49" name="cite"/>
          <p:cNvSpPr txBox="1"/>
          <p:nvPr/>
        </p:nvSpPr>
        <p:spPr>
          <a:xfrm>
            <a:off x="3803904" y="4114800"/>
            <a:ext cx="77724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Sources: CAG Report No. 9 of 2025 (Kerala); CAG audit of MGNREGS in J&amp;K; ILO, Scaling up digital wages (2024). Figures as reported.</a:t>
            </a:r>
          </a:p>
        </p:txBody>
      </p:sp>
      <p:sp>
        <p:nvSpPr>
          <p:cNvPr id="50" name="cl1"/>
          <p:cNvSpPr/>
          <p:nvPr/>
        </p:nvSpPr>
        <p:spPr>
          <a:xfrm>
            <a:off x="3803904" y="4590288"/>
            <a:ext cx="7827264" cy="1481328"/>
          </a:xfrm>
          <a:prstGeom prst="roundRect">
            <a:avLst>
              <a:gd name="adj" fmla="val 6172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cl1/bar"/>
          <p:cNvSpPr/>
          <p:nvPr/>
        </p:nvSpPr>
        <p:spPr>
          <a:xfrm>
            <a:off x="3803904" y="4736592"/>
            <a:ext cx="54864" cy="1188720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cl1/t"/>
          <p:cNvSpPr txBox="1"/>
          <p:nvPr/>
        </p:nvSpPr>
        <p:spPr>
          <a:xfrm>
            <a:off x="4041648" y="4700016"/>
            <a:ext cx="7424928" cy="12618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Calibri"/>
              </a:rPr>
              <a:t>BSNL v Union of India, WPA 25460 of 2025 (Calcutta High Court, 7 January 2026): the principal employer was directed to pay contract workers' unpaid wages under s.21(4) of the Contract Labour (Regulation and Abolition) Act, 1970. A second 2026 ruling turned on the absence of documents linking workers to the claimed employer.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52000">
                <a:srgbClr val="113528"/>
              </a:gs>
              <a:gs pos="100000">
                <a:srgbClr val="07160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!!Edge"/>
          <p:cNvSpPr/>
          <p:nvPr/>
        </p:nvSpPr>
        <p:spPr>
          <a:xfrm>
            <a:off x="0" y="0"/>
            <a:ext cx="12700" cy="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mark"/>
          <p:cNvSpPr/>
          <p:nvPr/>
        </p:nvSpPr>
        <p:spPr>
          <a:xfrm>
            <a:off x="804672" y="548640"/>
            <a:ext cx="351129" cy="351129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0"/>
          <p:cNvSpPr/>
          <p:nvPr/>
        </p:nvSpPr>
        <p:spPr>
          <a:xfrm>
            <a:off x="892454" y="648126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1"/>
          <p:cNvSpPr/>
          <p:nvPr/>
        </p:nvSpPr>
        <p:spPr>
          <a:xfrm>
            <a:off x="892454" y="706648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bar2"/>
          <p:cNvSpPr/>
          <p:nvPr/>
        </p:nvSpPr>
        <p:spPr>
          <a:xfrm>
            <a:off x="892454" y="765169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wm/text"/>
          <p:cNvSpPr txBox="1"/>
          <p:nvPr/>
        </p:nvSpPr>
        <p:spPr>
          <a:xfrm>
            <a:off x="1272844" y="531083"/>
            <a:ext cx="2516428" cy="351129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1216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822960" y="969264"/>
            <a:ext cx="54864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40">
                <a:solidFill>
                  <a:srgbClr val="E3B04B"/>
                </a:solidFill>
                <a:latin typeface="Calibri"/>
              </a:rPr>
              <a:t>SECTION 01  ·  CONTEXT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9528048" y="4828032"/>
            <a:ext cx="2121408" cy="1298448"/>
            <a:chOff x="9528048" y="4828032"/>
            <a:chExt cx="2121408" cy="1298448"/>
          </a:xfrm>
          <a:scene3d>
            <a:camera prst="perspectiveRelaxed" fov="42000" zoom="100000">
              <a:rot lat="-486000" lon="-1074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9528048" y="4828032"/>
              <a:ext cx="2121408" cy="1280160"/>
            </a:xfrm>
            <a:prstGeom prst="roundRect">
              <a:avLst>
                <a:gd name="adj" fmla="val 6428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9546336" y="4846320"/>
              <a:ext cx="2084831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9646920" y="4869180"/>
              <a:ext cx="1883663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9646920" y="5138928"/>
              <a:ext cx="1883663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9646920" y="5522976"/>
              <a:ext cx="1883663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9646920" y="5724144"/>
              <a:ext cx="1883663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964692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060704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9528048" y="3127248"/>
            <a:ext cx="2121408" cy="1170432"/>
          </a:xfrm>
          <a:prstGeom prst="roundRect">
            <a:avLst>
              <a:gd name="adj" fmla="val 7031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!!RailFill"/>
          <p:cNvSpPr/>
          <p:nvPr/>
        </p:nvSpPr>
        <p:spPr>
          <a:xfrm>
            <a:off x="0" y="6675120"/>
            <a:ext cx="2285942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Dot"/>
          <p:cNvSpPr/>
          <p:nvPr/>
        </p:nvSpPr>
        <p:spPr>
          <a:xfrm>
            <a:off x="2235650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!!PageNo"/>
          <p:cNvSpPr txBox="1"/>
          <p:nvPr/>
        </p:nvSpPr>
        <p:spPr>
          <a:xfrm>
            <a:off x="100126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B04B"/>
                </a:solidFill>
                <a:latin typeface="Calibri"/>
              </a:rPr>
              <a:t>06</a:t>
            </a:r>
            <a:r>
              <a:rPr sz="850" b="0" i="0">
                <a:solidFill>
                  <a:srgbClr val="8BC7A6"/>
                </a:solidFill>
                <a:latin typeface="Calibri"/>
              </a:rPr>
              <a:t> / 32</a:t>
            </a:r>
          </a:p>
        </p:txBody>
      </p:sp>
      <p:sp>
        <p:nvSpPr>
          <p:cNvPr id="25" name="eyebrow"/>
          <p:cNvSpPr txBox="1"/>
          <p:nvPr/>
        </p:nvSpPr>
        <p:spPr>
          <a:xfrm>
            <a:off x="822960" y="1298448"/>
            <a:ext cx="5486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260">
                <a:solidFill>
                  <a:srgbClr val="E3B04B"/>
                </a:solidFill>
                <a:latin typeface="Calibri"/>
              </a:rPr>
              <a:t>RESEARCH QUESTION</a:t>
            </a:r>
          </a:p>
        </p:txBody>
      </p:sp>
      <p:sp>
        <p:nvSpPr>
          <p:cNvPr id="26" name="q"/>
          <p:cNvSpPr/>
          <p:nvPr/>
        </p:nvSpPr>
        <p:spPr>
          <a:xfrm>
            <a:off x="822960" y="1572768"/>
            <a:ext cx="7818120" cy="1188720"/>
          </a:xfrm>
          <a:prstGeom prst="roundRect">
            <a:avLst>
              <a:gd name="adj" fmla="val 7692"/>
            </a:avLst>
          </a:prstGeom>
          <a:solidFill>
            <a:srgbClr val="17493A"/>
          </a:solidFill>
          <a:ln w="11430">
            <a:solidFill>
              <a:srgbClr val="B9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qbar"/>
          <p:cNvSpPr/>
          <p:nvPr/>
        </p:nvSpPr>
        <p:spPr>
          <a:xfrm>
            <a:off x="822960" y="1572768"/>
            <a:ext cx="54864" cy="1188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qtext"/>
          <p:cNvSpPr txBox="1"/>
          <p:nvPr/>
        </p:nvSpPr>
        <p:spPr>
          <a:xfrm>
            <a:off x="1042415" y="1664208"/>
            <a:ext cx="7406640" cy="10058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>
                <a:solidFill>
                  <a:srgbClr val="FFFFFF"/>
                </a:solidFill>
                <a:latin typeface="Georgia"/>
              </a:rPr>
              <a:t>How can an affordable, offline-capable web system make daily-wage work records, wage calculations, payment status and disagreements more transparent and easier to verify?</a:t>
            </a:r>
          </a:p>
        </p:txBody>
      </p:sp>
      <p:sp>
        <p:nvSpPr>
          <p:cNvPr id="29" name="on0"/>
          <p:cNvSpPr/>
          <p:nvPr/>
        </p:nvSpPr>
        <p:spPr>
          <a:xfrm>
            <a:off x="822960" y="3136391"/>
            <a:ext cx="292608" cy="292608"/>
          </a:xfrm>
          <a:prstGeom prst="ellipse">
            <a:avLst/>
          </a:prstGeom>
          <a:noFill/>
          <a:ln w="12700">
            <a:solidFill>
              <a:srgbClr val="E3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3B04B"/>
                </a:solidFill>
                <a:latin typeface="Calibri"/>
              </a:rPr>
              <a:t>1</a:t>
            </a:r>
          </a:p>
        </p:txBody>
      </p:sp>
      <p:sp>
        <p:nvSpPr>
          <p:cNvPr id="30" name="ot0"/>
          <p:cNvSpPr txBox="1"/>
          <p:nvPr/>
        </p:nvSpPr>
        <p:spPr>
          <a:xfrm>
            <a:off x="1225296" y="3108960"/>
            <a:ext cx="324612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Calibri"/>
              </a:rPr>
              <a:t>Understandable, low-cost workflow for low digital access</a:t>
            </a:r>
          </a:p>
        </p:txBody>
      </p:sp>
      <p:sp>
        <p:nvSpPr>
          <p:cNvPr id="31" name="on1"/>
          <p:cNvSpPr/>
          <p:nvPr/>
        </p:nvSpPr>
        <p:spPr>
          <a:xfrm>
            <a:off x="822960" y="3849624"/>
            <a:ext cx="292608" cy="292608"/>
          </a:xfrm>
          <a:prstGeom prst="ellipse">
            <a:avLst/>
          </a:prstGeom>
          <a:noFill/>
          <a:ln w="12700">
            <a:solidFill>
              <a:srgbClr val="E3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3B04B"/>
                </a:solidFill>
                <a:latin typeface="Calibri"/>
              </a:rPr>
              <a:t>2</a:t>
            </a:r>
          </a:p>
        </p:txBody>
      </p:sp>
      <p:sp>
        <p:nvSpPr>
          <p:cNvPr id="32" name="ot1"/>
          <p:cNvSpPr txBox="1"/>
          <p:nvPr/>
        </p:nvSpPr>
        <p:spPr>
          <a:xfrm>
            <a:off x="1225296" y="3822191"/>
            <a:ext cx="324612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BC7A6"/>
                </a:solidFill>
                <a:latin typeface="Calibri"/>
              </a:rPr>
              <a:t>Wage maths inspectable by both parties</a:t>
            </a:r>
          </a:p>
        </p:txBody>
      </p:sp>
      <p:sp>
        <p:nvSpPr>
          <p:cNvPr id="33" name="on2"/>
          <p:cNvSpPr/>
          <p:nvPr/>
        </p:nvSpPr>
        <p:spPr>
          <a:xfrm>
            <a:off x="822960" y="4562856"/>
            <a:ext cx="292608" cy="292608"/>
          </a:xfrm>
          <a:prstGeom prst="ellipse">
            <a:avLst/>
          </a:prstGeom>
          <a:noFill/>
          <a:ln w="12700">
            <a:solidFill>
              <a:srgbClr val="E3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3B04B"/>
                </a:solidFill>
                <a:latin typeface="Calibri"/>
              </a:rPr>
              <a:t>3</a:t>
            </a:r>
          </a:p>
        </p:txBody>
      </p:sp>
      <p:sp>
        <p:nvSpPr>
          <p:cNvPr id="34" name="ot2"/>
          <p:cNvSpPr txBox="1"/>
          <p:nvPr/>
        </p:nvSpPr>
        <p:spPr>
          <a:xfrm>
            <a:off x="1225296" y="4535424"/>
            <a:ext cx="324612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Calibri"/>
              </a:rPr>
              <a:t>Corrections and disagreements stay visible</a:t>
            </a:r>
          </a:p>
        </p:txBody>
      </p:sp>
      <p:sp>
        <p:nvSpPr>
          <p:cNvPr id="35" name="on3"/>
          <p:cNvSpPr/>
          <p:nvPr/>
        </p:nvSpPr>
        <p:spPr>
          <a:xfrm>
            <a:off x="822960" y="5276088"/>
            <a:ext cx="292608" cy="292608"/>
          </a:xfrm>
          <a:prstGeom prst="ellipse">
            <a:avLst/>
          </a:prstGeom>
          <a:noFill/>
          <a:ln w="12700">
            <a:solidFill>
              <a:srgbClr val="E3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3B04B"/>
                </a:solidFill>
                <a:latin typeface="Calibri"/>
              </a:rPr>
              <a:t>4</a:t>
            </a:r>
          </a:p>
        </p:txBody>
      </p:sp>
      <p:sp>
        <p:nvSpPr>
          <p:cNvPr id="36" name="ot3"/>
          <p:cNvSpPr txBox="1"/>
          <p:nvPr/>
        </p:nvSpPr>
        <p:spPr>
          <a:xfrm>
            <a:off x="1225296" y="5248655"/>
            <a:ext cx="324612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BC7A6"/>
                </a:solidFill>
                <a:latin typeface="Calibri"/>
              </a:rPr>
              <a:t>Detect unauthorised edits with explainable checks</a:t>
            </a:r>
          </a:p>
        </p:txBody>
      </p:sp>
      <p:sp>
        <p:nvSpPr>
          <p:cNvPr id="37" name="on4"/>
          <p:cNvSpPr/>
          <p:nvPr/>
        </p:nvSpPr>
        <p:spPr>
          <a:xfrm>
            <a:off x="4864608" y="3136391"/>
            <a:ext cx="292608" cy="292608"/>
          </a:xfrm>
          <a:prstGeom prst="ellipse">
            <a:avLst/>
          </a:prstGeom>
          <a:noFill/>
          <a:ln w="12700">
            <a:solidFill>
              <a:srgbClr val="E3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3B04B"/>
                </a:solidFill>
                <a:latin typeface="Calibri"/>
              </a:rPr>
              <a:t>5</a:t>
            </a:r>
          </a:p>
        </p:txBody>
      </p:sp>
      <p:sp>
        <p:nvSpPr>
          <p:cNvPr id="38" name="ot4"/>
          <p:cNvSpPr txBox="1"/>
          <p:nvPr/>
        </p:nvSpPr>
        <p:spPr>
          <a:xfrm>
            <a:off x="5266944" y="3108960"/>
            <a:ext cx="324612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Calibri"/>
              </a:rPr>
              <a:t>Work offline within browser-storage limits</a:t>
            </a:r>
          </a:p>
        </p:txBody>
      </p:sp>
      <p:sp>
        <p:nvSpPr>
          <p:cNvPr id="39" name="on5"/>
          <p:cNvSpPr/>
          <p:nvPr/>
        </p:nvSpPr>
        <p:spPr>
          <a:xfrm>
            <a:off x="4864608" y="3849624"/>
            <a:ext cx="292608" cy="292608"/>
          </a:xfrm>
          <a:prstGeom prst="ellipse">
            <a:avLst/>
          </a:prstGeom>
          <a:noFill/>
          <a:ln w="12700">
            <a:solidFill>
              <a:srgbClr val="E3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3B04B"/>
                </a:solidFill>
                <a:latin typeface="Calibri"/>
              </a:rPr>
              <a:t>6</a:t>
            </a:r>
          </a:p>
        </p:txBody>
      </p:sp>
      <p:sp>
        <p:nvSpPr>
          <p:cNvPr id="40" name="ot5"/>
          <p:cNvSpPr txBox="1"/>
          <p:nvPr/>
        </p:nvSpPr>
        <p:spPr>
          <a:xfrm>
            <a:off x="5266944" y="3822191"/>
            <a:ext cx="324612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8BC7A6"/>
                </a:solidFill>
                <a:latin typeface="Calibri"/>
              </a:rPr>
              <a:t>Architecture that can later support a shared backend</a:t>
            </a:r>
          </a:p>
        </p:txBody>
      </p:sp>
      <p:sp>
        <p:nvSpPr>
          <p:cNvPr id="41" name="on6"/>
          <p:cNvSpPr/>
          <p:nvPr/>
        </p:nvSpPr>
        <p:spPr>
          <a:xfrm>
            <a:off x="4864608" y="4562856"/>
            <a:ext cx="292608" cy="292608"/>
          </a:xfrm>
          <a:prstGeom prst="ellipse">
            <a:avLst/>
          </a:prstGeom>
          <a:noFill/>
          <a:ln w="12700">
            <a:solidFill>
              <a:srgbClr val="E3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E3B04B"/>
                </a:solidFill>
                <a:latin typeface="Calibri"/>
              </a:rPr>
              <a:t>7</a:t>
            </a:r>
          </a:p>
        </p:txBody>
      </p:sp>
      <p:sp>
        <p:nvSpPr>
          <p:cNvPr id="42" name="ot6"/>
          <p:cNvSpPr txBox="1"/>
          <p:nvPr/>
        </p:nvSpPr>
        <p:spPr>
          <a:xfrm>
            <a:off x="5266944" y="4535424"/>
            <a:ext cx="3246120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Calibri"/>
              </a:rPr>
              <a:t>Evaluate the prototype on repeatable synthetic tests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01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Context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94000" lon="-996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Where Shram Setu actually sits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Where Shram Setu actually sits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Registration systems, public works, payroll software and paper registers each solve a different problem. The comparison is about purpose, not defects.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2666933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2616641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07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tbl/hdr"/>
          <p:cNvSpPr/>
          <p:nvPr/>
        </p:nvSpPr>
        <p:spPr>
          <a:xfrm>
            <a:off x="3803904" y="2450592"/>
            <a:ext cx="7827263" cy="384048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bl/h0"/>
          <p:cNvSpPr txBox="1"/>
          <p:nvPr/>
        </p:nvSpPr>
        <p:spPr>
          <a:xfrm>
            <a:off x="3913632" y="2496312"/>
            <a:ext cx="173736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31" name="tbl/h1"/>
          <p:cNvSpPr txBox="1"/>
          <p:nvPr/>
        </p:nvSpPr>
        <p:spPr>
          <a:xfrm>
            <a:off x="5833872" y="2496312"/>
            <a:ext cx="16002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PRIMARY PURPOSE</a:t>
            </a:r>
          </a:p>
        </p:txBody>
      </p:sp>
      <p:sp>
        <p:nvSpPr>
          <p:cNvPr id="32" name="tbl/h2"/>
          <p:cNvSpPr txBox="1"/>
          <p:nvPr/>
        </p:nvSpPr>
        <p:spPr>
          <a:xfrm>
            <a:off x="7616951" y="2496312"/>
            <a:ext cx="12984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WAGE VISIBILITY</a:t>
            </a:r>
          </a:p>
        </p:txBody>
      </p:sp>
      <p:sp>
        <p:nvSpPr>
          <p:cNvPr id="33" name="tbl/h3"/>
          <p:cNvSpPr txBox="1"/>
          <p:nvPr/>
        </p:nvSpPr>
        <p:spPr>
          <a:xfrm>
            <a:off x="9098279" y="2496312"/>
            <a:ext cx="120700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CORRECTIONS</a:t>
            </a:r>
          </a:p>
        </p:txBody>
      </p:sp>
      <p:sp>
        <p:nvSpPr>
          <p:cNvPr id="34" name="tbl/h4"/>
          <p:cNvSpPr txBox="1"/>
          <p:nvPr/>
        </p:nvSpPr>
        <p:spPr>
          <a:xfrm>
            <a:off x="10488167" y="2496312"/>
            <a:ext cx="1069848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OFFLINE</a:t>
            </a:r>
          </a:p>
        </p:txBody>
      </p:sp>
      <p:sp>
        <p:nvSpPr>
          <p:cNvPr id="35" name="tbl/r0"/>
          <p:cNvSpPr/>
          <p:nvPr/>
        </p:nvSpPr>
        <p:spPr>
          <a:xfrm>
            <a:off x="3803904" y="2834640"/>
            <a:ext cx="7827263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bl/c00"/>
          <p:cNvSpPr txBox="1"/>
          <p:nvPr/>
        </p:nvSpPr>
        <p:spPr>
          <a:xfrm>
            <a:off x="3913632" y="2871216"/>
            <a:ext cx="173736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211B"/>
                </a:solidFill>
                <a:latin typeface="Calibri"/>
              </a:rPr>
              <a:t>e-Shram (GoI)</a:t>
            </a:r>
          </a:p>
        </p:txBody>
      </p:sp>
      <p:sp>
        <p:nvSpPr>
          <p:cNvPr id="37" name="tbl/c01"/>
          <p:cNvSpPr txBox="1"/>
          <p:nvPr/>
        </p:nvSpPr>
        <p:spPr>
          <a:xfrm>
            <a:off x="5833872" y="2871216"/>
            <a:ext cx="160020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Registry of unorganised workers; UAN and schemes</a:t>
            </a:r>
          </a:p>
        </p:txBody>
      </p:sp>
      <p:sp>
        <p:nvSpPr>
          <p:cNvPr id="38" name="tbl/c02"/>
          <p:cNvSpPr txBox="1"/>
          <p:nvPr/>
        </p:nvSpPr>
        <p:spPr>
          <a:xfrm>
            <a:off x="7616951" y="2871216"/>
            <a:ext cx="129844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Not a wage system</a:t>
            </a:r>
          </a:p>
        </p:txBody>
      </p:sp>
      <p:sp>
        <p:nvSpPr>
          <p:cNvPr id="39" name="tbl/c03"/>
          <p:cNvSpPr txBox="1"/>
          <p:nvPr/>
        </p:nvSpPr>
        <p:spPr>
          <a:xfrm>
            <a:off x="9098279" y="2871216"/>
            <a:ext cx="120700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Not designed for it</a:t>
            </a:r>
          </a:p>
        </p:txBody>
      </p:sp>
      <p:sp>
        <p:nvSpPr>
          <p:cNvPr id="40" name="tbl/c04"/>
          <p:cNvSpPr txBox="1"/>
          <p:nvPr/>
        </p:nvSpPr>
        <p:spPr>
          <a:xfrm>
            <a:off x="10488167" y="2871216"/>
            <a:ext cx="106984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Registration needs connectivity</a:t>
            </a:r>
          </a:p>
        </p:txBody>
      </p:sp>
      <p:sp>
        <p:nvSpPr>
          <p:cNvPr id="41" name="tbl/r1"/>
          <p:cNvSpPr/>
          <p:nvPr/>
        </p:nvSpPr>
        <p:spPr>
          <a:xfrm>
            <a:off x="3803904" y="3511296"/>
            <a:ext cx="7827263" cy="676656"/>
          </a:xfrm>
          <a:prstGeom prst="rect">
            <a:avLst/>
          </a:prstGeom>
          <a:solidFill>
            <a:srgbClr val="F7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bl/c10"/>
          <p:cNvSpPr txBox="1"/>
          <p:nvPr/>
        </p:nvSpPr>
        <p:spPr>
          <a:xfrm>
            <a:off x="3913632" y="3547872"/>
            <a:ext cx="173736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211B"/>
                </a:solidFill>
                <a:latin typeface="Calibri"/>
              </a:rPr>
              <a:t>MGNREGS / NREGASoft</a:t>
            </a:r>
          </a:p>
        </p:txBody>
      </p:sp>
      <p:sp>
        <p:nvSpPr>
          <p:cNvPr id="43" name="tbl/c11"/>
          <p:cNvSpPr txBox="1"/>
          <p:nvPr/>
        </p:nvSpPr>
        <p:spPr>
          <a:xfrm>
            <a:off x="5833872" y="3547872"/>
            <a:ext cx="160020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Public rural employment and wage payment</a:t>
            </a:r>
          </a:p>
        </p:txBody>
      </p:sp>
      <p:sp>
        <p:nvSpPr>
          <p:cNvPr id="44" name="tbl/c12"/>
          <p:cNvSpPr txBox="1"/>
          <p:nvPr/>
        </p:nvSpPr>
        <p:spPr>
          <a:xfrm>
            <a:off x="7616951" y="3547872"/>
            <a:ext cx="129844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System-generated; CAG documented delays</a:t>
            </a:r>
          </a:p>
        </p:txBody>
      </p:sp>
      <p:sp>
        <p:nvSpPr>
          <p:cNvPr id="45" name="tbl/c13"/>
          <p:cNvSpPr txBox="1"/>
          <p:nvPr/>
        </p:nvSpPr>
        <p:spPr>
          <a:xfrm>
            <a:off x="9098279" y="3547872"/>
            <a:ext cx="120700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Administrative records</a:t>
            </a:r>
          </a:p>
        </p:txBody>
      </p:sp>
      <p:sp>
        <p:nvSpPr>
          <p:cNvPr id="46" name="tbl/c14"/>
          <p:cNvSpPr txBox="1"/>
          <p:nvPr/>
        </p:nvSpPr>
        <p:spPr>
          <a:xfrm>
            <a:off x="10488167" y="3547872"/>
            <a:ext cx="106984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Field devices may sync</a:t>
            </a:r>
          </a:p>
        </p:txBody>
      </p:sp>
      <p:sp>
        <p:nvSpPr>
          <p:cNvPr id="47" name="tbl/r2"/>
          <p:cNvSpPr/>
          <p:nvPr/>
        </p:nvSpPr>
        <p:spPr>
          <a:xfrm>
            <a:off x="3803904" y="4187952"/>
            <a:ext cx="7827263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bl/c20"/>
          <p:cNvSpPr txBox="1"/>
          <p:nvPr/>
        </p:nvSpPr>
        <p:spPr>
          <a:xfrm>
            <a:off x="3913632" y="4224528"/>
            <a:ext cx="17373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211B"/>
                </a:solidFill>
                <a:latin typeface="Calibri"/>
              </a:rPr>
              <a:t>Commercial payroll</a:t>
            </a:r>
          </a:p>
        </p:txBody>
      </p:sp>
      <p:sp>
        <p:nvSpPr>
          <p:cNvPr id="49" name="tbl/c21"/>
          <p:cNvSpPr txBox="1"/>
          <p:nvPr/>
        </p:nvSpPr>
        <p:spPr>
          <a:xfrm>
            <a:off x="5833872" y="4224528"/>
            <a:ext cx="160020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Employer payroll processing</a:t>
            </a:r>
          </a:p>
        </p:txBody>
      </p:sp>
      <p:sp>
        <p:nvSpPr>
          <p:cNvPr id="50" name="tbl/c22"/>
          <p:cNvSpPr txBox="1"/>
          <p:nvPr/>
        </p:nvSpPr>
        <p:spPr>
          <a:xfrm>
            <a:off x="7616951" y="4224528"/>
            <a:ext cx="1298448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Varies by product</a:t>
            </a:r>
          </a:p>
        </p:txBody>
      </p:sp>
      <p:sp>
        <p:nvSpPr>
          <p:cNvPr id="51" name="tbl/c23"/>
          <p:cNvSpPr txBox="1"/>
          <p:nvPr/>
        </p:nvSpPr>
        <p:spPr>
          <a:xfrm>
            <a:off x="9098279" y="4224528"/>
            <a:ext cx="1207008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Employer-controlled</a:t>
            </a:r>
          </a:p>
        </p:txBody>
      </p:sp>
      <p:sp>
        <p:nvSpPr>
          <p:cNvPr id="52" name="tbl/c24"/>
          <p:cNvSpPr txBox="1"/>
          <p:nvPr/>
        </p:nvSpPr>
        <p:spPr>
          <a:xfrm>
            <a:off x="10488167" y="4224528"/>
            <a:ext cx="1069848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Usually online</a:t>
            </a:r>
          </a:p>
        </p:txBody>
      </p:sp>
      <p:sp>
        <p:nvSpPr>
          <p:cNvPr id="53" name="tbl/r3"/>
          <p:cNvSpPr/>
          <p:nvPr/>
        </p:nvSpPr>
        <p:spPr>
          <a:xfrm>
            <a:off x="3803904" y="4736592"/>
            <a:ext cx="7827263" cy="548640"/>
          </a:xfrm>
          <a:prstGeom prst="rect">
            <a:avLst/>
          </a:prstGeom>
          <a:solidFill>
            <a:srgbClr val="F7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bl/c30"/>
          <p:cNvSpPr txBox="1"/>
          <p:nvPr/>
        </p:nvSpPr>
        <p:spPr>
          <a:xfrm>
            <a:off x="3913632" y="4773168"/>
            <a:ext cx="17373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211B"/>
                </a:solidFill>
                <a:latin typeface="Calibri"/>
              </a:rPr>
              <a:t>Paper / messaging</a:t>
            </a:r>
          </a:p>
        </p:txBody>
      </p:sp>
      <p:sp>
        <p:nvSpPr>
          <p:cNvPr id="55" name="tbl/c31"/>
          <p:cNvSpPr txBox="1"/>
          <p:nvPr/>
        </p:nvSpPr>
        <p:spPr>
          <a:xfrm>
            <a:off x="5833872" y="4773168"/>
            <a:ext cx="160020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Informal record keeping</a:t>
            </a:r>
          </a:p>
        </p:txBody>
      </p:sp>
      <p:sp>
        <p:nvSpPr>
          <p:cNvPr id="56" name="tbl/c32"/>
          <p:cNvSpPr txBox="1"/>
          <p:nvPr/>
        </p:nvSpPr>
        <p:spPr>
          <a:xfrm>
            <a:off x="7616951" y="4773168"/>
            <a:ext cx="1298448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Manual, hard to inspect</a:t>
            </a:r>
          </a:p>
        </p:txBody>
      </p:sp>
      <p:sp>
        <p:nvSpPr>
          <p:cNvPr id="57" name="tbl/c33"/>
          <p:cNvSpPr txBox="1"/>
          <p:nvPr/>
        </p:nvSpPr>
        <p:spPr>
          <a:xfrm>
            <a:off x="9098279" y="4773168"/>
            <a:ext cx="1207008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Erased on overwrite</a:t>
            </a:r>
          </a:p>
        </p:txBody>
      </p:sp>
      <p:sp>
        <p:nvSpPr>
          <p:cNvPr id="58" name="tbl/c34"/>
          <p:cNvSpPr txBox="1"/>
          <p:nvPr/>
        </p:nvSpPr>
        <p:spPr>
          <a:xfrm>
            <a:off x="10488167" y="4773168"/>
            <a:ext cx="1069848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Fully offline</a:t>
            </a:r>
          </a:p>
        </p:txBody>
      </p:sp>
      <p:sp>
        <p:nvSpPr>
          <p:cNvPr id="59" name="tbl/r4"/>
          <p:cNvSpPr/>
          <p:nvPr/>
        </p:nvSpPr>
        <p:spPr>
          <a:xfrm>
            <a:off x="3803904" y="5285231"/>
            <a:ext cx="7827263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tbl/c40"/>
          <p:cNvSpPr txBox="1"/>
          <p:nvPr/>
        </p:nvSpPr>
        <p:spPr>
          <a:xfrm>
            <a:off x="3913632" y="5321807"/>
            <a:ext cx="173736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211B"/>
                </a:solidFill>
                <a:latin typeface="Calibri"/>
              </a:rPr>
              <a:t>Shram Setu 2.0</a:t>
            </a:r>
          </a:p>
        </p:txBody>
      </p:sp>
      <p:sp>
        <p:nvSpPr>
          <p:cNvPr id="61" name="tbl/c41"/>
          <p:cNvSpPr txBox="1"/>
          <p:nvPr/>
        </p:nvSpPr>
        <p:spPr>
          <a:xfrm>
            <a:off x="5833872" y="5321807"/>
            <a:ext cx="160020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Work-record and wage reconciliation</a:t>
            </a:r>
          </a:p>
        </p:txBody>
      </p:sp>
      <p:sp>
        <p:nvSpPr>
          <p:cNvPr id="62" name="tbl/c42"/>
          <p:cNvSpPr txBox="1"/>
          <p:nvPr/>
        </p:nvSpPr>
        <p:spPr>
          <a:xfrm>
            <a:off x="7616951" y="5321807"/>
            <a:ext cx="1298448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Shared engine, step-by-step</a:t>
            </a:r>
          </a:p>
        </p:txBody>
      </p:sp>
      <p:sp>
        <p:nvSpPr>
          <p:cNvPr id="63" name="tbl/c43"/>
          <p:cNvSpPr txBox="1"/>
          <p:nvPr/>
        </p:nvSpPr>
        <p:spPr>
          <a:xfrm>
            <a:off x="9098279" y="5321807"/>
            <a:ext cx="1207008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Prior value, reason, actor, time</a:t>
            </a:r>
          </a:p>
        </p:txBody>
      </p:sp>
      <p:sp>
        <p:nvSpPr>
          <p:cNvPr id="64" name="tbl/c44"/>
          <p:cNvSpPr txBox="1"/>
          <p:nvPr/>
        </p:nvSpPr>
        <p:spPr>
          <a:xfrm>
            <a:off x="10488167" y="5321807"/>
            <a:ext cx="1069848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IndexedDB local demo</a:t>
            </a:r>
          </a:p>
        </p:txBody>
      </p:sp>
      <p:sp>
        <p:nvSpPr>
          <p:cNvPr id="65" name="tbl/base"/>
          <p:cNvSpPr/>
          <p:nvPr/>
        </p:nvSpPr>
        <p:spPr>
          <a:xfrm>
            <a:off x="3803904" y="5998464"/>
            <a:ext cx="7827263" cy="45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note"/>
          <p:cNvSpPr txBox="1"/>
          <p:nvPr/>
        </p:nvSpPr>
        <p:spPr>
          <a:xfrm>
            <a:off x="3803904" y="6071616"/>
            <a:ext cx="77724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Comparison focuses on documented purpose rather than assumed defects. e-Shram is a registration system, not a day-to-day wage ledger.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02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Design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108000" lon="-828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NFC cards → printed QR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NFC cards → printed QR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The first concept was a physical tap-card. It was removed for cost and for a security property that could not be delivered cheaply.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3047923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2997631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08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tl"/>
          <p:cNvSpPr/>
          <p:nvPr/>
        </p:nvSpPr>
        <p:spPr>
          <a:xfrm>
            <a:off x="4005072" y="2889504"/>
            <a:ext cx="7360920" cy="2540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n0"/>
          <p:cNvSpPr/>
          <p:nvPr/>
        </p:nvSpPr>
        <p:spPr>
          <a:xfrm>
            <a:off x="4059936" y="2779776"/>
            <a:ext cx="219456" cy="219456"/>
          </a:xfrm>
          <a:prstGeom prst="ellipse">
            <a:avLst/>
          </a:prstGeom>
          <a:solidFill>
            <a:srgbClr val="B9812C"/>
          </a:solidFill>
          <a:ln w="25400">
            <a:solidFill>
              <a:srgbClr val="FBF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nt0"/>
          <p:cNvSpPr txBox="1"/>
          <p:nvPr/>
        </p:nvSpPr>
        <p:spPr>
          <a:xfrm>
            <a:off x="3346704" y="2359152"/>
            <a:ext cx="142646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11B"/>
                </a:solidFill>
                <a:latin typeface="Calibri"/>
              </a:rPr>
              <a:t>Concept</a:t>
            </a:r>
          </a:p>
        </p:txBody>
      </p:sp>
      <p:sp>
        <p:nvSpPr>
          <p:cNvPr id="32" name="nd0"/>
          <p:cNvSpPr txBox="1"/>
          <p:nvPr/>
        </p:nvSpPr>
        <p:spPr>
          <a:xfrm>
            <a:off x="3346704" y="3127248"/>
            <a:ext cx="1426464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reusable physical pass</a:t>
            </a:r>
          </a:p>
        </p:txBody>
      </p:sp>
      <p:sp>
        <p:nvSpPr>
          <p:cNvPr id="33" name="n1"/>
          <p:cNvSpPr/>
          <p:nvPr/>
        </p:nvSpPr>
        <p:spPr>
          <a:xfrm>
            <a:off x="5870448" y="2779776"/>
            <a:ext cx="219456" cy="219456"/>
          </a:xfrm>
          <a:prstGeom prst="ellipse">
            <a:avLst/>
          </a:prstGeom>
          <a:solidFill>
            <a:srgbClr val="B9812C"/>
          </a:solidFill>
          <a:ln w="25400">
            <a:solidFill>
              <a:srgbClr val="FBF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nt1"/>
          <p:cNvSpPr txBox="1"/>
          <p:nvPr/>
        </p:nvSpPr>
        <p:spPr>
          <a:xfrm>
            <a:off x="5157216" y="2359152"/>
            <a:ext cx="142646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11B"/>
                </a:solidFill>
                <a:latin typeface="Calibri"/>
              </a:rPr>
              <a:t>NFC passes</a:t>
            </a:r>
          </a:p>
        </p:txBody>
      </p:sp>
      <p:sp>
        <p:nvSpPr>
          <p:cNvPr id="35" name="nd1"/>
          <p:cNvSpPr txBox="1"/>
          <p:nvPr/>
        </p:nvSpPr>
        <p:spPr>
          <a:xfrm>
            <a:off x="5157216" y="3127248"/>
            <a:ext cx="1426464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tap to identify a worker</a:t>
            </a:r>
          </a:p>
        </p:txBody>
      </p:sp>
      <p:sp>
        <p:nvSpPr>
          <p:cNvPr id="36" name="n2"/>
          <p:cNvSpPr/>
          <p:nvPr/>
        </p:nvSpPr>
        <p:spPr>
          <a:xfrm>
            <a:off x="7680960" y="2779776"/>
            <a:ext cx="219456" cy="219456"/>
          </a:xfrm>
          <a:prstGeom prst="ellipse">
            <a:avLst/>
          </a:prstGeom>
          <a:solidFill>
            <a:srgbClr val="B9812C"/>
          </a:solidFill>
          <a:ln w="25400">
            <a:solidFill>
              <a:srgbClr val="FBF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nt2"/>
          <p:cNvSpPr txBox="1"/>
          <p:nvPr/>
        </p:nvSpPr>
        <p:spPr>
          <a:xfrm>
            <a:off x="6967728" y="2359152"/>
            <a:ext cx="142646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11B"/>
                </a:solidFill>
                <a:latin typeface="Calibri"/>
              </a:rPr>
              <a:t>Cost + clone audit</a:t>
            </a:r>
          </a:p>
        </p:txBody>
      </p:sp>
      <p:sp>
        <p:nvSpPr>
          <p:cNvPr id="38" name="nd2"/>
          <p:cNvSpPr txBox="1"/>
          <p:nvPr/>
        </p:nvSpPr>
        <p:spPr>
          <a:xfrm>
            <a:off x="6967728" y="3127248"/>
            <a:ext cx="1426464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tags are rewriteable</a:t>
            </a:r>
          </a:p>
        </p:txBody>
      </p:sp>
      <p:sp>
        <p:nvSpPr>
          <p:cNvPr id="39" name="n3"/>
          <p:cNvSpPr/>
          <p:nvPr/>
        </p:nvSpPr>
        <p:spPr>
          <a:xfrm>
            <a:off x="9491472" y="2779776"/>
            <a:ext cx="219456" cy="219456"/>
          </a:xfrm>
          <a:prstGeom prst="ellipse">
            <a:avLst/>
          </a:prstGeom>
          <a:solidFill>
            <a:srgbClr val="16A574"/>
          </a:solidFill>
          <a:ln w="25400">
            <a:solidFill>
              <a:srgbClr val="FBF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nt3"/>
          <p:cNvSpPr txBox="1"/>
          <p:nvPr/>
        </p:nvSpPr>
        <p:spPr>
          <a:xfrm>
            <a:off x="8778240" y="2359152"/>
            <a:ext cx="142646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11B"/>
                </a:solidFill>
                <a:latin typeface="Calibri"/>
              </a:rPr>
              <a:t>Printed QR</a:t>
            </a:r>
          </a:p>
        </p:txBody>
      </p:sp>
      <p:sp>
        <p:nvSpPr>
          <p:cNvPr id="41" name="nd3"/>
          <p:cNvSpPr txBox="1"/>
          <p:nvPr/>
        </p:nvSpPr>
        <p:spPr>
          <a:xfrm>
            <a:off x="8778240" y="3127248"/>
            <a:ext cx="1426464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any phone camera</a:t>
            </a:r>
          </a:p>
        </p:txBody>
      </p:sp>
      <p:sp>
        <p:nvSpPr>
          <p:cNvPr id="42" name="n4"/>
          <p:cNvSpPr/>
          <p:nvPr/>
        </p:nvSpPr>
        <p:spPr>
          <a:xfrm>
            <a:off x="11301984" y="2779776"/>
            <a:ext cx="219456" cy="219456"/>
          </a:xfrm>
          <a:prstGeom prst="ellipse">
            <a:avLst/>
          </a:prstGeom>
          <a:solidFill>
            <a:srgbClr val="16A574"/>
          </a:solidFill>
          <a:ln w="25400">
            <a:solidFill>
              <a:srgbClr val="FBF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nt4"/>
          <p:cNvSpPr txBox="1"/>
          <p:nvPr/>
        </p:nvSpPr>
        <p:spPr>
          <a:xfrm>
            <a:off x="10588752" y="2359152"/>
            <a:ext cx="142646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2211B"/>
                </a:solidFill>
                <a:latin typeface="Calibri"/>
              </a:rPr>
              <a:t>Repository split</a:t>
            </a:r>
          </a:p>
        </p:txBody>
      </p:sp>
      <p:sp>
        <p:nvSpPr>
          <p:cNvPr id="44" name="nd4"/>
          <p:cNvSpPr txBox="1"/>
          <p:nvPr/>
        </p:nvSpPr>
        <p:spPr>
          <a:xfrm>
            <a:off x="10588752" y="3127248"/>
            <a:ext cx="1426464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storage behind an interface</a:t>
            </a:r>
          </a:p>
        </p:txBody>
      </p:sp>
      <p:sp>
        <p:nvSpPr>
          <p:cNvPr id="45" name="nfc"/>
          <p:cNvSpPr/>
          <p:nvPr/>
        </p:nvSpPr>
        <p:spPr>
          <a:xfrm>
            <a:off x="3803904" y="3749039"/>
            <a:ext cx="38130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nfc/bar"/>
          <p:cNvSpPr/>
          <p:nvPr/>
        </p:nvSpPr>
        <p:spPr>
          <a:xfrm>
            <a:off x="3803904" y="3931920"/>
            <a:ext cx="50292" cy="1417319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nfc/t"/>
          <p:cNvSpPr txBox="1"/>
          <p:nvPr/>
        </p:nvSpPr>
        <p:spPr>
          <a:xfrm>
            <a:off x="4023360" y="3886200"/>
            <a:ext cx="3392423" cy="26180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2211B"/>
                </a:solidFill>
                <a:latin typeface="Georgia"/>
              </a:rPr>
              <a:t>NFC — removed</a:t>
            </a:r>
          </a:p>
        </p:txBody>
      </p:sp>
      <p:sp>
        <p:nvSpPr>
          <p:cNvPr id="48" name="nfc/b"/>
          <p:cNvSpPr txBox="1"/>
          <p:nvPr/>
        </p:nvSpPr>
        <p:spPr>
          <a:xfrm>
            <a:off x="4023360" y="4166289"/>
            <a:ext cx="3392423" cy="12561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E6459"/>
                </a:solidFill>
                <a:latin typeface="Calibri"/>
              </a:rPr>
              <a:t>Ordinary writable tags are not secure cryptographic devices: they can be cloned or rewritten, and a reader is an extra hardware cost at every site.</a:t>
            </a:r>
          </a:p>
        </p:txBody>
      </p:sp>
      <p:sp>
        <p:nvSpPr>
          <p:cNvPr id="49" name="qr"/>
          <p:cNvSpPr/>
          <p:nvPr/>
        </p:nvSpPr>
        <p:spPr>
          <a:xfrm>
            <a:off x="7818120" y="3749039"/>
            <a:ext cx="38130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qr/bar"/>
          <p:cNvSpPr/>
          <p:nvPr/>
        </p:nvSpPr>
        <p:spPr>
          <a:xfrm>
            <a:off x="7818120" y="3931920"/>
            <a:ext cx="50292" cy="1417319"/>
          </a:xfrm>
          <a:prstGeom prst="roundRect">
            <a:avLst>
              <a:gd name="adj" fmla="val 5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qr/t"/>
          <p:cNvSpPr txBox="1"/>
          <p:nvPr/>
        </p:nvSpPr>
        <p:spPr>
          <a:xfrm>
            <a:off x="8037576" y="3886200"/>
            <a:ext cx="3392423" cy="26180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2211B"/>
                </a:solidFill>
                <a:latin typeface="Georgia"/>
              </a:rPr>
              <a:t>QR — adopted</a:t>
            </a:r>
          </a:p>
        </p:txBody>
      </p:sp>
      <p:sp>
        <p:nvSpPr>
          <p:cNvPr id="52" name="qr/b"/>
          <p:cNvSpPr txBox="1"/>
          <p:nvPr/>
        </p:nvSpPr>
        <p:spPr>
          <a:xfrm>
            <a:off x="8037576" y="4166289"/>
            <a:ext cx="3392423" cy="125610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E6459"/>
                </a:solidFill>
                <a:latin typeface="Calibri"/>
              </a:rPr>
              <a:t>Printed on paper or card stock, replaced when damaged, read by any phone camera, and carrying an opaque reference rather than personal data.</a:t>
            </a:r>
          </a:p>
        </p:txBody>
      </p:sp>
      <p:sp>
        <p:nvSpPr>
          <p:cNvPr id="53" name="truth"/>
          <p:cNvSpPr/>
          <p:nvPr/>
        </p:nvSpPr>
        <p:spPr>
          <a:xfrm>
            <a:off x="3803904" y="5687568"/>
            <a:ext cx="7827264" cy="603504"/>
          </a:xfrm>
          <a:prstGeom prst="roundRect">
            <a:avLst>
              <a:gd name="adj" fmla="val 15151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ruth/bar"/>
          <p:cNvSpPr/>
          <p:nvPr/>
        </p:nvSpPr>
        <p:spPr>
          <a:xfrm>
            <a:off x="3803904" y="5833872"/>
            <a:ext cx="54864" cy="31089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ruth/t"/>
          <p:cNvSpPr txBox="1"/>
          <p:nvPr/>
        </p:nvSpPr>
        <p:spPr>
          <a:xfrm>
            <a:off x="4041648" y="5797296"/>
            <a:ext cx="7424928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Calibri"/>
              </a:rPr>
              <a:t>A QR is an identifier, not an authenticator. Scanning one proves nothing about who is standing there.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02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Design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66000" lon="-636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Four inspectable mechanisms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Four inspectable mechanisms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No dashboards of promises. Four things a worker, a contractor or a judge can actually check.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3428914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3378622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09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m0"/>
          <p:cNvSpPr/>
          <p:nvPr/>
        </p:nvSpPr>
        <p:spPr>
          <a:xfrm>
            <a:off x="3803904" y="2432304"/>
            <a:ext cx="3813048" cy="1700784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mt0"/>
          <p:cNvSpPr/>
          <p:nvPr/>
        </p:nvSpPr>
        <p:spPr>
          <a:xfrm>
            <a:off x="3803904" y="2432304"/>
            <a:ext cx="3813048" cy="54864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mn0"/>
          <p:cNvSpPr txBox="1"/>
          <p:nvPr/>
        </p:nvSpPr>
        <p:spPr>
          <a:xfrm>
            <a:off x="4041648" y="2670048"/>
            <a:ext cx="54864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A574"/>
                </a:solidFill>
                <a:latin typeface="Georgia"/>
              </a:rPr>
              <a:t>01</a:t>
            </a:r>
          </a:p>
        </p:txBody>
      </p:sp>
      <p:sp>
        <p:nvSpPr>
          <p:cNvPr id="32" name="mtit0"/>
          <p:cNvSpPr txBox="1"/>
          <p:nvPr/>
        </p:nvSpPr>
        <p:spPr>
          <a:xfrm>
            <a:off x="4590288" y="2706624"/>
            <a:ext cx="28346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2211B"/>
                </a:solidFill>
                <a:latin typeface="Calibri"/>
              </a:rPr>
              <a:t>Explainable arithmetic</a:t>
            </a:r>
          </a:p>
        </p:txBody>
      </p:sp>
      <p:sp>
        <p:nvSpPr>
          <p:cNvPr id="33" name="mb0"/>
          <p:cNvSpPr txBox="1"/>
          <p:nvPr/>
        </p:nvSpPr>
        <p:spPr>
          <a:xfrm>
            <a:off x="4041648" y="3163824"/>
            <a:ext cx="3364992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E6459"/>
                </a:solidFill>
                <a:latin typeface="Calibri"/>
              </a:rPr>
              <a:t>One deterministic engine renders the same step-by-step breakdown in the worker portal, the contractor portal and the inspector.</a:t>
            </a:r>
          </a:p>
        </p:txBody>
      </p:sp>
      <p:sp>
        <p:nvSpPr>
          <p:cNvPr id="34" name="m1"/>
          <p:cNvSpPr/>
          <p:nvPr/>
        </p:nvSpPr>
        <p:spPr>
          <a:xfrm>
            <a:off x="7818120" y="2432304"/>
            <a:ext cx="3813048" cy="1700784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mt1"/>
          <p:cNvSpPr/>
          <p:nvPr/>
        </p:nvSpPr>
        <p:spPr>
          <a:xfrm>
            <a:off x="7818120" y="2432304"/>
            <a:ext cx="3813048" cy="54864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mn1"/>
          <p:cNvSpPr txBox="1"/>
          <p:nvPr/>
        </p:nvSpPr>
        <p:spPr>
          <a:xfrm>
            <a:off x="8055864" y="2670048"/>
            <a:ext cx="54864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3B04B"/>
                </a:solidFill>
                <a:latin typeface="Georgia"/>
              </a:rPr>
              <a:t>02</a:t>
            </a:r>
          </a:p>
        </p:txBody>
      </p:sp>
      <p:sp>
        <p:nvSpPr>
          <p:cNvPr id="37" name="mtit1"/>
          <p:cNvSpPr txBox="1"/>
          <p:nvPr/>
        </p:nvSpPr>
        <p:spPr>
          <a:xfrm>
            <a:off x="8604504" y="2706624"/>
            <a:ext cx="28346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2211B"/>
                </a:solidFill>
                <a:latin typeface="Calibri"/>
              </a:rPr>
              <a:t>Explicit payment states</a:t>
            </a:r>
          </a:p>
        </p:txBody>
      </p:sp>
      <p:sp>
        <p:nvSpPr>
          <p:cNvPr id="38" name="mb1"/>
          <p:cNvSpPr txBox="1"/>
          <p:nvPr/>
        </p:nvSpPr>
        <p:spPr>
          <a:xfrm>
            <a:off x="8055864" y="3163824"/>
            <a:ext cx="3364992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E6459"/>
                </a:solidFill>
                <a:latin typeface="Calibri"/>
              </a:rPr>
              <a:t>Unpaid, recorded by contractor, acknowledged by worker, disputed — never collapsed into a single 'paid' tick.</a:t>
            </a:r>
          </a:p>
        </p:txBody>
      </p:sp>
      <p:sp>
        <p:nvSpPr>
          <p:cNvPr id="39" name="m2"/>
          <p:cNvSpPr/>
          <p:nvPr/>
        </p:nvSpPr>
        <p:spPr>
          <a:xfrm>
            <a:off x="3803904" y="4279392"/>
            <a:ext cx="3813048" cy="1700784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mt2"/>
          <p:cNvSpPr/>
          <p:nvPr/>
        </p:nvSpPr>
        <p:spPr>
          <a:xfrm>
            <a:off x="3803904" y="4279392"/>
            <a:ext cx="3813048" cy="54864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mn2"/>
          <p:cNvSpPr txBox="1"/>
          <p:nvPr/>
        </p:nvSpPr>
        <p:spPr>
          <a:xfrm>
            <a:off x="4041648" y="4517136"/>
            <a:ext cx="54864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A55"/>
                </a:solidFill>
                <a:latin typeface="Georgia"/>
              </a:rPr>
              <a:t>03</a:t>
            </a:r>
          </a:p>
        </p:txBody>
      </p:sp>
      <p:sp>
        <p:nvSpPr>
          <p:cNvPr id="42" name="mtit2"/>
          <p:cNvSpPr txBox="1"/>
          <p:nvPr/>
        </p:nvSpPr>
        <p:spPr>
          <a:xfrm>
            <a:off x="4590288" y="4553712"/>
            <a:ext cx="28346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2211B"/>
                </a:solidFill>
                <a:latin typeface="Calibri"/>
              </a:rPr>
              <a:t>Preserved history</a:t>
            </a:r>
          </a:p>
        </p:txBody>
      </p:sp>
      <p:sp>
        <p:nvSpPr>
          <p:cNvPr id="43" name="mb2"/>
          <p:cNvSpPr txBox="1"/>
          <p:nvPr/>
        </p:nvSpPr>
        <p:spPr>
          <a:xfrm>
            <a:off x="4041648" y="5010912"/>
            <a:ext cx="3364992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E6459"/>
                </a:solidFill>
                <a:latin typeface="Calibri"/>
              </a:rPr>
              <a:t>A correction keeps the prior value alongside the new one, with reason, actor role and timestamp.</a:t>
            </a:r>
          </a:p>
        </p:txBody>
      </p:sp>
      <p:sp>
        <p:nvSpPr>
          <p:cNvPr id="44" name="m3"/>
          <p:cNvSpPr/>
          <p:nvPr/>
        </p:nvSpPr>
        <p:spPr>
          <a:xfrm>
            <a:off x="7818120" y="4279392"/>
            <a:ext cx="3813048" cy="1700784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mt3"/>
          <p:cNvSpPr/>
          <p:nvPr/>
        </p:nvSpPr>
        <p:spPr>
          <a:xfrm>
            <a:off x="7818120" y="4279392"/>
            <a:ext cx="3813048" cy="54864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mn3"/>
          <p:cNvSpPr txBox="1"/>
          <p:nvPr/>
        </p:nvSpPr>
        <p:spPr>
          <a:xfrm>
            <a:off x="8055864" y="4517136"/>
            <a:ext cx="54864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2542D"/>
                </a:solidFill>
                <a:latin typeface="Georgia"/>
              </a:rPr>
              <a:t>04</a:t>
            </a:r>
          </a:p>
        </p:txBody>
      </p:sp>
      <p:sp>
        <p:nvSpPr>
          <p:cNvPr id="47" name="mtit3"/>
          <p:cNvSpPr txBox="1"/>
          <p:nvPr/>
        </p:nvSpPr>
        <p:spPr>
          <a:xfrm>
            <a:off x="8604504" y="4553712"/>
            <a:ext cx="28346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2211B"/>
                </a:solidFill>
                <a:latin typeface="Calibri"/>
              </a:rPr>
              <a:t>Chained audit trail</a:t>
            </a:r>
          </a:p>
        </p:txBody>
      </p:sp>
      <p:sp>
        <p:nvSpPr>
          <p:cNvPr id="48" name="mb3"/>
          <p:cNvSpPr txBox="1"/>
          <p:nvPr/>
        </p:nvSpPr>
        <p:spPr>
          <a:xfrm>
            <a:off x="8055864" y="5010912"/>
            <a:ext cx="3364992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4E6459"/>
                </a:solidFill>
                <a:latin typeface="Calibri"/>
              </a:rPr>
              <a:t>Each record stores a SHA-256 digest that includes its predecessor, so edits break the chain visibly.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03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04000" lon="-462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Architecture: one clean seam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Architecture: one clean seam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An abstract repository keeps the wage engine and the audit chain independent of whether records live in IndexedDB or PostgreSQL.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3809904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3759612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10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L0"/>
          <p:cNvSpPr/>
          <p:nvPr/>
        </p:nvSpPr>
        <p:spPr>
          <a:xfrm>
            <a:off x="3803904" y="2432304"/>
            <a:ext cx="782726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Lt0"/>
          <p:cNvSpPr/>
          <p:nvPr/>
        </p:nvSpPr>
        <p:spPr>
          <a:xfrm>
            <a:off x="3803904" y="2432304"/>
            <a:ext cx="64008" cy="640080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Ltag0"/>
          <p:cNvSpPr txBox="1"/>
          <p:nvPr/>
        </p:nvSpPr>
        <p:spPr>
          <a:xfrm>
            <a:off x="4005072" y="2523744"/>
            <a:ext cx="12984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70">
                <a:solidFill>
                  <a:srgbClr val="16A574"/>
                </a:solidFill>
                <a:latin typeface="Calibri"/>
              </a:rPr>
              <a:t>PRESENTATION</a:t>
            </a:r>
          </a:p>
        </p:txBody>
      </p:sp>
      <p:sp>
        <p:nvSpPr>
          <p:cNvPr id="32" name="Lname0"/>
          <p:cNvSpPr txBox="1"/>
          <p:nvPr/>
        </p:nvSpPr>
        <p:spPr>
          <a:xfrm>
            <a:off x="4005072" y="2679192"/>
            <a:ext cx="251460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React 19 single-page app</a:t>
            </a:r>
          </a:p>
        </p:txBody>
      </p:sp>
      <p:sp>
        <p:nvSpPr>
          <p:cNvPr id="33" name="Litem0"/>
          <p:cNvSpPr txBox="1"/>
          <p:nvPr/>
        </p:nvSpPr>
        <p:spPr>
          <a:xfrm>
            <a:off x="6583680" y="2560320"/>
            <a:ext cx="48463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Worker portal · Contractor portal · Audit &amp; tamper bench</a:t>
            </a:r>
          </a:p>
        </p:txBody>
      </p:sp>
      <p:sp>
        <p:nvSpPr>
          <p:cNvPr id="34" name="ar0/s"/>
          <p:cNvSpPr/>
          <p:nvPr/>
        </p:nvSpPr>
        <p:spPr>
          <a:xfrm>
            <a:off x="7706563" y="3090672"/>
            <a:ext cx="21945" cy="64008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ar0/t"/>
          <p:cNvSpPr/>
          <p:nvPr/>
        </p:nvSpPr>
        <p:spPr>
          <a:xfrm rot="10800000">
            <a:off x="7644383" y="3145536"/>
            <a:ext cx="146304" cy="91440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L1"/>
          <p:cNvSpPr/>
          <p:nvPr/>
        </p:nvSpPr>
        <p:spPr>
          <a:xfrm>
            <a:off x="3803904" y="3236976"/>
            <a:ext cx="782726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Lt1"/>
          <p:cNvSpPr/>
          <p:nvPr/>
        </p:nvSpPr>
        <p:spPr>
          <a:xfrm>
            <a:off x="3803904" y="3236976"/>
            <a:ext cx="64008" cy="64008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Ltag1"/>
          <p:cNvSpPr txBox="1"/>
          <p:nvPr/>
        </p:nvSpPr>
        <p:spPr>
          <a:xfrm>
            <a:off x="4005072" y="3328416"/>
            <a:ext cx="12984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70">
                <a:solidFill>
                  <a:srgbClr val="0E7A55"/>
                </a:solidFill>
                <a:latin typeface="Calibri"/>
              </a:rPr>
              <a:t>SERVICES</a:t>
            </a:r>
          </a:p>
        </p:txBody>
      </p:sp>
      <p:sp>
        <p:nvSpPr>
          <p:cNvPr id="39" name="Lname1"/>
          <p:cNvSpPr txBox="1"/>
          <p:nvPr/>
        </p:nvSpPr>
        <p:spPr>
          <a:xfrm>
            <a:off x="4005072" y="3483864"/>
            <a:ext cx="251460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Deterministic business rules</a:t>
            </a:r>
          </a:p>
        </p:txBody>
      </p:sp>
      <p:sp>
        <p:nvSpPr>
          <p:cNvPr id="40" name="Litem1"/>
          <p:cNvSpPr txBox="1"/>
          <p:nvPr/>
        </p:nvSpPr>
        <p:spPr>
          <a:xfrm>
            <a:off x="6583680" y="3364992"/>
            <a:ext cx="48463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wageEngine · anomalyEngine · cryptoAudit · auth · router</a:t>
            </a:r>
          </a:p>
        </p:txBody>
      </p:sp>
      <p:sp>
        <p:nvSpPr>
          <p:cNvPr id="41" name="ar1/s"/>
          <p:cNvSpPr/>
          <p:nvPr/>
        </p:nvSpPr>
        <p:spPr>
          <a:xfrm>
            <a:off x="7706563" y="3895344"/>
            <a:ext cx="21945" cy="64008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ar1/t"/>
          <p:cNvSpPr/>
          <p:nvPr/>
        </p:nvSpPr>
        <p:spPr>
          <a:xfrm rot="10800000">
            <a:off x="7644383" y="3950208"/>
            <a:ext cx="146304" cy="91440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L2"/>
          <p:cNvSpPr/>
          <p:nvPr/>
        </p:nvSpPr>
        <p:spPr>
          <a:xfrm>
            <a:off x="3803904" y="4041648"/>
            <a:ext cx="782726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Lt2"/>
          <p:cNvSpPr/>
          <p:nvPr/>
        </p:nvSpPr>
        <p:spPr>
          <a:xfrm>
            <a:off x="3803904" y="4041648"/>
            <a:ext cx="64008" cy="64008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Ltag2"/>
          <p:cNvSpPr txBox="1"/>
          <p:nvPr/>
        </p:nvSpPr>
        <p:spPr>
          <a:xfrm>
            <a:off x="4005072" y="4133087"/>
            <a:ext cx="12984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70">
                <a:solidFill>
                  <a:srgbClr val="E3B04B"/>
                </a:solidFill>
                <a:latin typeface="Calibri"/>
              </a:rPr>
              <a:t>CONTRACT</a:t>
            </a:r>
          </a:p>
        </p:txBody>
      </p:sp>
      <p:sp>
        <p:nvSpPr>
          <p:cNvPr id="46" name="Lname2"/>
          <p:cNvSpPr txBox="1"/>
          <p:nvPr/>
        </p:nvSpPr>
        <p:spPr>
          <a:xfrm>
            <a:off x="4005072" y="4288536"/>
            <a:ext cx="251460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IDataRepository</a:t>
            </a:r>
          </a:p>
        </p:txBody>
      </p:sp>
      <p:sp>
        <p:nvSpPr>
          <p:cNvPr id="47" name="Litem2"/>
          <p:cNvSpPr txBox="1"/>
          <p:nvPr/>
        </p:nvSpPr>
        <p:spPr>
          <a:xfrm>
            <a:off x="6583680" y="4169663"/>
            <a:ext cx="48463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workers · work records · payments · disputes · approvals</a:t>
            </a:r>
          </a:p>
        </p:txBody>
      </p:sp>
      <p:sp>
        <p:nvSpPr>
          <p:cNvPr id="48" name="ar2/s"/>
          <p:cNvSpPr/>
          <p:nvPr/>
        </p:nvSpPr>
        <p:spPr>
          <a:xfrm>
            <a:off x="7706563" y="4700016"/>
            <a:ext cx="21945" cy="64008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ar2/t"/>
          <p:cNvSpPr/>
          <p:nvPr/>
        </p:nvSpPr>
        <p:spPr>
          <a:xfrm rot="10800000">
            <a:off x="7644383" y="4754880"/>
            <a:ext cx="146304" cy="91440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L3"/>
          <p:cNvSpPr/>
          <p:nvPr/>
        </p:nvSpPr>
        <p:spPr>
          <a:xfrm>
            <a:off x="3803904" y="4846320"/>
            <a:ext cx="782726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Lt3"/>
          <p:cNvSpPr/>
          <p:nvPr/>
        </p:nvSpPr>
        <p:spPr>
          <a:xfrm>
            <a:off x="3803904" y="4846320"/>
            <a:ext cx="64008" cy="64008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Ltag3"/>
          <p:cNvSpPr txBox="1"/>
          <p:nvPr/>
        </p:nvSpPr>
        <p:spPr>
          <a:xfrm>
            <a:off x="4005072" y="4937759"/>
            <a:ext cx="12984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70">
                <a:solidFill>
                  <a:srgbClr val="B9812C"/>
                </a:solidFill>
                <a:latin typeface="Calibri"/>
              </a:rPr>
              <a:t>STORAGE</a:t>
            </a:r>
          </a:p>
        </p:txBody>
      </p:sp>
      <p:sp>
        <p:nvSpPr>
          <p:cNvPr id="53" name="Lname3"/>
          <p:cNvSpPr txBox="1"/>
          <p:nvPr/>
        </p:nvSpPr>
        <p:spPr>
          <a:xfrm>
            <a:off x="4005072" y="5093208"/>
            <a:ext cx="251460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IndexedDB · shram_setu_v2_db</a:t>
            </a:r>
          </a:p>
        </p:txBody>
      </p:sp>
      <p:sp>
        <p:nvSpPr>
          <p:cNvPr id="54" name="Litem3"/>
          <p:cNvSpPr txBox="1"/>
          <p:nvPr/>
        </p:nvSpPr>
        <p:spPr>
          <a:xfrm>
            <a:off x="6583680" y="4974336"/>
            <a:ext cx="48463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Per-entity object stores · in-memory fallback for tests</a:t>
            </a:r>
          </a:p>
        </p:txBody>
      </p:sp>
      <p:sp>
        <p:nvSpPr>
          <p:cNvPr id="55" name="ar3/s"/>
          <p:cNvSpPr/>
          <p:nvPr/>
        </p:nvSpPr>
        <p:spPr>
          <a:xfrm>
            <a:off x="7706563" y="5504688"/>
            <a:ext cx="21945" cy="64008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ar3/t"/>
          <p:cNvSpPr/>
          <p:nvPr/>
        </p:nvSpPr>
        <p:spPr>
          <a:xfrm rot="10800000">
            <a:off x="7644383" y="5559552"/>
            <a:ext cx="146304" cy="91440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L4"/>
          <p:cNvSpPr/>
          <p:nvPr/>
        </p:nvSpPr>
        <p:spPr>
          <a:xfrm>
            <a:off x="3803904" y="5650992"/>
            <a:ext cx="7827264" cy="640080"/>
          </a:xfrm>
          <a:prstGeom prst="roundRect">
            <a:avLst>
              <a:gd name="adj" fmla="val 12857"/>
            </a:avLst>
          </a:prstGeom>
          <a:solidFill>
            <a:srgbClr val="FBF7EC"/>
          </a:solidFill>
          <a:ln w="13970">
            <a:solidFill>
              <a:srgbClr val="7C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Lt4"/>
          <p:cNvSpPr/>
          <p:nvPr/>
        </p:nvSpPr>
        <p:spPr>
          <a:xfrm>
            <a:off x="3803904" y="5650992"/>
            <a:ext cx="64008" cy="640080"/>
          </a:xfrm>
          <a:prstGeom prst="rect">
            <a:avLst/>
          </a:prstGeom>
          <a:solidFill>
            <a:srgbClr val="7C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Ltag4"/>
          <p:cNvSpPr txBox="1"/>
          <p:nvPr/>
        </p:nvSpPr>
        <p:spPr>
          <a:xfrm>
            <a:off x="4005072" y="5742431"/>
            <a:ext cx="12984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70">
                <a:solidFill>
                  <a:srgbClr val="7C8F85"/>
                </a:solidFill>
                <a:latin typeface="Calibri"/>
              </a:rPr>
              <a:t>PLANNED</a:t>
            </a:r>
          </a:p>
        </p:txBody>
      </p:sp>
      <p:sp>
        <p:nvSpPr>
          <p:cNvPr id="60" name="Lname4"/>
          <p:cNvSpPr txBox="1"/>
          <p:nvPr/>
        </p:nvSpPr>
        <p:spPr>
          <a:xfrm>
            <a:off x="4005072" y="5897879"/>
            <a:ext cx="2514600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7C8F85"/>
                </a:solidFill>
                <a:latin typeface="Calibri"/>
              </a:rPr>
              <a:t>Supabase + PWA</a:t>
            </a:r>
          </a:p>
        </p:txBody>
      </p:sp>
      <p:sp>
        <p:nvSpPr>
          <p:cNvPr id="61" name="Litem4"/>
          <p:cNvSpPr txBox="1"/>
          <p:nvPr/>
        </p:nvSpPr>
        <p:spPr>
          <a:xfrm>
            <a:off x="6583680" y="5779007"/>
            <a:ext cx="484632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C8F85"/>
                </a:solidFill>
                <a:latin typeface="Calibri"/>
              </a:rPr>
              <a:t>PostgreSQL + row-level security · service worker · sync queue — not connected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03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408000" lon="-372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Technology choices and why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Technology choices and why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Every item is free, open source and already in the browser — no licence, no server and no hardware to buy.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4190895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4140603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11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s0"/>
          <p:cNvSpPr/>
          <p:nvPr/>
        </p:nvSpPr>
        <p:spPr>
          <a:xfrm>
            <a:off x="3803904" y="2432304"/>
            <a:ext cx="2487168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sd0"/>
          <p:cNvSpPr/>
          <p:nvPr/>
        </p:nvSpPr>
        <p:spPr>
          <a:xfrm>
            <a:off x="4005072" y="26334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st0"/>
          <p:cNvSpPr txBox="1"/>
          <p:nvPr/>
        </p:nvSpPr>
        <p:spPr>
          <a:xfrm>
            <a:off x="4005072" y="2980944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2211B"/>
                </a:solidFill>
                <a:latin typeface="Calibri"/>
              </a:rPr>
              <a:t>React 19</a:t>
            </a:r>
          </a:p>
        </p:txBody>
      </p:sp>
      <p:sp>
        <p:nvSpPr>
          <p:cNvPr id="32" name="sr0"/>
          <p:cNvSpPr txBox="1"/>
          <p:nvPr/>
        </p:nvSpPr>
        <p:spPr>
          <a:xfrm>
            <a:off x="4005072" y="3255264"/>
            <a:ext cx="2121408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6A574"/>
                </a:solidFill>
                <a:latin typeface="Calibri"/>
              </a:rPr>
              <a:t>UI components and state</a:t>
            </a:r>
          </a:p>
        </p:txBody>
      </p:sp>
      <p:sp>
        <p:nvSpPr>
          <p:cNvPr id="33" name="sw0"/>
          <p:cNvSpPr txBox="1"/>
          <p:nvPr/>
        </p:nvSpPr>
        <p:spPr>
          <a:xfrm>
            <a:off x="4005072" y="3657600"/>
            <a:ext cx="212140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E6459"/>
                </a:solidFill>
                <a:latin typeface="Calibri"/>
              </a:rPr>
              <a:t>Component model, wide ecosystem, familiar to reviewers</a:t>
            </a:r>
          </a:p>
        </p:txBody>
      </p:sp>
      <p:sp>
        <p:nvSpPr>
          <p:cNvPr id="34" name="s1"/>
          <p:cNvSpPr/>
          <p:nvPr/>
        </p:nvSpPr>
        <p:spPr>
          <a:xfrm>
            <a:off x="6473952" y="2432304"/>
            <a:ext cx="2487168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sd1"/>
          <p:cNvSpPr/>
          <p:nvPr/>
        </p:nvSpPr>
        <p:spPr>
          <a:xfrm>
            <a:off x="6675120" y="26334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st1"/>
          <p:cNvSpPr txBox="1"/>
          <p:nvPr/>
        </p:nvSpPr>
        <p:spPr>
          <a:xfrm>
            <a:off x="6675120" y="2980944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2211B"/>
                </a:solidFill>
                <a:latin typeface="Calibri"/>
              </a:rPr>
              <a:t>TypeScript</a:t>
            </a:r>
          </a:p>
        </p:txBody>
      </p:sp>
      <p:sp>
        <p:nvSpPr>
          <p:cNvPr id="37" name="sr1"/>
          <p:cNvSpPr txBox="1"/>
          <p:nvPr/>
        </p:nvSpPr>
        <p:spPr>
          <a:xfrm>
            <a:off x="6675120" y="3255264"/>
            <a:ext cx="2121408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7A55"/>
                </a:solidFill>
                <a:latin typeface="Calibri"/>
              </a:rPr>
              <a:t>Typed application code</a:t>
            </a:r>
          </a:p>
        </p:txBody>
      </p:sp>
      <p:sp>
        <p:nvSpPr>
          <p:cNvPr id="38" name="sw1"/>
          <p:cNvSpPr txBox="1"/>
          <p:nvPr/>
        </p:nvSpPr>
        <p:spPr>
          <a:xfrm>
            <a:off x="6675120" y="3657600"/>
            <a:ext cx="212140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E6459"/>
                </a:solidFill>
                <a:latin typeface="Calibri"/>
              </a:rPr>
              <a:t>Catches a class of errors at compile time; tsc reports 0 errors</a:t>
            </a:r>
          </a:p>
        </p:txBody>
      </p:sp>
      <p:sp>
        <p:nvSpPr>
          <p:cNvPr id="39" name="s2"/>
          <p:cNvSpPr/>
          <p:nvPr/>
        </p:nvSpPr>
        <p:spPr>
          <a:xfrm>
            <a:off x="9144000" y="2432304"/>
            <a:ext cx="2487168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sd2"/>
          <p:cNvSpPr/>
          <p:nvPr/>
        </p:nvSpPr>
        <p:spPr>
          <a:xfrm>
            <a:off x="9345168" y="263347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st2"/>
          <p:cNvSpPr txBox="1"/>
          <p:nvPr/>
        </p:nvSpPr>
        <p:spPr>
          <a:xfrm>
            <a:off x="9345168" y="2980944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2211B"/>
                </a:solidFill>
                <a:latin typeface="Calibri"/>
              </a:rPr>
              <a:t>Vite</a:t>
            </a:r>
          </a:p>
        </p:txBody>
      </p:sp>
      <p:sp>
        <p:nvSpPr>
          <p:cNvPr id="42" name="sr2"/>
          <p:cNvSpPr txBox="1"/>
          <p:nvPr/>
        </p:nvSpPr>
        <p:spPr>
          <a:xfrm>
            <a:off x="9345168" y="3255264"/>
            <a:ext cx="2121408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6A574"/>
                </a:solidFill>
                <a:latin typeface="Calibri"/>
              </a:rPr>
              <a:t>Dev server + build</a:t>
            </a:r>
          </a:p>
        </p:txBody>
      </p:sp>
      <p:sp>
        <p:nvSpPr>
          <p:cNvPr id="43" name="sw2"/>
          <p:cNvSpPr txBox="1"/>
          <p:nvPr/>
        </p:nvSpPr>
        <p:spPr>
          <a:xfrm>
            <a:off x="9345168" y="3657600"/>
            <a:ext cx="212140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E6459"/>
                </a:solidFill>
                <a:latin typeface="Calibri"/>
              </a:rPr>
              <a:t>Fast iteration and a clean, small production bundle</a:t>
            </a:r>
          </a:p>
        </p:txBody>
      </p:sp>
      <p:sp>
        <p:nvSpPr>
          <p:cNvPr id="44" name="s3"/>
          <p:cNvSpPr/>
          <p:nvPr/>
        </p:nvSpPr>
        <p:spPr>
          <a:xfrm>
            <a:off x="3803904" y="4315968"/>
            <a:ext cx="2487168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sd3"/>
          <p:cNvSpPr/>
          <p:nvPr/>
        </p:nvSpPr>
        <p:spPr>
          <a:xfrm>
            <a:off x="4005072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st3"/>
          <p:cNvSpPr txBox="1"/>
          <p:nvPr/>
        </p:nvSpPr>
        <p:spPr>
          <a:xfrm>
            <a:off x="4005072" y="4864608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2211B"/>
                </a:solidFill>
                <a:latin typeface="Calibri"/>
              </a:rPr>
              <a:t>IndexedDB</a:t>
            </a:r>
          </a:p>
        </p:txBody>
      </p:sp>
      <p:sp>
        <p:nvSpPr>
          <p:cNvPr id="47" name="sr3"/>
          <p:cNvSpPr txBox="1"/>
          <p:nvPr/>
        </p:nvSpPr>
        <p:spPr>
          <a:xfrm>
            <a:off x="4005072" y="5138928"/>
            <a:ext cx="2121408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B9812C"/>
                </a:solidFill>
                <a:latin typeface="Calibri"/>
              </a:rPr>
              <a:t>Browser-local storage</a:t>
            </a:r>
          </a:p>
        </p:txBody>
      </p:sp>
      <p:sp>
        <p:nvSpPr>
          <p:cNvPr id="48" name="sw3"/>
          <p:cNvSpPr txBox="1"/>
          <p:nvPr/>
        </p:nvSpPr>
        <p:spPr>
          <a:xfrm>
            <a:off x="4005072" y="5541264"/>
            <a:ext cx="212140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E6459"/>
                </a:solidFill>
                <a:latin typeface="Calibri"/>
              </a:rPr>
              <a:t>Works offline, larger than localStorage, supports indexes</a:t>
            </a:r>
          </a:p>
        </p:txBody>
      </p:sp>
      <p:sp>
        <p:nvSpPr>
          <p:cNvPr id="49" name="s4"/>
          <p:cNvSpPr/>
          <p:nvPr/>
        </p:nvSpPr>
        <p:spPr>
          <a:xfrm>
            <a:off x="6473952" y="4315968"/>
            <a:ext cx="2487168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sd4"/>
          <p:cNvSpPr/>
          <p:nvPr/>
        </p:nvSpPr>
        <p:spPr>
          <a:xfrm>
            <a:off x="6675120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st4"/>
          <p:cNvSpPr txBox="1"/>
          <p:nvPr/>
        </p:nvSpPr>
        <p:spPr>
          <a:xfrm>
            <a:off x="6675120" y="4864608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2211B"/>
                </a:solidFill>
                <a:latin typeface="Calibri"/>
              </a:rPr>
              <a:t>Web Crypto</a:t>
            </a:r>
          </a:p>
        </p:txBody>
      </p:sp>
      <p:sp>
        <p:nvSpPr>
          <p:cNvPr id="52" name="sr4"/>
          <p:cNvSpPr txBox="1"/>
          <p:nvPr/>
        </p:nvSpPr>
        <p:spPr>
          <a:xfrm>
            <a:off x="6675120" y="5138928"/>
            <a:ext cx="2121408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B9812C"/>
                </a:solidFill>
                <a:latin typeface="Calibri"/>
              </a:rPr>
              <a:t>SHA-256 digests</a:t>
            </a:r>
          </a:p>
        </p:txBody>
      </p:sp>
      <p:sp>
        <p:nvSpPr>
          <p:cNvPr id="53" name="sw4"/>
          <p:cNvSpPr txBox="1"/>
          <p:nvPr/>
        </p:nvSpPr>
        <p:spPr>
          <a:xfrm>
            <a:off x="6675120" y="5541264"/>
            <a:ext cx="212140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E6459"/>
                </a:solidFill>
                <a:latin typeface="Calibri"/>
              </a:rPr>
              <a:t>Standard browser API — no external crypto library needed</a:t>
            </a:r>
          </a:p>
        </p:txBody>
      </p:sp>
      <p:sp>
        <p:nvSpPr>
          <p:cNvPr id="54" name="s5"/>
          <p:cNvSpPr/>
          <p:nvPr/>
        </p:nvSpPr>
        <p:spPr>
          <a:xfrm>
            <a:off x="9144000" y="4315968"/>
            <a:ext cx="2487168" cy="1737360"/>
          </a:xfrm>
          <a:prstGeom prst="roundRect">
            <a:avLst>
              <a:gd name="adj" fmla="val 5789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sd5"/>
          <p:cNvSpPr/>
          <p:nvPr/>
        </p:nvSpPr>
        <p:spPr>
          <a:xfrm>
            <a:off x="9345168" y="45171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st5"/>
          <p:cNvSpPr txBox="1"/>
          <p:nvPr/>
        </p:nvSpPr>
        <p:spPr>
          <a:xfrm>
            <a:off x="9345168" y="4864608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2211B"/>
                </a:solidFill>
                <a:latin typeface="Calibri"/>
              </a:rPr>
              <a:t>QR + jsQR</a:t>
            </a:r>
          </a:p>
        </p:txBody>
      </p:sp>
      <p:sp>
        <p:nvSpPr>
          <p:cNvPr id="57" name="sr5"/>
          <p:cNvSpPr txBox="1"/>
          <p:nvPr/>
        </p:nvSpPr>
        <p:spPr>
          <a:xfrm>
            <a:off x="9345168" y="5138928"/>
            <a:ext cx="2121408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C2542D"/>
                </a:solidFill>
                <a:latin typeface="Calibri"/>
              </a:rPr>
              <a:t>QR encode / decode</a:t>
            </a:r>
          </a:p>
        </p:txBody>
      </p:sp>
      <p:sp>
        <p:nvSpPr>
          <p:cNvPr id="58" name="sw5"/>
          <p:cNvSpPr txBox="1"/>
          <p:nvPr/>
        </p:nvSpPr>
        <p:spPr>
          <a:xfrm>
            <a:off x="9345168" y="5541264"/>
            <a:ext cx="2121408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E6459"/>
                </a:solidFill>
                <a:latin typeface="Calibri"/>
              </a:rPr>
              <a:t>Any phone camera reads it; no dedicated reader hardware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03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534000" lon="-378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Eight entities, one ledger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Eight entities, one ledger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Records reference a worker by synthetic ID, and every state change is its own entity instead of an overwritten field.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4571885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4521593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12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e0"/>
          <p:cNvSpPr/>
          <p:nvPr/>
        </p:nvSpPr>
        <p:spPr>
          <a:xfrm>
            <a:off x="3803904" y="2432304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eh0"/>
          <p:cNvSpPr/>
          <p:nvPr/>
        </p:nvSpPr>
        <p:spPr>
          <a:xfrm>
            <a:off x="3803904" y="2432304"/>
            <a:ext cx="1833372" cy="45720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et0"/>
          <p:cNvSpPr txBox="1"/>
          <p:nvPr/>
        </p:nvSpPr>
        <p:spPr>
          <a:xfrm>
            <a:off x="3986784" y="2651760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Worker</a:t>
            </a:r>
          </a:p>
        </p:txBody>
      </p:sp>
      <p:sp>
        <p:nvSpPr>
          <p:cNvPr id="32" name="ef0"/>
          <p:cNvSpPr txBox="1"/>
          <p:nvPr/>
        </p:nvSpPr>
        <p:spPr>
          <a:xfrm>
            <a:off x="3986784" y="2962656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id · skill · base rate</a:t>
            </a:r>
          </a:p>
        </p:txBody>
      </p:sp>
      <p:sp>
        <p:nvSpPr>
          <p:cNvPr id="33" name="en0"/>
          <p:cNvSpPr txBox="1"/>
          <p:nvPr/>
        </p:nvSpPr>
        <p:spPr>
          <a:xfrm>
            <a:off x="3986784" y="3328416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E7A55"/>
                </a:solidFill>
                <a:latin typeface="Calibri"/>
              </a:rPr>
              <a:t>MP-IND-2026-MM842</a:t>
            </a:r>
          </a:p>
        </p:txBody>
      </p:sp>
      <p:sp>
        <p:nvSpPr>
          <p:cNvPr id="34" name="e1"/>
          <p:cNvSpPr/>
          <p:nvPr/>
        </p:nvSpPr>
        <p:spPr>
          <a:xfrm>
            <a:off x="5801868" y="2432304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eh1"/>
          <p:cNvSpPr/>
          <p:nvPr/>
        </p:nvSpPr>
        <p:spPr>
          <a:xfrm>
            <a:off x="5801868" y="2432304"/>
            <a:ext cx="1833372" cy="45720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et1"/>
          <p:cNvSpPr txBox="1"/>
          <p:nvPr/>
        </p:nvSpPr>
        <p:spPr>
          <a:xfrm>
            <a:off x="5984748" y="2651760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Attendance</a:t>
            </a:r>
          </a:p>
        </p:txBody>
      </p:sp>
      <p:sp>
        <p:nvSpPr>
          <p:cNvPr id="37" name="ef1"/>
          <p:cNvSpPr txBox="1"/>
          <p:nvPr/>
        </p:nvSpPr>
        <p:spPr>
          <a:xfrm>
            <a:off x="5984748" y="2962656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date · shift · hours</a:t>
            </a:r>
          </a:p>
        </p:txBody>
      </p:sp>
      <p:sp>
        <p:nvSpPr>
          <p:cNvPr id="38" name="en1"/>
          <p:cNvSpPr txBox="1"/>
          <p:nvPr/>
        </p:nvSpPr>
        <p:spPr>
          <a:xfrm>
            <a:off x="5984748" y="3328416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E7A55"/>
                </a:solidFill>
                <a:latin typeface="Calibri"/>
              </a:rPr>
              <a:t>full_day · half_day · overtime</a:t>
            </a:r>
          </a:p>
        </p:txBody>
      </p:sp>
      <p:sp>
        <p:nvSpPr>
          <p:cNvPr id="39" name="e2"/>
          <p:cNvSpPr/>
          <p:nvPr/>
        </p:nvSpPr>
        <p:spPr>
          <a:xfrm>
            <a:off x="7799832" y="2432304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eh2"/>
          <p:cNvSpPr/>
          <p:nvPr/>
        </p:nvSpPr>
        <p:spPr>
          <a:xfrm>
            <a:off x="7799832" y="2432304"/>
            <a:ext cx="1833372" cy="45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et2"/>
          <p:cNvSpPr txBox="1"/>
          <p:nvPr/>
        </p:nvSpPr>
        <p:spPr>
          <a:xfrm>
            <a:off x="7982712" y="2651760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Payment</a:t>
            </a:r>
          </a:p>
        </p:txBody>
      </p:sp>
      <p:sp>
        <p:nvSpPr>
          <p:cNvPr id="42" name="ef2"/>
          <p:cNvSpPr txBox="1"/>
          <p:nvPr/>
        </p:nvSpPr>
        <p:spPr>
          <a:xfrm>
            <a:off x="7982712" y="2962656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amount · method · ack</a:t>
            </a:r>
          </a:p>
        </p:txBody>
      </p:sp>
      <p:sp>
        <p:nvSpPr>
          <p:cNvPr id="43" name="en2"/>
          <p:cNvSpPr txBox="1"/>
          <p:nvPr/>
        </p:nvSpPr>
        <p:spPr>
          <a:xfrm>
            <a:off x="7982712" y="3328416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E3B04B"/>
                </a:solidFill>
                <a:latin typeface="Calibri"/>
              </a:rPr>
              <a:t>recorded ≠ received</a:t>
            </a:r>
          </a:p>
        </p:txBody>
      </p:sp>
      <p:sp>
        <p:nvSpPr>
          <p:cNvPr id="44" name="e3"/>
          <p:cNvSpPr/>
          <p:nvPr/>
        </p:nvSpPr>
        <p:spPr>
          <a:xfrm>
            <a:off x="9797796" y="2432304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eh3"/>
          <p:cNvSpPr/>
          <p:nvPr/>
        </p:nvSpPr>
        <p:spPr>
          <a:xfrm>
            <a:off x="9797796" y="2432304"/>
            <a:ext cx="1833372" cy="45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et3"/>
          <p:cNvSpPr txBox="1"/>
          <p:nvPr/>
        </p:nvSpPr>
        <p:spPr>
          <a:xfrm>
            <a:off x="9980676" y="2651760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Correction</a:t>
            </a:r>
          </a:p>
        </p:txBody>
      </p:sp>
      <p:sp>
        <p:nvSpPr>
          <p:cNvPr id="47" name="ef3"/>
          <p:cNvSpPr txBox="1"/>
          <p:nvPr/>
        </p:nvSpPr>
        <p:spPr>
          <a:xfrm>
            <a:off x="9980676" y="2962656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prior → new · reason</a:t>
            </a:r>
          </a:p>
        </p:txBody>
      </p:sp>
      <p:sp>
        <p:nvSpPr>
          <p:cNvPr id="48" name="en3"/>
          <p:cNvSpPr txBox="1"/>
          <p:nvPr/>
        </p:nvSpPr>
        <p:spPr>
          <a:xfrm>
            <a:off x="9980676" y="3328416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E3B04B"/>
                </a:solidFill>
                <a:latin typeface="Calibri"/>
              </a:rPr>
              <a:t>who, when, why</a:t>
            </a:r>
          </a:p>
        </p:txBody>
      </p:sp>
      <p:sp>
        <p:nvSpPr>
          <p:cNvPr id="49" name="e4"/>
          <p:cNvSpPr/>
          <p:nvPr/>
        </p:nvSpPr>
        <p:spPr>
          <a:xfrm>
            <a:off x="3803904" y="4005072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eh4"/>
          <p:cNvSpPr/>
          <p:nvPr/>
        </p:nvSpPr>
        <p:spPr>
          <a:xfrm>
            <a:off x="3803904" y="4005072"/>
            <a:ext cx="1833372" cy="45720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et4"/>
          <p:cNvSpPr txBox="1"/>
          <p:nvPr/>
        </p:nvSpPr>
        <p:spPr>
          <a:xfrm>
            <a:off x="3986784" y="4224528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Dispute</a:t>
            </a:r>
          </a:p>
        </p:txBody>
      </p:sp>
      <p:sp>
        <p:nvSpPr>
          <p:cNvPr id="52" name="ef4"/>
          <p:cNvSpPr txBox="1"/>
          <p:nvPr/>
        </p:nvSpPr>
        <p:spPr>
          <a:xfrm>
            <a:off x="3986784" y="4535424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worker claim + response</a:t>
            </a:r>
          </a:p>
        </p:txBody>
      </p:sp>
      <p:sp>
        <p:nvSpPr>
          <p:cNvPr id="53" name="en4"/>
          <p:cNvSpPr txBox="1"/>
          <p:nvPr/>
        </p:nvSpPr>
        <p:spPr>
          <a:xfrm>
            <a:off x="3986784" y="4901183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2542D"/>
                </a:solidFill>
                <a:latin typeface="Calibri"/>
              </a:rPr>
              <a:t>both statements kept</a:t>
            </a:r>
          </a:p>
        </p:txBody>
      </p:sp>
      <p:sp>
        <p:nvSpPr>
          <p:cNvPr id="54" name="e5"/>
          <p:cNvSpPr/>
          <p:nvPr/>
        </p:nvSpPr>
        <p:spPr>
          <a:xfrm>
            <a:off x="5801868" y="4005072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eh5"/>
          <p:cNvSpPr/>
          <p:nvPr/>
        </p:nvSpPr>
        <p:spPr>
          <a:xfrm>
            <a:off x="5801868" y="4005072"/>
            <a:ext cx="1833372" cy="45720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et5"/>
          <p:cNvSpPr txBox="1"/>
          <p:nvPr/>
        </p:nvSpPr>
        <p:spPr>
          <a:xfrm>
            <a:off x="5984748" y="4224528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Anomaly finding</a:t>
            </a:r>
          </a:p>
        </p:txBody>
      </p:sp>
      <p:sp>
        <p:nvSpPr>
          <p:cNvPr id="57" name="ef5"/>
          <p:cNvSpPr txBox="1"/>
          <p:nvPr/>
        </p:nvSpPr>
        <p:spPr>
          <a:xfrm>
            <a:off x="5984748" y="4535424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rule · values examined</a:t>
            </a:r>
          </a:p>
        </p:txBody>
      </p:sp>
      <p:sp>
        <p:nvSpPr>
          <p:cNvPr id="58" name="en5"/>
          <p:cNvSpPr txBox="1"/>
          <p:nvPr/>
        </p:nvSpPr>
        <p:spPr>
          <a:xfrm>
            <a:off x="5984748" y="4901183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2542D"/>
                </a:solidFill>
                <a:latin typeface="Calibri"/>
              </a:rPr>
              <a:t>RULE-01 … RULE-07</a:t>
            </a:r>
          </a:p>
        </p:txBody>
      </p:sp>
      <p:sp>
        <p:nvSpPr>
          <p:cNvPr id="59" name="e6"/>
          <p:cNvSpPr/>
          <p:nvPr/>
        </p:nvSpPr>
        <p:spPr>
          <a:xfrm>
            <a:off x="7799832" y="4005072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eh6"/>
          <p:cNvSpPr/>
          <p:nvPr/>
        </p:nvSpPr>
        <p:spPr>
          <a:xfrm>
            <a:off x="7799832" y="4005072"/>
            <a:ext cx="1833372" cy="4572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et6"/>
          <p:cNvSpPr txBox="1"/>
          <p:nvPr/>
        </p:nvSpPr>
        <p:spPr>
          <a:xfrm>
            <a:off x="7982712" y="4224528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Audit block</a:t>
            </a:r>
          </a:p>
        </p:txBody>
      </p:sp>
      <p:sp>
        <p:nvSpPr>
          <p:cNvPr id="62" name="ef6"/>
          <p:cNvSpPr txBox="1"/>
          <p:nvPr/>
        </p:nvSpPr>
        <p:spPr>
          <a:xfrm>
            <a:off x="7982712" y="4535424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index · prevHash · hash</a:t>
            </a:r>
          </a:p>
        </p:txBody>
      </p:sp>
      <p:sp>
        <p:nvSpPr>
          <p:cNvPr id="63" name="en6"/>
          <p:cNvSpPr txBox="1"/>
          <p:nvPr/>
        </p:nvSpPr>
        <p:spPr>
          <a:xfrm>
            <a:off x="7982712" y="4901183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0E7A55"/>
                </a:solidFill>
                <a:latin typeface="Calibri"/>
              </a:rPr>
              <a:t>SHA-256 chain</a:t>
            </a:r>
          </a:p>
        </p:txBody>
      </p:sp>
      <p:sp>
        <p:nvSpPr>
          <p:cNvPr id="64" name="e7"/>
          <p:cNvSpPr/>
          <p:nvPr/>
        </p:nvSpPr>
        <p:spPr>
          <a:xfrm>
            <a:off x="9797796" y="4005072"/>
            <a:ext cx="1833372" cy="1408176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eh7"/>
          <p:cNvSpPr/>
          <p:nvPr/>
        </p:nvSpPr>
        <p:spPr>
          <a:xfrm>
            <a:off x="9797796" y="4005072"/>
            <a:ext cx="1833372" cy="45720"/>
          </a:xfrm>
          <a:prstGeom prst="rect">
            <a:avLst/>
          </a:prstGeom>
          <a:solidFill>
            <a:srgbClr val="7C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et7"/>
          <p:cNvSpPr txBox="1"/>
          <p:nvPr/>
        </p:nvSpPr>
        <p:spPr>
          <a:xfrm>
            <a:off x="9980676" y="4224528"/>
            <a:ext cx="150418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2211B"/>
                </a:solidFill>
                <a:latin typeface="Calibri"/>
              </a:rPr>
              <a:t>Approval request</a:t>
            </a:r>
          </a:p>
        </p:txBody>
      </p:sp>
      <p:sp>
        <p:nvSpPr>
          <p:cNvPr id="67" name="ef7"/>
          <p:cNvSpPr txBox="1"/>
          <p:nvPr/>
        </p:nvSpPr>
        <p:spPr>
          <a:xfrm>
            <a:off x="9980676" y="4535424"/>
            <a:ext cx="150418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6459"/>
                </a:solidFill>
                <a:latin typeface="Consolas"/>
              </a:rPr>
              <a:t>state · target action</a:t>
            </a:r>
          </a:p>
        </p:txBody>
      </p:sp>
      <p:sp>
        <p:nvSpPr>
          <p:cNvPr id="68" name="en7"/>
          <p:cNvSpPr txBox="1"/>
          <p:nvPr/>
        </p:nvSpPr>
        <p:spPr>
          <a:xfrm>
            <a:off x="9980676" y="4901183"/>
            <a:ext cx="1504188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F85"/>
                </a:solidFill>
                <a:latin typeface="Calibri"/>
              </a:rPr>
              <a:t>simulated in demo</a:t>
            </a:r>
          </a:p>
        </p:txBody>
      </p:sp>
      <p:sp>
        <p:nvSpPr>
          <p:cNvPr id="69" name="dmnote"/>
          <p:cNvSpPr/>
          <p:nvPr/>
        </p:nvSpPr>
        <p:spPr>
          <a:xfrm>
            <a:off x="3803904" y="5577840"/>
            <a:ext cx="7827264" cy="658368"/>
          </a:xfrm>
          <a:prstGeom prst="roundRect">
            <a:avLst>
              <a:gd name="adj" fmla="val 13888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0" name="dmnote/bar"/>
          <p:cNvSpPr/>
          <p:nvPr/>
        </p:nvSpPr>
        <p:spPr>
          <a:xfrm>
            <a:off x="3803904" y="5724144"/>
            <a:ext cx="54864" cy="365759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dmnote/t"/>
          <p:cNvSpPr txBox="1"/>
          <p:nvPr/>
        </p:nvSpPr>
        <p:spPr>
          <a:xfrm>
            <a:off x="4041648" y="5687568"/>
            <a:ext cx="7424928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Calibri"/>
              </a:rPr>
              <a:t>The ledger is append-shaped: a correction is a new row that points at the old value, and a dispute is a row that points at both parties' statements.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03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480000" lon="-486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One wage, calculated in the open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One wage, calculated in the open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The demonstration record used throughout the project. Every number below is produced by the same function that renders the portals.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4952876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4902584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13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w0"/>
          <p:cNvSpPr/>
          <p:nvPr/>
        </p:nvSpPr>
        <p:spPr>
          <a:xfrm>
            <a:off x="3803904" y="2432304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wl0"/>
          <p:cNvSpPr txBox="1"/>
          <p:nvPr/>
        </p:nvSpPr>
        <p:spPr>
          <a:xfrm>
            <a:off x="4041648" y="2478024"/>
            <a:ext cx="301752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spc="20">
                <a:solidFill>
                  <a:srgbClr val="12211B"/>
                </a:solidFill>
                <a:latin typeface="Calibri"/>
              </a:rPr>
              <a:t>Agreed daily rate</a:t>
            </a:r>
          </a:p>
        </p:txBody>
      </p:sp>
      <p:sp>
        <p:nvSpPr>
          <p:cNvPr id="31" name="wv0"/>
          <p:cNvSpPr txBox="1"/>
          <p:nvPr/>
        </p:nvSpPr>
        <p:spPr>
          <a:xfrm>
            <a:off x="6903720" y="2478024"/>
            <a:ext cx="1444752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2211B"/>
                </a:solidFill>
                <a:latin typeface="Consolas"/>
              </a:rPr>
              <a:t>₹650.00</a:t>
            </a:r>
          </a:p>
        </p:txBody>
      </p:sp>
      <p:sp>
        <p:nvSpPr>
          <p:cNvPr id="32" name="w1"/>
          <p:cNvSpPr/>
          <p:nvPr/>
        </p:nvSpPr>
        <p:spPr>
          <a:xfrm>
            <a:off x="3803904" y="3035808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wl1"/>
          <p:cNvSpPr txBox="1"/>
          <p:nvPr/>
        </p:nvSpPr>
        <p:spPr>
          <a:xfrm>
            <a:off x="4041648" y="3081528"/>
            <a:ext cx="301752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spc="20">
                <a:solidFill>
                  <a:srgbClr val="12211B"/>
                </a:solidFill>
                <a:latin typeface="Calibri"/>
              </a:rPr>
              <a:t>Recorded work</a:t>
            </a:r>
          </a:p>
        </p:txBody>
      </p:sp>
      <p:sp>
        <p:nvSpPr>
          <p:cNvPr id="34" name="wv1"/>
          <p:cNvSpPr txBox="1"/>
          <p:nvPr/>
        </p:nvSpPr>
        <p:spPr>
          <a:xfrm>
            <a:off x="6903720" y="3081528"/>
            <a:ext cx="1444752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2211B"/>
                </a:solidFill>
                <a:latin typeface="Consolas"/>
              </a:rPr>
              <a:t>4 days × 8 h</a:t>
            </a:r>
          </a:p>
        </p:txBody>
      </p:sp>
      <p:sp>
        <p:nvSpPr>
          <p:cNvPr id="35" name="w2"/>
          <p:cNvSpPr/>
          <p:nvPr/>
        </p:nvSpPr>
        <p:spPr>
          <a:xfrm>
            <a:off x="3803904" y="3639312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wl2"/>
          <p:cNvSpPr txBox="1"/>
          <p:nvPr/>
        </p:nvSpPr>
        <p:spPr>
          <a:xfrm>
            <a:off x="4041648" y="3685032"/>
            <a:ext cx="301752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spc="20">
                <a:solidFill>
                  <a:srgbClr val="12211B"/>
                </a:solidFill>
                <a:latin typeface="Calibri"/>
              </a:rPr>
              <a:t>Wages due   4 × 650</a:t>
            </a:r>
          </a:p>
        </p:txBody>
      </p:sp>
      <p:sp>
        <p:nvSpPr>
          <p:cNvPr id="37" name="wv2"/>
          <p:cNvSpPr txBox="1"/>
          <p:nvPr/>
        </p:nvSpPr>
        <p:spPr>
          <a:xfrm>
            <a:off x="6903720" y="3685032"/>
            <a:ext cx="1444752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2211B"/>
                </a:solidFill>
                <a:latin typeface="Consolas"/>
              </a:rPr>
              <a:t>₹2,600.00</a:t>
            </a:r>
          </a:p>
        </p:txBody>
      </p:sp>
      <p:sp>
        <p:nvSpPr>
          <p:cNvPr id="38" name="w3"/>
          <p:cNvSpPr/>
          <p:nvPr/>
        </p:nvSpPr>
        <p:spPr>
          <a:xfrm>
            <a:off x="3803904" y="4242816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wl3"/>
          <p:cNvSpPr txBox="1"/>
          <p:nvPr/>
        </p:nvSpPr>
        <p:spPr>
          <a:xfrm>
            <a:off x="4041648" y="4288536"/>
            <a:ext cx="301752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spc="20">
                <a:solidFill>
                  <a:srgbClr val="12211B"/>
                </a:solidFill>
                <a:latin typeface="Calibri"/>
              </a:rPr>
              <a:t>Payment recorded by contractor</a:t>
            </a:r>
          </a:p>
        </p:txBody>
      </p:sp>
      <p:sp>
        <p:nvSpPr>
          <p:cNvPr id="40" name="wv3"/>
          <p:cNvSpPr txBox="1"/>
          <p:nvPr/>
        </p:nvSpPr>
        <p:spPr>
          <a:xfrm>
            <a:off x="6903720" y="4288536"/>
            <a:ext cx="1444752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E7A55"/>
                </a:solidFill>
                <a:latin typeface="Consolas"/>
              </a:rPr>
              <a:t>− ₹1,300.00</a:t>
            </a:r>
          </a:p>
        </p:txBody>
      </p:sp>
      <p:sp>
        <p:nvSpPr>
          <p:cNvPr id="41" name="w4"/>
          <p:cNvSpPr/>
          <p:nvPr/>
        </p:nvSpPr>
        <p:spPr>
          <a:xfrm>
            <a:off x="3803904" y="4846320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F3EBD8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wl4"/>
          <p:cNvSpPr txBox="1"/>
          <p:nvPr/>
        </p:nvSpPr>
        <p:spPr>
          <a:xfrm>
            <a:off x="4041648" y="4892040"/>
            <a:ext cx="301752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 spc="20">
                <a:solidFill>
                  <a:srgbClr val="12211B"/>
                </a:solidFill>
                <a:latin typeface="Calibri"/>
              </a:rPr>
              <a:t>Worker acknowledgement</a:t>
            </a:r>
          </a:p>
        </p:txBody>
      </p:sp>
      <p:sp>
        <p:nvSpPr>
          <p:cNvPr id="43" name="wv4"/>
          <p:cNvSpPr txBox="1"/>
          <p:nvPr/>
        </p:nvSpPr>
        <p:spPr>
          <a:xfrm>
            <a:off x="6903720" y="4892040"/>
            <a:ext cx="1444752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B9812C"/>
                </a:solidFill>
                <a:latin typeface="Consolas"/>
              </a:rPr>
              <a:t>Pending</a:t>
            </a:r>
          </a:p>
        </p:txBody>
      </p:sp>
      <p:sp>
        <p:nvSpPr>
          <p:cNvPr id="44" name="w5"/>
          <p:cNvSpPr/>
          <p:nvPr/>
        </p:nvSpPr>
        <p:spPr>
          <a:xfrm>
            <a:off x="3803904" y="5449824"/>
            <a:ext cx="4663440" cy="530352"/>
          </a:xfrm>
          <a:prstGeom prst="roundRect">
            <a:avLst>
              <a:gd name="adj" fmla="val 13793"/>
            </a:avLst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wl5"/>
          <p:cNvSpPr txBox="1"/>
          <p:nvPr/>
        </p:nvSpPr>
        <p:spPr>
          <a:xfrm>
            <a:off x="4041648" y="5495544"/>
            <a:ext cx="301752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spc="20">
                <a:solidFill>
                  <a:srgbClr val="FFFFFF"/>
                </a:solidFill>
                <a:latin typeface="Calibri"/>
              </a:rPr>
              <a:t>Outstanding balance</a:t>
            </a:r>
          </a:p>
        </p:txBody>
      </p:sp>
      <p:sp>
        <p:nvSpPr>
          <p:cNvPr id="46" name="wv5"/>
          <p:cNvSpPr txBox="1"/>
          <p:nvPr/>
        </p:nvSpPr>
        <p:spPr>
          <a:xfrm>
            <a:off x="6903720" y="5495544"/>
            <a:ext cx="1444752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E3B04B"/>
                </a:solidFill>
                <a:latin typeface="Consolas"/>
              </a:rPr>
              <a:t>₹1,300.00</a:t>
            </a:r>
          </a:p>
        </p:txBody>
      </p:sp>
      <p:sp>
        <p:nvSpPr>
          <p:cNvPr id="47" name="result"/>
          <p:cNvSpPr/>
          <p:nvPr/>
        </p:nvSpPr>
        <p:spPr>
          <a:xfrm>
            <a:off x="8732520" y="2432304"/>
            <a:ext cx="2898648" cy="2999232"/>
          </a:xfrm>
          <a:prstGeom prst="roundRect">
            <a:avLst>
              <a:gd name="adj" fmla="val 3470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lab"/>
          <p:cNvSpPr txBox="1"/>
          <p:nvPr/>
        </p:nvSpPr>
        <p:spPr>
          <a:xfrm>
            <a:off x="8961120" y="2651760"/>
            <a:ext cx="24688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220">
                <a:solidFill>
                  <a:srgbClr val="E3B04B"/>
                </a:solidFill>
                <a:latin typeface="Calibri"/>
              </a:rPr>
              <a:t>STATUS</a:t>
            </a:r>
          </a:p>
        </p:txBody>
      </p:sp>
      <p:sp>
        <p:nvSpPr>
          <p:cNvPr id="49" name="rstat"/>
          <p:cNvSpPr txBox="1"/>
          <p:nvPr/>
        </p:nvSpPr>
        <p:spPr>
          <a:xfrm>
            <a:off x="8942832" y="2816352"/>
            <a:ext cx="256032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3B04B"/>
                </a:solidFill>
                <a:latin typeface="Georgia"/>
              </a:rPr>
              <a:t>PARTLY PAID</a:t>
            </a:r>
          </a:p>
        </p:txBody>
      </p:sp>
      <p:sp>
        <p:nvSpPr>
          <p:cNvPr id="50" name="rack"/>
          <p:cNvSpPr txBox="1"/>
          <p:nvPr/>
        </p:nvSpPr>
        <p:spPr>
          <a:xfrm>
            <a:off x="8961120" y="3291840"/>
            <a:ext cx="2395728" cy="6035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C7A6"/>
                </a:solidFill>
                <a:latin typeface="Calibri"/>
              </a:rPr>
              <a:t>₹1,300 recorded by the contractor, ₹1,300 outstanding, worker acknowledgement still pending.</a:t>
            </a:r>
          </a:p>
        </p:txBody>
      </p:sp>
      <p:sp>
        <p:nvSpPr>
          <p:cNvPr id="51" name="rrule"/>
          <p:cNvSpPr/>
          <p:nvPr/>
        </p:nvSpPr>
        <p:spPr>
          <a:xfrm>
            <a:off x="8961120" y="3950208"/>
            <a:ext cx="2395728" cy="12700"/>
          </a:xfrm>
          <a:prstGeom prst="rect">
            <a:avLst/>
          </a:prstGeom>
          <a:solidFill>
            <a:srgbClr val="2C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rmath"/>
          <p:cNvSpPr txBox="1"/>
          <p:nvPr/>
        </p:nvSpPr>
        <p:spPr>
          <a:xfrm>
            <a:off x="8961120" y="4059936"/>
            <a:ext cx="2395728" cy="11887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80">
                <a:solidFill>
                  <a:srgbClr val="E3B04B"/>
                </a:solidFill>
                <a:latin typeface="Calibri"/>
              </a:rPr>
              <a:t>In integer paise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Consolas"/>
              </a:rPr>
              <a:t>65,000 × 4 = 2,60,000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Consolas"/>
              </a:rPr>
              <a:t>2,60,000 − 1,30,000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2D79B"/>
                </a:solidFill>
                <a:latin typeface="Consolas"/>
              </a:rPr>
              <a:t>= 1,30,000 paise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2D79B"/>
                </a:solidFill>
                <a:latin typeface="Consolas"/>
              </a:rPr>
              <a:t>= ₹1,300.00 exactly</a:t>
            </a:r>
          </a:p>
        </p:txBody>
      </p:sp>
      <p:sp>
        <p:nvSpPr>
          <p:cNvPr id="53" name="wfoot"/>
          <p:cNvSpPr txBox="1"/>
          <p:nvPr/>
        </p:nvSpPr>
        <p:spPr>
          <a:xfrm>
            <a:off x="3803904" y="6126480"/>
            <a:ext cx="46634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7C8F85"/>
                </a:solidFill>
                <a:latin typeface="Calibri"/>
              </a:rPr>
              <a:t>4 × 650 = 2,600  and  2,600 − 1,300 = 1,300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03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94000" lon="-666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One function, no surprises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One function, no surprises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calculateRecordBreakdown is the only place a rupee is computed. Portals render it; they never recalculate it.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5333866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5283574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14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fx"/>
          <p:cNvSpPr/>
          <p:nvPr/>
        </p:nvSpPr>
        <p:spPr>
          <a:xfrm>
            <a:off x="3803904" y="2395728"/>
            <a:ext cx="7827264" cy="914400"/>
          </a:xfrm>
          <a:prstGeom prst="roundRect">
            <a:avLst>
              <a:gd name="adj" fmla="val 9000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fxtext"/>
          <p:cNvSpPr txBox="1"/>
          <p:nvPr/>
        </p:nvSpPr>
        <p:spPr>
          <a:xfrm>
            <a:off x="4041648" y="2468880"/>
            <a:ext cx="7360920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60" b="1" i="0">
                <a:solidFill>
                  <a:srgbClr val="FFFFFF"/>
                </a:solidFill>
                <a:latin typeface="Consolas"/>
              </a:rPr>
              <a:t>(Days × Rate) + Overtime + Allowances − Deductions = Gross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E3B04B"/>
                </a:solidFill>
                <a:latin typeface="Consolas"/>
              </a:rPr>
              <a:t>Gross − Payments = Balance</a:t>
            </a:r>
          </a:p>
        </p:txBody>
      </p:sp>
      <p:sp>
        <p:nvSpPr>
          <p:cNvPr id="31" name="k0"/>
          <p:cNvSpPr/>
          <p:nvPr/>
        </p:nvSpPr>
        <p:spPr>
          <a:xfrm>
            <a:off x="3803904" y="3493008"/>
            <a:ext cx="2487168" cy="1463040"/>
          </a:xfrm>
          <a:prstGeom prst="roundRect">
            <a:avLst>
              <a:gd name="adj" fmla="val 687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kh0"/>
          <p:cNvSpPr/>
          <p:nvPr/>
        </p:nvSpPr>
        <p:spPr>
          <a:xfrm>
            <a:off x="3803904" y="3493008"/>
            <a:ext cx="2487168" cy="54864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kt0"/>
          <p:cNvSpPr txBox="1"/>
          <p:nvPr/>
        </p:nvSpPr>
        <p:spPr>
          <a:xfrm>
            <a:off x="4005072" y="3675887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11B"/>
                </a:solidFill>
                <a:latin typeface="Calibri"/>
              </a:rPr>
              <a:t>Integer paise</a:t>
            </a:r>
          </a:p>
        </p:txBody>
      </p:sp>
      <p:sp>
        <p:nvSpPr>
          <p:cNvPr id="34" name="kd0"/>
          <p:cNvSpPr txBox="1"/>
          <p:nvPr/>
        </p:nvSpPr>
        <p:spPr>
          <a:xfrm>
            <a:off x="4005072" y="3968496"/>
            <a:ext cx="2121408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4E6459"/>
                </a:solidFill>
                <a:latin typeface="Calibri"/>
              </a:rPr>
              <a:t>Money is stored as whole paise and rounded once. 65000 paise, not 650.0 — so four days never accumulates a floating-point cent.</a:t>
            </a:r>
          </a:p>
        </p:txBody>
      </p:sp>
      <p:sp>
        <p:nvSpPr>
          <p:cNvPr id="35" name="k1"/>
          <p:cNvSpPr/>
          <p:nvPr/>
        </p:nvSpPr>
        <p:spPr>
          <a:xfrm>
            <a:off x="6473952" y="3493008"/>
            <a:ext cx="2487168" cy="1463040"/>
          </a:xfrm>
          <a:prstGeom prst="roundRect">
            <a:avLst>
              <a:gd name="adj" fmla="val 687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kh1"/>
          <p:cNvSpPr/>
          <p:nvPr/>
        </p:nvSpPr>
        <p:spPr>
          <a:xfrm>
            <a:off x="6473952" y="3493008"/>
            <a:ext cx="2487168" cy="54864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kt1"/>
          <p:cNvSpPr txBox="1"/>
          <p:nvPr/>
        </p:nvSpPr>
        <p:spPr>
          <a:xfrm>
            <a:off x="6675120" y="3675887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11B"/>
                </a:solidFill>
                <a:latin typeface="Calibri"/>
              </a:rPr>
              <a:t>Shift-aware</a:t>
            </a:r>
          </a:p>
        </p:txBody>
      </p:sp>
      <p:sp>
        <p:nvSpPr>
          <p:cNvPr id="38" name="kd1"/>
          <p:cNvSpPr txBox="1"/>
          <p:nvPr/>
        </p:nvSpPr>
        <p:spPr>
          <a:xfrm>
            <a:off x="6675120" y="3968496"/>
            <a:ext cx="2121408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4E6459"/>
                </a:solidFill>
                <a:latin typeface="Calibri"/>
              </a:rPr>
              <a:t>full_day, half_day (× 0.5), and pro-rata overtime at rate ÷ 8 per hour, so a 2-hour extension is arithmetic, not negotiation.</a:t>
            </a:r>
          </a:p>
        </p:txBody>
      </p:sp>
      <p:sp>
        <p:nvSpPr>
          <p:cNvPr id="39" name="k2"/>
          <p:cNvSpPr/>
          <p:nvPr/>
        </p:nvSpPr>
        <p:spPr>
          <a:xfrm>
            <a:off x="9144000" y="3493008"/>
            <a:ext cx="2487168" cy="1463040"/>
          </a:xfrm>
          <a:prstGeom prst="roundRect">
            <a:avLst>
              <a:gd name="adj" fmla="val 687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kh2"/>
          <p:cNvSpPr/>
          <p:nvPr/>
        </p:nvSpPr>
        <p:spPr>
          <a:xfrm>
            <a:off x="9144000" y="3493008"/>
            <a:ext cx="2487168" cy="54864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kt2"/>
          <p:cNvSpPr txBox="1"/>
          <p:nvPr/>
        </p:nvSpPr>
        <p:spPr>
          <a:xfrm>
            <a:off x="9345168" y="3675887"/>
            <a:ext cx="212140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11B"/>
                </a:solidFill>
                <a:latin typeface="Calibri"/>
              </a:rPr>
              <a:t>De-duplicated</a:t>
            </a:r>
          </a:p>
        </p:txBody>
      </p:sp>
      <p:sp>
        <p:nvSpPr>
          <p:cNvPr id="42" name="kd2"/>
          <p:cNvSpPr txBox="1"/>
          <p:nvPr/>
        </p:nvSpPr>
        <p:spPr>
          <a:xfrm>
            <a:off x="9345168" y="3968496"/>
            <a:ext cx="2121408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4E6459"/>
                </a:solidFill>
                <a:latin typeface="Calibri"/>
              </a:rPr>
              <a:t>Ledger entries are keyed by ID, and payments only ever reduce the balance — they never count as new earnings.</a:t>
            </a:r>
          </a:p>
        </p:txBody>
      </p:sp>
      <p:sp>
        <p:nvSpPr>
          <p:cNvPr id="43" name="det"/>
          <p:cNvSpPr/>
          <p:nvPr/>
        </p:nvSpPr>
        <p:spPr>
          <a:xfrm>
            <a:off x="3803904" y="5138928"/>
            <a:ext cx="7827264" cy="1005840"/>
          </a:xfrm>
          <a:prstGeom prst="roundRect">
            <a:avLst>
              <a:gd name="adj" fmla="val 9090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det/bar"/>
          <p:cNvSpPr/>
          <p:nvPr/>
        </p:nvSpPr>
        <p:spPr>
          <a:xfrm>
            <a:off x="3803904" y="5285232"/>
            <a:ext cx="54864" cy="713232"/>
          </a:xfrm>
          <a:prstGeom prst="roundRect">
            <a:avLst>
              <a:gd name="adj" fmla="val 5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det/t"/>
          <p:cNvSpPr txBox="1"/>
          <p:nvPr/>
        </p:nvSpPr>
        <p:spPr>
          <a:xfrm>
            <a:off x="4041648" y="5248656"/>
            <a:ext cx="742492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Calibri"/>
              </a:rPr>
              <a:t>Deterministic: the same record renders the same figures on the worker's phone, the contractor's laptop and the audit bench — because there is only one implementation of the arithmetic, not three.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03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108000" lon="-858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Payment states are separate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Payment states are separate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The single most common source of dispute is treating 'the contractor typed it' as 'the worker received it'.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5714857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5664565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15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p0"/>
          <p:cNvSpPr/>
          <p:nvPr/>
        </p:nvSpPr>
        <p:spPr>
          <a:xfrm>
            <a:off x="3803904" y="2487168"/>
            <a:ext cx="1700784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ph0"/>
          <p:cNvSpPr/>
          <p:nvPr/>
        </p:nvSpPr>
        <p:spPr>
          <a:xfrm>
            <a:off x="3803904" y="2487168"/>
            <a:ext cx="1700784" cy="365760"/>
          </a:xfrm>
          <a:prstGeom prst="roundRect">
            <a:avLst>
              <a:gd name="adj" fmla="val 25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pn0"/>
          <p:cNvSpPr txBox="1"/>
          <p:nvPr/>
        </p:nvSpPr>
        <p:spPr>
          <a:xfrm>
            <a:off x="3950208" y="2523744"/>
            <a:ext cx="1426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8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2" name="pt0"/>
          <p:cNvSpPr txBox="1"/>
          <p:nvPr/>
        </p:nvSpPr>
        <p:spPr>
          <a:xfrm>
            <a:off x="3950208" y="2962656"/>
            <a:ext cx="14264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2211B"/>
                </a:solidFill>
                <a:latin typeface="Calibri"/>
              </a:rPr>
              <a:t>Unpaid</a:t>
            </a:r>
          </a:p>
        </p:txBody>
      </p:sp>
      <p:sp>
        <p:nvSpPr>
          <p:cNvPr id="33" name="pd0"/>
          <p:cNvSpPr txBox="1"/>
          <p:nvPr/>
        </p:nvSpPr>
        <p:spPr>
          <a:xfrm>
            <a:off x="3950208" y="3255264"/>
            <a:ext cx="1426464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Nothing recorded against the balance</a:t>
            </a:r>
          </a:p>
        </p:txBody>
      </p:sp>
      <p:sp>
        <p:nvSpPr>
          <p:cNvPr id="34" name="pa0/s"/>
          <p:cNvSpPr/>
          <p:nvPr/>
        </p:nvSpPr>
        <p:spPr>
          <a:xfrm>
            <a:off x="5559552" y="3262579"/>
            <a:ext cx="19202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pa0/t"/>
          <p:cNvSpPr/>
          <p:nvPr/>
        </p:nvSpPr>
        <p:spPr>
          <a:xfrm rot="5400000">
            <a:off x="5742432" y="3200400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p1"/>
          <p:cNvSpPr/>
          <p:nvPr/>
        </p:nvSpPr>
        <p:spPr>
          <a:xfrm>
            <a:off x="5907024" y="2487168"/>
            <a:ext cx="1700784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ph1"/>
          <p:cNvSpPr/>
          <p:nvPr/>
        </p:nvSpPr>
        <p:spPr>
          <a:xfrm>
            <a:off x="5907024" y="2487168"/>
            <a:ext cx="1700784" cy="365760"/>
          </a:xfrm>
          <a:prstGeom prst="roundRect">
            <a:avLst>
              <a:gd name="adj" fmla="val 25000"/>
            </a:avLst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pn1"/>
          <p:cNvSpPr txBox="1"/>
          <p:nvPr/>
        </p:nvSpPr>
        <p:spPr>
          <a:xfrm>
            <a:off x="6053328" y="2523744"/>
            <a:ext cx="1426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8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9" name="pt1"/>
          <p:cNvSpPr txBox="1"/>
          <p:nvPr/>
        </p:nvSpPr>
        <p:spPr>
          <a:xfrm>
            <a:off x="6053328" y="2962656"/>
            <a:ext cx="14264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2211B"/>
                </a:solidFill>
                <a:latin typeface="Calibri"/>
              </a:rPr>
              <a:t>Recorded</a:t>
            </a:r>
          </a:p>
        </p:txBody>
      </p:sp>
      <p:sp>
        <p:nvSpPr>
          <p:cNvPr id="40" name="pd1"/>
          <p:cNvSpPr txBox="1"/>
          <p:nvPr/>
        </p:nvSpPr>
        <p:spPr>
          <a:xfrm>
            <a:off x="6053328" y="3255264"/>
            <a:ext cx="1426464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Contractor enters a payment — an assertion, not a receipt</a:t>
            </a:r>
          </a:p>
        </p:txBody>
      </p:sp>
      <p:sp>
        <p:nvSpPr>
          <p:cNvPr id="41" name="pa1/s"/>
          <p:cNvSpPr/>
          <p:nvPr/>
        </p:nvSpPr>
        <p:spPr>
          <a:xfrm>
            <a:off x="7662672" y="3262579"/>
            <a:ext cx="19202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pa1/t"/>
          <p:cNvSpPr/>
          <p:nvPr/>
        </p:nvSpPr>
        <p:spPr>
          <a:xfrm rot="5400000">
            <a:off x="7845552" y="3200400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p2"/>
          <p:cNvSpPr/>
          <p:nvPr/>
        </p:nvSpPr>
        <p:spPr>
          <a:xfrm>
            <a:off x="8010144" y="2487168"/>
            <a:ext cx="1700784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ph2"/>
          <p:cNvSpPr/>
          <p:nvPr/>
        </p:nvSpPr>
        <p:spPr>
          <a:xfrm>
            <a:off x="8010144" y="2487168"/>
            <a:ext cx="1700784" cy="365760"/>
          </a:xfrm>
          <a:prstGeom prst="roundRect">
            <a:avLst>
              <a:gd name="adj" fmla="val 25000"/>
            </a:avLst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pn2"/>
          <p:cNvSpPr txBox="1"/>
          <p:nvPr/>
        </p:nvSpPr>
        <p:spPr>
          <a:xfrm>
            <a:off x="8156448" y="2523744"/>
            <a:ext cx="1426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8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6" name="pt2"/>
          <p:cNvSpPr txBox="1"/>
          <p:nvPr/>
        </p:nvSpPr>
        <p:spPr>
          <a:xfrm>
            <a:off x="8156448" y="2962656"/>
            <a:ext cx="14264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2211B"/>
                </a:solidFill>
                <a:latin typeface="Calibri"/>
              </a:rPr>
              <a:t>Acknowledged</a:t>
            </a:r>
          </a:p>
        </p:txBody>
      </p:sp>
      <p:sp>
        <p:nvSpPr>
          <p:cNvPr id="47" name="pd2"/>
          <p:cNvSpPr txBox="1"/>
          <p:nvPr/>
        </p:nvSpPr>
        <p:spPr>
          <a:xfrm>
            <a:off x="8156448" y="3255264"/>
            <a:ext cx="1426464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Worker confirms receipt on their own account</a:t>
            </a:r>
          </a:p>
        </p:txBody>
      </p:sp>
      <p:sp>
        <p:nvSpPr>
          <p:cNvPr id="48" name="pa2/s"/>
          <p:cNvSpPr/>
          <p:nvPr/>
        </p:nvSpPr>
        <p:spPr>
          <a:xfrm>
            <a:off x="9765792" y="3262579"/>
            <a:ext cx="19202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pa2/t"/>
          <p:cNvSpPr/>
          <p:nvPr/>
        </p:nvSpPr>
        <p:spPr>
          <a:xfrm rot="5400000">
            <a:off x="9948672" y="3200400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p3"/>
          <p:cNvSpPr/>
          <p:nvPr/>
        </p:nvSpPr>
        <p:spPr>
          <a:xfrm>
            <a:off x="10113263" y="2487168"/>
            <a:ext cx="1700784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ph3"/>
          <p:cNvSpPr/>
          <p:nvPr/>
        </p:nvSpPr>
        <p:spPr>
          <a:xfrm>
            <a:off x="10113263" y="2487168"/>
            <a:ext cx="1700784" cy="365760"/>
          </a:xfrm>
          <a:prstGeom prst="roundRect">
            <a:avLst>
              <a:gd name="adj" fmla="val 25000"/>
            </a:avLst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pn3"/>
          <p:cNvSpPr txBox="1"/>
          <p:nvPr/>
        </p:nvSpPr>
        <p:spPr>
          <a:xfrm>
            <a:off x="10259567" y="2523744"/>
            <a:ext cx="1426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8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3" name="pt3"/>
          <p:cNvSpPr txBox="1"/>
          <p:nvPr/>
        </p:nvSpPr>
        <p:spPr>
          <a:xfrm>
            <a:off x="10259567" y="2962656"/>
            <a:ext cx="14264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2211B"/>
                </a:solidFill>
                <a:latin typeface="Calibri"/>
              </a:rPr>
              <a:t>Disputed</a:t>
            </a:r>
          </a:p>
        </p:txBody>
      </p:sp>
      <p:sp>
        <p:nvSpPr>
          <p:cNvPr id="54" name="pd3"/>
          <p:cNvSpPr txBox="1"/>
          <p:nvPr/>
        </p:nvSpPr>
        <p:spPr>
          <a:xfrm>
            <a:off x="10259567" y="3255264"/>
            <a:ext cx="1426464" cy="7132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Both statements stored; nothing auto-resolved</a:t>
            </a:r>
          </a:p>
        </p:txBody>
      </p:sp>
      <p:sp>
        <p:nvSpPr>
          <p:cNvPr id="55" name="c1"/>
          <p:cNvSpPr/>
          <p:nvPr/>
        </p:nvSpPr>
        <p:spPr>
          <a:xfrm>
            <a:off x="3803904" y="4370832"/>
            <a:ext cx="3813048" cy="1207008"/>
          </a:xfrm>
          <a:prstGeom prst="roundRect">
            <a:avLst>
              <a:gd name="adj" fmla="val 7575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c1/bar"/>
          <p:cNvSpPr/>
          <p:nvPr/>
        </p:nvSpPr>
        <p:spPr>
          <a:xfrm>
            <a:off x="3803904" y="4517136"/>
            <a:ext cx="54864" cy="914400"/>
          </a:xfrm>
          <a:prstGeom prst="roundRect">
            <a:avLst>
              <a:gd name="adj" fmla="val 5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c1/t"/>
          <p:cNvSpPr txBox="1"/>
          <p:nvPr/>
        </p:nvSpPr>
        <p:spPr>
          <a:xfrm>
            <a:off x="4041648" y="4480560"/>
            <a:ext cx="3410712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Calibri"/>
              </a:rPr>
              <a:t>Partly paid is not a fifth state — it is a balance. ₹2,600 due with ₹1,300 recorded is simply ₹1,300 outstanding.</a:t>
            </a:r>
          </a:p>
        </p:txBody>
      </p:sp>
      <p:sp>
        <p:nvSpPr>
          <p:cNvPr id="58" name="c2"/>
          <p:cNvSpPr/>
          <p:nvPr/>
        </p:nvSpPr>
        <p:spPr>
          <a:xfrm>
            <a:off x="7818120" y="4370832"/>
            <a:ext cx="3813048" cy="1207008"/>
          </a:xfrm>
          <a:prstGeom prst="roundRect">
            <a:avLst>
              <a:gd name="adj" fmla="val 7575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c2/bar"/>
          <p:cNvSpPr/>
          <p:nvPr/>
        </p:nvSpPr>
        <p:spPr>
          <a:xfrm>
            <a:off x="7818120" y="4517136"/>
            <a:ext cx="54864" cy="914400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c2/t"/>
          <p:cNvSpPr txBox="1"/>
          <p:nvPr/>
        </p:nvSpPr>
        <p:spPr>
          <a:xfrm>
            <a:off x="8055864" y="4480560"/>
            <a:ext cx="3410712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Calibri"/>
              </a:rPr>
              <a:t>Disputed keeps the record visible. The system holds both claims and declines to declare who is right.</a:t>
            </a:r>
          </a:p>
        </p:txBody>
      </p:sp>
      <p:sp>
        <p:nvSpPr>
          <p:cNvPr id="61" name="n"/>
          <p:cNvSpPr txBox="1"/>
          <p:nvPr/>
        </p:nvSpPr>
        <p:spPr>
          <a:xfrm>
            <a:off x="3803904" y="5760720"/>
            <a:ext cx="7772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7C8F85"/>
                </a:solidFill>
                <a:latin typeface="Calibri"/>
              </a:rPr>
              <a:t>Contractor-entered payments never mutate earnings — they only reduce the balance due.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03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Engineering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66000" lon="-1014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A correction keeps the value it replaced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211B"/>
                </a:solidFill>
                <a:latin typeface="Georgia"/>
              </a:rPr>
              <a:t>A correction keeps the value it replaced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The demonstration record was registered at a helper's rate and later corrected. Both values survive, with the reason attached.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6095847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6045555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16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orig"/>
          <p:cNvSpPr/>
          <p:nvPr/>
        </p:nvSpPr>
        <p:spPr>
          <a:xfrm>
            <a:off x="3803904" y="2505456"/>
            <a:ext cx="3246120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ol"/>
          <p:cNvSpPr txBox="1"/>
          <p:nvPr/>
        </p:nvSpPr>
        <p:spPr>
          <a:xfrm>
            <a:off x="4023360" y="2670048"/>
            <a:ext cx="274320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200">
                <a:solidFill>
                  <a:srgbClr val="7C8F85"/>
                </a:solidFill>
                <a:latin typeface="Calibri"/>
              </a:rPr>
              <a:t>ORIGINAL RATE</a:t>
            </a:r>
          </a:p>
        </p:txBody>
      </p:sp>
      <p:sp>
        <p:nvSpPr>
          <p:cNvPr id="31" name="ov"/>
          <p:cNvSpPr txBox="1"/>
          <p:nvPr/>
        </p:nvSpPr>
        <p:spPr>
          <a:xfrm>
            <a:off x="4005072" y="2871216"/>
            <a:ext cx="2743200" cy="5303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C8F85"/>
                </a:solidFill>
                <a:latin typeface="Georgia"/>
              </a:rPr>
              <a:t>₹550</a:t>
            </a:r>
          </a:p>
        </p:txBody>
      </p:sp>
      <p:sp>
        <p:nvSpPr>
          <p:cNvPr id="32" name="od"/>
          <p:cNvSpPr txBox="1"/>
          <p:nvPr/>
        </p:nvSpPr>
        <p:spPr>
          <a:xfrm>
            <a:off x="4023360" y="3456432"/>
            <a:ext cx="27889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F85"/>
                </a:solidFill>
                <a:latin typeface="Calibri"/>
              </a:rPr>
              <a:t>Helper category · registered at the gate</a:t>
            </a:r>
          </a:p>
        </p:txBody>
      </p:sp>
      <p:sp>
        <p:nvSpPr>
          <p:cNvPr id="33" name="carr/s"/>
          <p:cNvSpPr/>
          <p:nvPr/>
        </p:nvSpPr>
        <p:spPr>
          <a:xfrm>
            <a:off x="7150608" y="3280867"/>
            <a:ext cx="320040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carr/t"/>
          <p:cNvSpPr/>
          <p:nvPr/>
        </p:nvSpPr>
        <p:spPr>
          <a:xfrm rot="5400000">
            <a:off x="7461504" y="3182112"/>
            <a:ext cx="91440" cy="219456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cur"/>
          <p:cNvSpPr/>
          <p:nvPr/>
        </p:nvSpPr>
        <p:spPr>
          <a:xfrm>
            <a:off x="7644383" y="2505456"/>
            <a:ext cx="3986784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5240">
            <a:solidFill>
              <a:srgbClr val="B9812C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cl"/>
          <p:cNvSpPr txBox="1"/>
          <p:nvPr/>
        </p:nvSpPr>
        <p:spPr>
          <a:xfrm>
            <a:off x="7863840" y="2670048"/>
            <a:ext cx="32918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200">
                <a:solidFill>
                  <a:srgbClr val="B9812C"/>
                </a:solidFill>
                <a:latin typeface="Calibri"/>
              </a:rPr>
              <a:t>CURRENT RATE</a:t>
            </a:r>
          </a:p>
        </p:txBody>
      </p:sp>
      <p:sp>
        <p:nvSpPr>
          <p:cNvPr id="37" name="cv"/>
          <p:cNvSpPr txBox="1"/>
          <p:nvPr/>
        </p:nvSpPr>
        <p:spPr>
          <a:xfrm>
            <a:off x="7845552" y="2871216"/>
            <a:ext cx="2194560" cy="5303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211B"/>
                </a:solidFill>
                <a:latin typeface="Georgia"/>
              </a:rPr>
              <a:t>₹650</a:t>
            </a:r>
          </a:p>
        </p:txBody>
      </p:sp>
      <p:sp>
        <p:nvSpPr>
          <p:cNvPr id="38" name="flag"/>
          <p:cNvSpPr/>
          <p:nvPr/>
        </p:nvSpPr>
        <p:spPr>
          <a:xfrm>
            <a:off x="9930384" y="292608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80">
                <a:solidFill>
                  <a:srgbClr val="FFFFFF"/>
                </a:solidFill>
                <a:latin typeface="Calibri"/>
              </a:rPr>
              <a:t>RULE-03</a:t>
            </a:r>
          </a:p>
        </p:txBody>
      </p:sp>
      <p:sp>
        <p:nvSpPr>
          <p:cNvPr id="39" name="cd"/>
          <p:cNvSpPr txBox="1"/>
          <p:nvPr/>
        </p:nvSpPr>
        <p:spPr>
          <a:xfrm>
            <a:off x="7863840" y="3456432"/>
            <a:ext cx="3566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Skilled category · corrected after the shift was closed</a:t>
            </a:r>
          </a:p>
        </p:txBody>
      </p:sp>
      <p:sp>
        <p:nvSpPr>
          <p:cNvPr id="40" name="fr0"/>
          <p:cNvSpPr/>
          <p:nvPr/>
        </p:nvSpPr>
        <p:spPr>
          <a:xfrm>
            <a:off x="3803904" y="4315968"/>
            <a:ext cx="45720" cy="384048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fk0"/>
          <p:cNvSpPr txBox="1"/>
          <p:nvPr/>
        </p:nvSpPr>
        <p:spPr>
          <a:xfrm>
            <a:off x="3986784" y="4334255"/>
            <a:ext cx="141732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40">
                <a:solidFill>
                  <a:srgbClr val="B9812C"/>
                </a:solidFill>
                <a:latin typeface="Calibri"/>
              </a:rPr>
              <a:t>Reason stated</a:t>
            </a:r>
          </a:p>
        </p:txBody>
      </p:sp>
      <p:sp>
        <p:nvSpPr>
          <p:cNvPr id="42" name="fv0"/>
          <p:cNvSpPr txBox="1"/>
          <p:nvPr/>
        </p:nvSpPr>
        <p:spPr>
          <a:xfrm>
            <a:off x="5468112" y="4334255"/>
            <a:ext cx="612648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2211B"/>
                </a:solidFill>
                <a:latin typeface="Calibri"/>
              </a:rPr>
              <a:t>Corrected from the helper rate (₹550) to the skilled rate (₹650)</a:t>
            </a:r>
          </a:p>
        </p:txBody>
      </p:sp>
      <p:sp>
        <p:nvSpPr>
          <p:cNvPr id="43" name="fr1"/>
          <p:cNvSpPr/>
          <p:nvPr/>
        </p:nvSpPr>
        <p:spPr>
          <a:xfrm>
            <a:off x="3803904" y="4791456"/>
            <a:ext cx="45720" cy="384048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fk1"/>
          <p:cNvSpPr txBox="1"/>
          <p:nvPr/>
        </p:nvSpPr>
        <p:spPr>
          <a:xfrm>
            <a:off x="3986784" y="4809744"/>
            <a:ext cx="141732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40">
                <a:solidFill>
                  <a:srgbClr val="16A574"/>
                </a:solidFill>
                <a:latin typeface="Calibri"/>
              </a:rPr>
              <a:t>Actor + time</a:t>
            </a:r>
          </a:p>
        </p:txBody>
      </p:sp>
      <p:sp>
        <p:nvSpPr>
          <p:cNvPr id="45" name="fv1"/>
          <p:cNvSpPr txBox="1"/>
          <p:nvPr/>
        </p:nvSpPr>
        <p:spPr>
          <a:xfrm>
            <a:off x="5468112" y="4809744"/>
            <a:ext cx="612648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2211B"/>
                </a:solidFill>
                <a:latin typeface="Calibri"/>
              </a:rPr>
              <a:t>Contractor role · timestamped at edit</a:t>
            </a:r>
          </a:p>
        </p:txBody>
      </p:sp>
      <p:sp>
        <p:nvSpPr>
          <p:cNvPr id="46" name="fr2"/>
          <p:cNvSpPr/>
          <p:nvPr/>
        </p:nvSpPr>
        <p:spPr>
          <a:xfrm>
            <a:off x="3803904" y="5266944"/>
            <a:ext cx="45720" cy="384048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fk2"/>
          <p:cNvSpPr txBox="1"/>
          <p:nvPr/>
        </p:nvSpPr>
        <p:spPr>
          <a:xfrm>
            <a:off x="3986784" y="5285231"/>
            <a:ext cx="141732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40">
                <a:solidFill>
                  <a:srgbClr val="16A574"/>
                </a:solidFill>
                <a:latin typeface="Calibri"/>
              </a:rPr>
              <a:t>Tamper flag</a:t>
            </a:r>
          </a:p>
        </p:txBody>
      </p:sp>
      <p:sp>
        <p:nvSpPr>
          <p:cNvPr id="48" name="fv2"/>
          <p:cNvSpPr txBox="1"/>
          <p:nvPr/>
        </p:nvSpPr>
        <p:spPr>
          <a:xfrm>
            <a:off x="5468112" y="5285231"/>
            <a:ext cx="6126480" cy="34747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2211B"/>
                </a:solidFill>
                <a:latin typeface="Calibri"/>
              </a:rPr>
              <a:t>None — the prior value is still in the audit trail</a:t>
            </a:r>
          </a:p>
        </p:txBody>
      </p:sp>
      <p:sp>
        <p:nvSpPr>
          <p:cNvPr id="49" name="guide"/>
          <p:cNvSpPr/>
          <p:nvPr/>
        </p:nvSpPr>
        <p:spPr>
          <a:xfrm>
            <a:off x="3803904" y="5760720"/>
            <a:ext cx="7827264" cy="621792"/>
          </a:xfrm>
          <a:prstGeom prst="roundRect">
            <a:avLst>
              <a:gd name="adj" fmla="val 14705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guide/bar"/>
          <p:cNvSpPr/>
          <p:nvPr/>
        </p:nvSpPr>
        <p:spPr>
          <a:xfrm>
            <a:off x="3803904" y="5907024"/>
            <a:ext cx="54864" cy="329184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guide/t"/>
          <p:cNvSpPr txBox="1"/>
          <p:nvPr/>
        </p:nvSpPr>
        <p:spPr>
          <a:xfrm>
            <a:off x="4041648" y="5870448"/>
            <a:ext cx="7424928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Mediation guidance is neutral: review the stated justification and the worker's acceptance state. The system does not judge intent.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04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04000" lon="-1080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SHA-256: a chain of records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SHA-256: a chain of records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Each block hashes a canonical string built from its own fields plus the previous block's digest. Eight blocks ship in the demo ledger.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6476838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6426546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17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b0"/>
          <p:cNvSpPr/>
          <p:nvPr/>
        </p:nvSpPr>
        <p:spPr>
          <a:xfrm>
            <a:off x="3803904" y="2468880"/>
            <a:ext cx="2395728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bt0"/>
          <p:cNvSpPr txBox="1"/>
          <p:nvPr/>
        </p:nvSpPr>
        <p:spPr>
          <a:xfrm>
            <a:off x="3986784" y="2596896"/>
            <a:ext cx="2011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7C8F85"/>
                </a:solidFill>
                <a:latin typeface="Calibri"/>
              </a:rPr>
              <a:t>Block 06</a:t>
            </a:r>
          </a:p>
        </p:txBody>
      </p:sp>
      <p:sp>
        <p:nvSpPr>
          <p:cNvPr id="31" name="bp0"/>
          <p:cNvSpPr txBox="1"/>
          <p:nvPr/>
        </p:nvSpPr>
        <p:spPr>
          <a:xfrm>
            <a:off x="3986784" y="2834640"/>
            <a:ext cx="210312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onsolas"/>
              </a:rPr>
              <a:t>prev  a41f…9c02</a:t>
            </a:r>
          </a:p>
        </p:txBody>
      </p:sp>
      <p:sp>
        <p:nvSpPr>
          <p:cNvPr id="32" name="bh0"/>
          <p:cNvSpPr txBox="1"/>
          <p:nvPr/>
        </p:nvSpPr>
        <p:spPr>
          <a:xfrm>
            <a:off x="3986784" y="3072384"/>
            <a:ext cx="21031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211B"/>
                </a:solidFill>
                <a:latin typeface="Consolas"/>
              </a:rPr>
              <a:t>hash  8f2c…41de</a:t>
            </a:r>
          </a:p>
        </p:txBody>
      </p:sp>
      <p:sp>
        <p:nvSpPr>
          <p:cNvPr id="33" name="bd0"/>
          <p:cNvSpPr txBox="1"/>
          <p:nvPr/>
        </p:nvSpPr>
        <p:spPr>
          <a:xfrm>
            <a:off x="3986784" y="3364992"/>
            <a:ext cx="20574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alibri"/>
              </a:rPr>
              <a:t>date · rate · hours · earned</a:t>
            </a:r>
          </a:p>
        </p:txBody>
      </p:sp>
      <p:sp>
        <p:nvSpPr>
          <p:cNvPr id="34" name="ba0/s"/>
          <p:cNvSpPr/>
          <p:nvPr/>
        </p:nvSpPr>
        <p:spPr>
          <a:xfrm>
            <a:off x="6236208" y="3207715"/>
            <a:ext cx="137160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ba0/t"/>
          <p:cNvSpPr/>
          <p:nvPr/>
        </p:nvSpPr>
        <p:spPr>
          <a:xfrm rot="5400000">
            <a:off x="6364224" y="3145536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b1"/>
          <p:cNvSpPr/>
          <p:nvPr/>
        </p:nvSpPr>
        <p:spPr>
          <a:xfrm>
            <a:off x="6473952" y="2468880"/>
            <a:ext cx="2395728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bt1"/>
          <p:cNvSpPr txBox="1"/>
          <p:nvPr/>
        </p:nvSpPr>
        <p:spPr>
          <a:xfrm>
            <a:off x="6656832" y="2596896"/>
            <a:ext cx="2011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7C8F85"/>
                </a:solidFill>
                <a:latin typeface="Calibri"/>
              </a:rPr>
              <a:t>Block 07</a:t>
            </a:r>
          </a:p>
        </p:txBody>
      </p:sp>
      <p:sp>
        <p:nvSpPr>
          <p:cNvPr id="38" name="bp1"/>
          <p:cNvSpPr txBox="1"/>
          <p:nvPr/>
        </p:nvSpPr>
        <p:spPr>
          <a:xfrm>
            <a:off x="6656832" y="2834640"/>
            <a:ext cx="210312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onsolas"/>
              </a:rPr>
              <a:t>prev  8f2c…41de</a:t>
            </a:r>
          </a:p>
        </p:txBody>
      </p:sp>
      <p:sp>
        <p:nvSpPr>
          <p:cNvPr id="39" name="bh1"/>
          <p:cNvSpPr txBox="1"/>
          <p:nvPr/>
        </p:nvSpPr>
        <p:spPr>
          <a:xfrm>
            <a:off x="6656832" y="3072384"/>
            <a:ext cx="21031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211B"/>
                </a:solidFill>
                <a:latin typeface="Consolas"/>
              </a:rPr>
              <a:t>hash  c77b…0a19</a:t>
            </a:r>
          </a:p>
        </p:txBody>
      </p:sp>
      <p:sp>
        <p:nvSpPr>
          <p:cNvPr id="40" name="bd1"/>
          <p:cNvSpPr txBox="1"/>
          <p:nvPr/>
        </p:nvSpPr>
        <p:spPr>
          <a:xfrm>
            <a:off x="6656832" y="3364992"/>
            <a:ext cx="20574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alibri"/>
              </a:rPr>
              <a:t>date · rate · hours · earned</a:t>
            </a:r>
          </a:p>
        </p:txBody>
      </p:sp>
      <p:sp>
        <p:nvSpPr>
          <p:cNvPr id="41" name="ba1/s"/>
          <p:cNvSpPr/>
          <p:nvPr/>
        </p:nvSpPr>
        <p:spPr>
          <a:xfrm>
            <a:off x="8906256" y="3207715"/>
            <a:ext cx="137160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ba1/t"/>
          <p:cNvSpPr/>
          <p:nvPr/>
        </p:nvSpPr>
        <p:spPr>
          <a:xfrm rot="5400000">
            <a:off x="9034272" y="3145536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b2"/>
          <p:cNvSpPr/>
          <p:nvPr/>
        </p:nvSpPr>
        <p:spPr>
          <a:xfrm>
            <a:off x="9144000" y="2468880"/>
            <a:ext cx="2395728" cy="1517904"/>
          </a:xfrm>
          <a:prstGeom prst="roundRect">
            <a:avLst>
              <a:gd name="adj" fmla="val 6024"/>
            </a:avLst>
          </a:prstGeom>
          <a:solidFill>
            <a:srgbClr val="0E2A20"/>
          </a:solidFill>
          <a:ln w="15240">
            <a:solidFill>
              <a:srgbClr val="B981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bt2"/>
          <p:cNvSpPr txBox="1"/>
          <p:nvPr/>
        </p:nvSpPr>
        <p:spPr>
          <a:xfrm>
            <a:off x="9326880" y="2596896"/>
            <a:ext cx="2011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E3B04B"/>
                </a:solidFill>
                <a:latin typeface="Calibri"/>
              </a:rPr>
              <a:t>Block 08</a:t>
            </a:r>
          </a:p>
        </p:txBody>
      </p:sp>
      <p:sp>
        <p:nvSpPr>
          <p:cNvPr id="45" name="bp2"/>
          <p:cNvSpPr txBox="1"/>
          <p:nvPr/>
        </p:nvSpPr>
        <p:spPr>
          <a:xfrm>
            <a:off x="9326880" y="2834640"/>
            <a:ext cx="210312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F2D79B"/>
                </a:solidFill>
                <a:latin typeface="Consolas"/>
              </a:rPr>
              <a:t>prev  c77b…0a19</a:t>
            </a:r>
          </a:p>
        </p:txBody>
      </p:sp>
      <p:sp>
        <p:nvSpPr>
          <p:cNvPr id="46" name="bh2"/>
          <p:cNvSpPr txBox="1"/>
          <p:nvPr/>
        </p:nvSpPr>
        <p:spPr>
          <a:xfrm>
            <a:off x="9326880" y="3072384"/>
            <a:ext cx="21031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onsolas"/>
              </a:rPr>
              <a:t>hash  3a7e…b640</a:t>
            </a:r>
          </a:p>
        </p:txBody>
      </p:sp>
      <p:sp>
        <p:nvSpPr>
          <p:cNvPr id="47" name="bd2"/>
          <p:cNvSpPr txBox="1"/>
          <p:nvPr/>
        </p:nvSpPr>
        <p:spPr>
          <a:xfrm>
            <a:off x="9326880" y="3364992"/>
            <a:ext cx="20574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BC7A6"/>
                </a:solidFill>
                <a:latin typeface="Calibri"/>
              </a:rPr>
              <a:t>date · rate · hours · earned</a:t>
            </a:r>
          </a:p>
        </p:txBody>
      </p:sp>
      <p:sp>
        <p:nvSpPr>
          <p:cNvPr id="48" name="cs"/>
          <p:cNvSpPr/>
          <p:nvPr/>
        </p:nvSpPr>
        <p:spPr>
          <a:xfrm>
            <a:off x="3803904" y="4224528"/>
            <a:ext cx="4828032" cy="1847088"/>
          </a:xfrm>
          <a:prstGeom prst="roundRect">
            <a:avLst>
              <a:gd name="adj" fmla="val 4455"/>
            </a:avLst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csl"/>
          <p:cNvSpPr txBox="1"/>
          <p:nvPr/>
        </p:nvSpPr>
        <p:spPr>
          <a:xfrm>
            <a:off x="4005072" y="4352544"/>
            <a:ext cx="438912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 spc="180">
                <a:solidFill>
                  <a:srgbClr val="E3B04B"/>
                </a:solidFill>
                <a:latin typeface="Calibri"/>
              </a:rPr>
              <a:t>CANONICAL SERIALISATION · KEYS SORTED</a:t>
            </a:r>
          </a:p>
        </p:txBody>
      </p:sp>
      <p:sp>
        <p:nvSpPr>
          <p:cNvPr id="50" name="csv"/>
          <p:cNvSpPr txBox="1"/>
          <p:nvPr/>
        </p:nvSpPr>
        <p:spPr>
          <a:xfrm>
            <a:off x="4005072" y="4553712"/>
            <a:ext cx="4434840" cy="11887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{"date":"2026-10-12",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"earned":2600,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"hours":8,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2D79B"/>
                </a:solidFill>
                <a:latin typeface="Consolas"/>
              </a:rPr>
              <a:t> "prevHash":"c77b…0a19",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"rate":650}</a:t>
            </a:r>
          </a:p>
        </p:txBody>
      </p:sp>
      <p:sp>
        <p:nvSpPr>
          <p:cNvPr id="51" name="cscap"/>
          <p:cNvSpPr txBox="1"/>
          <p:nvPr/>
        </p:nvSpPr>
        <p:spPr>
          <a:xfrm>
            <a:off x="4005072" y="5742432"/>
            <a:ext cx="443484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BC7A6"/>
                </a:solidFill>
                <a:latin typeface="Calibri"/>
              </a:rPr>
              <a:t>keys sorted · nulls preserved · floats normalised</a:t>
            </a:r>
          </a:p>
        </p:txBody>
      </p:sp>
      <p:sp>
        <p:nvSpPr>
          <p:cNvPr id="52" name="res"/>
          <p:cNvSpPr/>
          <p:nvPr/>
        </p:nvSpPr>
        <p:spPr>
          <a:xfrm>
            <a:off x="8851392" y="4224528"/>
            <a:ext cx="2779776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valid"/>
          <p:cNvSpPr/>
          <p:nvPr/>
        </p:nvSpPr>
        <p:spPr>
          <a:xfrm>
            <a:off x="9070848" y="4443984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80">
                <a:solidFill>
                  <a:srgbClr val="FFFFFF"/>
                </a:solidFill>
                <a:latin typeface="Calibri"/>
              </a:rPr>
              <a:t>VALID SHA-256</a:t>
            </a:r>
          </a:p>
        </p:txBody>
      </p:sp>
      <p:sp>
        <p:nvSpPr>
          <p:cNvPr id="54" name="rest"/>
          <p:cNvSpPr txBox="1"/>
          <p:nvPr/>
        </p:nvSpPr>
        <p:spPr>
          <a:xfrm>
            <a:off x="9070848" y="4901184"/>
            <a:ext cx="237744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4E6459"/>
                </a:solidFill>
                <a:latin typeface="Calibri"/>
              </a:rPr>
              <a:t>Recomputed digest matches the stored one and the predecessor link is intact.</a:t>
            </a:r>
          </a:p>
        </p:txBody>
      </p:sp>
      <p:sp>
        <p:nvSpPr>
          <p:cNvPr id="55" name="resb"/>
          <p:cNvSpPr txBox="1"/>
          <p:nvPr/>
        </p:nvSpPr>
        <p:spPr>
          <a:xfrm>
            <a:off x="9070848" y="5650992"/>
            <a:ext cx="23774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E7A55"/>
                </a:solidFill>
                <a:latin typeface="Consolas"/>
              </a:rPr>
              <a:t>→ integrity check passed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52000">
                <a:srgbClr val="113528"/>
              </a:gs>
              <a:gs pos="100000">
                <a:srgbClr val="07160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!!Edge"/>
          <p:cNvSpPr/>
          <p:nvPr/>
        </p:nvSpPr>
        <p:spPr>
          <a:xfrm>
            <a:off x="0" y="0"/>
            <a:ext cx="12700" cy="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mark"/>
          <p:cNvSpPr/>
          <p:nvPr/>
        </p:nvSpPr>
        <p:spPr>
          <a:xfrm>
            <a:off x="804672" y="548640"/>
            <a:ext cx="351129" cy="351129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0"/>
          <p:cNvSpPr/>
          <p:nvPr/>
        </p:nvSpPr>
        <p:spPr>
          <a:xfrm>
            <a:off x="892454" y="648126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1"/>
          <p:cNvSpPr/>
          <p:nvPr/>
        </p:nvSpPr>
        <p:spPr>
          <a:xfrm>
            <a:off x="892454" y="706648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bar2"/>
          <p:cNvSpPr/>
          <p:nvPr/>
        </p:nvSpPr>
        <p:spPr>
          <a:xfrm>
            <a:off x="892454" y="765169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wm/text"/>
          <p:cNvSpPr txBox="1"/>
          <p:nvPr/>
        </p:nvSpPr>
        <p:spPr>
          <a:xfrm>
            <a:off x="1272844" y="531083"/>
            <a:ext cx="2516428" cy="351129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1216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822960" y="969264"/>
            <a:ext cx="54864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40">
                <a:solidFill>
                  <a:srgbClr val="E3B04B"/>
                </a:solidFill>
                <a:latin typeface="Calibri"/>
              </a:rPr>
              <a:t>SECTION 04  ·  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9528048" y="4828032"/>
            <a:ext cx="2121408" cy="1298448"/>
            <a:chOff x="9528048" y="4828032"/>
            <a:chExt cx="2121408" cy="1298448"/>
          </a:xfrm>
          <a:scene3d>
            <a:camera prst="perspectiveRelaxed" fov="42000" zoom="100000">
              <a:rot lat="-414000" lon="-1038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9528048" y="4828032"/>
              <a:ext cx="2121408" cy="1280160"/>
            </a:xfrm>
            <a:prstGeom prst="roundRect">
              <a:avLst>
                <a:gd name="adj" fmla="val 6428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9546336" y="4846320"/>
              <a:ext cx="2084831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9646920" y="4869180"/>
              <a:ext cx="1883663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9646920" y="5138928"/>
              <a:ext cx="1883663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9646920" y="5522976"/>
              <a:ext cx="1883663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9646920" y="5724144"/>
              <a:ext cx="1883663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964692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060704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9528048" y="3127248"/>
            <a:ext cx="2121408" cy="1170432"/>
          </a:xfrm>
          <a:prstGeom prst="roundRect">
            <a:avLst>
              <a:gd name="adj" fmla="val 7031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!!RailFill"/>
          <p:cNvSpPr/>
          <p:nvPr/>
        </p:nvSpPr>
        <p:spPr>
          <a:xfrm>
            <a:off x="0" y="6675120"/>
            <a:ext cx="6857828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Dot"/>
          <p:cNvSpPr/>
          <p:nvPr/>
        </p:nvSpPr>
        <p:spPr>
          <a:xfrm>
            <a:off x="6807536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!!PageNo"/>
          <p:cNvSpPr txBox="1"/>
          <p:nvPr/>
        </p:nvSpPr>
        <p:spPr>
          <a:xfrm>
            <a:off x="100126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B04B"/>
                </a:solidFill>
                <a:latin typeface="Calibri"/>
              </a:rPr>
              <a:t>18</a:t>
            </a:r>
            <a:r>
              <a:rPr sz="850" b="0" i="0">
                <a:solidFill>
                  <a:srgbClr val="8BC7A6"/>
                </a:solidFill>
                <a:latin typeface="Calibri"/>
              </a:rPr>
              <a:t> / 32</a:t>
            </a:r>
          </a:p>
        </p:txBody>
      </p:sp>
      <p:sp>
        <p:nvSpPr>
          <p:cNvPr id="25" name="eyebrow"/>
          <p:cNvSpPr txBox="1"/>
          <p:nvPr/>
        </p:nvSpPr>
        <p:spPr>
          <a:xfrm>
            <a:off x="822960" y="1335024"/>
            <a:ext cx="5486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260">
                <a:solidFill>
                  <a:srgbClr val="E3B04B"/>
                </a:solidFill>
                <a:latin typeface="Calibri"/>
              </a:rPr>
              <a:t>HONEST SCOPE</a:t>
            </a:r>
          </a:p>
        </p:txBody>
      </p:sp>
      <p:sp>
        <p:nvSpPr>
          <p:cNvPr id="26" name="h"/>
          <p:cNvSpPr txBox="1"/>
          <p:nvPr/>
        </p:nvSpPr>
        <p:spPr>
          <a:xfrm>
            <a:off x="786384" y="1645920"/>
            <a:ext cx="7772400" cy="6583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 i="0">
                <a:solidFill>
                  <a:srgbClr val="FFFFFF"/>
                </a:solidFill>
                <a:latin typeface="Georgia"/>
              </a:rPr>
              <a:t>What the chain proves — and what it does not</a:t>
            </a:r>
          </a:p>
        </p:txBody>
      </p:sp>
      <p:sp>
        <p:nvSpPr>
          <p:cNvPr id="27" name="col0"/>
          <p:cNvSpPr/>
          <p:nvPr/>
        </p:nvSpPr>
        <p:spPr>
          <a:xfrm>
            <a:off x="822960" y="2395728"/>
            <a:ext cx="3749039" cy="3108960"/>
          </a:xfrm>
          <a:prstGeom prst="roundRect">
            <a:avLst>
              <a:gd name="adj" fmla="val 3235"/>
            </a:avLst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colb0"/>
          <p:cNvSpPr/>
          <p:nvPr/>
        </p:nvSpPr>
        <p:spPr>
          <a:xfrm>
            <a:off x="822960" y="2395728"/>
            <a:ext cx="3749039" cy="54864"/>
          </a:xfrm>
          <a:prstGeom prst="rect">
            <a:avLst/>
          </a:prstGeom>
          <a:solidFill>
            <a:srgbClr val="8BC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colt0"/>
          <p:cNvSpPr txBox="1"/>
          <p:nvPr/>
        </p:nvSpPr>
        <p:spPr>
          <a:xfrm>
            <a:off x="1060704" y="2578608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8BC7A6"/>
                </a:solidFill>
                <a:latin typeface="Calibri"/>
              </a:rPr>
              <a:t>It does prove</a:t>
            </a:r>
          </a:p>
        </p:txBody>
      </p:sp>
      <p:sp>
        <p:nvSpPr>
          <p:cNvPr id="30" name="cm00"/>
          <p:cNvSpPr txBox="1"/>
          <p:nvPr/>
        </p:nvSpPr>
        <p:spPr>
          <a:xfrm>
            <a:off x="1060704" y="2944368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C7A6"/>
                </a:solidFill>
                <a:latin typeface="Calibri"/>
              </a:rPr>
              <a:t>✓</a:t>
            </a:r>
          </a:p>
        </p:txBody>
      </p:sp>
      <p:sp>
        <p:nvSpPr>
          <p:cNvPr id="31" name="ci00"/>
          <p:cNvSpPr txBox="1"/>
          <p:nvPr/>
        </p:nvSpPr>
        <p:spPr>
          <a:xfrm>
            <a:off x="1335024" y="2944368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These bytes have not changed since they were chained</a:t>
            </a:r>
          </a:p>
        </p:txBody>
      </p:sp>
      <p:sp>
        <p:nvSpPr>
          <p:cNvPr id="32" name="cm01"/>
          <p:cNvSpPr txBox="1"/>
          <p:nvPr/>
        </p:nvSpPr>
        <p:spPr>
          <a:xfrm>
            <a:off x="1060704" y="3547872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C7A6"/>
                </a:solidFill>
                <a:latin typeface="Calibri"/>
              </a:rPr>
              <a:t>✓</a:t>
            </a:r>
          </a:p>
        </p:txBody>
      </p:sp>
      <p:sp>
        <p:nvSpPr>
          <p:cNvPr id="33" name="ci01"/>
          <p:cNvSpPr txBox="1"/>
          <p:nvPr/>
        </p:nvSpPr>
        <p:spPr>
          <a:xfrm>
            <a:off x="1335024" y="3547872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The link to the previous record is intact</a:t>
            </a:r>
          </a:p>
        </p:txBody>
      </p:sp>
      <p:sp>
        <p:nvSpPr>
          <p:cNvPr id="34" name="cm02"/>
          <p:cNvSpPr txBox="1"/>
          <p:nvPr/>
        </p:nvSpPr>
        <p:spPr>
          <a:xfrm>
            <a:off x="1060704" y="4151376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C7A6"/>
                </a:solidFill>
                <a:latin typeface="Calibri"/>
              </a:rPr>
              <a:t>✓</a:t>
            </a:r>
          </a:p>
        </p:txBody>
      </p:sp>
      <p:sp>
        <p:nvSpPr>
          <p:cNvPr id="35" name="ci02"/>
          <p:cNvSpPr txBox="1"/>
          <p:nvPr/>
        </p:nvSpPr>
        <p:spPr>
          <a:xfrm>
            <a:off x="1335024" y="4151376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A deliberate edit produces a visible mismatch</a:t>
            </a:r>
          </a:p>
        </p:txBody>
      </p:sp>
      <p:sp>
        <p:nvSpPr>
          <p:cNvPr id="36" name="cm03"/>
          <p:cNvSpPr txBox="1"/>
          <p:nvPr/>
        </p:nvSpPr>
        <p:spPr>
          <a:xfrm>
            <a:off x="1060704" y="4754880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BC7A6"/>
                </a:solidFill>
                <a:latin typeface="Calibri"/>
              </a:rPr>
              <a:t>✓</a:t>
            </a:r>
          </a:p>
        </p:txBody>
      </p:sp>
      <p:sp>
        <p:nvSpPr>
          <p:cNvPr id="37" name="ci03"/>
          <p:cNvSpPr txBox="1"/>
          <p:nvPr/>
        </p:nvSpPr>
        <p:spPr>
          <a:xfrm>
            <a:off x="1335024" y="4754880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Worker and contractor verify the same digest</a:t>
            </a:r>
          </a:p>
        </p:txBody>
      </p:sp>
      <p:sp>
        <p:nvSpPr>
          <p:cNvPr id="38" name="col1"/>
          <p:cNvSpPr/>
          <p:nvPr/>
        </p:nvSpPr>
        <p:spPr>
          <a:xfrm>
            <a:off x="4864608" y="2395728"/>
            <a:ext cx="3749039" cy="3108960"/>
          </a:xfrm>
          <a:prstGeom prst="roundRect">
            <a:avLst>
              <a:gd name="adj" fmla="val 3235"/>
            </a:avLst>
          </a:prstGeom>
          <a:solidFill>
            <a:srgbClr val="17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colb1"/>
          <p:cNvSpPr/>
          <p:nvPr/>
        </p:nvSpPr>
        <p:spPr>
          <a:xfrm>
            <a:off x="4864608" y="2395728"/>
            <a:ext cx="3749039" cy="54864"/>
          </a:xfrm>
          <a:prstGeom prst="rect">
            <a:avLst/>
          </a:prstGeom>
          <a:solidFill>
            <a:srgbClr val="F19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colt1"/>
          <p:cNvSpPr txBox="1"/>
          <p:nvPr/>
        </p:nvSpPr>
        <p:spPr>
          <a:xfrm>
            <a:off x="5102352" y="2578608"/>
            <a:ext cx="3200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1937A"/>
                </a:solidFill>
                <a:latin typeface="Calibri"/>
              </a:rPr>
              <a:t>It cannot prove</a:t>
            </a:r>
          </a:p>
        </p:txBody>
      </p:sp>
      <p:sp>
        <p:nvSpPr>
          <p:cNvPr id="41" name="cm10"/>
          <p:cNvSpPr txBox="1"/>
          <p:nvPr/>
        </p:nvSpPr>
        <p:spPr>
          <a:xfrm>
            <a:off x="5102352" y="2944368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1937A"/>
                </a:solidFill>
                <a:latin typeface="Calibri"/>
              </a:rPr>
              <a:t>×</a:t>
            </a:r>
          </a:p>
        </p:txBody>
      </p:sp>
      <p:sp>
        <p:nvSpPr>
          <p:cNvPr id="42" name="ci10"/>
          <p:cNvSpPr txBox="1"/>
          <p:nvPr/>
        </p:nvSpPr>
        <p:spPr>
          <a:xfrm>
            <a:off x="5376672" y="2944368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That the original entry was true</a:t>
            </a:r>
          </a:p>
        </p:txBody>
      </p:sp>
      <p:sp>
        <p:nvSpPr>
          <p:cNvPr id="43" name="cm11"/>
          <p:cNvSpPr txBox="1"/>
          <p:nvPr/>
        </p:nvSpPr>
        <p:spPr>
          <a:xfrm>
            <a:off x="5102352" y="3547872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1937A"/>
                </a:solidFill>
                <a:latin typeface="Calibri"/>
              </a:rPr>
              <a:t>×</a:t>
            </a:r>
          </a:p>
        </p:txBody>
      </p:sp>
      <p:sp>
        <p:nvSpPr>
          <p:cNvPr id="44" name="ci11"/>
          <p:cNvSpPr txBox="1"/>
          <p:nvPr/>
        </p:nvSpPr>
        <p:spPr>
          <a:xfrm>
            <a:off x="5376672" y="3547872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That the person was physically present</a:t>
            </a:r>
          </a:p>
        </p:txBody>
      </p:sp>
      <p:sp>
        <p:nvSpPr>
          <p:cNvPr id="45" name="cm12"/>
          <p:cNvSpPr txBox="1"/>
          <p:nvPr/>
        </p:nvSpPr>
        <p:spPr>
          <a:xfrm>
            <a:off x="5102352" y="4151376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1937A"/>
                </a:solidFill>
                <a:latin typeface="Calibri"/>
              </a:rPr>
              <a:t>×</a:t>
            </a:r>
          </a:p>
        </p:txBody>
      </p:sp>
      <p:sp>
        <p:nvSpPr>
          <p:cNvPr id="46" name="ci12"/>
          <p:cNvSpPr txBox="1"/>
          <p:nvPr/>
        </p:nvSpPr>
        <p:spPr>
          <a:xfrm>
            <a:off x="5376672" y="4151376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Safety against someone who controls the storage and recomputes every hash</a:t>
            </a:r>
          </a:p>
        </p:txBody>
      </p:sp>
      <p:sp>
        <p:nvSpPr>
          <p:cNvPr id="47" name="cm13"/>
          <p:cNvSpPr txBox="1"/>
          <p:nvPr/>
        </p:nvSpPr>
        <p:spPr>
          <a:xfrm>
            <a:off x="5102352" y="4754880"/>
            <a:ext cx="256032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1937A"/>
                </a:solidFill>
                <a:latin typeface="Calibri"/>
              </a:rPr>
              <a:t>×</a:t>
            </a:r>
          </a:p>
        </p:txBody>
      </p:sp>
      <p:sp>
        <p:nvSpPr>
          <p:cNvPr id="48" name="ci13"/>
          <p:cNvSpPr txBox="1"/>
          <p:nvPr/>
        </p:nvSpPr>
        <p:spPr>
          <a:xfrm>
            <a:off x="5376672" y="4754880"/>
            <a:ext cx="2999232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That this is a blockchain — it is not</a:t>
            </a:r>
          </a:p>
        </p:txBody>
      </p:sp>
      <p:sp>
        <p:nvSpPr>
          <p:cNvPr id="49" name="foot"/>
          <p:cNvSpPr txBox="1"/>
          <p:nvPr/>
        </p:nvSpPr>
        <p:spPr>
          <a:xfrm>
            <a:off x="822960" y="5742432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1">
                <a:solidFill>
                  <a:srgbClr val="F2D79B"/>
                </a:solidFill>
                <a:latin typeface="Calibri"/>
              </a:rPr>
              <a:t>A valid hash is evidence of integrity, not of truth.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04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534000" lon="-906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Seven rules, no machine learning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Seven rules, no machine learning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Every flag is a comparison against a configured threshold or a stated value — reproducible, explainable and never an accusation.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7238819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7188527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19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r0"/>
          <p:cNvSpPr/>
          <p:nvPr/>
        </p:nvSpPr>
        <p:spPr>
          <a:xfrm>
            <a:off x="3803904" y="2432304"/>
            <a:ext cx="3813048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l0"/>
          <p:cNvSpPr/>
          <p:nvPr/>
        </p:nvSpPr>
        <p:spPr>
          <a:xfrm>
            <a:off x="3803904" y="2560320"/>
            <a:ext cx="45720" cy="530352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id0"/>
          <p:cNvSpPr/>
          <p:nvPr/>
        </p:nvSpPr>
        <p:spPr>
          <a:xfrm>
            <a:off x="3986784" y="256032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Calibri"/>
              </a:rPr>
              <a:t>RULE-01</a:t>
            </a:r>
          </a:p>
        </p:txBody>
      </p:sp>
      <p:sp>
        <p:nvSpPr>
          <p:cNvPr id="32" name="rt0"/>
          <p:cNvSpPr txBox="1"/>
          <p:nvPr/>
        </p:nvSpPr>
        <p:spPr>
          <a:xfrm>
            <a:off x="4864608" y="2542032"/>
            <a:ext cx="2606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Duplicate date entries</a:t>
            </a:r>
          </a:p>
        </p:txBody>
      </p:sp>
      <p:sp>
        <p:nvSpPr>
          <p:cNvPr id="33" name="rd0"/>
          <p:cNvSpPr txBox="1"/>
          <p:nvPr/>
        </p:nvSpPr>
        <p:spPr>
          <a:xfrm>
            <a:off x="4864608" y="2816352"/>
            <a:ext cx="2606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6459"/>
                </a:solidFill>
                <a:latin typeface="Calibri"/>
              </a:rPr>
              <a:t>Same worker, same calendar day, two records</a:t>
            </a:r>
          </a:p>
        </p:txBody>
      </p:sp>
      <p:sp>
        <p:nvSpPr>
          <p:cNvPr id="34" name="r1"/>
          <p:cNvSpPr/>
          <p:nvPr/>
        </p:nvSpPr>
        <p:spPr>
          <a:xfrm>
            <a:off x="3803904" y="3310128"/>
            <a:ext cx="3813048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l1"/>
          <p:cNvSpPr/>
          <p:nvPr/>
        </p:nvSpPr>
        <p:spPr>
          <a:xfrm>
            <a:off x="3803904" y="3438144"/>
            <a:ext cx="45720" cy="530352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id1"/>
          <p:cNvSpPr/>
          <p:nvPr/>
        </p:nvSpPr>
        <p:spPr>
          <a:xfrm>
            <a:off x="3986784" y="343814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Calibri"/>
              </a:rPr>
              <a:t>RULE-02</a:t>
            </a:r>
          </a:p>
        </p:txBody>
      </p:sp>
      <p:sp>
        <p:nvSpPr>
          <p:cNvPr id="37" name="rt1"/>
          <p:cNvSpPr txBox="1"/>
          <p:nvPr/>
        </p:nvSpPr>
        <p:spPr>
          <a:xfrm>
            <a:off x="4864608" y="3419856"/>
            <a:ext cx="2606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Excessive continuous shift</a:t>
            </a:r>
          </a:p>
        </p:txBody>
      </p:sp>
      <p:sp>
        <p:nvSpPr>
          <p:cNvPr id="38" name="rd1"/>
          <p:cNvSpPr txBox="1"/>
          <p:nvPr/>
        </p:nvSpPr>
        <p:spPr>
          <a:xfrm>
            <a:off x="4864608" y="3694176"/>
            <a:ext cx="2606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6459"/>
                </a:solidFill>
                <a:latin typeface="Calibri"/>
              </a:rPr>
              <a:t>More than the configured limit, e.g. 12 h</a:t>
            </a:r>
          </a:p>
        </p:txBody>
      </p:sp>
      <p:sp>
        <p:nvSpPr>
          <p:cNvPr id="39" name="r2"/>
          <p:cNvSpPr/>
          <p:nvPr/>
        </p:nvSpPr>
        <p:spPr>
          <a:xfrm>
            <a:off x="3803904" y="4187952"/>
            <a:ext cx="3813048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l2"/>
          <p:cNvSpPr/>
          <p:nvPr/>
        </p:nvSpPr>
        <p:spPr>
          <a:xfrm>
            <a:off x="3803904" y="4315968"/>
            <a:ext cx="45720" cy="530352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id2"/>
          <p:cNvSpPr/>
          <p:nvPr/>
        </p:nvSpPr>
        <p:spPr>
          <a:xfrm>
            <a:off x="3986784" y="431596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Calibri"/>
              </a:rPr>
              <a:t>RULE-03</a:t>
            </a:r>
          </a:p>
        </p:txBody>
      </p:sp>
      <p:sp>
        <p:nvSpPr>
          <p:cNvPr id="42" name="rt2"/>
          <p:cNvSpPr txBox="1"/>
          <p:nvPr/>
        </p:nvSpPr>
        <p:spPr>
          <a:xfrm>
            <a:off x="4864608" y="4297680"/>
            <a:ext cx="2606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Retroactive modification</a:t>
            </a:r>
          </a:p>
        </p:txBody>
      </p:sp>
      <p:sp>
        <p:nvSpPr>
          <p:cNvPr id="43" name="rd2"/>
          <p:cNvSpPr txBox="1"/>
          <p:nvPr/>
        </p:nvSpPr>
        <p:spPr>
          <a:xfrm>
            <a:off x="4864608" y="4572000"/>
            <a:ext cx="2606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6459"/>
                </a:solidFill>
                <a:latin typeface="Calibri"/>
              </a:rPr>
              <a:t>Rate or hours changed after the shift closed</a:t>
            </a:r>
          </a:p>
        </p:txBody>
      </p:sp>
      <p:sp>
        <p:nvSpPr>
          <p:cNvPr id="44" name="r3"/>
          <p:cNvSpPr/>
          <p:nvPr/>
        </p:nvSpPr>
        <p:spPr>
          <a:xfrm>
            <a:off x="3803904" y="5065776"/>
            <a:ext cx="3813048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l3"/>
          <p:cNvSpPr/>
          <p:nvPr/>
        </p:nvSpPr>
        <p:spPr>
          <a:xfrm>
            <a:off x="3803904" y="5193792"/>
            <a:ext cx="45720" cy="530352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rid3"/>
          <p:cNvSpPr/>
          <p:nvPr/>
        </p:nvSpPr>
        <p:spPr>
          <a:xfrm>
            <a:off x="3986784" y="519379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Calibri"/>
              </a:rPr>
              <a:t>RULE-04</a:t>
            </a:r>
          </a:p>
        </p:txBody>
      </p:sp>
      <p:sp>
        <p:nvSpPr>
          <p:cNvPr id="47" name="rt3"/>
          <p:cNvSpPr txBox="1"/>
          <p:nvPr/>
        </p:nvSpPr>
        <p:spPr>
          <a:xfrm>
            <a:off x="4864608" y="5175504"/>
            <a:ext cx="2606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Payment reconciliation gap</a:t>
            </a:r>
          </a:p>
        </p:txBody>
      </p:sp>
      <p:sp>
        <p:nvSpPr>
          <p:cNvPr id="48" name="rd3"/>
          <p:cNvSpPr txBox="1"/>
          <p:nvPr/>
        </p:nvSpPr>
        <p:spPr>
          <a:xfrm>
            <a:off x="4864608" y="5449824"/>
            <a:ext cx="2606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6459"/>
                </a:solidFill>
                <a:latin typeface="Calibri"/>
              </a:rPr>
              <a:t>Wages due vs payments vs acknowledgements</a:t>
            </a:r>
          </a:p>
        </p:txBody>
      </p:sp>
      <p:sp>
        <p:nvSpPr>
          <p:cNvPr id="49" name="r4"/>
          <p:cNvSpPr/>
          <p:nvPr/>
        </p:nvSpPr>
        <p:spPr>
          <a:xfrm>
            <a:off x="7818120" y="2432304"/>
            <a:ext cx="3813048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l4"/>
          <p:cNvSpPr/>
          <p:nvPr/>
        </p:nvSpPr>
        <p:spPr>
          <a:xfrm>
            <a:off x="7818120" y="2560320"/>
            <a:ext cx="45720" cy="530352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id4"/>
          <p:cNvSpPr/>
          <p:nvPr/>
        </p:nvSpPr>
        <p:spPr>
          <a:xfrm>
            <a:off x="8001000" y="2560320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Calibri"/>
              </a:rPr>
              <a:t>RULE-05</a:t>
            </a:r>
          </a:p>
        </p:txBody>
      </p:sp>
      <p:sp>
        <p:nvSpPr>
          <p:cNvPr id="52" name="rt4"/>
          <p:cNvSpPr txBox="1"/>
          <p:nvPr/>
        </p:nvSpPr>
        <p:spPr>
          <a:xfrm>
            <a:off x="8878824" y="2542032"/>
            <a:ext cx="2606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Unreasoned deduction</a:t>
            </a:r>
          </a:p>
        </p:txBody>
      </p:sp>
      <p:sp>
        <p:nvSpPr>
          <p:cNvPr id="53" name="rd4"/>
          <p:cNvSpPr txBox="1"/>
          <p:nvPr/>
        </p:nvSpPr>
        <p:spPr>
          <a:xfrm>
            <a:off x="8878824" y="2816352"/>
            <a:ext cx="2606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6459"/>
                </a:solidFill>
                <a:latin typeface="Calibri"/>
              </a:rPr>
              <a:t>A deduction with an empty reason field</a:t>
            </a:r>
          </a:p>
        </p:txBody>
      </p:sp>
      <p:sp>
        <p:nvSpPr>
          <p:cNvPr id="54" name="r5"/>
          <p:cNvSpPr/>
          <p:nvPr/>
        </p:nvSpPr>
        <p:spPr>
          <a:xfrm>
            <a:off x="7818120" y="3310128"/>
            <a:ext cx="3813048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rl5"/>
          <p:cNvSpPr/>
          <p:nvPr/>
        </p:nvSpPr>
        <p:spPr>
          <a:xfrm>
            <a:off x="7818120" y="3438144"/>
            <a:ext cx="45720" cy="530352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rid5"/>
          <p:cNvSpPr/>
          <p:nvPr/>
        </p:nvSpPr>
        <p:spPr>
          <a:xfrm>
            <a:off x="8001000" y="343814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Calibri"/>
              </a:rPr>
              <a:t>RULE-06</a:t>
            </a:r>
          </a:p>
        </p:txBody>
      </p:sp>
      <p:sp>
        <p:nvSpPr>
          <p:cNvPr id="57" name="rt5"/>
          <p:cNvSpPr txBox="1"/>
          <p:nvPr/>
        </p:nvSpPr>
        <p:spPr>
          <a:xfrm>
            <a:off x="8878824" y="3419856"/>
            <a:ext cx="2606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Overdue balance</a:t>
            </a:r>
          </a:p>
        </p:txBody>
      </p:sp>
      <p:sp>
        <p:nvSpPr>
          <p:cNvPr id="58" name="rd5"/>
          <p:cNvSpPr txBox="1"/>
          <p:nvPr/>
        </p:nvSpPr>
        <p:spPr>
          <a:xfrm>
            <a:off x="8878824" y="3694176"/>
            <a:ext cx="2606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6459"/>
                </a:solidFill>
                <a:latin typeface="Calibri"/>
              </a:rPr>
              <a:t>Balance older than the configured limit</a:t>
            </a:r>
          </a:p>
        </p:txBody>
      </p:sp>
      <p:sp>
        <p:nvSpPr>
          <p:cNvPr id="59" name="r6"/>
          <p:cNvSpPr/>
          <p:nvPr/>
        </p:nvSpPr>
        <p:spPr>
          <a:xfrm>
            <a:off x="7818120" y="4187952"/>
            <a:ext cx="3813048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rl6"/>
          <p:cNvSpPr/>
          <p:nvPr/>
        </p:nvSpPr>
        <p:spPr>
          <a:xfrm>
            <a:off x="7818120" y="4315968"/>
            <a:ext cx="45720" cy="530352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rid6"/>
          <p:cNvSpPr/>
          <p:nvPr/>
        </p:nvSpPr>
        <p:spPr>
          <a:xfrm>
            <a:off x="8001000" y="431596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0">
                <a:solidFill>
                  <a:srgbClr val="FFFFFF"/>
                </a:solidFill>
                <a:latin typeface="Calibri"/>
              </a:rPr>
              <a:t>RULE-07</a:t>
            </a:r>
          </a:p>
        </p:txBody>
      </p:sp>
      <p:sp>
        <p:nvSpPr>
          <p:cNvPr id="62" name="rt6"/>
          <p:cNvSpPr txBox="1"/>
          <p:nvPr/>
        </p:nvSpPr>
        <p:spPr>
          <a:xfrm>
            <a:off x="8878824" y="4297680"/>
            <a:ext cx="26060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2211B"/>
                </a:solidFill>
                <a:latin typeface="Calibri"/>
              </a:rPr>
              <a:t>Benchmark comparison</a:t>
            </a:r>
          </a:p>
        </p:txBody>
      </p:sp>
      <p:sp>
        <p:nvSpPr>
          <p:cNvPr id="63" name="rd6"/>
          <p:cNvSpPr txBox="1"/>
          <p:nvPr/>
        </p:nvSpPr>
        <p:spPr>
          <a:xfrm>
            <a:off x="8878824" y="4572000"/>
            <a:ext cx="26060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6459"/>
                </a:solidFill>
                <a:latin typeface="Calibri"/>
              </a:rPr>
              <a:t>Agreed rate below a configured reference value</a:t>
            </a:r>
          </a:p>
        </p:txBody>
      </p:sp>
      <p:sp>
        <p:nvSpPr>
          <p:cNvPr id="64" name="note"/>
          <p:cNvSpPr/>
          <p:nvPr/>
        </p:nvSpPr>
        <p:spPr>
          <a:xfrm>
            <a:off x="7818120" y="5138928"/>
            <a:ext cx="3813048" cy="1097280"/>
          </a:xfrm>
          <a:prstGeom prst="roundRect">
            <a:avLst>
              <a:gd name="adj" fmla="val 8333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note/bar"/>
          <p:cNvSpPr/>
          <p:nvPr/>
        </p:nvSpPr>
        <p:spPr>
          <a:xfrm>
            <a:off x="7818120" y="5285232"/>
            <a:ext cx="54864" cy="804671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note/t"/>
          <p:cNvSpPr txBox="1"/>
          <p:nvPr/>
        </p:nvSpPr>
        <p:spPr>
          <a:xfrm>
            <a:off x="8055864" y="5248656"/>
            <a:ext cx="3410712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Calibri"/>
              </a:rPr>
              <a:t>Thresholds are configurable and are not presented as legal rules. The system flags for review; it does not judge intent.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04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480000" lon="-720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What a flag actually looks like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What a flag actually looks like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RULE-03 output from the interface: the trigger, the exact values examined, and a guidance note that assigns blame to nobody.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7619809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7569517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20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panel"/>
          <p:cNvSpPr/>
          <p:nvPr/>
        </p:nvSpPr>
        <p:spPr>
          <a:xfrm>
            <a:off x="3803904" y="2432304"/>
            <a:ext cx="4681728" cy="3584448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phead"/>
          <p:cNvSpPr/>
          <p:nvPr/>
        </p:nvSpPr>
        <p:spPr>
          <a:xfrm>
            <a:off x="3803904" y="2432304"/>
            <a:ext cx="4681728" cy="420624"/>
          </a:xfrm>
          <a:prstGeom prst="roundRect">
            <a:avLst>
              <a:gd name="adj" fmla="val 21739"/>
            </a:avLst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pid"/>
          <p:cNvSpPr/>
          <p:nvPr/>
        </p:nvSpPr>
        <p:spPr>
          <a:xfrm>
            <a:off x="4005072" y="2523744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80">
                <a:solidFill>
                  <a:srgbClr val="FFFFFF"/>
                </a:solidFill>
                <a:latin typeface="Calibri"/>
              </a:rPr>
              <a:t>RULE-03</a:t>
            </a:r>
          </a:p>
        </p:txBody>
      </p:sp>
      <p:sp>
        <p:nvSpPr>
          <p:cNvPr id="32" name="pht"/>
          <p:cNvSpPr txBox="1"/>
          <p:nvPr/>
        </p:nvSpPr>
        <p:spPr>
          <a:xfrm>
            <a:off x="4974336" y="2523744"/>
            <a:ext cx="3200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Retroactive record modification</a:t>
            </a:r>
          </a:p>
        </p:txBody>
      </p:sp>
      <p:sp>
        <p:nvSpPr>
          <p:cNvPr id="33" name="pk0"/>
          <p:cNvSpPr txBox="1"/>
          <p:nvPr/>
        </p:nvSpPr>
        <p:spPr>
          <a:xfrm>
            <a:off x="4041648" y="3017520"/>
            <a:ext cx="1298448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50">
                <a:solidFill>
                  <a:srgbClr val="7C8F85"/>
                </a:solidFill>
                <a:latin typeface="Calibri"/>
              </a:rPr>
              <a:t>TRIGGER REASON</a:t>
            </a:r>
          </a:p>
        </p:txBody>
      </p:sp>
      <p:sp>
        <p:nvSpPr>
          <p:cNvPr id="34" name="pv0"/>
          <p:cNvSpPr txBox="1"/>
          <p:nvPr/>
        </p:nvSpPr>
        <p:spPr>
          <a:xfrm>
            <a:off x="4041648" y="3236976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2211B"/>
                </a:solidFill>
                <a:latin typeface="Calibri"/>
              </a:rPr>
              <a:t>“Record modified retroactively after initial registration.”</a:t>
            </a:r>
          </a:p>
        </p:txBody>
      </p:sp>
      <p:sp>
        <p:nvSpPr>
          <p:cNvPr id="35" name="pl0"/>
          <p:cNvSpPr/>
          <p:nvPr/>
        </p:nvSpPr>
        <p:spPr>
          <a:xfrm>
            <a:off x="4041648" y="3712463"/>
            <a:ext cx="4160520" cy="1143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pk1"/>
          <p:cNvSpPr txBox="1"/>
          <p:nvPr/>
        </p:nvSpPr>
        <p:spPr>
          <a:xfrm>
            <a:off x="4041648" y="3749039"/>
            <a:ext cx="1298448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50">
                <a:solidFill>
                  <a:srgbClr val="7C8F85"/>
                </a:solidFill>
                <a:latin typeface="Calibri"/>
              </a:rPr>
              <a:t>VALUES EXAMINED</a:t>
            </a:r>
          </a:p>
        </p:txBody>
      </p:sp>
      <p:sp>
        <p:nvSpPr>
          <p:cNvPr id="37" name="pv1"/>
          <p:cNvSpPr txBox="1"/>
          <p:nvPr/>
        </p:nvSpPr>
        <p:spPr>
          <a:xfrm>
            <a:off x="4041648" y="3968496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2211B"/>
                </a:solidFill>
                <a:latin typeface="Calibri"/>
              </a:rPr>
              <a:t>Original rate ₹550  →  current rate ₹650</a:t>
            </a:r>
          </a:p>
        </p:txBody>
      </p:sp>
      <p:sp>
        <p:nvSpPr>
          <p:cNvPr id="38" name="pl1"/>
          <p:cNvSpPr/>
          <p:nvPr/>
        </p:nvSpPr>
        <p:spPr>
          <a:xfrm>
            <a:off x="4041648" y="4443983"/>
            <a:ext cx="4160520" cy="1143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pk2"/>
          <p:cNvSpPr txBox="1"/>
          <p:nvPr/>
        </p:nvSpPr>
        <p:spPr>
          <a:xfrm>
            <a:off x="4041648" y="4480560"/>
            <a:ext cx="1298448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50">
                <a:solidFill>
                  <a:srgbClr val="7C8F85"/>
                </a:solidFill>
                <a:latin typeface="Calibri"/>
              </a:rPr>
              <a:t>STATED REASON</a:t>
            </a:r>
          </a:p>
        </p:txBody>
      </p:sp>
      <p:sp>
        <p:nvSpPr>
          <p:cNvPr id="40" name="pv2"/>
          <p:cNvSpPr txBox="1"/>
          <p:nvPr/>
        </p:nvSpPr>
        <p:spPr>
          <a:xfrm>
            <a:off x="4041648" y="4700016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2211B"/>
                </a:solidFill>
                <a:latin typeface="Calibri"/>
              </a:rPr>
              <a:t>Corrected from helper rate (₹550) to skilled rate (₹650)</a:t>
            </a:r>
          </a:p>
        </p:txBody>
      </p:sp>
      <p:sp>
        <p:nvSpPr>
          <p:cNvPr id="41" name="pl2"/>
          <p:cNvSpPr/>
          <p:nvPr/>
        </p:nvSpPr>
        <p:spPr>
          <a:xfrm>
            <a:off x="4041648" y="5175504"/>
            <a:ext cx="4160520" cy="1143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pk3"/>
          <p:cNvSpPr txBox="1"/>
          <p:nvPr/>
        </p:nvSpPr>
        <p:spPr>
          <a:xfrm>
            <a:off x="4041648" y="5212080"/>
            <a:ext cx="1298448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50">
                <a:solidFill>
                  <a:srgbClr val="7C8F85"/>
                </a:solidFill>
                <a:latin typeface="Calibri"/>
              </a:rPr>
              <a:t>TAMPER FLAG</a:t>
            </a:r>
          </a:p>
        </p:txBody>
      </p:sp>
      <p:sp>
        <p:nvSpPr>
          <p:cNvPr id="43" name="pv3"/>
          <p:cNvSpPr txBox="1"/>
          <p:nvPr/>
        </p:nvSpPr>
        <p:spPr>
          <a:xfrm>
            <a:off x="4041648" y="5431536"/>
            <a:ext cx="4160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0E7A55"/>
                </a:solidFill>
                <a:latin typeface="Calibri"/>
              </a:rPr>
              <a:t>None</a:t>
            </a:r>
          </a:p>
        </p:txBody>
      </p:sp>
      <p:sp>
        <p:nvSpPr>
          <p:cNvPr id="44" name="guide"/>
          <p:cNvSpPr/>
          <p:nvPr/>
        </p:nvSpPr>
        <p:spPr>
          <a:xfrm>
            <a:off x="8705088" y="2432304"/>
            <a:ext cx="2926080" cy="1755648"/>
          </a:xfrm>
          <a:prstGeom prst="roundRect">
            <a:avLst>
              <a:gd name="adj" fmla="val 5208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gl"/>
          <p:cNvSpPr txBox="1"/>
          <p:nvPr/>
        </p:nvSpPr>
        <p:spPr>
          <a:xfrm>
            <a:off x="8906256" y="2596896"/>
            <a:ext cx="256032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 spc="180">
                <a:solidFill>
                  <a:srgbClr val="E3B04B"/>
                </a:solidFill>
                <a:latin typeface="Calibri"/>
              </a:rPr>
              <a:t>NEUTRAL GUIDANCE</a:t>
            </a:r>
          </a:p>
        </p:txBody>
      </p:sp>
      <p:sp>
        <p:nvSpPr>
          <p:cNvPr id="46" name="gt"/>
          <p:cNvSpPr txBox="1"/>
          <p:nvPr/>
        </p:nvSpPr>
        <p:spPr>
          <a:xfrm>
            <a:off x="8906256" y="2834640"/>
            <a:ext cx="2542032" cy="12435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Calibri"/>
              </a:rPr>
              <a:t>The prior value is preserved in the audit trail. Review the stated justification and the worker's acceptance state.</a:t>
            </a:r>
          </a:p>
        </p:txBody>
      </p:sp>
      <p:sp>
        <p:nvSpPr>
          <p:cNvPr id="47" name="dna"/>
          <p:cNvSpPr/>
          <p:nvPr/>
        </p:nvSpPr>
        <p:spPr>
          <a:xfrm>
            <a:off x="8705088" y="4334256"/>
            <a:ext cx="2926080" cy="1682496"/>
          </a:xfrm>
          <a:prstGeom prst="roundRect">
            <a:avLst>
              <a:gd name="adj" fmla="val 5434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dl"/>
          <p:cNvSpPr txBox="1"/>
          <p:nvPr/>
        </p:nvSpPr>
        <p:spPr>
          <a:xfrm>
            <a:off x="8906256" y="4498848"/>
            <a:ext cx="256032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60">
                <a:solidFill>
                  <a:srgbClr val="0E7A55"/>
                </a:solidFill>
                <a:latin typeface="Calibri"/>
              </a:rPr>
              <a:t>DETERMINISTIC BY DESIGN</a:t>
            </a:r>
          </a:p>
        </p:txBody>
      </p:sp>
      <p:sp>
        <p:nvSpPr>
          <p:cNvPr id="49" name="dt"/>
          <p:cNvSpPr txBox="1"/>
          <p:nvPr/>
        </p:nvSpPr>
        <p:spPr>
          <a:xfrm>
            <a:off x="8906256" y="4736592"/>
            <a:ext cx="2542032" cy="11704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E6459"/>
                </a:solidFill>
                <a:latin typeface="Calibri"/>
              </a:rPr>
              <a:t>No model, no score, no probability. The same inputs always produce the same finding and the same printed values.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04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88000" lon="-528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QR identifies — it does not secure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QR identifies — it does not secure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The pass carries an opaque reference. Everything that decides access happens somewhere else.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8000799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7950507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21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q0"/>
          <p:cNvSpPr/>
          <p:nvPr/>
        </p:nvSpPr>
        <p:spPr>
          <a:xfrm>
            <a:off x="3803904" y="2432304"/>
            <a:ext cx="4901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qb0"/>
          <p:cNvSpPr/>
          <p:nvPr/>
        </p:nvSpPr>
        <p:spPr>
          <a:xfrm>
            <a:off x="3803904" y="2432304"/>
            <a:ext cx="54864" cy="1097280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qt0"/>
          <p:cNvSpPr txBox="1"/>
          <p:nvPr/>
        </p:nvSpPr>
        <p:spPr>
          <a:xfrm>
            <a:off x="4041648" y="2560320"/>
            <a:ext cx="219456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spc="40">
                <a:solidFill>
                  <a:srgbClr val="16A574"/>
                </a:solidFill>
                <a:latin typeface="Calibri"/>
              </a:rPr>
              <a:t>Identification</a:t>
            </a:r>
          </a:p>
        </p:txBody>
      </p:sp>
      <p:sp>
        <p:nvSpPr>
          <p:cNvPr id="32" name="qq0"/>
          <p:cNvSpPr txBox="1"/>
          <p:nvPr/>
        </p:nvSpPr>
        <p:spPr>
          <a:xfrm>
            <a:off x="4041648" y="2816352"/>
            <a:ext cx="44805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Which worker record does this code refer to?</a:t>
            </a:r>
          </a:p>
        </p:txBody>
      </p:sp>
      <p:sp>
        <p:nvSpPr>
          <p:cNvPr id="33" name="qa0"/>
          <p:cNvSpPr txBox="1"/>
          <p:nvPr/>
        </p:nvSpPr>
        <p:spPr>
          <a:xfrm>
            <a:off x="4041648" y="3072384"/>
            <a:ext cx="44805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The QR answers this, and nothing else.</a:t>
            </a:r>
          </a:p>
        </p:txBody>
      </p:sp>
      <p:sp>
        <p:nvSpPr>
          <p:cNvPr id="34" name="q1"/>
          <p:cNvSpPr/>
          <p:nvPr/>
        </p:nvSpPr>
        <p:spPr>
          <a:xfrm>
            <a:off x="3803904" y="3675888"/>
            <a:ext cx="4901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qb1"/>
          <p:cNvSpPr/>
          <p:nvPr/>
        </p:nvSpPr>
        <p:spPr>
          <a:xfrm>
            <a:off x="3803904" y="3675888"/>
            <a:ext cx="54864" cy="109728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qt1"/>
          <p:cNvSpPr txBox="1"/>
          <p:nvPr/>
        </p:nvSpPr>
        <p:spPr>
          <a:xfrm>
            <a:off x="4041648" y="3803904"/>
            <a:ext cx="219456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spc="40">
                <a:solidFill>
                  <a:srgbClr val="E3B04B"/>
                </a:solidFill>
                <a:latin typeface="Calibri"/>
              </a:rPr>
              <a:t>Authentication</a:t>
            </a:r>
          </a:p>
        </p:txBody>
      </p:sp>
      <p:sp>
        <p:nvSpPr>
          <p:cNvPr id="37" name="qq1"/>
          <p:cNvSpPr txBox="1"/>
          <p:nvPr/>
        </p:nvSpPr>
        <p:spPr>
          <a:xfrm>
            <a:off x="4041648" y="4059936"/>
            <a:ext cx="44805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Is the person acting really that worker?</a:t>
            </a:r>
          </a:p>
        </p:txBody>
      </p:sp>
      <p:sp>
        <p:nvSpPr>
          <p:cNvPr id="38" name="qa1"/>
          <p:cNvSpPr txBox="1"/>
          <p:nvPr/>
        </p:nvSpPr>
        <p:spPr>
          <a:xfrm>
            <a:off x="4041648" y="4315968"/>
            <a:ext cx="44805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Not answered by a scan. Needs an account and a credential.</a:t>
            </a:r>
          </a:p>
        </p:txBody>
      </p:sp>
      <p:sp>
        <p:nvSpPr>
          <p:cNvPr id="39" name="q2"/>
          <p:cNvSpPr/>
          <p:nvPr/>
        </p:nvSpPr>
        <p:spPr>
          <a:xfrm>
            <a:off x="3803904" y="4919472"/>
            <a:ext cx="49011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qb2"/>
          <p:cNvSpPr/>
          <p:nvPr/>
        </p:nvSpPr>
        <p:spPr>
          <a:xfrm>
            <a:off x="3803904" y="4919472"/>
            <a:ext cx="54864" cy="1097280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qt2"/>
          <p:cNvSpPr txBox="1"/>
          <p:nvPr/>
        </p:nvSpPr>
        <p:spPr>
          <a:xfrm>
            <a:off x="4041648" y="5047488"/>
            <a:ext cx="219456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spc="40">
                <a:solidFill>
                  <a:srgbClr val="C2542D"/>
                </a:solidFill>
                <a:latin typeface="Calibri"/>
              </a:rPr>
              <a:t>Authorization</a:t>
            </a:r>
          </a:p>
        </p:txBody>
      </p:sp>
      <p:sp>
        <p:nvSpPr>
          <p:cNvPr id="42" name="qq2"/>
          <p:cNvSpPr txBox="1"/>
          <p:nvPr/>
        </p:nvSpPr>
        <p:spPr>
          <a:xfrm>
            <a:off x="4041648" y="5303520"/>
            <a:ext cx="44805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What is this person allowed to do?</a:t>
            </a:r>
          </a:p>
        </p:txBody>
      </p:sp>
      <p:sp>
        <p:nvSpPr>
          <p:cNvPr id="43" name="qa2"/>
          <p:cNvSpPr txBox="1"/>
          <p:nvPr/>
        </p:nvSpPr>
        <p:spPr>
          <a:xfrm>
            <a:off x="4041648" y="5559552"/>
            <a:ext cx="44805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E6459"/>
                </a:solidFill>
                <a:latin typeface="Calibri"/>
              </a:rPr>
              <a:t>Row-level rules, not the printed code.</a:t>
            </a:r>
          </a:p>
        </p:txBody>
      </p:sp>
      <p:sp>
        <p:nvSpPr>
          <p:cNvPr id="44" name="qrbox"/>
          <p:cNvSpPr/>
          <p:nvPr/>
        </p:nvSpPr>
        <p:spPr>
          <a:xfrm>
            <a:off x="9015984" y="2432304"/>
            <a:ext cx="2615184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5240">
            <a:solidFill>
              <a:srgbClr val="B9812C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5" name="qr" descr="ss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2633472"/>
            <a:ext cx="2212848" cy="2212848"/>
          </a:xfrm>
          <a:prstGeom prst="rect">
            <a:avLst/>
          </a:prstGeom>
          <a:ln>
            <a:noFill/>
          </a:ln>
        </p:spPr>
      </p:pic>
      <p:sp>
        <p:nvSpPr>
          <p:cNvPr id="46" name="qrcap"/>
          <p:cNvSpPr txBox="1"/>
          <p:nvPr/>
        </p:nvSpPr>
        <p:spPr>
          <a:xfrm>
            <a:off x="9015984" y="5120640"/>
            <a:ext cx="2615184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alibri"/>
              </a:rPr>
              <a:t>Public verification page — opens with the token, shows no private wage data.</a:t>
            </a:r>
          </a:p>
        </p:txBody>
      </p:sp>
      <p:sp>
        <p:nvSpPr>
          <p:cNvPr id="47" name="risk"/>
          <p:cNvSpPr/>
          <p:nvPr/>
        </p:nvSpPr>
        <p:spPr>
          <a:xfrm>
            <a:off x="3803904" y="5742432"/>
            <a:ext cx="4901184" cy="585216"/>
          </a:xfrm>
          <a:prstGeom prst="roundRect">
            <a:avLst>
              <a:gd name="adj" fmla="val 15625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isk/bar"/>
          <p:cNvSpPr/>
          <p:nvPr/>
        </p:nvSpPr>
        <p:spPr>
          <a:xfrm>
            <a:off x="3803904" y="5888736"/>
            <a:ext cx="54864" cy="292608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risk/t"/>
          <p:cNvSpPr txBox="1"/>
          <p:nvPr/>
        </p:nvSpPr>
        <p:spPr>
          <a:xfrm>
            <a:off x="4041648" y="5852160"/>
            <a:ext cx="449884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Calibri"/>
              </a:rPr>
              <a:t>A static QR can be photographed and reprinted. It is a reference, not a credential.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04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102000" lon="-396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Approval across devices (planned)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Approval across devices (planned)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The intended flow needs a shared backend before it can work between two phones. In the demo it is simulated locally and labelled as such.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8381790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8331498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22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wf0"/>
          <p:cNvSpPr/>
          <p:nvPr/>
        </p:nvSpPr>
        <p:spPr>
          <a:xfrm>
            <a:off x="3803904" y="243230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wn0"/>
          <p:cNvSpPr/>
          <p:nvPr/>
        </p:nvSpPr>
        <p:spPr>
          <a:xfrm>
            <a:off x="3950208" y="2560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wt0"/>
          <p:cNvSpPr txBox="1"/>
          <p:nvPr/>
        </p:nvSpPr>
        <p:spPr>
          <a:xfrm>
            <a:off x="3950208" y="2889504"/>
            <a:ext cx="149961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2211B"/>
                </a:solidFill>
                <a:latin typeface="Calibri"/>
              </a:rPr>
              <a:t>Contractor scans the worker's reusable QR</a:t>
            </a:r>
          </a:p>
        </p:txBody>
      </p:sp>
      <p:sp>
        <p:nvSpPr>
          <p:cNvPr id="32" name="wa0/s"/>
          <p:cNvSpPr/>
          <p:nvPr/>
        </p:nvSpPr>
        <p:spPr>
          <a:xfrm>
            <a:off x="5605272" y="2878531"/>
            <a:ext cx="10058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wa0/t"/>
          <p:cNvSpPr/>
          <p:nvPr/>
        </p:nvSpPr>
        <p:spPr>
          <a:xfrm rot="5400000">
            <a:off x="5696712" y="2816352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wf1"/>
          <p:cNvSpPr/>
          <p:nvPr/>
        </p:nvSpPr>
        <p:spPr>
          <a:xfrm>
            <a:off x="5815584" y="243230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wn1"/>
          <p:cNvSpPr/>
          <p:nvPr/>
        </p:nvSpPr>
        <p:spPr>
          <a:xfrm>
            <a:off x="5961888" y="2560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wt1"/>
          <p:cNvSpPr txBox="1"/>
          <p:nvPr/>
        </p:nvSpPr>
        <p:spPr>
          <a:xfrm>
            <a:off x="5961888" y="2889504"/>
            <a:ext cx="149961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2211B"/>
                </a:solidFill>
                <a:latin typeface="Calibri"/>
              </a:rPr>
              <a:t>Site resolves the worker reference</a:t>
            </a:r>
          </a:p>
        </p:txBody>
      </p:sp>
      <p:sp>
        <p:nvSpPr>
          <p:cNvPr id="37" name="wa1/s"/>
          <p:cNvSpPr/>
          <p:nvPr/>
        </p:nvSpPr>
        <p:spPr>
          <a:xfrm>
            <a:off x="7616952" y="2878531"/>
            <a:ext cx="10058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wa1/t"/>
          <p:cNvSpPr/>
          <p:nvPr/>
        </p:nvSpPr>
        <p:spPr>
          <a:xfrm rot="5400000">
            <a:off x="7708392" y="2816352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wf2"/>
          <p:cNvSpPr/>
          <p:nvPr/>
        </p:nvSpPr>
        <p:spPr>
          <a:xfrm>
            <a:off x="7827264" y="243230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wn2"/>
          <p:cNvSpPr/>
          <p:nvPr/>
        </p:nvSpPr>
        <p:spPr>
          <a:xfrm>
            <a:off x="7973568" y="2560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wt2"/>
          <p:cNvSpPr txBox="1"/>
          <p:nvPr/>
        </p:nvSpPr>
        <p:spPr>
          <a:xfrm>
            <a:off x="7973568" y="2889504"/>
            <a:ext cx="149961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2211B"/>
                </a:solidFill>
                <a:latin typeface="Calibri"/>
              </a:rPr>
              <a:t>Backend creates a pending request</a:t>
            </a:r>
          </a:p>
        </p:txBody>
      </p:sp>
      <p:sp>
        <p:nvSpPr>
          <p:cNvPr id="42" name="wa2/s"/>
          <p:cNvSpPr/>
          <p:nvPr/>
        </p:nvSpPr>
        <p:spPr>
          <a:xfrm>
            <a:off x="9628632" y="2878531"/>
            <a:ext cx="10058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wa2/t"/>
          <p:cNvSpPr/>
          <p:nvPr/>
        </p:nvSpPr>
        <p:spPr>
          <a:xfrm rot="5400000">
            <a:off x="9720072" y="2816352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wf3"/>
          <p:cNvSpPr/>
          <p:nvPr/>
        </p:nvSpPr>
        <p:spPr>
          <a:xfrm>
            <a:off x="9838944" y="243230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wn3"/>
          <p:cNvSpPr/>
          <p:nvPr/>
        </p:nvSpPr>
        <p:spPr>
          <a:xfrm>
            <a:off x="9985248" y="2560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wt3"/>
          <p:cNvSpPr txBox="1"/>
          <p:nvPr/>
        </p:nvSpPr>
        <p:spPr>
          <a:xfrm>
            <a:off x="9985248" y="2889504"/>
            <a:ext cx="149961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2211B"/>
                </a:solidFill>
                <a:latin typeface="Calibri"/>
              </a:rPr>
              <a:t>Worker signs in on their own device</a:t>
            </a:r>
          </a:p>
        </p:txBody>
      </p:sp>
      <p:sp>
        <p:nvSpPr>
          <p:cNvPr id="47" name="wf4"/>
          <p:cNvSpPr/>
          <p:nvPr/>
        </p:nvSpPr>
        <p:spPr>
          <a:xfrm>
            <a:off x="3803904" y="362102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wn4"/>
          <p:cNvSpPr/>
          <p:nvPr/>
        </p:nvSpPr>
        <p:spPr>
          <a:xfrm>
            <a:off x="3950208" y="3749039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wt4"/>
          <p:cNvSpPr txBox="1"/>
          <p:nvPr/>
        </p:nvSpPr>
        <p:spPr>
          <a:xfrm>
            <a:off x="3950208" y="4078224"/>
            <a:ext cx="149961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2211B"/>
                </a:solidFill>
                <a:latin typeface="Calibri"/>
              </a:rPr>
              <a:t>Worker approves or rejects</a:t>
            </a:r>
          </a:p>
        </p:txBody>
      </p:sp>
      <p:sp>
        <p:nvSpPr>
          <p:cNvPr id="50" name="wa4/s"/>
          <p:cNvSpPr/>
          <p:nvPr/>
        </p:nvSpPr>
        <p:spPr>
          <a:xfrm>
            <a:off x="5605272" y="4067251"/>
            <a:ext cx="10058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wa4/t"/>
          <p:cNvSpPr/>
          <p:nvPr/>
        </p:nvSpPr>
        <p:spPr>
          <a:xfrm rot="5400000">
            <a:off x="5696712" y="4005072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wf5"/>
          <p:cNvSpPr/>
          <p:nvPr/>
        </p:nvSpPr>
        <p:spPr>
          <a:xfrm>
            <a:off x="5815584" y="362102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wn5"/>
          <p:cNvSpPr/>
          <p:nvPr/>
        </p:nvSpPr>
        <p:spPr>
          <a:xfrm>
            <a:off x="5961888" y="3749039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wt5"/>
          <p:cNvSpPr txBox="1"/>
          <p:nvPr/>
        </p:nvSpPr>
        <p:spPr>
          <a:xfrm>
            <a:off x="5961888" y="4078224"/>
            <a:ext cx="149961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2211B"/>
                </a:solidFill>
                <a:latin typeface="Calibri"/>
              </a:rPr>
              <a:t>Outcome recorded with full history</a:t>
            </a:r>
          </a:p>
        </p:txBody>
      </p:sp>
      <p:sp>
        <p:nvSpPr>
          <p:cNvPr id="55" name="wa5/s"/>
          <p:cNvSpPr/>
          <p:nvPr/>
        </p:nvSpPr>
        <p:spPr>
          <a:xfrm>
            <a:off x="7616952" y="4067251"/>
            <a:ext cx="100584" cy="21945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wa5/t"/>
          <p:cNvSpPr/>
          <p:nvPr/>
        </p:nvSpPr>
        <p:spPr>
          <a:xfrm rot="5400000">
            <a:off x="7708392" y="4005072"/>
            <a:ext cx="91440" cy="146304"/>
          </a:xfrm>
          <a:prstGeom prst="triangle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wf6"/>
          <p:cNvSpPr/>
          <p:nvPr/>
        </p:nvSpPr>
        <p:spPr>
          <a:xfrm>
            <a:off x="7827264" y="362102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wn6"/>
          <p:cNvSpPr/>
          <p:nvPr/>
        </p:nvSpPr>
        <p:spPr>
          <a:xfrm>
            <a:off x="7973568" y="3749039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9" name="wt6"/>
          <p:cNvSpPr txBox="1"/>
          <p:nvPr/>
        </p:nvSpPr>
        <p:spPr>
          <a:xfrm>
            <a:off x="7973568" y="4078224"/>
            <a:ext cx="1499616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2211B"/>
                </a:solidFill>
                <a:latin typeface="Calibri"/>
              </a:rPr>
              <a:t>Contractor sees the status after sync</a:t>
            </a:r>
          </a:p>
        </p:txBody>
      </p:sp>
      <p:sp>
        <p:nvSpPr>
          <p:cNvPr id="60" name="why"/>
          <p:cNvSpPr/>
          <p:nvPr/>
        </p:nvSpPr>
        <p:spPr>
          <a:xfrm>
            <a:off x="9838944" y="3621024"/>
            <a:ext cx="1783080" cy="969264"/>
          </a:xfrm>
          <a:prstGeom prst="roundRect">
            <a:avLst>
              <a:gd name="adj" fmla="val 8490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whyl"/>
          <p:cNvSpPr txBox="1"/>
          <p:nvPr/>
        </p:nvSpPr>
        <p:spPr>
          <a:xfrm>
            <a:off x="9985248" y="3712463"/>
            <a:ext cx="1517904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spc="120">
                <a:solidFill>
                  <a:srgbClr val="B9812C"/>
                </a:solidFill>
                <a:latin typeface="Calibri"/>
              </a:rPr>
              <a:t>WHY IT CANNOT WORK YET</a:t>
            </a:r>
          </a:p>
        </p:txBody>
      </p:sp>
      <p:sp>
        <p:nvSpPr>
          <p:cNvPr id="62" name="whyt"/>
          <p:cNvSpPr txBox="1"/>
          <p:nvPr/>
        </p:nvSpPr>
        <p:spPr>
          <a:xfrm>
            <a:off x="9985248" y="3931920"/>
            <a:ext cx="1499616" cy="58521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4E6459"/>
                </a:solidFill>
                <a:latin typeface="Calibri"/>
              </a:rPr>
              <a:t>IndexedDB lives in one browser. Another device cannot read it.</a:t>
            </a:r>
          </a:p>
        </p:txBody>
      </p:sp>
      <p:sp>
        <p:nvSpPr>
          <p:cNvPr id="63" name="disc"/>
          <p:cNvSpPr/>
          <p:nvPr/>
        </p:nvSpPr>
        <p:spPr>
          <a:xfrm>
            <a:off x="3803904" y="4828032"/>
            <a:ext cx="7827264" cy="877824"/>
          </a:xfrm>
          <a:prstGeom prst="roundRect">
            <a:avLst>
              <a:gd name="adj" fmla="val 10416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disc/bar"/>
          <p:cNvSpPr/>
          <p:nvPr/>
        </p:nvSpPr>
        <p:spPr>
          <a:xfrm>
            <a:off x="3803904" y="4974336"/>
            <a:ext cx="54864" cy="585215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disc/t"/>
          <p:cNvSpPr txBox="1"/>
          <p:nvPr/>
        </p:nvSpPr>
        <p:spPr>
          <a:xfrm>
            <a:off x="4041648" y="4937760"/>
            <a:ext cx="7424928" cy="6583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Demo disclaimer shown in the UI: “In Local Demo Mode this approval request is simulated locally via IndexedDB. Multi-device sync will be enabled with Supabase deployment.”</a:t>
            </a:r>
          </a:p>
        </p:txBody>
      </p:sp>
      <p:sp>
        <p:nvSpPr>
          <p:cNvPr id="66" name="tail"/>
          <p:cNvSpPr txBox="1"/>
          <p:nvPr/>
        </p:nvSpPr>
        <p:spPr>
          <a:xfrm>
            <a:off x="3803904" y="5907024"/>
            <a:ext cx="7827264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C8F85"/>
                </a:solidFill>
                <a:latin typeface="Calibri"/>
              </a:rPr>
              <a:t>What a real deployment needs: an authenticated account per worker, a pending-request table, and row-level security so a request is visible only to its owner.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04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72000" lon="-360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Offline-first, honestly bounded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Offline-first, honestly bounded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IndexedDB really does work without a network — and really does not follow the worker to another phone.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8762780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8712488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23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now"/>
          <p:cNvSpPr/>
          <p:nvPr/>
        </p:nvSpPr>
        <p:spPr>
          <a:xfrm>
            <a:off x="3803904" y="2432304"/>
            <a:ext cx="3813048" cy="3127248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nowb"/>
          <p:cNvSpPr/>
          <p:nvPr/>
        </p:nvSpPr>
        <p:spPr>
          <a:xfrm>
            <a:off x="3803904" y="2432304"/>
            <a:ext cx="3813048" cy="54864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nowt"/>
          <p:cNvSpPr txBox="1"/>
          <p:nvPr/>
        </p:nvSpPr>
        <p:spPr>
          <a:xfrm>
            <a:off x="4041648" y="2615184"/>
            <a:ext cx="32918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11B"/>
                </a:solidFill>
                <a:latin typeface="Calibri"/>
              </a:rPr>
              <a:t>Works today</a:t>
            </a:r>
          </a:p>
        </p:txBody>
      </p:sp>
      <p:sp>
        <p:nvSpPr>
          <p:cNvPr id="32" name="nd0"/>
          <p:cNvSpPr/>
          <p:nvPr/>
        </p:nvSpPr>
        <p:spPr>
          <a:xfrm>
            <a:off x="4059936" y="3035808"/>
            <a:ext cx="91440" cy="91440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nt0"/>
          <p:cNvSpPr txBox="1"/>
          <p:nvPr/>
        </p:nvSpPr>
        <p:spPr>
          <a:xfrm>
            <a:off x="4261104" y="2980944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6459"/>
                </a:solidFill>
                <a:latin typeface="Calibri"/>
              </a:rPr>
              <a:t>Records survive a refresh and a closed tab</a:t>
            </a:r>
          </a:p>
        </p:txBody>
      </p:sp>
      <p:sp>
        <p:nvSpPr>
          <p:cNvPr id="34" name="nd1"/>
          <p:cNvSpPr/>
          <p:nvPr/>
        </p:nvSpPr>
        <p:spPr>
          <a:xfrm>
            <a:off x="4059936" y="3639312"/>
            <a:ext cx="91440" cy="91440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nt1"/>
          <p:cNvSpPr txBox="1"/>
          <p:nvPr/>
        </p:nvSpPr>
        <p:spPr>
          <a:xfrm>
            <a:off x="4261104" y="3584448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6459"/>
                </a:solidFill>
                <a:latin typeface="Calibri"/>
              </a:rPr>
              <a:t>Structured object stores, larger than localStorage</a:t>
            </a:r>
          </a:p>
        </p:txBody>
      </p:sp>
      <p:sp>
        <p:nvSpPr>
          <p:cNvPr id="36" name="nd2"/>
          <p:cNvSpPr/>
          <p:nvPr/>
        </p:nvSpPr>
        <p:spPr>
          <a:xfrm>
            <a:off x="4059936" y="4242816"/>
            <a:ext cx="91440" cy="91440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nt2"/>
          <p:cNvSpPr txBox="1"/>
          <p:nvPr/>
        </p:nvSpPr>
        <p:spPr>
          <a:xfrm>
            <a:off x="4261104" y="4187952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6459"/>
                </a:solidFill>
                <a:latin typeface="Calibri"/>
              </a:rPr>
              <a:t>In-memory fallback for tests and fresh browsers</a:t>
            </a:r>
          </a:p>
        </p:txBody>
      </p:sp>
      <p:sp>
        <p:nvSpPr>
          <p:cNvPr id="38" name="nd3"/>
          <p:cNvSpPr/>
          <p:nvPr/>
        </p:nvSpPr>
        <p:spPr>
          <a:xfrm>
            <a:off x="4059936" y="4846320"/>
            <a:ext cx="91440" cy="91440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nt3"/>
          <p:cNvSpPr txBox="1"/>
          <p:nvPr/>
        </p:nvSpPr>
        <p:spPr>
          <a:xfrm>
            <a:off x="4261104" y="4791456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6459"/>
                </a:solidFill>
                <a:latin typeface="Calibri"/>
              </a:rPr>
              <a:t>Restores the baseline demo state in one call</a:t>
            </a:r>
          </a:p>
        </p:txBody>
      </p:sp>
      <p:sp>
        <p:nvSpPr>
          <p:cNvPr id="40" name="plan"/>
          <p:cNvSpPr/>
          <p:nvPr/>
        </p:nvSpPr>
        <p:spPr>
          <a:xfrm>
            <a:off x="7818120" y="2432304"/>
            <a:ext cx="3813048" cy="3127248"/>
          </a:xfrm>
          <a:prstGeom prst="roundRect">
            <a:avLst>
              <a:gd name="adj" fmla="val 3216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plb"/>
          <p:cNvSpPr/>
          <p:nvPr/>
        </p:nvSpPr>
        <p:spPr>
          <a:xfrm>
            <a:off x="7818120" y="2432304"/>
            <a:ext cx="3813048" cy="54864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plt"/>
          <p:cNvSpPr txBox="1"/>
          <p:nvPr/>
        </p:nvSpPr>
        <p:spPr>
          <a:xfrm>
            <a:off x="8055864" y="2615184"/>
            <a:ext cx="329184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Planned, not built</a:t>
            </a:r>
          </a:p>
        </p:txBody>
      </p:sp>
      <p:sp>
        <p:nvSpPr>
          <p:cNvPr id="43" name="pd0"/>
          <p:cNvSpPr/>
          <p:nvPr/>
        </p:nvSpPr>
        <p:spPr>
          <a:xfrm>
            <a:off x="8074152" y="3035808"/>
            <a:ext cx="91440" cy="91440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pt0"/>
          <p:cNvSpPr txBox="1"/>
          <p:nvPr/>
        </p:nvSpPr>
        <p:spPr>
          <a:xfrm>
            <a:off x="8275320" y="2980944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C7A6"/>
                </a:solidFill>
                <a:latin typeface="Calibri"/>
              </a:rPr>
              <a:t>PWA service worker so the site loads offline</a:t>
            </a:r>
          </a:p>
        </p:txBody>
      </p:sp>
      <p:sp>
        <p:nvSpPr>
          <p:cNvPr id="45" name="pd1"/>
          <p:cNvSpPr/>
          <p:nvPr/>
        </p:nvSpPr>
        <p:spPr>
          <a:xfrm>
            <a:off x="8074152" y="3639312"/>
            <a:ext cx="91440" cy="91440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pt1"/>
          <p:cNvSpPr txBox="1"/>
          <p:nvPr/>
        </p:nvSpPr>
        <p:spPr>
          <a:xfrm>
            <a:off x="8275320" y="3584448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C7A6"/>
                </a:solidFill>
                <a:latin typeface="Calibri"/>
              </a:rPr>
              <a:t>Sync queue of pending operations</a:t>
            </a:r>
          </a:p>
        </p:txBody>
      </p:sp>
      <p:sp>
        <p:nvSpPr>
          <p:cNvPr id="47" name="pd2"/>
          <p:cNvSpPr/>
          <p:nvPr/>
        </p:nvSpPr>
        <p:spPr>
          <a:xfrm>
            <a:off x="8074152" y="4242816"/>
            <a:ext cx="91440" cy="91440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pt2"/>
          <p:cNvSpPr txBox="1"/>
          <p:nvPr/>
        </p:nvSpPr>
        <p:spPr>
          <a:xfrm>
            <a:off x="8275320" y="4187952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C7A6"/>
                </a:solidFill>
                <a:latin typeface="Calibri"/>
              </a:rPr>
              <a:t>Duplicate-submission detection</a:t>
            </a:r>
          </a:p>
        </p:txBody>
      </p:sp>
      <p:sp>
        <p:nvSpPr>
          <p:cNvPr id="49" name="pd3"/>
          <p:cNvSpPr/>
          <p:nvPr/>
        </p:nvSpPr>
        <p:spPr>
          <a:xfrm>
            <a:off x="8074152" y="4846320"/>
            <a:ext cx="91440" cy="91440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pt3"/>
          <p:cNvSpPr txBox="1"/>
          <p:nvPr/>
        </p:nvSpPr>
        <p:spPr>
          <a:xfrm>
            <a:off x="8275320" y="4791456"/>
            <a:ext cx="31546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C7A6"/>
                </a:solidFill>
                <a:latin typeface="Calibri"/>
              </a:rPr>
              <a:t>Conflicts preserved, never silently overwritten</a:t>
            </a:r>
          </a:p>
        </p:txBody>
      </p:sp>
      <p:sp>
        <p:nvSpPr>
          <p:cNvPr id="51" name="cav"/>
          <p:cNvSpPr/>
          <p:nvPr/>
        </p:nvSpPr>
        <p:spPr>
          <a:xfrm>
            <a:off x="3803904" y="5705856"/>
            <a:ext cx="7827264" cy="603504"/>
          </a:xfrm>
          <a:prstGeom prst="roundRect">
            <a:avLst>
              <a:gd name="adj" fmla="val 15151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cav/bar"/>
          <p:cNvSpPr/>
          <p:nvPr/>
        </p:nvSpPr>
        <p:spPr>
          <a:xfrm>
            <a:off x="3803904" y="5852160"/>
            <a:ext cx="54864" cy="31089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cav/t"/>
          <p:cNvSpPr txBox="1"/>
          <p:nvPr/>
        </p:nvSpPr>
        <p:spPr>
          <a:xfrm>
            <a:off x="4041648" y="5815584"/>
            <a:ext cx="7424928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FFFFFF"/>
                </a:solidFill>
                <a:latin typeface="Calibri"/>
              </a:rPr>
              <a:t>Storage can be cleared by the user or the browser, and anyone who controls the device can read it. Local demo mode is a demonstration, not a deployment.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04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Integrity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10000" lon="-432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Privacy and governance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Privacy and governance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Collect less, separate public references from private wages, and never let a correction quietly disappear.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9143771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9093479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24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pv0"/>
          <p:cNvSpPr/>
          <p:nvPr/>
        </p:nvSpPr>
        <p:spPr>
          <a:xfrm>
            <a:off x="3803904" y="2432304"/>
            <a:ext cx="3822192" cy="1152144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pvb0"/>
          <p:cNvSpPr/>
          <p:nvPr/>
        </p:nvSpPr>
        <p:spPr>
          <a:xfrm>
            <a:off x="3803904" y="2432304"/>
            <a:ext cx="54864" cy="1152144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pvt0"/>
          <p:cNvSpPr txBox="1"/>
          <p:nvPr/>
        </p:nvSpPr>
        <p:spPr>
          <a:xfrm>
            <a:off x="4059936" y="2578608"/>
            <a:ext cx="3364992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2211B"/>
                </a:solidFill>
                <a:latin typeface="Calibri"/>
              </a:rPr>
              <a:t>Data minimisation</a:t>
            </a:r>
          </a:p>
        </p:txBody>
      </p:sp>
      <p:sp>
        <p:nvSpPr>
          <p:cNvPr id="32" name="pvd0"/>
          <p:cNvSpPr txBox="1"/>
          <p:nvPr/>
        </p:nvSpPr>
        <p:spPr>
          <a:xfrm>
            <a:off x="4059936" y="2852928"/>
            <a:ext cx="3346704" cy="6035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Only what a wage record needs. The demo uses synthetic names and identifiers throughout.</a:t>
            </a:r>
          </a:p>
        </p:txBody>
      </p:sp>
      <p:sp>
        <p:nvSpPr>
          <p:cNvPr id="33" name="pv1"/>
          <p:cNvSpPr/>
          <p:nvPr/>
        </p:nvSpPr>
        <p:spPr>
          <a:xfrm>
            <a:off x="7808976" y="2432304"/>
            <a:ext cx="3822192" cy="1152144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pvb1"/>
          <p:cNvSpPr/>
          <p:nvPr/>
        </p:nvSpPr>
        <p:spPr>
          <a:xfrm>
            <a:off x="7808976" y="2432304"/>
            <a:ext cx="54864" cy="1152144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pvt1"/>
          <p:cNvSpPr txBox="1"/>
          <p:nvPr/>
        </p:nvSpPr>
        <p:spPr>
          <a:xfrm>
            <a:off x="8065008" y="2578608"/>
            <a:ext cx="3364992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2211B"/>
                </a:solidFill>
                <a:latin typeface="Calibri"/>
              </a:rPr>
              <a:t>Opaque references</a:t>
            </a:r>
          </a:p>
        </p:txBody>
      </p:sp>
      <p:sp>
        <p:nvSpPr>
          <p:cNvPr id="36" name="pvd1"/>
          <p:cNvSpPr txBox="1"/>
          <p:nvPr/>
        </p:nvSpPr>
        <p:spPr>
          <a:xfrm>
            <a:off x="8065008" y="2852928"/>
            <a:ext cx="3346704" cy="6035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A QR token does not print a name, a rate or a wage history.</a:t>
            </a:r>
          </a:p>
        </p:txBody>
      </p:sp>
      <p:sp>
        <p:nvSpPr>
          <p:cNvPr id="37" name="pv2"/>
          <p:cNvSpPr/>
          <p:nvPr/>
        </p:nvSpPr>
        <p:spPr>
          <a:xfrm>
            <a:off x="3803904" y="3730752"/>
            <a:ext cx="3822192" cy="1152144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pvb2"/>
          <p:cNvSpPr/>
          <p:nvPr/>
        </p:nvSpPr>
        <p:spPr>
          <a:xfrm>
            <a:off x="3803904" y="3730752"/>
            <a:ext cx="54864" cy="1152144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pvt2"/>
          <p:cNvSpPr txBox="1"/>
          <p:nvPr/>
        </p:nvSpPr>
        <p:spPr>
          <a:xfrm>
            <a:off x="4059936" y="3877056"/>
            <a:ext cx="3364992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2211B"/>
                </a:solidFill>
                <a:latin typeface="Calibri"/>
              </a:rPr>
              <a:t>Intact history</a:t>
            </a:r>
          </a:p>
        </p:txBody>
      </p:sp>
      <p:sp>
        <p:nvSpPr>
          <p:cNvPr id="40" name="pvd2"/>
          <p:cNvSpPr txBox="1"/>
          <p:nvPr/>
        </p:nvSpPr>
        <p:spPr>
          <a:xfrm>
            <a:off x="4059936" y="4151376"/>
            <a:ext cx="3346704" cy="6035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Export, import and correction must preserve the prior value, not replace it.</a:t>
            </a:r>
          </a:p>
        </p:txBody>
      </p:sp>
      <p:sp>
        <p:nvSpPr>
          <p:cNvPr id="41" name="pv3"/>
          <p:cNvSpPr/>
          <p:nvPr/>
        </p:nvSpPr>
        <p:spPr>
          <a:xfrm>
            <a:off x="7808976" y="3730752"/>
            <a:ext cx="3822192" cy="1152144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pvb3"/>
          <p:cNvSpPr/>
          <p:nvPr/>
        </p:nvSpPr>
        <p:spPr>
          <a:xfrm>
            <a:off x="7808976" y="3730752"/>
            <a:ext cx="54864" cy="1152144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pvt3"/>
          <p:cNvSpPr txBox="1"/>
          <p:nvPr/>
        </p:nvSpPr>
        <p:spPr>
          <a:xfrm>
            <a:off x="8065008" y="3877056"/>
            <a:ext cx="3364992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2211B"/>
                </a:solidFill>
                <a:latin typeface="Calibri"/>
              </a:rPr>
              <a:t>Access, not luck</a:t>
            </a:r>
          </a:p>
        </p:txBody>
      </p:sp>
      <p:sp>
        <p:nvSpPr>
          <p:cNvPr id="44" name="pvd3"/>
          <p:cNvSpPr txBox="1"/>
          <p:nvPr/>
        </p:nvSpPr>
        <p:spPr>
          <a:xfrm>
            <a:off x="8065008" y="4151376"/>
            <a:ext cx="3346704" cy="6035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Row-level rules decide who may read a record — not who holds a printed code.</a:t>
            </a:r>
          </a:p>
        </p:txBody>
      </p:sp>
      <p:sp>
        <p:nvSpPr>
          <p:cNvPr id="45" name="disc"/>
          <p:cNvSpPr/>
          <p:nvPr/>
        </p:nvSpPr>
        <p:spPr>
          <a:xfrm>
            <a:off x="3803904" y="5138928"/>
            <a:ext cx="7827264" cy="1097280"/>
          </a:xfrm>
          <a:prstGeom prst="roundRect">
            <a:avLst>
              <a:gd name="adj" fmla="val 8333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disc/bar"/>
          <p:cNvSpPr/>
          <p:nvPr/>
        </p:nvSpPr>
        <p:spPr>
          <a:xfrm>
            <a:off x="3803904" y="5285232"/>
            <a:ext cx="54864" cy="804671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disc/t"/>
          <p:cNvSpPr txBox="1"/>
          <p:nvPr/>
        </p:nvSpPr>
        <p:spPr>
          <a:xfrm>
            <a:off x="4041648" y="5248656"/>
            <a:ext cx="7424928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FFFFF"/>
                </a:solidFill>
                <a:latin typeface="Calibri"/>
              </a:rPr>
              <a:t>We do not claim compliance with any data-protection statute. That would need a separate legal analysis of the applicable requirements and the actual deployment configuration — which this prototype does not have.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05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Evidence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414000" lon="-582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The demo bench and its dataset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The demo bench and its dataset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One shared dataset drives the worker portal, the contractor portal and the audit bench — so a change in one is visible in the others.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9524761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9474469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25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ds0"/>
          <p:cNvSpPr/>
          <p:nvPr/>
        </p:nvSpPr>
        <p:spPr>
          <a:xfrm>
            <a:off x="3803904" y="2432304"/>
            <a:ext cx="1129284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dv0"/>
          <p:cNvSpPr txBox="1"/>
          <p:nvPr/>
        </p:nvSpPr>
        <p:spPr>
          <a:xfrm>
            <a:off x="3950208" y="2505456"/>
            <a:ext cx="85496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6A574"/>
                </a:solidFill>
                <a:latin typeface="Georgia"/>
              </a:rPr>
              <a:t>8</a:t>
            </a:r>
          </a:p>
        </p:txBody>
      </p:sp>
      <p:sp>
        <p:nvSpPr>
          <p:cNvPr id="31" name="dl0"/>
          <p:cNvSpPr txBox="1"/>
          <p:nvPr/>
        </p:nvSpPr>
        <p:spPr>
          <a:xfrm>
            <a:off x="3950208" y="2907792"/>
            <a:ext cx="89154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alibri"/>
              </a:rPr>
              <a:t>ledger blocks</a:t>
            </a:r>
          </a:p>
        </p:txBody>
      </p:sp>
      <p:sp>
        <p:nvSpPr>
          <p:cNvPr id="32" name="ds1"/>
          <p:cNvSpPr/>
          <p:nvPr/>
        </p:nvSpPr>
        <p:spPr>
          <a:xfrm>
            <a:off x="5061204" y="2432304"/>
            <a:ext cx="1129284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dv1"/>
          <p:cNvSpPr txBox="1"/>
          <p:nvPr/>
        </p:nvSpPr>
        <p:spPr>
          <a:xfrm>
            <a:off x="5207508" y="2505456"/>
            <a:ext cx="85496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6A574"/>
                </a:solidFill>
                <a:latin typeface="Georgia"/>
              </a:rPr>
              <a:t>4</a:t>
            </a:r>
          </a:p>
        </p:txBody>
      </p:sp>
      <p:sp>
        <p:nvSpPr>
          <p:cNvPr id="34" name="dl1"/>
          <p:cNvSpPr txBox="1"/>
          <p:nvPr/>
        </p:nvSpPr>
        <p:spPr>
          <a:xfrm>
            <a:off x="5207508" y="2907792"/>
            <a:ext cx="89154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alibri"/>
              </a:rPr>
              <a:t>workers</a:t>
            </a:r>
          </a:p>
        </p:txBody>
      </p:sp>
      <p:sp>
        <p:nvSpPr>
          <p:cNvPr id="35" name="ds2"/>
          <p:cNvSpPr/>
          <p:nvPr/>
        </p:nvSpPr>
        <p:spPr>
          <a:xfrm>
            <a:off x="6318504" y="2432304"/>
            <a:ext cx="1129284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dv2"/>
          <p:cNvSpPr txBox="1"/>
          <p:nvPr/>
        </p:nvSpPr>
        <p:spPr>
          <a:xfrm>
            <a:off x="6464808" y="2505456"/>
            <a:ext cx="85496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3B04B"/>
                </a:solidFill>
                <a:latin typeface="Georgia"/>
              </a:rPr>
              <a:t>2</a:t>
            </a:r>
          </a:p>
        </p:txBody>
      </p:sp>
      <p:sp>
        <p:nvSpPr>
          <p:cNvPr id="37" name="dl2"/>
          <p:cNvSpPr txBox="1"/>
          <p:nvPr/>
        </p:nvSpPr>
        <p:spPr>
          <a:xfrm>
            <a:off x="6464808" y="2907792"/>
            <a:ext cx="89154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alibri"/>
              </a:rPr>
              <a:t>disputes</a:t>
            </a:r>
          </a:p>
        </p:txBody>
      </p:sp>
      <p:sp>
        <p:nvSpPr>
          <p:cNvPr id="38" name="ds3"/>
          <p:cNvSpPr/>
          <p:nvPr/>
        </p:nvSpPr>
        <p:spPr>
          <a:xfrm>
            <a:off x="7575804" y="2432304"/>
            <a:ext cx="1129284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dv3"/>
          <p:cNvSpPr txBox="1"/>
          <p:nvPr/>
        </p:nvSpPr>
        <p:spPr>
          <a:xfrm>
            <a:off x="7722108" y="2505456"/>
            <a:ext cx="85496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3B04B"/>
                </a:solidFill>
                <a:latin typeface="Georgia"/>
              </a:rPr>
              <a:t>2</a:t>
            </a:r>
          </a:p>
        </p:txBody>
      </p:sp>
      <p:sp>
        <p:nvSpPr>
          <p:cNvPr id="40" name="dl3"/>
          <p:cNvSpPr txBox="1"/>
          <p:nvPr/>
        </p:nvSpPr>
        <p:spPr>
          <a:xfrm>
            <a:off x="7722108" y="2907792"/>
            <a:ext cx="89154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F85"/>
                </a:solidFill>
                <a:latin typeface="Calibri"/>
              </a:rPr>
              <a:t>approval requests</a:t>
            </a:r>
          </a:p>
        </p:txBody>
      </p:sp>
      <p:sp>
        <p:nvSpPr>
          <p:cNvPr id="41" name="site"/>
          <p:cNvSpPr txBox="1"/>
          <p:nvPr/>
        </p:nvSpPr>
        <p:spPr>
          <a:xfrm>
            <a:off x="3803904" y="3456432"/>
            <a:ext cx="49377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20">
                <a:solidFill>
                  <a:srgbClr val="7C8F85"/>
                </a:solidFill>
                <a:latin typeface="Calibri"/>
              </a:rPr>
              <a:t>Site  </a:t>
            </a:r>
            <a:r>
              <a:rPr sz="960" b="1" i="0">
                <a:solidFill>
                  <a:srgbClr val="12211B"/>
                </a:solidFill>
                <a:latin typeface="Calibri"/>
              </a:rPr>
              <a:t>Super Corridor IT Park Phase-2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20">
                <a:solidFill>
                  <a:srgbClr val="7C8F85"/>
                </a:solidFill>
                <a:latin typeface="Calibri"/>
              </a:rPr>
              <a:t>Firm  </a:t>
            </a:r>
            <a:r>
              <a:rPr sz="919" b="0" i="0">
                <a:solidFill>
                  <a:srgbClr val="4E6459"/>
                </a:solidFill>
                <a:latin typeface="Calibri"/>
              </a:rPr>
              <a:t>M/s Sharma Infra Pvt Ltd  ·  Ramesh Verma, Sunita Bai, Vikram Singh, Dilip Solanki (synthetic)</a:t>
            </a:r>
          </a:p>
        </p:txBody>
      </p:sp>
      <p:sp>
        <p:nvSpPr>
          <p:cNvPr id="42" name="sc"/>
          <p:cNvSpPr/>
          <p:nvPr/>
        </p:nvSpPr>
        <p:spPr>
          <a:xfrm>
            <a:off x="3803904" y="4224528"/>
            <a:ext cx="4937760" cy="187451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sc/bar"/>
          <p:cNvSpPr/>
          <p:nvPr/>
        </p:nvSpPr>
        <p:spPr>
          <a:xfrm>
            <a:off x="3803904" y="4407408"/>
            <a:ext cx="50292" cy="1508760"/>
          </a:xfrm>
          <a:prstGeom prst="roundRect">
            <a:avLst>
              <a:gd name="adj" fmla="val 50000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sc/t"/>
          <p:cNvSpPr txBox="1"/>
          <p:nvPr/>
        </p:nvSpPr>
        <p:spPr>
          <a:xfrm>
            <a:off x="4023360" y="4361688"/>
            <a:ext cx="4517136" cy="24537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2211B"/>
                </a:solidFill>
                <a:latin typeface="Georgia"/>
              </a:rPr>
              <a:t>Twelve scenarios on the bench</a:t>
            </a:r>
          </a:p>
        </p:txBody>
      </p:sp>
      <p:sp>
        <p:nvSpPr>
          <p:cNvPr id="45" name="sc/b"/>
          <p:cNvSpPr txBox="1"/>
          <p:nvPr/>
        </p:nvSpPr>
        <p:spPr>
          <a:xfrm>
            <a:off x="4023360" y="4625354"/>
            <a:ext cx="4517136" cy="1363965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E6459"/>
                </a:solidFill>
                <a:latin typeface="Calibri"/>
              </a:rPr>
              <a:t>Partially paid · unpaid · fully paid and acknowledged · payment awaiting acknowledgement · dispute with both statements · correction with preserved value · legitimate multi-day record · duplicate shift (RULE-01) · unreasoned deduction (RULE-05) · corrupted hash · clean-baseline verification · resetToBaseline()</a:t>
            </a:r>
          </a:p>
        </p:txBody>
      </p:sp>
      <p:sp>
        <p:nvSpPr>
          <p:cNvPr id="46" name="ph2"/>
          <p:cNvSpPr/>
          <p:nvPr/>
        </p:nvSpPr>
        <p:spPr>
          <a:xfrm>
            <a:off x="8961120" y="2432304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7" name="photo2" descr="construction_site_muster_1792385014214.jpg"/>
          <p:cNvPicPr>
            <a:picLocks noChangeAspect="1"/>
          </p:cNvPicPr>
          <p:nvPr/>
        </p:nvPicPr>
        <p:blipFill>
          <a:blip r:embed="rId3"/>
          <a:srcRect l="10000" t="30000" r="5000" b="24000"/>
          <a:stretch>
            <a:fillRect/>
          </a:stretch>
        </p:blipFill>
        <p:spPr>
          <a:xfrm>
            <a:off x="9015984" y="2487168"/>
            <a:ext cx="2560320" cy="1993392"/>
          </a:xfrm>
          <a:prstGeom prst="roundRect">
            <a:avLst>
              <a:gd name="adj" fmla="val 3211"/>
            </a:avLst>
          </a:prstGeom>
          <a:ln>
            <a:noFill/>
          </a:ln>
        </p:spPr>
      </p:pic>
      <p:sp>
        <p:nvSpPr>
          <p:cNvPr id="48" name="tail"/>
          <p:cNvSpPr/>
          <p:nvPr/>
        </p:nvSpPr>
        <p:spPr>
          <a:xfrm>
            <a:off x="8961120" y="4663440"/>
            <a:ext cx="2670048" cy="1664208"/>
          </a:xfrm>
          <a:prstGeom prst="roundRect">
            <a:avLst>
              <a:gd name="adj" fmla="val 5494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ail/bar"/>
          <p:cNvSpPr/>
          <p:nvPr/>
        </p:nvSpPr>
        <p:spPr>
          <a:xfrm>
            <a:off x="8961120" y="4809744"/>
            <a:ext cx="54864" cy="1371600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ail/t"/>
          <p:cNvSpPr txBox="1"/>
          <p:nvPr/>
        </p:nvSpPr>
        <p:spPr>
          <a:xfrm>
            <a:off x="9198864" y="4773168"/>
            <a:ext cx="2267712" cy="14447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FFFFFF"/>
                </a:solidFill>
                <a:latin typeface="Calibri"/>
              </a:rPr>
              <a:t>Every screen reads the same seeded store, so a tampered hash in the audit bench is immediately visible in both portals.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05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Evidence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534000" lon="-780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Reported results, honestly labelled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Reported results, honestly labelled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39 assertions across four suites, a clean type-check and a clean production build — all from the implementation verification report.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9905752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9855460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26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tt/hdr"/>
          <p:cNvSpPr/>
          <p:nvPr/>
        </p:nvSpPr>
        <p:spPr>
          <a:xfrm>
            <a:off x="3803904" y="2432304"/>
            <a:ext cx="7827264" cy="384048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t/h0"/>
          <p:cNvSpPr txBox="1"/>
          <p:nvPr/>
        </p:nvSpPr>
        <p:spPr>
          <a:xfrm>
            <a:off x="3913632" y="2478024"/>
            <a:ext cx="265176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31" name="tt/h1"/>
          <p:cNvSpPr txBox="1"/>
          <p:nvPr/>
        </p:nvSpPr>
        <p:spPr>
          <a:xfrm>
            <a:off x="6748272" y="2478024"/>
            <a:ext cx="118872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ASSERTIONS</a:t>
            </a:r>
          </a:p>
        </p:txBody>
      </p:sp>
      <p:sp>
        <p:nvSpPr>
          <p:cNvPr id="32" name="tt/h2"/>
          <p:cNvSpPr txBox="1"/>
          <p:nvPr/>
        </p:nvSpPr>
        <p:spPr>
          <a:xfrm>
            <a:off x="8119871" y="2478024"/>
            <a:ext cx="155448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33" name="tt/h3"/>
          <p:cNvSpPr txBox="1"/>
          <p:nvPr/>
        </p:nvSpPr>
        <p:spPr>
          <a:xfrm>
            <a:off x="9857232" y="2478024"/>
            <a:ext cx="170078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1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34" name="tt/r0"/>
          <p:cNvSpPr/>
          <p:nvPr/>
        </p:nvSpPr>
        <p:spPr>
          <a:xfrm>
            <a:off x="3803904" y="2816352"/>
            <a:ext cx="782726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t/c00"/>
          <p:cNvSpPr txBox="1"/>
          <p:nvPr/>
        </p:nvSpPr>
        <p:spPr>
          <a:xfrm>
            <a:off x="3913632" y="2852928"/>
            <a:ext cx="265176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Audit &amp; ledger integrity</a:t>
            </a:r>
          </a:p>
        </p:txBody>
      </p:sp>
      <p:sp>
        <p:nvSpPr>
          <p:cNvPr id="36" name="tt/c01"/>
          <p:cNvSpPr txBox="1"/>
          <p:nvPr/>
        </p:nvSpPr>
        <p:spPr>
          <a:xfrm>
            <a:off x="6748272" y="2852928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23 / 23</a:t>
            </a:r>
          </a:p>
        </p:txBody>
      </p:sp>
      <p:sp>
        <p:nvSpPr>
          <p:cNvPr id="37" name="tt/c02"/>
          <p:cNvSpPr txBox="1"/>
          <p:nvPr/>
        </p:nvSpPr>
        <p:spPr>
          <a:xfrm>
            <a:off x="8119871" y="2852928"/>
            <a:ext cx="155448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Passed (reported)</a:t>
            </a:r>
          </a:p>
        </p:txBody>
      </p:sp>
      <p:sp>
        <p:nvSpPr>
          <p:cNvPr id="38" name="tt/c03"/>
          <p:cNvSpPr txBox="1"/>
          <p:nvPr/>
        </p:nvSpPr>
        <p:spPr>
          <a:xfrm>
            <a:off x="9857232" y="2852928"/>
            <a:ext cx="170078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Verification report</a:t>
            </a:r>
          </a:p>
        </p:txBody>
      </p:sp>
      <p:sp>
        <p:nvSpPr>
          <p:cNvPr id="39" name="tt/r1"/>
          <p:cNvSpPr/>
          <p:nvPr/>
        </p:nvSpPr>
        <p:spPr>
          <a:xfrm>
            <a:off x="3803904" y="3273552"/>
            <a:ext cx="7827264" cy="457200"/>
          </a:xfrm>
          <a:prstGeom prst="rect">
            <a:avLst/>
          </a:prstGeom>
          <a:solidFill>
            <a:srgbClr val="F7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t/c10"/>
          <p:cNvSpPr txBox="1"/>
          <p:nvPr/>
        </p:nvSpPr>
        <p:spPr>
          <a:xfrm>
            <a:off x="3913632" y="3310128"/>
            <a:ext cx="265176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IndexedDB &amp; repository</a:t>
            </a:r>
          </a:p>
        </p:txBody>
      </p:sp>
      <p:sp>
        <p:nvSpPr>
          <p:cNvPr id="41" name="tt/c11"/>
          <p:cNvSpPr txBox="1"/>
          <p:nvPr/>
        </p:nvSpPr>
        <p:spPr>
          <a:xfrm>
            <a:off x="6748272" y="3310128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6 / 6</a:t>
            </a:r>
          </a:p>
        </p:txBody>
      </p:sp>
      <p:sp>
        <p:nvSpPr>
          <p:cNvPr id="42" name="tt/c12"/>
          <p:cNvSpPr txBox="1"/>
          <p:nvPr/>
        </p:nvSpPr>
        <p:spPr>
          <a:xfrm>
            <a:off x="8119871" y="3310128"/>
            <a:ext cx="155448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Passed (reported)</a:t>
            </a:r>
          </a:p>
        </p:txBody>
      </p:sp>
      <p:sp>
        <p:nvSpPr>
          <p:cNvPr id="43" name="tt/c13"/>
          <p:cNvSpPr txBox="1"/>
          <p:nvPr/>
        </p:nvSpPr>
        <p:spPr>
          <a:xfrm>
            <a:off x="9857232" y="3310128"/>
            <a:ext cx="170078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test-indexeddb-repository</a:t>
            </a:r>
          </a:p>
        </p:txBody>
      </p:sp>
      <p:sp>
        <p:nvSpPr>
          <p:cNvPr id="44" name="tt/r2"/>
          <p:cNvSpPr/>
          <p:nvPr/>
        </p:nvSpPr>
        <p:spPr>
          <a:xfrm>
            <a:off x="3803904" y="3730752"/>
            <a:ext cx="782726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t/c20"/>
          <p:cNvSpPr txBox="1"/>
          <p:nvPr/>
        </p:nvSpPr>
        <p:spPr>
          <a:xfrm>
            <a:off x="3913632" y="3767328"/>
            <a:ext cx="265176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Supabase adapter &amp; migrations</a:t>
            </a:r>
          </a:p>
        </p:txBody>
      </p:sp>
      <p:sp>
        <p:nvSpPr>
          <p:cNvPr id="46" name="tt/c21"/>
          <p:cNvSpPr txBox="1"/>
          <p:nvPr/>
        </p:nvSpPr>
        <p:spPr>
          <a:xfrm>
            <a:off x="6748272" y="3767328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5 / 5</a:t>
            </a:r>
          </a:p>
        </p:txBody>
      </p:sp>
      <p:sp>
        <p:nvSpPr>
          <p:cNvPr id="47" name="tt/c22"/>
          <p:cNvSpPr txBox="1"/>
          <p:nvPr/>
        </p:nvSpPr>
        <p:spPr>
          <a:xfrm>
            <a:off x="8119871" y="3767328"/>
            <a:ext cx="155448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Passed (reported)</a:t>
            </a:r>
          </a:p>
        </p:txBody>
      </p:sp>
      <p:sp>
        <p:nvSpPr>
          <p:cNvPr id="48" name="tt/c23"/>
          <p:cNvSpPr txBox="1"/>
          <p:nvPr/>
        </p:nvSpPr>
        <p:spPr>
          <a:xfrm>
            <a:off x="9857232" y="3767328"/>
            <a:ext cx="170078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test-supabase-adapter</a:t>
            </a:r>
          </a:p>
        </p:txBody>
      </p:sp>
      <p:sp>
        <p:nvSpPr>
          <p:cNvPr id="49" name="tt/r3"/>
          <p:cNvSpPr/>
          <p:nvPr/>
        </p:nvSpPr>
        <p:spPr>
          <a:xfrm>
            <a:off x="3803904" y="4187952"/>
            <a:ext cx="7827264" cy="457200"/>
          </a:xfrm>
          <a:prstGeom prst="rect">
            <a:avLst/>
          </a:prstGeom>
          <a:solidFill>
            <a:srgbClr val="F7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t/c30"/>
          <p:cNvSpPr txBox="1"/>
          <p:nvPr/>
        </p:nvSpPr>
        <p:spPr>
          <a:xfrm>
            <a:off x="3913632" y="4224528"/>
            <a:ext cx="265176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Simulated approvals</a:t>
            </a:r>
          </a:p>
        </p:txBody>
      </p:sp>
      <p:sp>
        <p:nvSpPr>
          <p:cNvPr id="51" name="tt/c31"/>
          <p:cNvSpPr txBox="1"/>
          <p:nvPr/>
        </p:nvSpPr>
        <p:spPr>
          <a:xfrm>
            <a:off x="6748272" y="4224528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5 / 5</a:t>
            </a:r>
          </a:p>
        </p:txBody>
      </p:sp>
      <p:sp>
        <p:nvSpPr>
          <p:cNvPr id="52" name="tt/c32"/>
          <p:cNvSpPr txBox="1"/>
          <p:nvPr/>
        </p:nvSpPr>
        <p:spPr>
          <a:xfrm>
            <a:off x="8119871" y="4224528"/>
            <a:ext cx="155448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Passed (reported)</a:t>
            </a:r>
          </a:p>
        </p:txBody>
      </p:sp>
      <p:sp>
        <p:nvSpPr>
          <p:cNvPr id="53" name="tt/c33"/>
          <p:cNvSpPr txBox="1"/>
          <p:nvPr/>
        </p:nvSpPr>
        <p:spPr>
          <a:xfrm>
            <a:off x="9857232" y="4224528"/>
            <a:ext cx="170078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test-approvals-simulation</a:t>
            </a:r>
          </a:p>
        </p:txBody>
      </p:sp>
      <p:sp>
        <p:nvSpPr>
          <p:cNvPr id="54" name="tt/r4"/>
          <p:cNvSpPr/>
          <p:nvPr/>
        </p:nvSpPr>
        <p:spPr>
          <a:xfrm>
            <a:off x="3803904" y="4645152"/>
            <a:ext cx="782726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t/c40"/>
          <p:cNvSpPr txBox="1"/>
          <p:nvPr/>
        </p:nvSpPr>
        <p:spPr>
          <a:xfrm>
            <a:off x="3913632" y="4681728"/>
            <a:ext cx="265176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Type check / lint</a:t>
            </a:r>
          </a:p>
        </p:txBody>
      </p:sp>
      <p:sp>
        <p:nvSpPr>
          <p:cNvPr id="56" name="tt/c41"/>
          <p:cNvSpPr txBox="1"/>
          <p:nvPr/>
        </p:nvSpPr>
        <p:spPr>
          <a:xfrm>
            <a:off x="6748272" y="4681728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0 errors</a:t>
            </a:r>
          </a:p>
        </p:txBody>
      </p:sp>
      <p:sp>
        <p:nvSpPr>
          <p:cNvPr id="57" name="tt/c42"/>
          <p:cNvSpPr txBox="1"/>
          <p:nvPr/>
        </p:nvSpPr>
        <p:spPr>
          <a:xfrm>
            <a:off x="8119871" y="4681728"/>
            <a:ext cx="155448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Passed (reported)</a:t>
            </a:r>
          </a:p>
        </p:txBody>
      </p:sp>
      <p:sp>
        <p:nvSpPr>
          <p:cNvPr id="58" name="tt/c43"/>
          <p:cNvSpPr txBox="1"/>
          <p:nvPr/>
        </p:nvSpPr>
        <p:spPr>
          <a:xfrm>
            <a:off x="9857232" y="4681728"/>
            <a:ext cx="170078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npm run lint</a:t>
            </a:r>
          </a:p>
        </p:txBody>
      </p:sp>
      <p:sp>
        <p:nvSpPr>
          <p:cNvPr id="59" name="tt/r5"/>
          <p:cNvSpPr/>
          <p:nvPr/>
        </p:nvSpPr>
        <p:spPr>
          <a:xfrm>
            <a:off x="3803904" y="5102352"/>
            <a:ext cx="7827264" cy="457200"/>
          </a:xfrm>
          <a:prstGeom prst="rect">
            <a:avLst/>
          </a:prstGeom>
          <a:solidFill>
            <a:srgbClr val="F7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tt/c50"/>
          <p:cNvSpPr txBox="1"/>
          <p:nvPr/>
        </p:nvSpPr>
        <p:spPr>
          <a:xfrm>
            <a:off x="3913632" y="5138928"/>
            <a:ext cx="265176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2211B"/>
                </a:solidFill>
                <a:latin typeface="Calibri"/>
              </a:rPr>
              <a:t>Production build</a:t>
            </a:r>
          </a:p>
        </p:txBody>
      </p:sp>
      <p:sp>
        <p:nvSpPr>
          <p:cNvPr id="61" name="tt/c51"/>
          <p:cNvSpPr txBox="1"/>
          <p:nvPr/>
        </p:nvSpPr>
        <p:spPr>
          <a:xfrm>
            <a:off x="6748272" y="5138928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Clean</a:t>
            </a:r>
          </a:p>
        </p:txBody>
      </p:sp>
      <p:sp>
        <p:nvSpPr>
          <p:cNvPr id="62" name="tt/c52"/>
          <p:cNvSpPr txBox="1"/>
          <p:nvPr/>
        </p:nvSpPr>
        <p:spPr>
          <a:xfrm>
            <a:off x="8119871" y="5138928"/>
            <a:ext cx="155448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Passed (reported)</a:t>
            </a:r>
          </a:p>
        </p:txBody>
      </p:sp>
      <p:sp>
        <p:nvSpPr>
          <p:cNvPr id="63" name="tt/c53"/>
          <p:cNvSpPr txBox="1"/>
          <p:nvPr/>
        </p:nvSpPr>
        <p:spPr>
          <a:xfrm>
            <a:off x="9857232" y="5138928"/>
            <a:ext cx="1700784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npm run build (Vite)</a:t>
            </a:r>
          </a:p>
        </p:txBody>
      </p:sp>
      <p:sp>
        <p:nvSpPr>
          <p:cNvPr id="64" name="tt/base"/>
          <p:cNvSpPr/>
          <p:nvPr/>
        </p:nvSpPr>
        <p:spPr>
          <a:xfrm>
            <a:off x="3803904" y="5559552"/>
            <a:ext cx="7827264" cy="45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tot"/>
          <p:cNvSpPr/>
          <p:nvPr/>
        </p:nvSpPr>
        <p:spPr>
          <a:xfrm>
            <a:off x="3803904" y="5650992"/>
            <a:ext cx="4663440" cy="713232"/>
          </a:xfrm>
          <a:prstGeom prst="roundRect">
            <a:avLst>
              <a:gd name="adj" fmla="val 12820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otn"/>
          <p:cNvSpPr txBox="1"/>
          <p:nvPr/>
        </p:nvSpPr>
        <p:spPr>
          <a:xfrm>
            <a:off x="4023360" y="5705856"/>
            <a:ext cx="100584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3B04B"/>
                </a:solidFill>
                <a:latin typeface="Georgia"/>
              </a:rPr>
              <a:t>39</a:t>
            </a:r>
          </a:p>
        </p:txBody>
      </p:sp>
      <p:sp>
        <p:nvSpPr>
          <p:cNvPr id="67" name="tott"/>
          <p:cNvSpPr txBox="1"/>
          <p:nvPr/>
        </p:nvSpPr>
        <p:spPr>
          <a:xfrm>
            <a:off x="5029200" y="5724144"/>
            <a:ext cx="329184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assertions passed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BC7A6"/>
                </a:solidFill>
                <a:latin typeface="Calibri"/>
              </a:rPr>
              <a:t>across four suites</a:t>
            </a:r>
          </a:p>
        </p:txBody>
      </p:sp>
      <p:sp>
        <p:nvSpPr>
          <p:cNvPr id="68" name="cav"/>
          <p:cNvSpPr/>
          <p:nvPr/>
        </p:nvSpPr>
        <p:spPr>
          <a:xfrm>
            <a:off x="8650224" y="5650992"/>
            <a:ext cx="2980944" cy="713232"/>
          </a:xfrm>
          <a:prstGeom prst="roundRect">
            <a:avLst>
              <a:gd name="adj" fmla="val 12820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cavt"/>
          <p:cNvSpPr txBox="1"/>
          <p:nvPr/>
        </p:nvSpPr>
        <p:spPr>
          <a:xfrm>
            <a:off x="8851392" y="5705856"/>
            <a:ext cx="2615184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4E6459"/>
                </a:solidFill>
                <a:latin typeface="Calibri"/>
              </a:rPr>
              <a:t>Not independently reproduced for the report. The lab tests synthetic data only.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05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Evidence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480000" lon="-954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What it costs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What it costs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The prototype runs at zero marginal cost, and the first real deployment target is a free tier that a school can actually sustain.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10286742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10236450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27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co0"/>
          <p:cNvSpPr/>
          <p:nvPr/>
        </p:nvSpPr>
        <p:spPr>
          <a:xfrm>
            <a:off x="3803904" y="2432304"/>
            <a:ext cx="2487168" cy="2157984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cb0"/>
          <p:cNvSpPr/>
          <p:nvPr/>
        </p:nvSpPr>
        <p:spPr>
          <a:xfrm>
            <a:off x="3803904" y="2432304"/>
            <a:ext cx="2487168" cy="54864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cv0"/>
          <p:cNvSpPr txBox="1"/>
          <p:nvPr/>
        </p:nvSpPr>
        <p:spPr>
          <a:xfrm>
            <a:off x="4023360" y="2615184"/>
            <a:ext cx="212140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11B"/>
                </a:solidFill>
                <a:latin typeface="Georgia"/>
              </a:rPr>
              <a:t>₹0</a:t>
            </a:r>
          </a:p>
        </p:txBody>
      </p:sp>
      <p:sp>
        <p:nvSpPr>
          <p:cNvPr id="32" name="ct0"/>
          <p:cNvSpPr txBox="1"/>
          <p:nvPr/>
        </p:nvSpPr>
        <p:spPr>
          <a:xfrm>
            <a:off x="4023360" y="3182112"/>
            <a:ext cx="2121408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80">
                <a:solidFill>
                  <a:srgbClr val="16A574"/>
                </a:solidFill>
                <a:latin typeface="Calibri"/>
              </a:rPr>
              <a:t>HARDWARE</a:t>
            </a:r>
          </a:p>
        </p:txBody>
      </p:sp>
      <p:sp>
        <p:nvSpPr>
          <p:cNvPr id="33" name="cd0"/>
          <p:cNvSpPr txBox="1"/>
          <p:nvPr/>
        </p:nvSpPr>
        <p:spPr>
          <a:xfrm>
            <a:off x="4023360" y="3474720"/>
            <a:ext cx="2084832" cy="10058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NFC tags and readers were removed from the design entirely. A printed QR pass costs a sheet of paper.</a:t>
            </a:r>
          </a:p>
        </p:txBody>
      </p:sp>
      <p:sp>
        <p:nvSpPr>
          <p:cNvPr id="34" name="co1"/>
          <p:cNvSpPr/>
          <p:nvPr/>
        </p:nvSpPr>
        <p:spPr>
          <a:xfrm>
            <a:off x="6473952" y="2432304"/>
            <a:ext cx="2487168" cy="2157984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cb1"/>
          <p:cNvSpPr/>
          <p:nvPr/>
        </p:nvSpPr>
        <p:spPr>
          <a:xfrm>
            <a:off x="6473952" y="2432304"/>
            <a:ext cx="2487168" cy="54864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cv1"/>
          <p:cNvSpPr txBox="1"/>
          <p:nvPr/>
        </p:nvSpPr>
        <p:spPr>
          <a:xfrm>
            <a:off x="6693408" y="2615184"/>
            <a:ext cx="212140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2211B"/>
                </a:solidFill>
                <a:latin typeface="Georgia"/>
              </a:rPr>
              <a:t>₹0</a:t>
            </a:r>
          </a:p>
        </p:txBody>
      </p:sp>
      <p:sp>
        <p:nvSpPr>
          <p:cNvPr id="37" name="ct1"/>
          <p:cNvSpPr txBox="1"/>
          <p:nvPr/>
        </p:nvSpPr>
        <p:spPr>
          <a:xfrm>
            <a:off x="6693408" y="3182112"/>
            <a:ext cx="2121408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80">
                <a:solidFill>
                  <a:srgbClr val="0E7A55"/>
                </a:solidFill>
                <a:latin typeface="Calibri"/>
              </a:rPr>
              <a:t>TOOLING</a:t>
            </a:r>
          </a:p>
        </p:txBody>
      </p:sp>
      <p:sp>
        <p:nvSpPr>
          <p:cNvPr id="38" name="cd1"/>
          <p:cNvSpPr txBox="1"/>
          <p:nvPr/>
        </p:nvSpPr>
        <p:spPr>
          <a:xfrm>
            <a:off x="6693408" y="3474720"/>
            <a:ext cx="2084832" cy="10058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React, TypeScript, Vite, IndexedDB and the Web Crypto API are free and open source. Browser storage has no fee.</a:t>
            </a:r>
          </a:p>
        </p:txBody>
      </p:sp>
      <p:sp>
        <p:nvSpPr>
          <p:cNvPr id="39" name="co2"/>
          <p:cNvSpPr/>
          <p:nvPr/>
        </p:nvSpPr>
        <p:spPr>
          <a:xfrm>
            <a:off x="9144000" y="2432304"/>
            <a:ext cx="2487168" cy="2157984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cb2"/>
          <p:cNvSpPr/>
          <p:nvPr/>
        </p:nvSpPr>
        <p:spPr>
          <a:xfrm>
            <a:off x="9144000" y="2432304"/>
            <a:ext cx="2487168" cy="54864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cv2"/>
          <p:cNvSpPr txBox="1"/>
          <p:nvPr/>
        </p:nvSpPr>
        <p:spPr>
          <a:xfrm>
            <a:off x="9363456" y="2615184"/>
            <a:ext cx="212140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211B"/>
                </a:solidFill>
                <a:latin typeface="Georgia"/>
              </a:rPr>
              <a:t>Free → ~$10</a:t>
            </a:r>
          </a:p>
        </p:txBody>
      </p:sp>
      <p:sp>
        <p:nvSpPr>
          <p:cNvPr id="42" name="ct2"/>
          <p:cNvSpPr txBox="1"/>
          <p:nvPr/>
        </p:nvSpPr>
        <p:spPr>
          <a:xfrm>
            <a:off x="9363456" y="3182112"/>
            <a:ext cx="2121408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180">
                <a:solidFill>
                  <a:srgbClr val="B9812C"/>
                </a:solidFill>
                <a:latin typeface="Calibri"/>
              </a:rPr>
              <a:t>BACKEND</a:t>
            </a:r>
          </a:p>
        </p:txBody>
      </p:sp>
      <p:sp>
        <p:nvSpPr>
          <p:cNvPr id="43" name="cd2"/>
          <p:cNvSpPr txBox="1"/>
          <p:nvPr/>
        </p:nvSpPr>
        <p:spPr>
          <a:xfrm>
            <a:off x="9363456" y="3474720"/>
            <a:ext cx="2084832" cy="10058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Supabase free plan: 500 MB database, 5 GB egress, 50,000 MAU, 1 GB storage. Paid compute starts near $10/month.</a:t>
            </a:r>
          </a:p>
        </p:txBody>
      </p:sp>
      <p:sp>
        <p:nvSpPr>
          <p:cNvPr id="44" name="note"/>
          <p:cNvSpPr/>
          <p:nvPr/>
        </p:nvSpPr>
        <p:spPr>
          <a:xfrm>
            <a:off x="3803904" y="4809744"/>
            <a:ext cx="4901184" cy="1426464"/>
          </a:xfrm>
          <a:prstGeom prst="roundRect">
            <a:avLst>
              <a:gd name="adj" fmla="val 6410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note/bar"/>
          <p:cNvSpPr/>
          <p:nvPr/>
        </p:nvSpPr>
        <p:spPr>
          <a:xfrm>
            <a:off x="3803904" y="4956048"/>
            <a:ext cx="54864" cy="1133856"/>
          </a:xfrm>
          <a:prstGeom prst="roundRect">
            <a:avLst>
              <a:gd name="adj" fmla="val 50000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note/t"/>
          <p:cNvSpPr txBox="1"/>
          <p:nvPr/>
        </p:nvSpPr>
        <p:spPr>
          <a:xfrm>
            <a:off x="4041648" y="4919472"/>
            <a:ext cx="4498848" cy="12070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Free tiers pause, quota and change. Figures were checked against Supabase's own documentation in October 2026 and should be re-checked before any deployment decision.</a:t>
            </a:r>
          </a:p>
        </p:txBody>
      </p:sp>
      <p:sp>
        <p:nvSpPr>
          <p:cNvPr id="47" name="sep"/>
          <p:cNvSpPr/>
          <p:nvPr/>
        </p:nvSpPr>
        <p:spPr>
          <a:xfrm>
            <a:off x="8887968" y="4809744"/>
            <a:ext cx="2743200" cy="1426464"/>
          </a:xfrm>
          <a:prstGeom prst="roundRect">
            <a:avLst>
              <a:gd name="adj" fmla="val 6410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sepl"/>
          <p:cNvSpPr txBox="1"/>
          <p:nvPr/>
        </p:nvSpPr>
        <p:spPr>
          <a:xfrm>
            <a:off x="9070848" y="4937760"/>
            <a:ext cx="23774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60">
                <a:solidFill>
                  <a:srgbClr val="B9812C"/>
                </a:solidFill>
                <a:latin typeface="Calibri"/>
              </a:rPr>
              <a:t>NOT ESTIMATED</a:t>
            </a:r>
          </a:p>
        </p:txBody>
      </p:sp>
      <p:sp>
        <p:nvSpPr>
          <p:cNvPr id="49" name="sept"/>
          <p:cNvSpPr txBox="1"/>
          <p:nvPr/>
        </p:nvSpPr>
        <p:spPr>
          <a:xfrm>
            <a:off x="9070848" y="5175504"/>
            <a:ext cx="2395728" cy="9692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4E6459"/>
                </a:solidFill>
                <a:latin typeface="Calibri"/>
              </a:rPr>
              <a:t>A real deployment needs backups, authentication and maintenance. Those depend on volume we do not have.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06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Outlook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82000" lon="-1062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Limitations we will not hide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Limitations we will not hide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Ten of them, listed in the report and repeated here because a prototype is defined by what it refuses to claim.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10667733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10617441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28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lm00"/>
          <p:cNvSpPr/>
          <p:nvPr/>
        </p:nvSpPr>
        <p:spPr>
          <a:xfrm>
            <a:off x="3803904" y="243230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lmn00"/>
          <p:cNvSpPr txBox="1"/>
          <p:nvPr/>
        </p:nvSpPr>
        <p:spPr>
          <a:xfrm>
            <a:off x="3986784" y="252374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01</a:t>
            </a:r>
          </a:p>
        </p:txBody>
      </p:sp>
      <p:sp>
        <p:nvSpPr>
          <p:cNvPr id="31" name="lmt00"/>
          <p:cNvSpPr txBox="1"/>
          <p:nvPr/>
        </p:nvSpPr>
        <p:spPr>
          <a:xfrm>
            <a:off x="4370832" y="250545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Browser storage is readable by anyone who controls the device</a:t>
            </a:r>
          </a:p>
        </p:txBody>
      </p:sp>
      <p:sp>
        <p:nvSpPr>
          <p:cNvPr id="32" name="lm01"/>
          <p:cNvSpPr/>
          <p:nvPr/>
        </p:nvSpPr>
        <p:spPr>
          <a:xfrm>
            <a:off x="3803904" y="316382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lmn01"/>
          <p:cNvSpPr txBox="1"/>
          <p:nvPr/>
        </p:nvSpPr>
        <p:spPr>
          <a:xfrm>
            <a:off x="3986784" y="325526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02</a:t>
            </a:r>
          </a:p>
        </p:txBody>
      </p:sp>
      <p:sp>
        <p:nvSpPr>
          <p:cNvPr id="34" name="lmt01"/>
          <p:cNvSpPr txBox="1"/>
          <p:nvPr/>
        </p:nvSpPr>
        <p:spPr>
          <a:xfrm>
            <a:off x="4370832" y="323697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No remote database is connected in the demo build</a:t>
            </a:r>
          </a:p>
        </p:txBody>
      </p:sp>
      <p:sp>
        <p:nvSpPr>
          <p:cNvPr id="35" name="lm02"/>
          <p:cNvSpPr/>
          <p:nvPr/>
        </p:nvSpPr>
        <p:spPr>
          <a:xfrm>
            <a:off x="3803904" y="389534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lmn02"/>
          <p:cNvSpPr txBox="1"/>
          <p:nvPr/>
        </p:nvSpPr>
        <p:spPr>
          <a:xfrm>
            <a:off x="3986784" y="3986783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03</a:t>
            </a:r>
          </a:p>
        </p:txBody>
      </p:sp>
      <p:sp>
        <p:nvSpPr>
          <p:cNvPr id="37" name="lmt02"/>
          <p:cNvSpPr txBox="1"/>
          <p:nvPr/>
        </p:nvSpPr>
        <p:spPr>
          <a:xfrm>
            <a:off x="4370832" y="396849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A QR can be copied; a scan does not authenticate anyone</a:t>
            </a:r>
          </a:p>
        </p:txBody>
      </p:sp>
      <p:sp>
        <p:nvSpPr>
          <p:cNvPr id="38" name="lm03"/>
          <p:cNvSpPr/>
          <p:nvPr/>
        </p:nvSpPr>
        <p:spPr>
          <a:xfrm>
            <a:off x="3803904" y="462686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lmn03"/>
          <p:cNvSpPr txBox="1"/>
          <p:nvPr/>
        </p:nvSpPr>
        <p:spPr>
          <a:xfrm>
            <a:off x="3986784" y="471830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04</a:t>
            </a:r>
          </a:p>
        </p:txBody>
      </p:sp>
      <p:sp>
        <p:nvSpPr>
          <p:cNvPr id="40" name="lmt03"/>
          <p:cNvSpPr txBox="1"/>
          <p:nvPr/>
        </p:nvSpPr>
        <p:spPr>
          <a:xfrm>
            <a:off x="4370832" y="470001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No independent proof of physical attendance</a:t>
            </a:r>
          </a:p>
        </p:txBody>
      </p:sp>
      <p:sp>
        <p:nvSpPr>
          <p:cNvPr id="41" name="lm04"/>
          <p:cNvSpPr/>
          <p:nvPr/>
        </p:nvSpPr>
        <p:spPr>
          <a:xfrm>
            <a:off x="3803904" y="535838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lmn04"/>
          <p:cNvSpPr txBox="1"/>
          <p:nvPr/>
        </p:nvSpPr>
        <p:spPr>
          <a:xfrm>
            <a:off x="3986784" y="544982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05</a:t>
            </a:r>
          </a:p>
        </p:txBody>
      </p:sp>
      <p:sp>
        <p:nvSpPr>
          <p:cNvPr id="43" name="lmt04"/>
          <p:cNvSpPr txBox="1"/>
          <p:nvPr/>
        </p:nvSpPr>
        <p:spPr>
          <a:xfrm>
            <a:off x="4370832" y="543153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A hash proves integrity, not truth</a:t>
            </a:r>
          </a:p>
        </p:txBody>
      </p:sp>
      <p:sp>
        <p:nvSpPr>
          <p:cNvPr id="44" name="lm10"/>
          <p:cNvSpPr/>
          <p:nvPr/>
        </p:nvSpPr>
        <p:spPr>
          <a:xfrm>
            <a:off x="7818120" y="243230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lmn10"/>
          <p:cNvSpPr txBox="1"/>
          <p:nvPr/>
        </p:nvSpPr>
        <p:spPr>
          <a:xfrm>
            <a:off x="8001000" y="252374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06</a:t>
            </a:r>
          </a:p>
        </p:txBody>
      </p:sp>
      <p:sp>
        <p:nvSpPr>
          <p:cNvPr id="46" name="lmt10"/>
          <p:cNvSpPr txBox="1"/>
          <p:nvPr/>
        </p:nvSpPr>
        <p:spPr>
          <a:xfrm>
            <a:off x="8385048" y="250545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Benchmark rates in the prototype are unverified</a:t>
            </a:r>
          </a:p>
        </p:txBody>
      </p:sp>
      <p:sp>
        <p:nvSpPr>
          <p:cNvPr id="47" name="lm11"/>
          <p:cNvSpPr/>
          <p:nvPr/>
        </p:nvSpPr>
        <p:spPr>
          <a:xfrm>
            <a:off x="7818120" y="316382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lmn11"/>
          <p:cNvSpPr txBox="1"/>
          <p:nvPr/>
        </p:nvSpPr>
        <p:spPr>
          <a:xfrm>
            <a:off x="8001000" y="325526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07</a:t>
            </a:r>
          </a:p>
        </p:txBody>
      </p:sp>
      <p:sp>
        <p:nvSpPr>
          <p:cNvPr id="49" name="lmt11"/>
          <p:cNvSpPr txBox="1"/>
          <p:nvPr/>
        </p:nvSpPr>
        <p:spPr>
          <a:xfrm>
            <a:off x="8385048" y="323697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No production authentication or access control yet</a:t>
            </a:r>
          </a:p>
        </p:txBody>
      </p:sp>
      <p:sp>
        <p:nvSpPr>
          <p:cNvPr id="50" name="lm12"/>
          <p:cNvSpPr/>
          <p:nvPr/>
        </p:nvSpPr>
        <p:spPr>
          <a:xfrm>
            <a:off x="7818120" y="389534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lmn12"/>
          <p:cNvSpPr txBox="1"/>
          <p:nvPr/>
        </p:nvSpPr>
        <p:spPr>
          <a:xfrm>
            <a:off x="8001000" y="3986783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08</a:t>
            </a:r>
          </a:p>
        </p:txBody>
      </p:sp>
      <p:sp>
        <p:nvSpPr>
          <p:cNvPr id="52" name="lmt12"/>
          <p:cNvSpPr txBox="1"/>
          <p:nvPr/>
        </p:nvSpPr>
        <p:spPr>
          <a:xfrm>
            <a:off x="8385048" y="396849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Behaviour under real network interruption is untested</a:t>
            </a:r>
          </a:p>
        </p:txBody>
      </p:sp>
      <p:sp>
        <p:nvSpPr>
          <p:cNvPr id="53" name="lm13"/>
          <p:cNvSpPr/>
          <p:nvPr/>
        </p:nvSpPr>
        <p:spPr>
          <a:xfrm>
            <a:off x="7818120" y="462686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lmn13"/>
          <p:cNvSpPr txBox="1"/>
          <p:nvPr/>
        </p:nvSpPr>
        <p:spPr>
          <a:xfrm>
            <a:off x="8001000" y="471830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09</a:t>
            </a:r>
          </a:p>
        </p:txBody>
      </p:sp>
      <p:sp>
        <p:nvSpPr>
          <p:cNvPr id="55" name="lmt13"/>
          <p:cNvSpPr txBox="1"/>
          <p:nvPr/>
        </p:nvSpPr>
        <p:spPr>
          <a:xfrm>
            <a:off x="8385048" y="470001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Multi-device conflict handling is still planned</a:t>
            </a:r>
          </a:p>
        </p:txBody>
      </p:sp>
      <p:sp>
        <p:nvSpPr>
          <p:cNvPr id="56" name="lm14"/>
          <p:cNvSpPr/>
          <p:nvPr/>
        </p:nvSpPr>
        <p:spPr>
          <a:xfrm>
            <a:off x="7818120" y="5358384"/>
            <a:ext cx="3813048" cy="621792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lmn14"/>
          <p:cNvSpPr txBox="1"/>
          <p:nvPr/>
        </p:nvSpPr>
        <p:spPr>
          <a:xfrm>
            <a:off x="8001000" y="5449824"/>
            <a:ext cx="36576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2542D"/>
                </a:solidFill>
                <a:latin typeface="Georgia"/>
              </a:rPr>
              <a:t>10</a:t>
            </a:r>
          </a:p>
        </p:txBody>
      </p:sp>
      <p:sp>
        <p:nvSpPr>
          <p:cNvPr id="58" name="lmt14"/>
          <p:cNvSpPr txBox="1"/>
          <p:nvPr/>
        </p:nvSpPr>
        <p:spPr>
          <a:xfrm>
            <a:off x="8385048" y="5431536"/>
            <a:ext cx="310896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Usability has not been validated with real workers</a:t>
            </a:r>
          </a:p>
        </p:txBody>
      </p:sp>
      <p:sp>
        <p:nvSpPr>
          <p:cNvPr id="59" name="fl"/>
          <p:cNvSpPr txBox="1"/>
          <p:nvPr/>
        </p:nvSpPr>
        <p:spPr>
          <a:xfrm>
            <a:off x="3803904" y="6144768"/>
            <a:ext cx="7772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C8F85"/>
                </a:solidFill>
                <a:latin typeface="Calibri"/>
              </a:rPr>
              <a:t>These are stated in the report as limitations, not as future features that already exist.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06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Outlook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102000" lon="-1068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What happens next, in order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What happens next, in order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A credible sequence: fix storage durability first, then add a backend, then earn the right to call it a deployment.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11048723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10998431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29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ph0"/>
          <p:cNvSpPr/>
          <p:nvPr/>
        </p:nvSpPr>
        <p:spPr>
          <a:xfrm>
            <a:off x="3803904" y="2432304"/>
            <a:ext cx="2487168" cy="3346704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phh0"/>
          <p:cNvSpPr/>
          <p:nvPr/>
        </p:nvSpPr>
        <p:spPr>
          <a:xfrm>
            <a:off x="3803904" y="2432304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php0"/>
          <p:cNvSpPr txBox="1"/>
          <p:nvPr/>
        </p:nvSpPr>
        <p:spPr>
          <a:xfrm>
            <a:off x="4005072" y="2487168"/>
            <a:ext cx="2121408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20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32" name="phs0"/>
          <p:cNvSpPr txBox="1"/>
          <p:nvPr/>
        </p:nvSpPr>
        <p:spPr>
          <a:xfrm>
            <a:off x="4005072" y="2688336"/>
            <a:ext cx="2121408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Calibri"/>
              </a:rPr>
              <a:t>Demo-ready</a:t>
            </a:r>
          </a:p>
        </p:txBody>
      </p:sp>
      <p:sp>
        <p:nvSpPr>
          <p:cNvPr id="33" name="phd00"/>
          <p:cNvSpPr/>
          <p:nvPr/>
        </p:nvSpPr>
        <p:spPr>
          <a:xfrm>
            <a:off x="4023360" y="3227832"/>
            <a:ext cx="82296" cy="82296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pht00"/>
          <p:cNvSpPr txBox="1"/>
          <p:nvPr/>
        </p:nvSpPr>
        <p:spPr>
          <a:xfrm>
            <a:off x="4206240" y="3163824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Baseline reset and seeded dataset</a:t>
            </a:r>
          </a:p>
        </p:txBody>
      </p:sp>
      <p:sp>
        <p:nvSpPr>
          <p:cNvPr id="35" name="phd01"/>
          <p:cNvSpPr/>
          <p:nvPr/>
        </p:nvSpPr>
        <p:spPr>
          <a:xfrm>
            <a:off x="4023360" y="3849624"/>
            <a:ext cx="82296" cy="82296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pht01"/>
          <p:cNvSpPr txBox="1"/>
          <p:nvPr/>
        </p:nvSpPr>
        <p:spPr>
          <a:xfrm>
            <a:off x="4206240" y="3785615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Bilingual worker and contractor portals</a:t>
            </a:r>
          </a:p>
        </p:txBody>
      </p:sp>
      <p:sp>
        <p:nvSpPr>
          <p:cNvPr id="37" name="phd02"/>
          <p:cNvSpPr/>
          <p:nvPr/>
        </p:nvSpPr>
        <p:spPr>
          <a:xfrm>
            <a:off x="4023360" y="4471416"/>
            <a:ext cx="82296" cy="82296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pht02"/>
          <p:cNvSpPr txBox="1"/>
          <p:nvPr/>
        </p:nvSpPr>
        <p:spPr>
          <a:xfrm>
            <a:off x="4206240" y="4407408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Offline single-file exhibition build</a:t>
            </a:r>
          </a:p>
        </p:txBody>
      </p:sp>
      <p:sp>
        <p:nvSpPr>
          <p:cNvPr id="39" name="phd03"/>
          <p:cNvSpPr/>
          <p:nvPr/>
        </p:nvSpPr>
        <p:spPr>
          <a:xfrm>
            <a:off x="4023360" y="5093208"/>
            <a:ext cx="82296" cy="82296"/>
          </a:xfrm>
          <a:prstGeom prst="ellipse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pht03"/>
          <p:cNvSpPr txBox="1"/>
          <p:nvPr/>
        </p:nvSpPr>
        <p:spPr>
          <a:xfrm>
            <a:off x="4206240" y="5029200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Print-ready pass and wage slip</a:t>
            </a:r>
          </a:p>
        </p:txBody>
      </p:sp>
      <p:sp>
        <p:nvSpPr>
          <p:cNvPr id="41" name="ph1"/>
          <p:cNvSpPr/>
          <p:nvPr/>
        </p:nvSpPr>
        <p:spPr>
          <a:xfrm>
            <a:off x="6473952" y="2432304"/>
            <a:ext cx="2487168" cy="3346704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phh1"/>
          <p:cNvSpPr/>
          <p:nvPr/>
        </p:nvSpPr>
        <p:spPr>
          <a:xfrm>
            <a:off x="6473952" y="2432304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php1"/>
          <p:cNvSpPr txBox="1"/>
          <p:nvPr/>
        </p:nvSpPr>
        <p:spPr>
          <a:xfrm>
            <a:off x="6675120" y="2487168"/>
            <a:ext cx="2121408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20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44" name="phs1"/>
          <p:cNvSpPr txBox="1"/>
          <p:nvPr/>
        </p:nvSpPr>
        <p:spPr>
          <a:xfrm>
            <a:off x="6675120" y="2688336"/>
            <a:ext cx="2121408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Calibri"/>
              </a:rPr>
              <a:t>Shared backend</a:t>
            </a:r>
          </a:p>
        </p:txBody>
      </p:sp>
      <p:sp>
        <p:nvSpPr>
          <p:cNvPr id="45" name="phd10"/>
          <p:cNvSpPr/>
          <p:nvPr/>
        </p:nvSpPr>
        <p:spPr>
          <a:xfrm>
            <a:off x="6693408" y="3227832"/>
            <a:ext cx="82296" cy="82296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pht10"/>
          <p:cNvSpPr txBox="1"/>
          <p:nvPr/>
        </p:nvSpPr>
        <p:spPr>
          <a:xfrm>
            <a:off x="6876288" y="3163824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Supabase PostgreSQL + auth + RLS</a:t>
            </a:r>
          </a:p>
        </p:txBody>
      </p:sp>
      <p:sp>
        <p:nvSpPr>
          <p:cNvPr id="47" name="phd11"/>
          <p:cNvSpPr/>
          <p:nvPr/>
        </p:nvSpPr>
        <p:spPr>
          <a:xfrm>
            <a:off x="6693408" y="3849624"/>
            <a:ext cx="82296" cy="82296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pht11"/>
          <p:cNvSpPr txBox="1"/>
          <p:nvPr/>
        </p:nvSpPr>
        <p:spPr>
          <a:xfrm>
            <a:off x="6876288" y="3785615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Real cross-device approval requests</a:t>
            </a:r>
          </a:p>
        </p:txBody>
      </p:sp>
      <p:sp>
        <p:nvSpPr>
          <p:cNvPr id="49" name="phd12"/>
          <p:cNvSpPr/>
          <p:nvPr/>
        </p:nvSpPr>
        <p:spPr>
          <a:xfrm>
            <a:off x="6693408" y="4471416"/>
            <a:ext cx="82296" cy="82296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pht12"/>
          <p:cNvSpPr txBox="1"/>
          <p:nvPr/>
        </p:nvSpPr>
        <p:spPr>
          <a:xfrm>
            <a:off x="6876288" y="4407408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Versioned, authenticated export / import</a:t>
            </a:r>
          </a:p>
        </p:txBody>
      </p:sp>
      <p:sp>
        <p:nvSpPr>
          <p:cNvPr id="51" name="phd13"/>
          <p:cNvSpPr/>
          <p:nvPr/>
        </p:nvSpPr>
        <p:spPr>
          <a:xfrm>
            <a:off x="6693408" y="5093208"/>
            <a:ext cx="82296" cy="82296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pht13"/>
          <p:cNvSpPr txBox="1"/>
          <p:nvPr/>
        </p:nvSpPr>
        <p:spPr>
          <a:xfrm>
            <a:off x="6876288" y="5029200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Verified wage benchmark configuration</a:t>
            </a:r>
          </a:p>
        </p:txBody>
      </p:sp>
      <p:sp>
        <p:nvSpPr>
          <p:cNvPr id="53" name="ph2"/>
          <p:cNvSpPr/>
          <p:nvPr/>
        </p:nvSpPr>
        <p:spPr>
          <a:xfrm>
            <a:off x="9144000" y="2432304"/>
            <a:ext cx="2487168" cy="3346704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 w="11430">
            <a:solidFill>
              <a:srgbClr val="E6DBC2"/>
            </a:solidFill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phh2"/>
          <p:cNvSpPr/>
          <p:nvPr/>
        </p:nvSpPr>
        <p:spPr>
          <a:xfrm>
            <a:off x="9144000" y="2432304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php2"/>
          <p:cNvSpPr txBox="1"/>
          <p:nvPr/>
        </p:nvSpPr>
        <p:spPr>
          <a:xfrm>
            <a:off x="9345168" y="2487168"/>
            <a:ext cx="2121408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20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56" name="phs2"/>
          <p:cNvSpPr txBox="1"/>
          <p:nvPr/>
        </p:nvSpPr>
        <p:spPr>
          <a:xfrm>
            <a:off x="9345168" y="2688336"/>
            <a:ext cx="2121408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Calibri"/>
              </a:rPr>
              <a:t>Deployment-ready</a:t>
            </a:r>
          </a:p>
        </p:txBody>
      </p:sp>
      <p:sp>
        <p:nvSpPr>
          <p:cNvPr id="57" name="phd20"/>
          <p:cNvSpPr/>
          <p:nvPr/>
        </p:nvSpPr>
        <p:spPr>
          <a:xfrm>
            <a:off x="9363456" y="3227832"/>
            <a:ext cx="82296" cy="82296"/>
          </a:xfrm>
          <a:prstGeom prst="ellipse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pht20"/>
          <p:cNvSpPr txBox="1"/>
          <p:nvPr/>
        </p:nvSpPr>
        <p:spPr>
          <a:xfrm>
            <a:off x="9546336" y="3163824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PWA service worker + sync queue</a:t>
            </a:r>
          </a:p>
        </p:txBody>
      </p:sp>
      <p:sp>
        <p:nvSpPr>
          <p:cNvPr id="59" name="phd21"/>
          <p:cNvSpPr/>
          <p:nvPr/>
        </p:nvSpPr>
        <p:spPr>
          <a:xfrm>
            <a:off x="9363456" y="3849624"/>
            <a:ext cx="82296" cy="82296"/>
          </a:xfrm>
          <a:prstGeom prst="ellipse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pht21"/>
          <p:cNvSpPr txBox="1"/>
          <p:nvPr/>
        </p:nvSpPr>
        <p:spPr>
          <a:xfrm>
            <a:off x="9546336" y="3785615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Conflict preservation, never overwrite</a:t>
            </a:r>
          </a:p>
        </p:txBody>
      </p:sp>
      <p:sp>
        <p:nvSpPr>
          <p:cNvPr id="61" name="phd22"/>
          <p:cNvSpPr/>
          <p:nvPr/>
        </p:nvSpPr>
        <p:spPr>
          <a:xfrm>
            <a:off x="9363456" y="4471416"/>
            <a:ext cx="82296" cy="82296"/>
          </a:xfrm>
          <a:prstGeom prst="ellipse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pht22"/>
          <p:cNvSpPr txBox="1"/>
          <p:nvPr/>
        </p:nvSpPr>
        <p:spPr>
          <a:xfrm>
            <a:off x="9546336" y="4407408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Usability research with workers</a:t>
            </a:r>
          </a:p>
        </p:txBody>
      </p:sp>
      <p:sp>
        <p:nvSpPr>
          <p:cNvPr id="63" name="phd23"/>
          <p:cNvSpPr/>
          <p:nvPr/>
        </p:nvSpPr>
        <p:spPr>
          <a:xfrm>
            <a:off x="9363456" y="5093208"/>
            <a:ext cx="82296" cy="82296"/>
          </a:xfrm>
          <a:prstGeom prst="ellipse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pht23"/>
          <p:cNvSpPr txBox="1"/>
          <p:nvPr/>
        </p:nvSpPr>
        <p:spPr>
          <a:xfrm>
            <a:off x="9546336" y="5029200"/>
            <a:ext cx="1883664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E6459"/>
                </a:solidFill>
                <a:latin typeface="Calibri"/>
              </a:rPr>
              <a:t>Broader automated and manual testing</a:t>
            </a:r>
          </a:p>
        </p:txBody>
      </p:sp>
      <p:sp>
        <p:nvSpPr>
          <p:cNvPr id="65" name="gate"/>
          <p:cNvSpPr/>
          <p:nvPr/>
        </p:nvSpPr>
        <p:spPr>
          <a:xfrm>
            <a:off x="3803904" y="5870448"/>
            <a:ext cx="7827264" cy="512064"/>
          </a:xfrm>
          <a:prstGeom prst="roundRect">
            <a:avLst>
              <a:gd name="adj" fmla="val 17857"/>
            </a:avLst>
          </a:prstGeom>
          <a:solidFill>
            <a:srgbClr val="0E2A20"/>
          </a:solidFill>
          <a:ln>
            <a:noFill/>
          </a:ln>
          <a:effectLst>
            <a:outerShdw blurRad="91440" dist="32004" dir="5400000" algn="t" rotWithShape="0">
              <a:srgbClr val="0E2A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gate/bar"/>
          <p:cNvSpPr/>
          <p:nvPr/>
        </p:nvSpPr>
        <p:spPr>
          <a:xfrm>
            <a:off x="3803904" y="6016752"/>
            <a:ext cx="54864" cy="219456"/>
          </a:xfrm>
          <a:prstGeom prst="roundRect">
            <a:avLst>
              <a:gd name="adj" fmla="val 50000"/>
            </a:avLst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gate/t"/>
          <p:cNvSpPr txBox="1"/>
          <p:nvPr/>
        </p:nvSpPr>
        <p:spPr>
          <a:xfrm>
            <a:off x="4041648" y="5980176"/>
            <a:ext cx="742492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FFFFF"/>
                </a:solidFill>
                <a:latin typeface="Calibri"/>
              </a:rPr>
              <a:t>Nothing in the “Next” or “Later” columns exists in the current build.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52000">
                <a:srgbClr val="113528"/>
              </a:gs>
              <a:gs pos="100000">
                <a:srgbClr val="07160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!!Edge"/>
          <p:cNvSpPr/>
          <p:nvPr/>
        </p:nvSpPr>
        <p:spPr>
          <a:xfrm>
            <a:off x="0" y="0"/>
            <a:ext cx="12700" cy="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mark"/>
          <p:cNvSpPr/>
          <p:nvPr/>
        </p:nvSpPr>
        <p:spPr>
          <a:xfrm>
            <a:off x="804672" y="548640"/>
            <a:ext cx="351129" cy="351129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0"/>
          <p:cNvSpPr/>
          <p:nvPr/>
        </p:nvSpPr>
        <p:spPr>
          <a:xfrm>
            <a:off x="892454" y="648126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1"/>
          <p:cNvSpPr/>
          <p:nvPr/>
        </p:nvSpPr>
        <p:spPr>
          <a:xfrm>
            <a:off x="892454" y="706648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bar2"/>
          <p:cNvSpPr/>
          <p:nvPr/>
        </p:nvSpPr>
        <p:spPr>
          <a:xfrm>
            <a:off x="892454" y="765169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wm/text"/>
          <p:cNvSpPr txBox="1"/>
          <p:nvPr/>
        </p:nvSpPr>
        <p:spPr>
          <a:xfrm>
            <a:off x="1272844" y="531083"/>
            <a:ext cx="2516428" cy="351129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1216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822960" y="969264"/>
            <a:ext cx="54864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40">
                <a:solidFill>
                  <a:srgbClr val="E3B04B"/>
                </a:solidFill>
                <a:latin typeface="Calibri"/>
              </a:rPr>
              <a:t>SECTION 06  ·  OUTLOOK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9528048" y="4828032"/>
            <a:ext cx="2121408" cy="1298448"/>
            <a:chOff x="9528048" y="4828032"/>
            <a:chExt cx="2121408" cy="1298448"/>
          </a:xfrm>
          <a:scene3d>
            <a:camera prst="perspectiveRelaxed" fov="42000" zoom="100000">
              <a:rot lat="-72000" lon="-972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9528048" y="4828032"/>
              <a:ext cx="2121408" cy="1280160"/>
            </a:xfrm>
            <a:prstGeom prst="roundRect">
              <a:avLst>
                <a:gd name="adj" fmla="val 6428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9546336" y="4846320"/>
              <a:ext cx="2084831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9646920" y="4869180"/>
              <a:ext cx="1883663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9646920" y="5138928"/>
              <a:ext cx="1883663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9646920" y="5522976"/>
              <a:ext cx="1883663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9646920" y="5724144"/>
              <a:ext cx="1883663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964692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060704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9528048" y="3127248"/>
            <a:ext cx="2121408" cy="1170432"/>
          </a:xfrm>
          <a:prstGeom prst="roundRect">
            <a:avLst>
              <a:gd name="adj" fmla="val 7031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!!RailFill"/>
          <p:cNvSpPr/>
          <p:nvPr/>
        </p:nvSpPr>
        <p:spPr>
          <a:xfrm>
            <a:off x="0" y="6675120"/>
            <a:ext cx="11429714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Dot"/>
          <p:cNvSpPr/>
          <p:nvPr/>
        </p:nvSpPr>
        <p:spPr>
          <a:xfrm>
            <a:off x="11379422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!!PageNo"/>
          <p:cNvSpPr txBox="1"/>
          <p:nvPr/>
        </p:nvSpPr>
        <p:spPr>
          <a:xfrm>
            <a:off x="100126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B04B"/>
                </a:solidFill>
                <a:latin typeface="Calibri"/>
              </a:rPr>
              <a:t>30</a:t>
            </a:r>
            <a:r>
              <a:rPr sz="850" b="0" i="0">
                <a:solidFill>
                  <a:srgbClr val="8BC7A6"/>
                </a:solidFill>
                <a:latin typeface="Calibri"/>
              </a:rPr>
              <a:t> / 32</a:t>
            </a:r>
          </a:p>
        </p:txBody>
      </p:sp>
      <p:sp>
        <p:nvSpPr>
          <p:cNvPr id="25" name="eyebrow"/>
          <p:cNvSpPr txBox="1"/>
          <p:nvPr/>
        </p:nvSpPr>
        <p:spPr>
          <a:xfrm>
            <a:off x="822960" y="1280160"/>
            <a:ext cx="5486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260">
                <a:solidFill>
                  <a:srgbClr val="E3B04B"/>
                </a:solidFill>
                <a:latin typeface="Calibri"/>
              </a:rPr>
              <a:t>CONCLUSION</a:t>
            </a:r>
          </a:p>
        </p:txBody>
      </p:sp>
      <p:sp>
        <p:nvSpPr>
          <p:cNvPr id="26" name="h"/>
          <p:cNvSpPr txBox="1"/>
          <p:nvPr/>
        </p:nvSpPr>
        <p:spPr>
          <a:xfrm>
            <a:off x="786384" y="1554480"/>
            <a:ext cx="7863840" cy="1463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Transparency is a mechanism,
not a slogan.</a:t>
            </a:r>
          </a:p>
        </p:txBody>
      </p:sp>
      <p:sp>
        <p:nvSpPr>
          <p:cNvPr id="27" name="cl0"/>
          <p:cNvSpPr/>
          <p:nvPr/>
        </p:nvSpPr>
        <p:spPr>
          <a:xfrm>
            <a:off x="822960" y="3346704"/>
            <a:ext cx="54864" cy="603504"/>
          </a:xfrm>
          <a:prstGeom prst="rect">
            <a:avLst/>
          </a:prstGeom>
          <a:solidFill>
            <a:srgbClr val="16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ct0"/>
          <p:cNvSpPr txBox="1"/>
          <p:nvPr/>
        </p:nvSpPr>
        <p:spPr>
          <a:xfrm>
            <a:off x="1024128" y="3310128"/>
            <a:ext cx="11887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16A574"/>
                </a:solidFill>
                <a:latin typeface="Calibri"/>
              </a:rPr>
              <a:t>SHIPPED</a:t>
            </a:r>
          </a:p>
        </p:txBody>
      </p:sp>
      <p:sp>
        <p:nvSpPr>
          <p:cNvPr id="29" name="cd0"/>
          <p:cNvSpPr txBox="1"/>
          <p:nvPr/>
        </p:nvSpPr>
        <p:spPr>
          <a:xfrm>
            <a:off x="2103120" y="3291840"/>
            <a:ext cx="6492240" cy="6949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Calibri"/>
              </a:rPr>
              <a:t>Shared wage engine · explicit payment states · preserved corrections · SHA-256 chain · seven explainable rules · QR pass</a:t>
            </a:r>
          </a:p>
        </p:txBody>
      </p:sp>
      <p:sp>
        <p:nvSpPr>
          <p:cNvPr id="30" name="cl1"/>
          <p:cNvSpPr/>
          <p:nvPr/>
        </p:nvSpPr>
        <p:spPr>
          <a:xfrm>
            <a:off x="822960" y="4187952"/>
            <a:ext cx="54864" cy="603504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ct1"/>
          <p:cNvSpPr txBox="1"/>
          <p:nvPr/>
        </p:nvSpPr>
        <p:spPr>
          <a:xfrm>
            <a:off x="1024128" y="4151376"/>
            <a:ext cx="11887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E3B04B"/>
                </a:solidFill>
                <a:latin typeface="Calibri"/>
              </a:rPr>
              <a:t>DELIBERATE</a:t>
            </a:r>
          </a:p>
        </p:txBody>
      </p:sp>
      <p:sp>
        <p:nvSpPr>
          <p:cNvPr id="32" name="cd1"/>
          <p:cNvSpPr txBox="1"/>
          <p:nvPr/>
        </p:nvSpPr>
        <p:spPr>
          <a:xfrm>
            <a:off x="2103120" y="4133088"/>
            <a:ext cx="6492240" cy="6949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Calibri"/>
              </a:rPr>
              <a:t>Removed NFC hardware and removed the claim that a QR is authentication</a:t>
            </a:r>
          </a:p>
        </p:txBody>
      </p:sp>
      <p:sp>
        <p:nvSpPr>
          <p:cNvPr id="33" name="cl2"/>
          <p:cNvSpPr/>
          <p:nvPr/>
        </p:nvSpPr>
        <p:spPr>
          <a:xfrm>
            <a:off x="822960" y="5029200"/>
            <a:ext cx="54864" cy="603504"/>
          </a:xfrm>
          <a:prstGeom prst="rect">
            <a:avLst/>
          </a:prstGeom>
          <a:solidFill>
            <a:srgbClr val="C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ct2"/>
          <p:cNvSpPr txBox="1"/>
          <p:nvPr/>
        </p:nvSpPr>
        <p:spPr>
          <a:xfrm>
            <a:off x="1024128" y="4992624"/>
            <a:ext cx="11887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C2542D"/>
                </a:solidFill>
                <a:latin typeface="Calibri"/>
              </a:rPr>
              <a:t>BOUNDED</a:t>
            </a:r>
          </a:p>
        </p:txBody>
      </p:sp>
      <p:sp>
        <p:nvSpPr>
          <p:cNvPr id="35" name="cd2"/>
          <p:cNvSpPr txBox="1"/>
          <p:nvPr/>
        </p:nvSpPr>
        <p:spPr>
          <a:xfrm>
            <a:off x="2103120" y="4974336"/>
            <a:ext cx="6492240" cy="6949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FFFFFF"/>
                </a:solidFill>
                <a:latin typeface="Calibri"/>
              </a:rPr>
              <a:t>No proof of attendance, no guarantee of payment, no legal ruling, no blockchain</a:t>
            </a:r>
          </a:p>
        </p:txBody>
      </p:sp>
      <p:sp>
        <p:nvSpPr>
          <p:cNvPr id="36" name="k"/>
          <p:cNvSpPr txBox="1"/>
          <p:nvPr/>
        </p:nvSpPr>
        <p:spPr>
          <a:xfrm>
            <a:off x="822960" y="58704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1">
                <a:solidFill>
                  <a:srgbClr val="F2D79B"/>
                </a:solidFill>
                <a:latin typeface="Calibri"/>
              </a:rPr>
              <a:t>Every shift recorded. Every wage explained. Every change traceable.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100000">
                <a:srgbClr val="0A2018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Edge"/>
          <p:cNvSpPr/>
          <p:nvPr/>
        </p:nvSpPr>
        <p:spPr>
          <a:xfrm>
            <a:off x="3108960" y="0"/>
            <a:ext cx="12700" cy="685800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wm/mark"/>
          <p:cNvSpPr/>
          <p:nvPr/>
        </p:nvSpPr>
        <p:spPr>
          <a:xfrm>
            <a:off x="420624" y="402336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bar0"/>
          <p:cNvSpPr/>
          <p:nvPr/>
        </p:nvSpPr>
        <p:spPr>
          <a:xfrm>
            <a:off x="489204" y="48006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1"/>
          <p:cNvSpPr/>
          <p:nvPr/>
        </p:nvSpPr>
        <p:spPr>
          <a:xfrm>
            <a:off x="489204" y="52578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2"/>
          <p:cNvSpPr/>
          <p:nvPr/>
        </p:nvSpPr>
        <p:spPr>
          <a:xfrm>
            <a:off x="489204" y="571500"/>
            <a:ext cx="137160" cy="20116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text"/>
          <p:cNvSpPr txBox="1"/>
          <p:nvPr/>
        </p:nvSpPr>
        <p:spPr>
          <a:xfrm>
            <a:off x="786384" y="388620"/>
            <a:ext cx="19659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950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9" name="!!SecNo"/>
          <p:cNvSpPr txBox="1"/>
          <p:nvPr/>
        </p:nvSpPr>
        <p:spPr>
          <a:xfrm>
            <a:off x="384048" y="987552"/>
            <a:ext cx="1463040" cy="10607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3B04B">
                    <a:alpha val="26000"/>
                  </a:srgbClr>
                </a:solidFill>
                <a:latin typeface="Georgia"/>
              </a:rPr>
              <a:t>06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420624" y="2084831"/>
            <a:ext cx="2331720" cy="777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240">
                <a:solidFill>
                  <a:srgbClr val="E3B04B"/>
                </a:solidFill>
                <a:latin typeface="Calibri"/>
              </a:rPr>
              <a:t>SECTION 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Georgia"/>
              </a:rPr>
              <a:t>Outlook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402336" y="3127248"/>
            <a:ext cx="2331720" cy="1389888"/>
            <a:chOff x="402336" y="3127248"/>
            <a:chExt cx="2331720" cy="1389888"/>
          </a:xfrm>
          <a:scene3d>
            <a:camera prst="perspectiveRelaxed" fov="42000" zoom="100000">
              <a:rot lat="-210000" lon="-804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402336" y="3127248"/>
              <a:ext cx="2331720" cy="1389888"/>
            </a:xfrm>
            <a:prstGeom prst="roundRect">
              <a:avLst>
                <a:gd name="adj" fmla="val 5921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420624" y="3145536"/>
              <a:ext cx="2295144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521208" y="3168396"/>
              <a:ext cx="2093976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521208" y="3438144"/>
              <a:ext cx="2093976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521208" y="3822191"/>
              <a:ext cx="2093976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521208" y="4023360"/>
              <a:ext cx="2093976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521208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586484" y="4078224"/>
              <a:ext cx="1046988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402336" y="4864608"/>
            <a:ext cx="2331720" cy="1024128"/>
          </a:xfrm>
          <a:prstGeom prst="roundRect">
            <a:avLst>
              <a:gd name="adj" fmla="val 8035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SideFoot"/>
          <p:cNvSpPr txBox="1"/>
          <p:nvPr/>
        </p:nvSpPr>
        <p:spPr>
          <a:xfrm>
            <a:off x="420624" y="6035040"/>
            <a:ext cx="2468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/>
                </a:solidFill>
                <a:latin typeface="Georgia"/>
              </a:rPr>
              <a:t>Every shift recorded.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78000"/>
                  </a:srgbClr>
                </a:solidFill>
                <a:latin typeface="Georgia"/>
              </a:rPr>
              <a:t>Every wage explained.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8BC7A6">
                    <a:alpha val="56000"/>
                  </a:srgbClr>
                </a:solidFill>
                <a:latin typeface="Georgia"/>
              </a:rPr>
              <a:t>Every change traceable.</a:t>
            </a:r>
          </a:p>
        </p:txBody>
      </p:sp>
      <p:sp>
        <p:nvSpPr>
          <p:cNvPr id="22" name="!!Accent"/>
          <p:cNvSpPr/>
          <p:nvPr/>
        </p:nvSpPr>
        <p:spPr>
          <a:xfrm>
            <a:off x="3803904" y="731520"/>
            <a:ext cx="475488" cy="41148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Title" descr="References and sources"/>
          <p:cNvSpPr txBox="1"/>
          <p:nvPr/>
        </p:nvSpPr>
        <p:spPr>
          <a:xfrm>
            <a:off x="3803904" y="841248"/>
            <a:ext cx="7827264" cy="8961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 i="0">
                <a:solidFill>
                  <a:srgbClr val="12211B"/>
                </a:solidFill>
                <a:latin typeface="Georgia"/>
              </a:rPr>
              <a:t>References and sources</a:t>
            </a:r>
          </a:p>
        </p:txBody>
      </p:sp>
      <p:sp>
        <p:nvSpPr>
          <p:cNvPr id="24" name="!!Lede"/>
          <p:cNvSpPr txBox="1"/>
          <p:nvPr/>
        </p:nvSpPr>
        <p:spPr>
          <a:xfrm>
            <a:off x="3803904" y="1682496"/>
            <a:ext cx="7690104" cy="56692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E6459"/>
                </a:solidFill>
                <a:latin typeface="Calibri"/>
              </a:rPr>
              <a:t>Every external claim in this deck comes from one of these documents; every internal figure comes from the prototype's own verification report.</a:t>
            </a:r>
          </a:p>
        </p:txBody>
      </p:sp>
      <p:sp>
        <p:nvSpPr>
          <p:cNvPr id="25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!!RailFill"/>
          <p:cNvSpPr/>
          <p:nvPr/>
        </p:nvSpPr>
        <p:spPr>
          <a:xfrm>
            <a:off x="0" y="6675120"/>
            <a:ext cx="11810704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!!Dot"/>
          <p:cNvSpPr/>
          <p:nvPr/>
        </p:nvSpPr>
        <p:spPr>
          <a:xfrm>
            <a:off x="11760412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!!PageNo"/>
          <p:cNvSpPr txBox="1"/>
          <p:nvPr/>
        </p:nvSpPr>
        <p:spPr>
          <a:xfrm>
            <a:off x="109270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812C"/>
                </a:solidFill>
                <a:latin typeface="Calibri"/>
              </a:rPr>
              <a:t>31</a:t>
            </a:r>
            <a:r>
              <a:rPr sz="850" b="0" i="0">
                <a:solidFill>
                  <a:srgbClr val="7C8F85"/>
                </a:solidFill>
                <a:latin typeface="Calibri"/>
              </a:rPr>
              <a:t> / 32</a:t>
            </a:r>
          </a:p>
        </p:txBody>
      </p:sp>
      <p:sp>
        <p:nvSpPr>
          <p:cNvPr id="29" name="rf01n"/>
          <p:cNvSpPr txBox="1"/>
          <p:nvPr/>
        </p:nvSpPr>
        <p:spPr>
          <a:xfrm>
            <a:off x="3803904" y="2432304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01</a:t>
            </a:r>
          </a:p>
        </p:txBody>
      </p:sp>
      <p:sp>
        <p:nvSpPr>
          <p:cNvPr id="30" name="rf01m"/>
          <p:cNvSpPr txBox="1"/>
          <p:nvPr/>
        </p:nvSpPr>
        <p:spPr>
          <a:xfrm>
            <a:off x="4206240" y="2414016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Ministry of Labour &amp; Employment, Government of India. e-Shram Portal.</a:t>
            </a:r>
          </a:p>
        </p:txBody>
      </p:sp>
      <p:sp>
        <p:nvSpPr>
          <p:cNvPr id="31" name="rf01s"/>
          <p:cNvSpPr txBox="1"/>
          <p:nvPr/>
        </p:nvSpPr>
        <p:spPr>
          <a:xfrm>
            <a:off x="4206240" y="2816352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https://eshram.gov.in/ · accessed October 2026</a:t>
            </a:r>
          </a:p>
        </p:txBody>
      </p:sp>
      <p:sp>
        <p:nvSpPr>
          <p:cNvPr id="32" name="rf01l"/>
          <p:cNvSpPr/>
          <p:nvPr/>
        </p:nvSpPr>
        <p:spPr>
          <a:xfrm>
            <a:off x="4206240" y="3218688"/>
            <a:ext cx="3364992" cy="1016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f02n"/>
          <p:cNvSpPr txBox="1"/>
          <p:nvPr/>
        </p:nvSpPr>
        <p:spPr>
          <a:xfrm>
            <a:off x="3803904" y="3291840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02</a:t>
            </a:r>
          </a:p>
        </p:txBody>
      </p:sp>
      <p:sp>
        <p:nvSpPr>
          <p:cNvPr id="34" name="rf02m"/>
          <p:cNvSpPr txBox="1"/>
          <p:nvPr/>
        </p:nvSpPr>
        <p:spPr>
          <a:xfrm>
            <a:off x="4206240" y="3273552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Comptroller &amp; Auditor General of India. Report on Implementation of MGNREGA (Kerala), Report No. 9 of 2025.</a:t>
            </a:r>
          </a:p>
        </p:txBody>
      </p:sp>
      <p:sp>
        <p:nvSpPr>
          <p:cNvPr id="35" name="rf02s"/>
          <p:cNvSpPr txBox="1"/>
          <p:nvPr/>
        </p:nvSpPr>
        <p:spPr>
          <a:xfrm>
            <a:off x="4206240" y="3675888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Laid before the Kerala Legislative Assembly, 24 February 2026</a:t>
            </a:r>
          </a:p>
        </p:txBody>
      </p:sp>
      <p:sp>
        <p:nvSpPr>
          <p:cNvPr id="36" name="rf02l"/>
          <p:cNvSpPr/>
          <p:nvPr/>
        </p:nvSpPr>
        <p:spPr>
          <a:xfrm>
            <a:off x="4206240" y="4078224"/>
            <a:ext cx="3364992" cy="1016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f03n"/>
          <p:cNvSpPr txBox="1"/>
          <p:nvPr/>
        </p:nvSpPr>
        <p:spPr>
          <a:xfrm>
            <a:off x="3803904" y="4151376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03</a:t>
            </a:r>
          </a:p>
        </p:txBody>
      </p:sp>
      <p:sp>
        <p:nvSpPr>
          <p:cNvPr id="38" name="rf03m"/>
          <p:cNvSpPr txBox="1"/>
          <p:nvPr/>
        </p:nvSpPr>
        <p:spPr>
          <a:xfrm>
            <a:off x="4206240" y="4133088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Comptroller &amp; Auditor General of India. Audit of MGNREGS in Jammu &amp; Kashmir.</a:t>
            </a:r>
          </a:p>
        </p:txBody>
      </p:sp>
      <p:sp>
        <p:nvSpPr>
          <p:cNvPr id="39" name="rf03s"/>
          <p:cNvSpPr txBox="1"/>
          <p:nvPr/>
        </p:nvSpPr>
        <p:spPr>
          <a:xfrm>
            <a:off x="4206240" y="4535424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As reported in 2026 secondary coverage of the CAG report</a:t>
            </a:r>
          </a:p>
        </p:txBody>
      </p:sp>
      <p:sp>
        <p:nvSpPr>
          <p:cNvPr id="40" name="rf03l"/>
          <p:cNvSpPr/>
          <p:nvPr/>
        </p:nvSpPr>
        <p:spPr>
          <a:xfrm>
            <a:off x="4206240" y="4937760"/>
            <a:ext cx="3364992" cy="1016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f04n"/>
          <p:cNvSpPr txBox="1"/>
          <p:nvPr/>
        </p:nvSpPr>
        <p:spPr>
          <a:xfrm>
            <a:off x="3803904" y="5010912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04</a:t>
            </a:r>
          </a:p>
        </p:txBody>
      </p:sp>
      <p:sp>
        <p:nvSpPr>
          <p:cNvPr id="42" name="rf04m"/>
          <p:cNvSpPr txBox="1"/>
          <p:nvPr/>
        </p:nvSpPr>
        <p:spPr>
          <a:xfrm>
            <a:off x="4206240" y="4992624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Calcutta High Court. M/s. Bharat Sanchar Nigam Ltd v Union of India &amp; Ors.</a:t>
            </a:r>
          </a:p>
        </p:txBody>
      </p:sp>
      <p:sp>
        <p:nvSpPr>
          <p:cNvPr id="43" name="rf04s"/>
          <p:cNvSpPr txBox="1"/>
          <p:nvPr/>
        </p:nvSpPr>
        <p:spPr>
          <a:xfrm>
            <a:off x="4206240" y="5394960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WPA 25460 of 2025 · judgment dated 7 January 2026</a:t>
            </a:r>
          </a:p>
        </p:txBody>
      </p:sp>
      <p:sp>
        <p:nvSpPr>
          <p:cNvPr id="44" name="rf05n"/>
          <p:cNvSpPr txBox="1"/>
          <p:nvPr/>
        </p:nvSpPr>
        <p:spPr>
          <a:xfrm>
            <a:off x="7818120" y="2432304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05</a:t>
            </a:r>
          </a:p>
        </p:txBody>
      </p:sp>
      <p:sp>
        <p:nvSpPr>
          <p:cNvPr id="45" name="rf05m"/>
          <p:cNvSpPr txBox="1"/>
          <p:nvPr/>
        </p:nvSpPr>
        <p:spPr>
          <a:xfrm>
            <a:off x="8220456" y="2414016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International Labour Organization. Scaling up digital wages: lessons and challenges from India's enabling environment.</a:t>
            </a:r>
          </a:p>
        </p:txBody>
      </p:sp>
      <p:sp>
        <p:nvSpPr>
          <p:cNvPr id="46" name="rf05s"/>
          <p:cNvSpPr txBox="1"/>
          <p:nvPr/>
        </p:nvSpPr>
        <p:spPr>
          <a:xfrm>
            <a:off x="8220456" y="2816352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ILO, 2024</a:t>
            </a:r>
          </a:p>
        </p:txBody>
      </p:sp>
      <p:sp>
        <p:nvSpPr>
          <p:cNvPr id="47" name="rf05l"/>
          <p:cNvSpPr/>
          <p:nvPr/>
        </p:nvSpPr>
        <p:spPr>
          <a:xfrm>
            <a:off x="8220456" y="3218688"/>
            <a:ext cx="3364992" cy="1016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rf06n"/>
          <p:cNvSpPr txBox="1"/>
          <p:nvPr/>
        </p:nvSpPr>
        <p:spPr>
          <a:xfrm>
            <a:off x="7818120" y="3291840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06</a:t>
            </a:r>
          </a:p>
        </p:txBody>
      </p:sp>
      <p:sp>
        <p:nvSpPr>
          <p:cNvPr id="49" name="rf06m"/>
          <p:cNvSpPr txBox="1"/>
          <p:nvPr/>
        </p:nvSpPr>
        <p:spPr>
          <a:xfrm>
            <a:off x="8220456" y="3273552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MDN Web Docs. SubtleCrypto.digest() and Window.localStorage.</a:t>
            </a:r>
          </a:p>
        </p:txBody>
      </p:sp>
      <p:sp>
        <p:nvSpPr>
          <p:cNvPr id="50" name="rf06s"/>
          <p:cNvSpPr txBox="1"/>
          <p:nvPr/>
        </p:nvSpPr>
        <p:spPr>
          <a:xfrm>
            <a:off x="8220456" y="3675888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developer.mozilla.org · accessed October 2026</a:t>
            </a:r>
          </a:p>
        </p:txBody>
      </p:sp>
      <p:sp>
        <p:nvSpPr>
          <p:cNvPr id="51" name="rf06l"/>
          <p:cNvSpPr/>
          <p:nvPr/>
        </p:nvSpPr>
        <p:spPr>
          <a:xfrm>
            <a:off x="8220456" y="4078224"/>
            <a:ext cx="3364992" cy="1016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rf07n"/>
          <p:cNvSpPr txBox="1"/>
          <p:nvPr/>
        </p:nvSpPr>
        <p:spPr>
          <a:xfrm>
            <a:off x="7818120" y="4151376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07</a:t>
            </a:r>
          </a:p>
        </p:txBody>
      </p:sp>
      <p:sp>
        <p:nvSpPr>
          <p:cNvPr id="53" name="rf07m"/>
          <p:cNvSpPr txBox="1"/>
          <p:nvPr/>
        </p:nvSpPr>
        <p:spPr>
          <a:xfrm>
            <a:off x="8220456" y="4133088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Supabase. About billing on Supabase — free-plan quotas and compute pricing.</a:t>
            </a:r>
          </a:p>
        </p:txBody>
      </p:sp>
      <p:sp>
        <p:nvSpPr>
          <p:cNvPr id="54" name="rf07s"/>
          <p:cNvSpPr txBox="1"/>
          <p:nvPr/>
        </p:nvSpPr>
        <p:spPr>
          <a:xfrm>
            <a:off x="8220456" y="4535424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supabase.com/docs · accessed October 2026</a:t>
            </a:r>
          </a:p>
        </p:txBody>
      </p:sp>
      <p:sp>
        <p:nvSpPr>
          <p:cNvPr id="55" name="rf07l"/>
          <p:cNvSpPr/>
          <p:nvPr/>
        </p:nvSpPr>
        <p:spPr>
          <a:xfrm>
            <a:off x="8220456" y="4937760"/>
            <a:ext cx="3364992" cy="10160"/>
          </a:xfrm>
          <a:prstGeom prst="rect">
            <a:avLst/>
          </a:prstGeom>
          <a:solidFill>
            <a:srgbClr val="E6D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rf08n"/>
          <p:cNvSpPr txBox="1"/>
          <p:nvPr/>
        </p:nvSpPr>
        <p:spPr>
          <a:xfrm>
            <a:off x="7818120" y="5010912"/>
            <a:ext cx="40233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9812C"/>
                </a:solidFill>
                <a:latin typeface="Georgia"/>
              </a:rPr>
              <a:t>08</a:t>
            </a:r>
          </a:p>
        </p:txBody>
      </p:sp>
      <p:sp>
        <p:nvSpPr>
          <p:cNvPr id="57" name="rf08m"/>
          <p:cNvSpPr txBox="1"/>
          <p:nvPr/>
        </p:nvSpPr>
        <p:spPr>
          <a:xfrm>
            <a:off x="8220456" y="4992624"/>
            <a:ext cx="336499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2211B"/>
                </a:solidFill>
                <a:latin typeface="Calibri"/>
              </a:rPr>
              <a:t>Vite documentation; WHATWG Storage Standard.</a:t>
            </a:r>
          </a:p>
        </p:txBody>
      </p:sp>
      <p:sp>
        <p:nvSpPr>
          <p:cNvPr id="58" name="rf08s"/>
          <p:cNvSpPr txBox="1"/>
          <p:nvPr/>
        </p:nvSpPr>
        <p:spPr>
          <a:xfrm>
            <a:off x="8220456" y="5394960"/>
            <a:ext cx="3364992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F85"/>
                </a:solidFill>
                <a:latin typeface="Calibri"/>
              </a:rPr>
              <a:t>vitejs.dev · storage.spec.whatwg.org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A20"/>
              </a:gs>
              <a:gs pos="52000">
                <a:srgbClr val="113528"/>
              </a:gs>
              <a:gs pos="100000">
                <a:srgbClr val="07160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!!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!!Edge"/>
          <p:cNvSpPr/>
          <p:nvPr/>
        </p:nvSpPr>
        <p:spPr>
          <a:xfrm>
            <a:off x="0" y="0"/>
            <a:ext cx="12700" cy="0"/>
          </a:xfrm>
          <a:prstGeom prst="rect">
            <a:avLst/>
          </a:prstGeom>
          <a:solidFill>
            <a:srgbClr val="B9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wm/mark"/>
          <p:cNvSpPr/>
          <p:nvPr/>
        </p:nvSpPr>
        <p:spPr>
          <a:xfrm>
            <a:off x="804672" y="548640"/>
            <a:ext cx="351129" cy="351129"/>
          </a:xfrm>
          <a:prstGeom prst="roundRect">
            <a:avLst>
              <a:gd name="adj" fmla="val 23333"/>
            </a:avLst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wm/bar0"/>
          <p:cNvSpPr/>
          <p:nvPr/>
        </p:nvSpPr>
        <p:spPr>
          <a:xfrm>
            <a:off x="892454" y="648126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wm/bar1"/>
          <p:cNvSpPr/>
          <p:nvPr/>
        </p:nvSpPr>
        <p:spPr>
          <a:xfrm>
            <a:off x="892454" y="706648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wm/bar2"/>
          <p:cNvSpPr/>
          <p:nvPr/>
        </p:nvSpPr>
        <p:spPr>
          <a:xfrm>
            <a:off x="892454" y="765169"/>
            <a:ext cx="175564" cy="25749"/>
          </a:xfrm>
          <a:prstGeom prst="rect">
            <a:avLst/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wm/text"/>
          <p:cNvSpPr txBox="1"/>
          <p:nvPr/>
        </p:nvSpPr>
        <p:spPr>
          <a:xfrm>
            <a:off x="1272844" y="531083"/>
            <a:ext cx="2516428" cy="351129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1" i="0" spc="240">
                <a:solidFill>
                  <a:srgbClr val="FFFFFF"/>
                </a:solidFill>
                <a:latin typeface="Calibri"/>
              </a:rPr>
              <a:t>SHRAM SETU </a:t>
            </a:r>
            <a:r>
              <a:rPr sz="1216" b="1" i="0" spc="240">
                <a:solidFill>
                  <a:srgbClr val="E3B04B"/>
                </a:solidFill>
                <a:latin typeface="Calibri"/>
              </a:rPr>
              <a:t>2.0</a:t>
            </a:r>
          </a:p>
        </p:txBody>
      </p:sp>
      <p:sp>
        <p:nvSpPr>
          <p:cNvPr id="10" name="!!SecName"/>
          <p:cNvSpPr txBox="1"/>
          <p:nvPr/>
        </p:nvSpPr>
        <p:spPr>
          <a:xfrm>
            <a:off x="822960" y="969264"/>
            <a:ext cx="5486400" cy="228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40">
                <a:solidFill>
                  <a:srgbClr val="E3B04B"/>
                </a:solidFill>
                <a:latin typeface="Calibri"/>
              </a:rPr>
              <a:t>SECTION 06  ·  OUTLOOK</a:t>
            </a:r>
          </a:p>
        </p:txBody>
      </p:sp>
      <p:grpSp>
        <p:nvGrpSpPr>
          <p:cNvPr id="11" name="!!Card"/>
          <p:cNvGrpSpPr/>
          <p:nvPr/>
        </p:nvGrpSpPr>
        <p:grpSpPr>
          <a:xfrm>
            <a:off x="9528048" y="4828032"/>
            <a:ext cx="2121408" cy="1298448"/>
            <a:chOff x="9528048" y="4828032"/>
            <a:chExt cx="2121408" cy="1298448"/>
          </a:xfrm>
          <a:scene3d>
            <a:camera prst="perspectiveRelaxed" fov="42000" zoom="100000">
              <a:rot lat="-420000" lon="-606000" rev="0"/>
            </a:camera>
            <a:lightRig rig="threePt" dir="t">
              <a:rot lat="0" lon="0" rev="0"/>
            </a:lightRig>
          </a:scene3d>
          <a:sp3d>
            <a:bevelT w="16459" h="16459" prst="circle"/>
            <a:bevelB w="16459" h="16459" prst="circle"/>
            <a:prstMaterial prst="matte"/>
          </a:sp3d>
        </p:grpSpPr>
        <p:sp>
          <p:nvSpPr>
            <p:cNvPr id="12" name="card/base"/>
            <p:cNvSpPr/>
            <p:nvPr/>
          </p:nvSpPr>
          <p:spPr>
            <a:xfrm>
              <a:off x="9528048" y="4828032"/>
              <a:ext cx="2121408" cy="1280160"/>
            </a:xfrm>
            <a:prstGeom prst="roundRect">
              <a:avLst>
                <a:gd name="adj" fmla="val 6428"/>
              </a:avLst>
            </a:prstGeom>
            <a:solidFill>
              <a:srgbClr val="FFFFFF"/>
            </a:solidFill>
            <a:ln w="12700">
              <a:solidFill>
                <a:srgbClr val="E6DBC2"/>
              </a:solidFill>
            </a:ln>
            <a:effectLst>
              <a:outerShdw blurRad="91440" dist="32004" dir="5400000" algn="t" rotWithShape="0">
                <a:srgbClr val="0E2A20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3" name="card/head"/>
            <p:cNvSpPr/>
            <p:nvPr/>
          </p:nvSpPr>
          <p:spPr>
            <a:xfrm>
              <a:off x="9546336" y="4846320"/>
              <a:ext cx="2084831" cy="237744"/>
            </a:xfrm>
            <a:prstGeom prst="roundRect">
              <a:avLst>
                <a:gd name="adj" fmla="val 6000"/>
              </a:avLst>
            </a:prstGeom>
            <a:solidFill>
              <a:srgbClr val="1749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4" name="card/hl"/>
            <p:cNvSpPr txBox="1"/>
            <p:nvPr/>
          </p:nvSpPr>
          <p:spPr>
            <a:xfrm>
              <a:off x="9646920" y="4869180"/>
              <a:ext cx="1883663" cy="182880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0" b="1" i="0" spc="160">
                  <a:solidFill>
                    <a:srgbClr val="F2D79B"/>
                  </a:solidFill>
                  <a:latin typeface="Calibri"/>
                </a:rPr>
                <a:t>DEMO RECORD  ·  4 DAYS</a:t>
              </a:r>
            </a:p>
          </p:txBody>
        </p:sp>
        <p:sp>
          <p:nvSpPr>
            <p:cNvPr id="15" name="card/amt"/>
            <p:cNvSpPr txBox="1"/>
            <p:nvPr/>
          </p:nvSpPr>
          <p:spPr>
            <a:xfrm>
              <a:off x="9646920" y="5138928"/>
              <a:ext cx="1883663" cy="384048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 i="0">
                  <a:solidFill>
                    <a:srgbClr val="12211B"/>
                  </a:solidFill>
                  <a:latin typeface="Georgia"/>
                </a:rPr>
                <a:t>₹2,600</a:t>
              </a:r>
            </a:p>
          </p:txBody>
        </p:sp>
        <p:sp>
          <p:nvSpPr>
            <p:cNvPr id="16" name="card/sub"/>
            <p:cNvSpPr txBox="1"/>
            <p:nvPr/>
          </p:nvSpPr>
          <p:spPr>
            <a:xfrm>
              <a:off x="9646920" y="5522976"/>
              <a:ext cx="1883663" cy="16459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60" b="0" i="0">
                  <a:solidFill>
                    <a:srgbClr val="7C8F85"/>
                  </a:solidFill>
                  <a:latin typeface="Calibri"/>
                </a:rPr>
                <a:t>4 days × ₹650 agreed rate</a:t>
              </a:r>
            </a:p>
          </p:txBody>
        </p:sp>
        <p:sp>
          <p:nvSpPr>
            <p:cNvPr id="17" name="card/rule"/>
            <p:cNvSpPr/>
            <p:nvPr/>
          </p:nvSpPr>
          <p:spPr>
            <a:xfrm>
              <a:off x="9646920" y="5724144"/>
              <a:ext cx="1883663" cy="12700"/>
            </a:xfrm>
            <a:prstGeom prst="rect">
              <a:avLst/>
            </a:prstGeom>
            <a:solidFill>
              <a:srgbClr val="E6D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/>
            <a:lstStyle/>
            <a:p>
              <a:pPr algn="ctr"/>
            </a:p>
          </p:txBody>
        </p:sp>
        <p:sp>
          <p:nvSpPr>
            <p:cNvPr id="18" name="card/paid"/>
            <p:cNvSpPr txBox="1"/>
            <p:nvPr/>
          </p:nvSpPr>
          <p:spPr>
            <a:xfrm>
              <a:off x="964692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PAID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0E7A55"/>
                  </a:solidFill>
                  <a:latin typeface="Calibri"/>
                </a:rPr>
                <a:t>₹1,300</a:t>
              </a:r>
            </a:p>
          </p:txBody>
        </p:sp>
        <p:sp>
          <p:nvSpPr>
            <p:cNvPr id="19" name="card/bal"/>
            <p:cNvSpPr txBox="1"/>
            <p:nvPr/>
          </p:nvSpPr>
          <p:spPr>
            <a:xfrm>
              <a:off x="10607040" y="5779008"/>
              <a:ext cx="941831" cy="347472"/>
            </a:xfrm>
            <a:prstGeom prst="rect">
              <a:avLst/>
            </a:prstGeom>
            <a:noFill/>
          </p:spPr>
          <p:txBody>
            <a:bodyPr wrap="square" anchor="t" lIns="0" tIns="0" rIns="0" bIns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80" b="1" i="0" spc="140">
                  <a:solidFill>
                    <a:srgbClr val="7C8F85"/>
                  </a:solidFill>
                  <a:latin typeface="Calibri"/>
                </a:rPr>
                <a:t>BALANCE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B9812C"/>
                  </a:solidFill>
                  <a:latin typeface="Calibri"/>
                </a:rPr>
                <a:t>₹1,300</a:t>
              </a:r>
            </a:p>
          </p:txBody>
        </p:sp>
      </p:grpSp>
      <p:pic>
        <p:nvPicPr>
          <p:cNvPr id="20" name="!!Photo" descr="shram_setu_hero_pass_1792385013356.jpg"/>
          <p:cNvPicPr>
            <a:picLocks noChangeAspect="1"/>
          </p:cNvPicPr>
          <p:nvPr/>
        </p:nvPicPr>
        <p:blipFill>
          <a:blip r:embed="rId2"/>
          <a:srcRect l="30000" t="2000" r="4000" b="2000"/>
          <a:stretch>
            <a:fillRect/>
          </a:stretch>
        </p:blipFill>
        <p:spPr>
          <a:xfrm>
            <a:off x="9528048" y="3127248"/>
            <a:ext cx="2121408" cy="1170432"/>
          </a:xfrm>
          <a:prstGeom prst="roundRect">
            <a:avLst>
              <a:gd name="adj" fmla="val 7031"/>
            </a:avLst>
          </a:prstGeom>
          <a:ln w="12700">
            <a:solidFill>
              <a:srgbClr val="B9812C"/>
            </a:solidFill>
          </a:ln>
          <a:effectLst>
            <a:outerShdw blurRad="146304" dist="45720" dir="5400000" algn="t" rotWithShape="0">
              <a:srgbClr val="0E2A20">
                <a:alpha val="20000"/>
              </a:srgbClr>
            </a:outerShdw>
          </a:effectLst>
        </p:spPr>
      </p:pic>
      <p:sp>
        <p:nvSpPr>
          <p:cNvPr id="21" name="!!Rai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!!RailFill"/>
          <p:cNvSpPr/>
          <p:nvPr/>
        </p:nvSpPr>
        <p:spPr>
          <a:xfrm>
            <a:off x="0" y="6675120"/>
            <a:ext cx="12191695" cy="41148"/>
          </a:xfrm>
          <a:prstGeom prst="rect">
            <a:avLst/>
          </a:prstGeom>
          <a:solidFill>
            <a:srgbClr val="16A574"/>
          </a:solidFill>
          <a:ln>
            <a:noFill/>
          </a:ln>
          <a:effectLst>
            <a:glow rad="109728">
              <a:srgbClr val="16A574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!!Dot"/>
          <p:cNvSpPr/>
          <p:nvPr/>
        </p:nvSpPr>
        <p:spPr>
          <a:xfrm>
            <a:off x="12141403" y="6631228"/>
            <a:ext cx="128016" cy="128016"/>
          </a:xfrm>
          <a:prstGeom prst="ellipse">
            <a:avLst/>
          </a:prstGeom>
          <a:solidFill>
            <a:srgbClr val="E3B04B"/>
          </a:solidFill>
          <a:ln>
            <a:noFill/>
          </a:ln>
          <a:effectLst>
            <a:outerShdw blurRad="91440" dist="0" dir="5400000" algn="t" rotWithShape="0">
              <a:srgbClr val="0E2A2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!!PageNo"/>
          <p:cNvSpPr txBox="1"/>
          <p:nvPr/>
        </p:nvSpPr>
        <p:spPr>
          <a:xfrm>
            <a:off x="10012680" y="6364224"/>
            <a:ext cx="731520" cy="182880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B04B"/>
                </a:solidFill>
                <a:latin typeface="Calibri"/>
              </a:rPr>
              <a:t>32</a:t>
            </a:r>
            <a:r>
              <a:rPr sz="850" b="0" i="0">
                <a:solidFill>
                  <a:srgbClr val="8BC7A6"/>
                </a:solidFill>
                <a:latin typeface="Calibri"/>
              </a:rPr>
              <a:t> / 32</a:t>
            </a:r>
          </a:p>
        </p:txBody>
      </p:sp>
      <p:sp>
        <p:nvSpPr>
          <p:cNvPr id="25" name="eyebrow"/>
          <p:cNvSpPr txBox="1"/>
          <p:nvPr/>
        </p:nvSpPr>
        <p:spPr>
          <a:xfrm>
            <a:off x="822960" y="1700784"/>
            <a:ext cx="5486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260">
                <a:solidFill>
                  <a:srgbClr val="E3B04B"/>
                </a:solidFill>
                <a:latin typeface="Calibri"/>
              </a:rPr>
              <a:t>THANK YOU</a:t>
            </a:r>
          </a:p>
        </p:txBody>
      </p:sp>
      <p:sp>
        <p:nvSpPr>
          <p:cNvPr id="26" name="h"/>
          <p:cNvSpPr txBox="1"/>
          <p:nvPr/>
        </p:nvSpPr>
        <p:spPr>
          <a:xfrm>
            <a:off x="786384" y="1956816"/>
            <a:ext cx="786384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Georgia"/>
              </a:rPr>
              <a:t>Questions, and a live demo.</a:t>
            </a:r>
          </a:p>
        </p:txBody>
      </p:sp>
      <p:sp>
        <p:nvSpPr>
          <p:cNvPr id="27" name="sub"/>
          <p:cNvSpPr txBox="1"/>
          <p:nvPr/>
        </p:nvSpPr>
        <p:spPr>
          <a:xfrm>
            <a:off x="822960" y="3145536"/>
            <a:ext cx="676656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8BC7A6"/>
                </a:solidFill>
                <a:latin typeface="Calibri"/>
              </a:rPr>
              <a:t>The app runs offline from a single HTML file — no server, no install, no network.</a:t>
            </a:r>
          </a:p>
        </p:txBody>
      </p:sp>
      <p:sp>
        <p:nvSpPr>
          <p:cNvPr id="28" name="td0"/>
          <p:cNvSpPr/>
          <p:nvPr/>
        </p:nvSpPr>
        <p:spPr>
          <a:xfrm>
            <a:off x="841248" y="3968496"/>
            <a:ext cx="109728" cy="109728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t0"/>
          <p:cNvSpPr txBox="1"/>
          <p:nvPr/>
        </p:nvSpPr>
        <p:spPr>
          <a:xfrm>
            <a:off x="1078992" y="3877056"/>
            <a:ext cx="21031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 the pass</a:t>
            </a:r>
          </a:p>
        </p:txBody>
      </p:sp>
      <p:sp>
        <p:nvSpPr>
          <p:cNvPr id="30" name="tdd0"/>
          <p:cNvSpPr txBox="1"/>
          <p:nvPr/>
        </p:nvSpPr>
        <p:spPr>
          <a:xfrm>
            <a:off x="3236976" y="3877056"/>
            <a:ext cx="48463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C7A6"/>
                </a:solidFill>
                <a:latin typeface="Calibri"/>
              </a:rPr>
              <a:t>Scan the QR on a printed pass to reach the public verification page</a:t>
            </a:r>
          </a:p>
        </p:txBody>
      </p:sp>
      <p:sp>
        <p:nvSpPr>
          <p:cNvPr id="31" name="td1"/>
          <p:cNvSpPr/>
          <p:nvPr/>
        </p:nvSpPr>
        <p:spPr>
          <a:xfrm>
            <a:off x="841248" y="4572000"/>
            <a:ext cx="109728" cy="109728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t1"/>
          <p:cNvSpPr txBox="1"/>
          <p:nvPr/>
        </p:nvSpPr>
        <p:spPr>
          <a:xfrm>
            <a:off x="1078992" y="4480560"/>
            <a:ext cx="21031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Break a hash</a:t>
            </a:r>
          </a:p>
        </p:txBody>
      </p:sp>
      <p:sp>
        <p:nvSpPr>
          <p:cNvPr id="33" name="tdd1"/>
          <p:cNvSpPr txBox="1"/>
          <p:nvPr/>
        </p:nvSpPr>
        <p:spPr>
          <a:xfrm>
            <a:off x="3236976" y="4480560"/>
            <a:ext cx="48463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C7A6"/>
                </a:solidFill>
                <a:latin typeface="Calibri"/>
              </a:rPr>
              <a:t>Corrupt a past record in the audit bench and watch the badge flip</a:t>
            </a:r>
          </a:p>
        </p:txBody>
      </p:sp>
      <p:sp>
        <p:nvSpPr>
          <p:cNvPr id="34" name="td2"/>
          <p:cNvSpPr/>
          <p:nvPr/>
        </p:nvSpPr>
        <p:spPr>
          <a:xfrm>
            <a:off x="841248" y="5175504"/>
            <a:ext cx="109728" cy="109728"/>
          </a:xfrm>
          <a:prstGeom prst="ellipse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t2"/>
          <p:cNvSpPr txBox="1"/>
          <p:nvPr/>
        </p:nvSpPr>
        <p:spPr>
          <a:xfrm>
            <a:off x="1078992" y="5084064"/>
            <a:ext cx="21031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Read a correction</a:t>
            </a:r>
          </a:p>
        </p:txBody>
      </p:sp>
      <p:sp>
        <p:nvSpPr>
          <p:cNvPr id="36" name="tdd2"/>
          <p:cNvSpPr txBox="1"/>
          <p:nvPr/>
        </p:nvSpPr>
        <p:spPr>
          <a:xfrm>
            <a:off x="3236976" y="5084064"/>
            <a:ext cx="48463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C7A6"/>
                </a:solidFill>
                <a:latin typeface="Calibri"/>
              </a:rPr>
              <a:t>See the original ₹550 survive beside the corrected ₹650</a:t>
            </a:r>
          </a:p>
        </p:txBody>
      </p:sp>
      <p:sp>
        <p:nvSpPr>
          <p:cNvPr id="37" name="credit"/>
          <p:cNvSpPr txBox="1"/>
          <p:nvPr/>
        </p:nvSpPr>
        <p:spPr>
          <a:xfrm>
            <a:off x="822960" y="5888736"/>
            <a:ext cx="78638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FA895"/>
                </a:solidFill>
                <a:latin typeface="Calibri"/>
              </a:rPr>
              <a:t>Shram Setu 2.0  ·  Independent student project  ·  not a government portal  ·  Indore Sahodaya, Computer Science, October 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Shram Setu 2.0 — Indore Sahodaya Computer Science</dc:title>
  <dc:subject>Verified digital work and wage records for India's daily-wage workers — project presentation</dc:subject>
  <dc:creator>Shram Setu 2.0 project team</dc:creator>
  <cp:keywords>wage transparency, offline-first, SHA-256, IndexedDB, React, Sahodaya, computer science project</cp:keywords>
  <dc:description>32-slide deck with Morph transitions and 3-D object groups.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